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2.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3.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4.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5.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6.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21304937-3906-7cca-0842-4a026cb3e2f9}">
          <p14:sldIdLst>
            <p14:sldId id="256"/>
            <p14:sldId id="257"/>
            <p14:sldId id="258"/>
          </p14:sldIdLst>
        </p14:section>
        <p14:section name="Ch1 실험과 인과추론" id="{06bd5493-a27c-8b88-a30b-6e69cbf08fc8}">
          <p14:sldIdLst>
            <p14:sldId id="259"/>
            <p14:sldId id="260"/>
            <p14:sldId id="261"/>
            <p14:sldId id="262"/>
            <p14:sldId id="263"/>
            <p14:sldId id="264"/>
            <p14:sldId id="265"/>
            <p14:sldId id="266"/>
            <p14:sldId id="267"/>
            <p14:sldId id="268"/>
            <p14:sldId id="269"/>
          </p14:sldIdLst>
        </p14:section>
        <p14:section name="Ch2 설계 구성요소" id="{7f287172-292f-c584-e59d-d9a57ae8a78f}">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 name="Ch3 실행과 분석" id="{1afaeb77-1728-f2ef-ad08-df95011587e3}">
          <p14:sldIdLst>
            <p14:sldId id="300"/>
            <p14:sldId id="301"/>
            <p14:sldId id="302"/>
            <p14:sldId id="303"/>
            <p14:sldId id="304"/>
            <p14:sldId id="305"/>
            <p14:sldId id="306"/>
            <p14:sldId id="307"/>
            <p14:sldId id="308"/>
            <p14:sldId id="309"/>
            <p14:sldId id="310"/>
            <p14:sldId id="311"/>
            <p14:sldId id="312"/>
            <p14:sldId id="313"/>
            <p14:sldId id="314"/>
            <p14:sldId id="315"/>
          </p14:sldIdLst>
        </p14:section>
        <p14:section name="Ch4 함정과 고급 설계" id="{377c1d52-fec5-5f75-1785-3292cc03b88c}">
          <p14:sldIdLst>
            <p14:sldId id="316"/>
            <p14:sldId id="317"/>
            <p14:sldId id="318"/>
            <p14:sldId id="319"/>
            <p14:sldId id="320"/>
            <p14:sldId id="321"/>
            <p14:sldId id="322"/>
            <p14:sldId id="323"/>
            <p14:sldId id="324"/>
            <p14:sldId id="325"/>
            <p14:sldId id="326"/>
            <p14:sldId id="327"/>
            <p14:sldId id="328"/>
          </p14:sldIdLst>
        </p14:section>
        <p14:section name="Ch5 사례와 결정" id="{3e9a45fb-044b-32ab-9114-fe94a844a7b3}">
          <p14:sldIdLst>
            <p14:sldId id="329"/>
            <p14:sldId id="330"/>
            <p14:sldId id="331"/>
            <p14:sldId id="332"/>
            <p14:sldId id="333"/>
            <p14:sldId id="334"/>
            <p14:sldId id="335"/>
            <p14:sldId id="336"/>
            <p14:sldId id="337"/>
            <p14:sldId id="338"/>
            <p14:sldId id="339"/>
            <p14:sldId id="340"/>
            <p14:sldId id="341"/>
            <p14:sldId id="34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Ch1 정리. 앞에서 본 Bing 사례를 Ch1 개념으로 다시 읽습니다. 왼쪽은 원문 사실, 오른쪽은 개념을 적용한 해석입니다. 12%라는 숫자를 제목 변경 덕분이라고 말할 수 있는 근거가 무작위 배정이라는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Ch2 정리. Bing 실험을 Ch2의 설계서 형식으로 다시 씁니다. 랭킹 버그 사례는 위키에는 없고 Kohavi의 2017년 발표 자료에 나오는 Bing 사례입니다. 검색 결과가 나빠지면 사용자가 더 많이 검색하고 광고도 더 눌러 쿼리와 매출이 오르지만, 장기적으로는 사용자가 떠납니다. 그래서 OEC에 사용자 경험이 들어가야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Ch3 정리. 매출 경보 이야기는 위키에는 없고 Kohavi &amp; Thomke의 HBR 글에 나옵니다. 결과가 너무 좋으면 먼저 버그를 의심하는 것이 실무의 기본입니다. CUPED 분산 감소 수치는 위키 09편에 나온 Bing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 정리. 이 슬라이드의 예산 시나리오는 원문에 없는 가정입니다. Bing이 실제로 간섭을 겪었다는 뜻이 아니라, 광고 경매처럼 공유 자원이 있는 서비스라면 어떤 함정을 점검해야 하는지 묻는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Ch5 정리. Bing 사례의 진짜 교훈은 6개월입니다. 아이디어를 미리 평가하는 데 서툴다는 것을 인정하고, 실험 비용을 낮춰 작은 아이디어도 빠르게 검증하는 조직이 되어야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해설은 위키 12편에 있습니다. 1~2분 생각할 시간을 주고 손을 들어 답을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모범 답안과 채점 포인트는 위키 12편에 있습니다. 조별로 5분 정도 토의하고 한두 조가 발표합니다.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docs/ab-testing 01~11편의 Reference 링크를 URL 기준으로 중복 제거했습니다.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hyperlink" Target="https://www.oracle.com/kr/cx/marketing/what-is-ab-testing/" TargetMode="External"/><Relationship Id="rId2" Type="http://schemas.openxmlformats.org/officeDocument/2006/relationships/hyperlink" Target="https://datarian.io/blog/experiment-bible-for-product-growth-1" TargetMode="External"/><Relationship Id="rId3" Type="http://schemas.openxmlformats.org/officeDocument/2006/relationships/hyperlink" Target="https://mjrecord.tistory.com/39" TargetMode="External"/><Relationship Id="rId4" Type="http://schemas.openxmlformats.org/officeDocument/2006/relationships/hyperlink" Target="https://datarian.io/blog/ab-test-statistics-part-7-logic-of-hypothesis-testing" TargetMode="External"/><Relationship Id="rId5" Type="http://schemas.openxmlformats.org/officeDocument/2006/relationships/hyperlink" Target="https://wikidocs.net/book/9534" TargetMode="External"/><Relationship Id="rId6" Type="http://schemas.openxmlformats.org/officeDocument/2006/relationships/hyperlink" Target="https://brunch.co.kr/@2sin1/13" TargetMode="External"/><Relationship Id="rId7" Type="http://schemas.openxmlformats.org/officeDocument/2006/relationships/hyperlink" Target="https://ljyljy0813.tistory.com/31" TargetMode="External"/><Relationship Id="rId8" Type="http://schemas.openxmlformats.org/officeDocument/2006/relationships/hyperlink" Target="https://code-lab.tistory.com/entry/AB-%ED%85%8C%EC%8A%A4%ED%8A%B8%EC%97%90%EC%84%9C-%EA%B7%80%EB%AC%B4%EA%B0%80%EC%84%A4%EA%B3%BC-%EB%8C%80%EB%A6%BD%EA%B0%80%EC%84%A4-%EC%9D%B4%ED%95%B4%ED%95%98%EA%B8%B0-%EC%89%AC%EC%9A%B4-%EC%84%A4%EB%AA%85" TargetMode="External"/><Relationship Id="rId9" Type="http://schemas.openxmlformats.org/officeDocument/2006/relationships/hyperlink" Target="https://www.invespcro.com/blog/one-tailed-vs-two-tailed-a-b-testing-everything-you-possibly-need-to-know/#elementor-toc__heading-anchor-0" TargetMode="External"/><Relationship Id="rId10" Type="http://schemas.openxmlformats.org/officeDocument/2006/relationships/hyperlink" Target="https://playinpap.github.io/summary-of-indicator-concepts-explained-by-bread/#metric-%EC%9D%B4%EB%9E%80" TargetMode="External"/><Relationship Id="rId11" Type="http://schemas.openxmlformats.org/officeDocument/2006/relationships/hyperlink" Target="https://medium.com/alexandersyoon/%EC%A7%80%ED%91%9C%EC%84%A0%EC%A0%95-%EC%9E%90%EB%A6%AC%EC%97%90%EC%84%9C-%ED%95%B4%EC%95%BC%ED%95%98%EB%8A%94-5%EA%B0%80%EC%A7%80-%EC%A7%88%EB%AC%B8%EB%93%A4-data-analyst-%EC%9D%98-%EC%BB%A8%EC%84%A4%ED%8C%85-f7012d61a572" TargetMode="External"/><Relationship Id="rId12" Type="http://schemas.openxmlformats.org/officeDocument/2006/relationships/hyperlink" Target="https://ably.team/news/Z6xdlBIAAFGbReza" TargetMode="External"/><Relationship Id="rId13" Type="http://schemas.openxmlformats.org/officeDocument/2006/relationships/hyperlink" Target="https://mjrecord.tistory.com/42" TargetMode="External"/><Relationship Id="rId14" Type="http://schemas.openxmlformats.org/officeDocument/2006/relationships/hyperlink" Target="https://playinpap.github.io/data-quality-for-ab-testing/" TargetMode="External"/><Relationship Id="rId15" Type="http://schemas.openxmlformats.org/officeDocument/2006/relationships/hyperlink" Target="https://blog.hackle.io/post/conquering-abtest-4" TargetMode="External"/><Relationship Id="rId16" Type="http://schemas.openxmlformats.org/officeDocument/2006/relationships/hyperlink" Target="https://wikidocs.net/198646" TargetMode="External"/><Relationship Id="rId17" Type="http://schemas.openxmlformats.org/officeDocument/2006/relationships/hyperlink" Target="https://okpy.net/blog/choosing-unit-of-randomization" TargetMode="External"/><Relationship Id="rId18" Type="http://schemas.openxmlformats.org/officeDocument/2006/relationships/hyperlink" Target="https://datarian.io/blog/ab-test-statistics-part-4-sample-proportion" TargetMode="External"/><Relationship Id="rId19" Type="http://schemas.openxmlformats.org/officeDocument/2006/relationships/hyperlink" Target="https://playinpap.github.io/abtest-setting-mde" TargetMode="External"/><Relationship Id="rId20" Type="http://schemas.openxmlformats.org/officeDocument/2006/relationships/hyperlink" Target="https://medium.com/daangn/%EA%B5%AC%EA%B8%80-%EC%95%A0%EB%84%90%EB%A6%AC%ED%8B%B1%EC%8A%A4-a-b-%ED%85%8C%EC%8A%A4%ED%8A%B8-%ED%95%98%EA%B8%B0-%EC%BF%A0%ED%82%A4-demension-%ED%99%9C%EC%9A%A9-6f994e1247e8" TargetMode="External"/><Relationship Id="rId21" Type="http://schemas.openxmlformats.org/officeDocument/2006/relationships/hyperlink" Target="https://medium.com/wantedjobs/a-b%ED%85%8C%EC%8A%A4%ED%8A%B8-%EA%B8%B0%EC%B4%88-what-why-how-6f571ddc19fc" TargetMode="External"/><Relationship Id="rId22" Type="http://schemas.openxmlformats.org/officeDocument/2006/relationships/hyperlink" Target="https://mojito.mx/docs/example-hash-function-split-test-assignment/" TargetMode="External"/><Relationship Id="rId23" Type="http://schemas.openxmlformats.org/officeDocument/2006/relationships/hyperlink" Target="https://experimentguide.com/" TargetMode="External"/><Relationship Id="rId24" Type="http://schemas.openxmlformats.org/officeDocument/2006/relationships/hyperlink" Target="https://jong-min.org/blog/2025/exp-network-interference/" TargetMode="External"/><Relationship Id="rId25" Type="http://schemas.openxmlformats.org/officeDocument/2006/relationships/hyperlink" Target="https://github.com/CausalInferenceLab/OCE-Materials/blob/main/%EB%B0%9C%ED%91%9C%20%EC%9E%90%EB%A3%8C/20240528_%EC%8B%A4%ED%97%98%EA%B0%84%EC%9D%98%20%EB%88%84%EC%B6%9C%20%EB%B0%8F%20%EA%B0%84%EC%84%AD.pdf" TargetMode="External"/><Relationship Id="rId26" Type="http://schemas.openxmlformats.org/officeDocument/2006/relationships/hyperlink" Target="https://www.slideshare.net/slideshow/causal-inference-workshop-2022-applications-of-causal-inference-in-product-analytics/267698546" TargetMode="External"/><Relationship Id="rId27" Type="http://schemas.openxmlformats.org/officeDocument/2006/relationships/hyperlink" Target="https://www.pnas.org/doi/full/10.1073/pnas.1320040111" TargetMode="External"/><Relationship Id="rId28" Type="http://schemas.openxmlformats.org/officeDocument/2006/relationships/hyperlink" Target="https://pmc.ncbi.nlm.nih.gov/articles/PMC4115552" TargetMode="External"/><Relationship Id="rId29" Type="http://schemas.openxmlformats.org/officeDocument/2006/relationships/hyperlink" Target="https://www.nature.com/articles/nature11421" TargetMode="External"/><Relationship Id="rId30" Type="http://schemas.openxmlformats.org/officeDocument/2006/relationships/hyperlink" Target="https://www.cambridge.org/core/books/abs/trustworthy-online-controlled-experiments/aa-test/D0779D2FB153D36DD4C624BA207E41C2" TargetMode="External"/><Relationship Id="rId31" Type="http://schemas.openxmlformats.org/officeDocument/2006/relationships/hyperlink" Target="https://www.cambridge.org/core/books/abs/trustworthy-online-controlled-experiments/ramping-experiment-exposure-trading-off-speed-quality-and-risk/1C177E1AAEDAFBF79840AFDFE15E7F5D" TargetMode="External"/><Relationship Id="rId32" Type="http://schemas.openxmlformats.org/officeDocument/2006/relationships/hyperlink" Target="https://www.kdd.org/exploration_files/v12-02-8-UR-Kohavi.pdf" TargetMode="External"/><Relationship Id="rId33" Type="http://schemas.openxmlformats.org/officeDocument/2006/relationships/hyperlink" Target="https://exp-platform.com/cuped/" TargetMode="External"/><Relationship Id="rId34" Type="http://schemas.openxmlformats.org/officeDocument/2006/relationships/hyperlink" Target="https://www.stat.berkeley.edu/~aldous/Real_World/ASA_statement.pdf" TargetMode="External"/><Relationship Id="rId35" Type="http://schemas.openxmlformats.org/officeDocument/2006/relationships/hyperlink" Target="https://academic.oup.com/jrsssb/article/57/1/289/7035855" TargetMode="External"/><Relationship Id="rId36" Type="http://schemas.openxmlformats.org/officeDocument/2006/relationships/hyperlink" Target="https://github.com/CausalInferenceLab/OCE-Materials/blob/main/%EB%B0%9C%ED%91%9C%20%EC%9E%90%EB%A3%8C/20240507_A%3AA%20%ED%85%8C%EC%8A%A4%ED%8A%B8.pdf" TargetMode="External"/><Relationship Id="rId37" Type="http://schemas.openxmlformats.org/officeDocument/2006/relationships/hyperlink" Target="https://www.microsoft.com/en-us/research/articles/diagnosing-sample-ratio-mismatch-in-a-b-testing/" TargetMode="External"/><Relationship Id="rId38" Type="http://schemas.openxmlformats.org/officeDocument/2006/relationships/hyperlink" Target="https://www.microsoft.com/en-us/research/publication/diagnosing-sample-ratio-mismatch-in-online-controlled-experiments-a-taxonomy-and-rules-of-thumb-for-practitioners/" TargetMode="External"/><Relationship Id="rId39" Type="http://schemas.openxmlformats.org/officeDocument/2006/relationships/hyperlink" Target="https://arxiv.org/abs/1512.04922" TargetMode="External"/><Relationship Id="rId40" Type="http://schemas.openxmlformats.org/officeDocument/2006/relationships/hyperlink" Target="https://blogs.oracle.com/marketingcloud/ab-testing-pitfalls-how-marketers-can-avoid-costly-mistakes" TargetMode="External"/><Relationship Id="rId41" Type="http://schemas.openxmlformats.org/officeDocument/2006/relationships/hyperlink" Target="https://mjrecord.tistory.com/40" TargetMode="External"/><Relationship Id="rId42" Type="http://schemas.openxmlformats.org/officeDocument/2006/relationships/hyperlink" Target="https://walkingfox.tistory.com/205" TargetMode="External"/><Relationship Id="rId43" Type="http://schemas.openxmlformats.org/officeDocument/2006/relationships/slideLayout" Target="../slideLayouts/slideLayout4.xml"/><Relationship Id="rId44"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Text 2"/>
          <p:cNvSpPr txBox="1"/>
          <p:nvPr/>
        </p:nvSpPr>
        <p:spPr>
          <a:xfrm>
            <a:off x="640080" y="4398264"/>
            <a:ext cx="4572000" cy="338328"/>
          </a:xfrm>
          <a:prstGeom prst="rect">
            <a:avLst/>
          </a:prstGeom>
          <a:noFill/>
          <a:ln/>
        </p:spPr>
        <p:txBody>
          <a:bodyPr wrap="square" lIns="0" tIns="0" rIns="0" bIns="0" rtlCol="0" anchor="t"/>
          <a:lstStyle/>
          <a:p>
            <a:pPr indent="0" marL="0">
              <a:buNone/>
            </a:pPr>
            <a:r>
              <a:rPr lang="en-US" sz="1500" dirty="0">
                <a:solidFill>
                  <a:srgbClr val="FFFFFF"/>
                </a:solidFill>
              </a:rPr>
              <a:t>발표자: 25기 이정연, 25기 이유민</a:t>
            </a:r>
            <a:endParaRPr lang="en-US" sz="1500" dirty="0"/>
          </a:p>
        </p:txBody>
      </p:sp>
      <p:sp>
        <p:nvSpPr>
          <p:cNvPr id="5" name="Shape 3"/>
          <p:cNvSpPr/>
          <p:nvPr/>
        </p:nvSpPr>
        <p:spPr>
          <a:xfrm>
            <a:off x="8138160"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467344" y="1280160"/>
            <a:ext cx="128016" cy="128016"/>
          </a:xfrm>
          <a:prstGeom prst="ellipse">
            <a:avLst/>
          </a:prstGeom>
          <a:solidFill>
            <a:srgbClr val="7B93FF"/>
          </a:solidFill>
          <a:ln w="12700">
            <a:solidFill>
              <a:srgbClr val="7B93FF"/>
            </a:solidFill>
            <a:prstDash val="solid"/>
          </a:ln>
        </p:spPr>
      </p:sp>
      <p:sp>
        <p:nvSpPr>
          <p:cNvPr id="7" name="Shape 5"/>
          <p:cNvSpPr/>
          <p:nvPr/>
        </p:nvSpPr>
        <p:spPr>
          <a:xfrm>
            <a:off x="8796528" y="1280160"/>
            <a:ext cx="128016" cy="128016"/>
          </a:xfrm>
          <a:prstGeom prst="ellipse">
            <a:avLst/>
          </a:prstGeom>
          <a:solidFill>
            <a:srgbClr val="4FC7C7"/>
          </a:solidFill>
          <a:ln w="12700">
            <a:solidFill>
              <a:srgbClr val="4FC7C7"/>
            </a:solidFill>
            <a:prstDash val="solid"/>
          </a:ln>
        </p:spPr>
      </p:sp>
      <p:sp>
        <p:nvSpPr>
          <p:cNvPr id="8" name="Shape 6"/>
          <p:cNvSpPr/>
          <p:nvPr/>
        </p:nvSpPr>
        <p:spPr>
          <a:xfrm>
            <a:off x="9125712"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454896"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9784080"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113264"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442448" y="1280160"/>
            <a:ext cx="128016" cy="128016"/>
          </a:xfrm>
          <a:prstGeom prst="ellipse">
            <a:avLst/>
          </a:prstGeom>
          <a:solidFill>
            <a:srgbClr val="7B93FF"/>
          </a:solidFill>
          <a:ln w="12700">
            <a:solidFill>
              <a:srgbClr val="7B93FF"/>
            </a:solidFill>
            <a:prstDash val="solid"/>
          </a:ln>
        </p:spPr>
      </p:sp>
      <p:sp>
        <p:nvSpPr>
          <p:cNvPr id="13" name="Shape 11"/>
          <p:cNvSpPr/>
          <p:nvPr/>
        </p:nvSpPr>
        <p:spPr>
          <a:xfrm>
            <a:off x="10771632"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11100816" y="1280160"/>
            <a:ext cx="128016" cy="128016"/>
          </a:xfrm>
          <a:prstGeom prst="ellipse">
            <a:avLst/>
          </a:prstGeom>
          <a:solidFill>
            <a:srgbClr val="4FC7C7"/>
          </a:solidFill>
          <a:ln w="12700">
            <a:solidFill>
              <a:srgbClr val="4FC7C7"/>
            </a:solidFill>
            <a:prstDash val="solid"/>
          </a:ln>
        </p:spPr>
      </p:sp>
      <p:sp>
        <p:nvSpPr>
          <p:cNvPr id="15" name="Shape 13"/>
          <p:cNvSpPr/>
          <p:nvPr/>
        </p:nvSpPr>
        <p:spPr>
          <a:xfrm>
            <a:off x="8138160" y="1609344"/>
            <a:ext cx="128016" cy="128016"/>
          </a:xfrm>
          <a:prstGeom prst="ellipse">
            <a:avLst/>
          </a:prstGeom>
          <a:solidFill>
            <a:srgbClr val="4FC7C7"/>
          </a:solidFill>
          <a:ln w="12700">
            <a:solidFill>
              <a:srgbClr val="4FC7C7"/>
            </a:solidFill>
            <a:prstDash val="solid"/>
          </a:ln>
        </p:spPr>
      </p:sp>
      <p:sp>
        <p:nvSpPr>
          <p:cNvPr id="16" name="Shape 14"/>
          <p:cNvSpPr/>
          <p:nvPr/>
        </p:nvSpPr>
        <p:spPr>
          <a:xfrm>
            <a:off x="8467344" y="1609344"/>
            <a:ext cx="128016" cy="128016"/>
          </a:xfrm>
          <a:prstGeom prst="ellipse">
            <a:avLst/>
          </a:prstGeom>
          <a:solidFill>
            <a:srgbClr val="7B93FF"/>
          </a:solidFill>
          <a:ln w="12700">
            <a:solidFill>
              <a:srgbClr val="7B93FF"/>
            </a:solidFill>
            <a:prstDash val="solid"/>
          </a:ln>
        </p:spPr>
      </p:sp>
      <p:sp>
        <p:nvSpPr>
          <p:cNvPr id="17" name="Shape 15"/>
          <p:cNvSpPr/>
          <p:nvPr/>
        </p:nvSpPr>
        <p:spPr>
          <a:xfrm>
            <a:off x="8796528"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125712"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454896" y="1609344"/>
            <a:ext cx="128016" cy="128016"/>
          </a:xfrm>
          <a:prstGeom prst="ellipse">
            <a:avLst/>
          </a:prstGeom>
          <a:solidFill>
            <a:srgbClr val="4FC7C7"/>
          </a:solidFill>
          <a:ln w="12700">
            <a:solidFill>
              <a:srgbClr val="4FC7C7"/>
            </a:solidFill>
            <a:prstDash val="solid"/>
          </a:ln>
        </p:spPr>
      </p:sp>
      <p:sp>
        <p:nvSpPr>
          <p:cNvPr id="20" name="Shape 18"/>
          <p:cNvSpPr/>
          <p:nvPr/>
        </p:nvSpPr>
        <p:spPr>
          <a:xfrm>
            <a:off x="9784080"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113264" y="1609344"/>
            <a:ext cx="128016" cy="128016"/>
          </a:xfrm>
          <a:prstGeom prst="ellipse">
            <a:avLst/>
          </a:prstGeom>
          <a:solidFill>
            <a:srgbClr val="7B93FF"/>
          </a:solidFill>
          <a:ln w="12700">
            <a:solidFill>
              <a:srgbClr val="7B93FF"/>
            </a:solidFill>
            <a:prstDash val="solid"/>
          </a:ln>
        </p:spPr>
      </p:sp>
      <p:sp>
        <p:nvSpPr>
          <p:cNvPr id="22" name="Shape 20"/>
          <p:cNvSpPr/>
          <p:nvPr/>
        </p:nvSpPr>
        <p:spPr>
          <a:xfrm>
            <a:off x="10442448"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0771632"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11100816" y="1609344"/>
            <a:ext cx="128016" cy="128016"/>
          </a:xfrm>
          <a:prstGeom prst="ellipse">
            <a:avLst/>
          </a:prstGeom>
          <a:solidFill>
            <a:srgbClr val="4FC7C7"/>
          </a:solidFill>
          <a:ln w="12700">
            <a:solidFill>
              <a:srgbClr val="4FC7C7"/>
            </a:solidFill>
            <a:prstDash val="solid"/>
          </a:ln>
        </p:spPr>
      </p:sp>
      <p:sp>
        <p:nvSpPr>
          <p:cNvPr id="25" name="Shape 23"/>
          <p:cNvSpPr/>
          <p:nvPr/>
        </p:nvSpPr>
        <p:spPr>
          <a:xfrm>
            <a:off x="8138160" y="1938528"/>
            <a:ext cx="128016" cy="128016"/>
          </a:xfrm>
          <a:prstGeom prst="ellipse">
            <a:avLst/>
          </a:prstGeom>
          <a:solidFill>
            <a:srgbClr val="4FC7C7"/>
          </a:solidFill>
          <a:ln w="12700">
            <a:solidFill>
              <a:srgbClr val="4FC7C7"/>
            </a:solidFill>
            <a:prstDash val="solid"/>
          </a:ln>
        </p:spPr>
      </p:sp>
      <p:sp>
        <p:nvSpPr>
          <p:cNvPr id="26" name="Shape 24"/>
          <p:cNvSpPr/>
          <p:nvPr/>
        </p:nvSpPr>
        <p:spPr>
          <a:xfrm>
            <a:off x="8467344" y="1938528"/>
            <a:ext cx="128016" cy="128016"/>
          </a:xfrm>
          <a:prstGeom prst="ellipse">
            <a:avLst/>
          </a:prstGeom>
          <a:solidFill>
            <a:srgbClr val="7B93FF"/>
          </a:solidFill>
          <a:ln w="12700">
            <a:solidFill>
              <a:srgbClr val="7B93FF"/>
            </a:solidFill>
            <a:prstDash val="solid"/>
          </a:ln>
        </p:spPr>
      </p:sp>
      <p:sp>
        <p:nvSpPr>
          <p:cNvPr id="27" name="Shape 25"/>
          <p:cNvSpPr/>
          <p:nvPr/>
        </p:nvSpPr>
        <p:spPr>
          <a:xfrm>
            <a:off x="8796528" y="1938528"/>
            <a:ext cx="128016" cy="128016"/>
          </a:xfrm>
          <a:prstGeom prst="ellipse">
            <a:avLst/>
          </a:prstGeom>
          <a:solidFill>
            <a:srgbClr val="4FC7C7"/>
          </a:solidFill>
          <a:ln w="12700">
            <a:solidFill>
              <a:srgbClr val="4FC7C7"/>
            </a:solidFill>
            <a:prstDash val="solid"/>
          </a:ln>
        </p:spPr>
      </p:sp>
      <p:sp>
        <p:nvSpPr>
          <p:cNvPr id="28" name="Shape 26"/>
          <p:cNvSpPr/>
          <p:nvPr/>
        </p:nvSpPr>
        <p:spPr>
          <a:xfrm>
            <a:off x="9125712" y="1938528"/>
            <a:ext cx="128016" cy="128016"/>
          </a:xfrm>
          <a:prstGeom prst="ellipse">
            <a:avLst/>
          </a:prstGeom>
          <a:solidFill>
            <a:srgbClr val="7B93FF"/>
          </a:solidFill>
          <a:ln w="12700">
            <a:solidFill>
              <a:srgbClr val="7B93FF"/>
            </a:solidFill>
            <a:prstDash val="solid"/>
          </a:ln>
        </p:spPr>
      </p:sp>
      <p:sp>
        <p:nvSpPr>
          <p:cNvPr id="29" name="Shape 27"/>
          <p:cNvSpPr/>
          <p:nvPr/>
        </p:nvSpPr>
        <p:spPr>
          <a:xfrm>
            <a:off x="9454896"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9784080" y="1938528"/>
            <a:ext cx="128016" cy="128016"/>
          </a:xfrm>
          <a:prstGeom prst="ellipse">
            <a:avLst/>
          </a:prstGeom>
          <a:solidFill>
            <a:srgbClr val="4FC7C7"/>
          </a:solidFill>
          <a:ln w="12700">
            <a:solidFill>
              <a:srgbClr val="4FC7C7"/>
            </a:solidFill>
            <a:prstDash val="solid"/>
          </a:ln>
        </p:spPr>
      </p:sp>
      <p:sp>
        <p:nvSpPr>
          <p:cNvPr id="31" name="Shape 29"/>
          <p:cNvSpPr/>
          <p:nvPr/>
        </p:nvSpPr>
        <p:spPr>
          <a:xfrm>
            <a:off x="10113264" y="1938528"/>
            <a:ext cx="128016" cy="128016"/>
          </a:xfrm>
          <a:prstGeom prst="ellipse">
            <a:avLst/>
          </a:prstGeom>
          <a:solidFill>
            <a:srgbClr val="7B93FF"/>
          </a:solidFill>
          <a:ln w="12700">
            <a:solidFill>
              <a:srgbClr val="7B93FF"/>
            </a:solidFill>
            <a:prstDash val="solid"/>
          </a:ln>
        </p:spPr>
      </p:sp>
      <p:sp>
        <p:nvSpPr>
          <p:cNvPr id="32" name="Shape 30"/>
          <p:cNvSpPr/>
          <p:nvPr/>
        </p:nvSpPr>
        <p:spPr>
          <a:xfrm>
            <a:off x="10442448" y="1938528"/>
            <a:ext cx="128016" cy="128016"/>
          </a:xfrm>
          <a:prstGeom prst="ellipse">
            <a:avLst/>
          </a:prstGeom>
          <a:solidFill>
            <a:srgbClr val="4FC7C7"/>
          </a:solidFill>
          <a:ln w="12700">
            <a:solidFill>
              <a:srgbClr val="4FC7C7"/>
            </a:solidFill>
            <a:prstDash val="solid"/>
          </a:ln>
        </p:spPr>
      </p:sp>
      <p:sp>
        <p:nvSpPr>
          <p:cNvPr id="33" name="Shape 31"/>
          <p:cNvSpPr/>
          <p:nvPr/>
        </p:nvSpPr>
        <p:spPr>
          <a:xfrm>
            <a:off x="10771632"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11100816" y="1938528"/>
            <a:ext cx="128016" cy="128016"/>
          </a:xfrm>
          <a:prstGeom prst="ellipse">
            <a:avLst/>
          </a:prstGeom>
          <a:solidFill>
            <a:srgbClr val="7B93FF"/>
          </a:solidFill>
          <a:ln w="12700">
            <a:solidFill>
              <a:srgbClr val="7B93FF"/>
            </a:solidFill>
            <a:prstDash val="solid"/>
          </a:ln>
        </p:spPr>
      </p:sp>
      <p:sp>
        <p:nvSpPr>
          <p:cNvPr id="35" name="Shape 33"/>
          <p:cNvSpPr/>
          <p:nvPr/>
        </p:nvSpPr>
        <p:spPr>
          <a:xfrm>
            <a:off x="8138160" y="2267712"/>
            <a:ext cx="128016" cy="128016"/>
          </a:xfrm>
          <a:prstGeom prst="ellipse">
            <a:avLst/>
          </a:prstGeom>
          <a:solidFill>
            <a:srgbClr val="7B93FF"/>
          </a:solidFill>
          <a:ln w="12700">
            <a:solidFill>
              <a:srgbClr val="7B93FF"/>
            </a:solidFill>
            <a:prstDash val="solid"/>
          </a:ln>
        </p:spPr>
      </p:sp>
      <p:sp>
        <p:nvSpPr>
          <p:cNvPr id="36" name="Shape 34"/>
          <p:cNvSpPr/>
          <p:nvPr/>
        </p:nvSpPr>
        <p:spPr>
          <a:xfrm>
            <a:off x="8467344"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8796528"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125712"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454896" y="2267712"/>
            <a:ext cx="128016" cy="128016"/>
          </a:xfrm>
          <a:prstGeom prst="ellipse">
            <a:avLst/>
          </a:prstGeom>
          <a:solidFill>
            <a:srgbClr val="4FC7C7"/>
          </a:solidFill>
          <a:ln w="12700">
            <a:solidFill>
              <a:srgbClr val="4FC7C7"/>
            </a:solidFill>
            <a:prstDash val="solid"/>
          </a:ln>
        </p:spPr>
      </p:sp>
      <p:sp>
        <p:nvSpPr>
          <p:cNvPr id="40" name="Shape 38"/>
          <p:cNvSpPr/>
          <p:nvPr/>
        </p:nvSpPr>
        <p:spPr>
          <a:xfrm>
            <a:off x="9784080" y="2267712"/>
            <a:ext cx="128016" cy="128016"/>
          </a:xfrm>
          <a:prstGeom prst="ellipse">
            <a:avLst/>
          </a:prstGeom>
          <a:solidFill>
            <a:srgbClr val="7B93FF"/>
          </a:solidFill>
          <a:ln w="12700">
            <a:solidFill>
              <a:srgbClr val="7B93FF"/>
            </a:solidFill>
            <a:prstDash val="solid"/>
          </a:ln>
        </p:spPr>
      </p:sp>
      <p:sp>
        <p:nvSpPr>
          <p:cNvPr id="41" name="Shape 39"/>
          <p:cNvSpPr/>
          <p:nvPr/>
        </p:nvSpPr>
        <p:spPr>
          <a:xfrm>
            <a:off x="10113264"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442448"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0771632"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11100816" y="2267712"/>
            <a:ext cx="128016" cy="128016"/>
          </a:xfrm>
          <a:prstGeom prst="ellipse">
            <a:avLst/>
          </a:prstGeom>
          <a:solidFill>
            <a:srgbClr val="4FC7C7"/>
          </a:solidFill>
          <a:ln w="12700">
            <a:solidFill>
              <a:srgbClr val="4FC7C7"/>
            </a:solidFill>
            <a:prstDash val="solid"/>
          </a:ln>
        </p:spPr>
      </p:sp>
      <p:sp>
        <p:nvSpPr>
          <p:cNvPr id="45" name="Shape 43"/>
          <p:cNvSpPr/>
          <p:nvPr/>
        </p:nvSpPr>
        <p:spPr>
          <a:xfrm>
            <a:off x="8138160" y="2596896"/>
            <a:ext cx="128016" cy="128016"/>
          </a:xfrm>
          <a:prstGeom prst="ellipse">
            <a:avLst/>
          </a:prstGeom>
          <a:solidFill>
            <a:srgbClr val="4FC7C7"/>
          </a:solidFill>
          <a:ln w="12700">
            <a:solidFill>
              <a:srgbClr val="4FC7C7"/>
            </a:solidFill>
            <a:prstDash val="solid"/>
          </a:ln>
        </p:spPr>
      </p:sp>
      <p:sp>
        <p:nvSpPr>
          <p:cNvPr id="46" name="Shape 44"/>
          <p:cNvSpPr/>
          <p:nvPr/>
        </p:nvSpPr>
        <p:spPr>
          <a:xfrm>
            <a:off x="8467344"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8796528"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125712"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454896"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9784080" y="2596896"/>
            <a:ext cx="128016" cy="128016"/>
          </a:xfrm>
          <a:prstGeom prst="ellipse">
            <a:avLst/>
          </a:prstGeom>
          <a:solidFill>
            <a:srgbClr val="7B93FF"/>
          </a:solidFill>
          <a:ln w="12700">
            <a:solidFill>
              <a:srgbClr val="7B93FF"/>
            </a:solidFill>
            <a:prstDash val="solid"/>
          </a:ln>
        </p:spPr>
      </p:sp>
      <p:sp>
        <p:nvSpPr>
          <p:cNvPr id="51" name="Shape 49"/>
          <p:cNvSpPr/>
          <p:nvPr/>
        </p:nvSpPr>
        <p:spPr>
          <a:xfrm>
            <a:off x="10113264"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442448"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0771632" y="2596896"/>
            <a:ext cx="128016" cy="128016"/>
          </a:xfrm>
          <a:prstGeom prst="ellipse">
            <a:avLst/>
          </a:prstGeom>
          <a:solidFill>
            <a:srgbClr val="4FC7C7"/>
          </a:solidFill>
          <a:ln w="12700">
            <a:solidFill>
              <a:srgbClr val="4FC7C7"/>
            </a:solidFill>
            <a:prstDash val="solid"/>
          </a:ln>
        </p:spPr>
      </p:sp>
      <p:sp>
        <p:nvSpPr>
          <p:cNvPr id="54" name="Shape 52"/>
          <p:cNvSpPr/>
          <p:nvPr/>
        </p:nvSpPr>
        <p:spPr>
          <a:xfrm>
            <a:off x="11100816" y="2596896"/>
            <a:ext cx="128016" cy="128016"/>
          </a:xfrm>
          <a:prstGeom prst="ellipse">
            <a:avLst/>
          </a:prstGeom>
          <a:solidFill>
            <a:srgbClr val="7B93FF"/>
          </a:solidFill>
          <a:ln w="12700">
            <a:solidFill>
              <a:srgbClr val="7B93FF"/>
            </a:solidFill>
            <a:prstDash val="solid"/>
          </a:ln>
        </p:spPr>
      </p:sp>
      <p:sp>
        <p:nvSpPr>
          <p:cNvPr id="55" name="Shape 53"/>
          <p:cNvSpPr/>
          <p:nvPr/>
        </p:nvSpPr>
        <p:spPr>
          <a:xfrm>
            <a:off x="8138160"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467344"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8796528"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125712"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454896" y="2926080"/>
            <a:ext cx="128016" cy="128016"/>
          </a:xfrm>
          <a:prstGeom prst="ellipse">
            <a:avLst/>
          </a:prstGeom>
          <a:solidFill>
            <a:srgbClr val="7B93FF"/>
          </a:solidFill>
          <a:ln w="12700">
            <a:solidFill>
              <a:srgbClr val="7B93FF"/>
            </a:solidFill>
            <a:prstDash val="solid"/>
          </a:ln>
        </p:spPr>
      </p:sp>
      <p:sp>
        <p:nvSpPr>
          <p:cNvPr id="60" name="Shape 58"/>
          <p:cNvSpPr/>
          <p:nvPr/>
        </p:nvSpPr>
        <p:spPr>
          <a:xfrm>
            <a:off x="9784080"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113264" y="2926080"/>
            <a:ext cx="128016" cy="128016"/>
          </a:xfrm>
          <a:prstGeom prst="ellipse">
            <a:avLst/>
          </a:prstGeom>
          <a:solidFill>
            <a:srgbClr val="4FC7C7"/>
          </a:solidFill>
          <a:ln w="12700">
            <a:solidFill>
              <a:srgbClr val="4FC7C7"/>
            </a:solidFill>
            <a:prstDash val="solid"/>
          </a:ln>
        </p:spPr>
      </p:sp>
      <p:sp>
        <p:nvSpPr>
          <p:cNvPr id="62" name="Shape 60"/>
          <p:cNvSpPr/>
          <p:nvPr/>
        </p:nvSpPr>
        <p:spPr>
          <a:xfrm>
            <a:off x="10442448" y="2926080"/>
            <a:ext cx="128016" cy="128016"/>
          </a:xfrm>
          <a:prstGeom prst="ellipse">
            <a:avLst/>
          </a:prstGeom>
          <a:solidFill>
            <a:srgbClr val="7B93FF"/>
          </a:solidFill>
          <a:ln w="12700">
            <a:solidFill>
              <a:srgbClr val="7B93FF"/>
            </a:solidFill>
            <a:prstDash val="solid"/>
          </a:ln>
        </p:spPr>
      </p:sp>
      <p:sp>
        <p:nvSpPr>
          <p:cNvPr id="63" name="Shape 61"/>
          <p:cNvSpPr/>
          <p:nvPr/>
        </p:nvSpPr>
        <p:spPr>
          <a:xfrm>
            <a:off x="10771632"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11100816" y="2926080"/>
            <a:ext cx="128016" cy="128016"/>
          </a:xfrm>
          <a:prstGeom prst="ellipse">
            <a:avLst/>
          </a:prstGeom>
          <a:solidFill>
            <a:srgbClr val="4FC7C7"/>
          </a:solidFill>
          <a:ln w="12700">
            <a:solidFill>
              <a:srgbClr val="4FC7C7"/>
            </a:solidFill>
            <a:prstDash val="solid"/>
          </a:ln>
        </p:spPr>
      </p:sp>
      <p:sp>
        <p:nvSpPr>
          <p:cNvPr id="65" name="Shape 63"/>
          <p:cNvSpPr/>
          <p:nvPr/>
        </p:nvSpPr>
        <p:spPr>
          <a:xfrm>
            <a:off x="8138160"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467344"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8796528" y="3255264"/>
            <a:ext cx="128016" cy="128016"/>
          </a:xfrm>
          <a:prstGeom prst="ellipse">
            <a:avLst/>
          </a:prstGeom>
          <a:solidFill>
            <a:srgbClr val="7B93FF"/>
          </a:solidFill>
          <a:ln w="12700">
            <a:solidFill>
              <a:srgbClr val="7B93FF"/>
            </a:solidFill>
            <a:prstDash val="solid"/>
          </a:ln>
        </p:spPr>
      </p:sp>
      <p:sp>
        <p:nvSpPr>
          <p:cNvPr id="68" name="Shape 66"/>
          <p:cNvSpPr/>
          <p:nvPr/>
        </p:nvSpPr>
        <p:spPr>
          <a:xfrm>
            <a:off x="9125712" y="3255264"/>
            <a:ext cx="128016" cy="128016"/>
          </a:xfrm>
          <a:prstGeom prst="ellipse">
            <a:avLst/>
          </a:prstGeom>
          <a:solidFill>
            <a:srgbClr val="4FC7C7"/>
          </a:solidFill>
          <a:ln w="12700">
            <a:solidFill>
              <a:srgbClr val="4FC7C7"/>
            </a:solidFill>
            <a:prstDash val="solid"/>
          </a:ln>
        </p:spPr>
      </p:sp>
      <p:sp>
        <p:nvSpPr>
          <p:cNvPr id="69" name="Shape 67"/>
          <p:cNvSpPr/>
          <p:nvPr/>
        </p:nvSpPr>
        <p:spPr>
          <a:xfrm>
            <a:off x="9454896" y="3255264"/>
            <a:ext cx="128016" cy="128016"/>
          </a:xfrm>
          <a:prstGeom prst="ellipse">
            <a:avLst/>
          </a:prstGeom>
          <a:solidFill>
            <a:srgbClr val="7B93FF"/>
          </a:solidFill>
          <a:ln w="12700">
            <a:solidFill>
              <a:srgbClr val="7B93FF"/>
            </a:solidFill>
            <a:prstDash val="solid"/>
          </a:ln>
        </p:spPr>
      </p:sp>
      <p:sp>
        <p:nvSpPr>
          <p:cNvPr id="70" name="Shape 68"/>
          <p:cNvSpPr/>
          <p:nvPr/>
        </p:nvSpPr>
        <p:spPr>
          <a:xfrm>
            <a:off x="9784080"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113264" y="3255264"/>
            <a:ext cx="128016" cy="128016"/>
          </a:xfrm>
          <a:prstGeom prst="ellipse">
            <a:avLst/>
          </a:prstGeom>
          <a:solidFill>
            <a:srgbClr val="4FC7C7"/>
          </a:solidFill>
          <a:ln w="12700">
            <a:solidFill>
              <a:srgbClr val="4FC7C7"/>
            </a:solidFill>
            <a:prstDash val="solid"/>
          </a:ln>
        </p:spPr>
      </p:sp>
      <p:sp>
        <p:nvSpPr>
          <p:cNvPr id="72" name="Shape 70"/>
          <p:cNvSpPr/>
          <p:nvPr/>
        </p:nvSpPr>
        <p:spPr>
          <a:xfrm>
            <a:off x="10442448" y="3255264"/>
            <a:ext cx="128016" cy="128016"/>
          </a:xfrm>
          <a:prstGeom prst="ellipse">
            <a:avLst/>
          </a:prstGeom>
          <a:solidFill>
            <a:srgbClr val="7B93FF"/>
          </a:solidFill>
          <a:ln w="12700">
            <a:solidFill>
              <a:srgbClr val="7B93FF"/>
            </a:solidFill>
            <a:prstDash val="solid"/>
          </a:ln>
        </p:spPr>
      </p:sp>
      <p:sp>
        <p:nvSpPr>
          <p:cNvPr id="73" name="Shape 71"/>
          <p:cNvSpPr/>
          <p:nvPr/>
        </p:nvSpPr>
        <p:spPr>
          <a:xfrm>
            <a:off x="10771632" y="3255264"/>
            <a:ext cx="128016" cy="128016"/>
          </a:xfrm>
          <a:prstGeom prst="ellipse">
            <a:avLst/>
          </a:prstGeom>
          <a:solidFill>
            <a:srgbClr val="4FC7C7"/>
          </a:solidFill>
          <a:ln w="12700">
            <a:solidFill>
              <a:srgbClr val="4FC7C7"/>
            </a:solidFill>
            <a:prstDash val="solid"/>
          </a:ln>
        </p:spPr>
      </p:sp>
      <p:sp>
        <p:nvSpPr>
          <p:cNvPr id="74" name="Shape 72"/>
          <p:cNvSpPr/>
          <p:nvPr/>
        </p:nvSpPr>
        <p:spPr>
          <a:xfrm>
            <a:off x="11100816" y="3255264"/>
            <a:ext cx="128016" cy="128016"/>
          </a:xfrm>
          <a:prstGeom prst="ellipse">
            <a:avLst/>
          </a:prstGeom>
          <a:solidFill>
            <a:srgbClr val="7B93FF"/>
          </a:solidFill>
          <a:ln w="12700">
            <a:solidFill>
              <a:srgbClr val="7B93FF"/>
            </a:solidFill>
            <a:prstDash val="solid"/>
          </a:ln>
        </p:spPr>
      </p:sp>
      <p:sp>
        <p:nvSpPr>
          <p:cNvPr id="75" name="Shape 73"/>
          <p:cNvSpPr/>
          <p:nvPr/>
        </p:nvSpPr>
        <p:spPr>
          <a:xfrm>
            <a:off x="8138160" y="3584448"/>
            <a:ext cx="128016" cy="128016"/>
          </a:xfrm>
          <a:prstGeom prst="ellipse">
            <a:avLst/>
          </a:prstGeom>
          <a:solidFill>
            <a:srgbClr val="7B93FF"/>
          </a:solidFill>
          <a:ln w="12700">
            <a:solidFill>
              <a:srgbClr val="7B93FF"/>
            </a:solidFill>
            <a:prstDash val="solid"/>
          </a:ln>
        </p:spPr>
      </p:sp>
      <p:sp>
        <p:nvSpPr>
          <p:cNvPr id="76" name="Shape 74"/>
          <p:cNvSpPr/>
          <p:nvPr/>
        </p:nvSpPr>
        <p:spPr>
          <a:xfrm>
            <a:off x="8467344" y="3584448"/>
            <a:ext cx="128016" cy="128016"/>
          </a:xfrm>
          <a:prstGeom prst="ellipse">
            <a:avLst/>
          </a:prstGeom>
          <a:solidFill>
            <a:srgbClr val="4FC7C7"/>
          </a:solidFill>
          <a:ln w="12700">
            <a:solidFill>
              <a:srgbClr val="4FC7C7"/>
            </a:solidFill>
            <a:prstDash val="solid"/>
          </a:ln>
        </p:spPr>
      </p:sp>
      <p:sp>
        <p:nvSpPr>
          <p:cNvPr id="77" name="Shape 75"/>
          <p:cNvSpPr/>
          <p:nvPr/>
        </p:nvSpPr>
        <p:spPr>
          <a:xfrm>
            <a:off x="8796528"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125712" y="3584448"/>
            <a:ext cx="128016" cy="128016"/>
          </a:xfrm>
          <a:prstGeom prst="ellipse">
            <a:avLst/>
          </a:prstGeom>
          <a:solidFill>
            <a:srgbClr val="7B93FF"/>
          </a:solidFill>
          <a:ln w="12700">
            <a:solidFill>
              <a:srgbClr val="7B93FF"/>
            </a:solidFill>
            <a:prstDash val="solid"/>
          </a:ln>
        </p:spPr>
      </p:sp>
      <p:sp>
        <p:nvSpPr>
          <p:cNvPr id="79" name="Shape 77"/>
          <p:cNvSpPr/>
          <p:nvPr/>
        </p:nvSpPr>
        <p:spPr>
          <a:xfrm>
            <a:off x="9454896"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9784080" y="3584448"/>
            <a:ext cx="128016" cy="128016"/>
          </a:xfrm>
          <a:prstGeom prst="ellipse">
            <a:avLst/>
          </a:prstGeom>
          <a:solidFill>
            <a:srgbClr val="4FC7C7"/>
          </a:solidFill>
          <a:ln w="12700">
            <a:solidFill>
              <a:srgbClr val="4FC7C7"/>
            </a:solidFill>
            <a:prstDash val="solid"/>
          </a:ln>
        </p:spPr>
      </p:sp>
      <p:sp>
        <p:nvSpPr>
          <p:cNvPr id="81" name="Shape 79"/>
          <p:cNvSpPr/>
          <p:nvPr/>
        </p:nvSpPr>
        <p:spPr>
          <a:xfrm>
            <a:off x="10113264"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442448"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0771632" y="3584448"/>
            <a:ext cx="128016" cy="128016"/>
          </a:xfrm>
          <a:prstGeom prst="ellipse">
            <a:avLst/>
          </a:prstGeom>
          <a:solidFill>
            <a:srgbClr val="7B93FF"/>
          </a:solidFill>
          <a:ln w="12700">
            <a:solidFill>
              <a:srgbClr val="7B93FF"/>
            </a:solidFill>
            <a:prstDash val="solid"/>
          </a:ln>
        </p:spPr>
      </p:sp>
      <p:sp>
        <p:nvSpPr>
          <p:cNvPr id="84" name="Shape 82"/>
          <p:cNvSpPr/>
          <p:nvPr/>
        </p:nvSpPr>
        <p:spPr>
          <a:xfrm>
            <a:off x="11100816" y="3584448"/>
            <a:ext cx="128016" cy="128016"/>
          </a:xfrm>
          <a:prstGeom prst="ellipse">
            <a:avLst/>
          </a:prstGeom>
          <a:solidFill>
            <a:srgbClr val="4FC7C7"/>
          </a:solidFill>
          <a:ln w="12700">
            <a:solidFill>
              <a:srgbClr val="4FC7C7"/>
            </a:solidFill>
            <a:prstDash val="solid"/>
          </a:ln>
        </p:spPr>
      </p:sp>
      <p:sp>
        <p:nvSpPr>
          <p:cNvPr id="85" name="Shape 83"/>
          <p:cNvSpPr/>
          <p:nvPr/>
        </p:nvSpPr>
        <p:spPr>
          <a:xfrm>
            <a:off x="8138160"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467344"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8796528"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125712" y="3913632"/>
            <a:ext cx="128016" cy="128016"/>
          </a:xfrm>
          <a:prstGeom prst="ellipse">
            <a:avLst/>
          </a:prstGeom>
          <a:solidFill>
            <a:srgbClr val="4FC7C7"/>
          </a:solidFill>
          <a:ln w="12700">
            <a:solidFill>
              <a:srgbClr val="4FC7C7"/>
            </a:solidFill>
            <a:prstDash val="solid"/>
          </a:ln>
        </p:spPr>
      </p:sp>
      <p:sp>
        <p:nvSpPr>
          <p:cNvPr id="89" name="Shape 87"/>
          <p:cNvSpPr/>
          <p:nvPr/>
        </p:nvSpPr>
        <p:spPr>
          <a:xfrm>
            <a:off x="9454896"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9784080"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113264" y="3913632"/>
            <a:ext cx="128016" cy="128016"/>
          </a:xfrm>
          <a:prstGeom prst="ellipse">
            <a:avLst/>
          </a:prstGeom>
          <a:solidFill>
            <a:srgbClr val="7B93FF"/>
          </a:solidFill>
          <a:ln w="12700">
            <a:solidFill>
              <a:srgbClr val="7B93FF"/>
            </a:solidFill>
            <a:prstDash val="solid"/>
          </a:ln>
        </p:spPr>
      </p:sp>
      <p:sp>
        <p:nvSpPr>
          <p:cNvPr id="92" name="Shape 90"/>
          <p:cNvSpPr/>
          <p:nvPr/>
        </p:nvSpPr>
        <p:spPr>
          <a:xfrm>
            <a:off x="10442448"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0771632"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11100816" y="3913632"/>
            <a:ext cx="128016" cy="128016"/>
          </a:xfrm>
          <a:prstGeom prst="ellipse">
            <a:avLst/>
          </a:prstGeom>
          <a:solidFill>
            <a:srgbClr val="4FC7C7"/>
          </a:solidFill>
          <a:ln w="12700">
            <a:solidFill>
              <a:srgbClr val="4FC7C7"/>
            </a:solidFill>
            <a:prstDash val="solid"/>
          </a:ln>
        </p:spPr>
      </p:sp>
      <p:sp>
        <p:nvSpPr>
          <p:cNvPr id="95" name="Shape 93"/>
          <p:cNvSpPr/>
          <p:nvPr/>
        </p:nvSpPr>
        <p:spPr>
          <a:xfrm>
            <a:off x="8138160" y="4242816"/>
            <a:ext cx="128016" cy="128016"/>
          </a:xfrm>
          <a:prstGeom prst="ellipse">
            <a:avLst/>
          </a:prstGeom>
          <a:solidFill>
            <a:srgbClr val="7B93FF"/>
          </a:solidFill>
          <a:ln w="12700">
            <a:solidFill>
              <a:srgbClr val="7B93FF"/>
            </a:solidFill>
            <a:prstDash val="solid"/>
          </a:ln>
        </p:spPr>
      </p:sp>
      <p:sp>
        <p:nvSpPr>
          <p:cNvPr id="96" name="Shape 94"/>
          <p:cNvSpPr/>
          <p:nvPr/>
        </p:nvSpPr>
        <p:spPr>
          <a:xfrm>
            <a:off x="8467344" y="4242816"/>
            <a:ext cx="128016" cy="128016"/>
          </a:xfrm>
          <a:prstGeom prst="ellipse">
            <a:avLst/>
          </a:prstGeom>
          <a:solidFill>
            <a:srgbClr val="4FC7C7"/>
          </a:solidFill>
          <a:ln w="12700">
            <a:solidFill>
              <a:srgbClr val="4FC7C7"/>
            </a:solidFill>
            <a:prstDash val="solid"/>
          </a:ln>
        </p:spPr>
      </p:sp>
      <p:sp>
        <p:nvSpPr>
          <p:cNvPr id="97" name="Shape 95"/>
          <p:cNvSpPr/>
          <p:nvPr/>
        </p:nvSpPr>
        <p:spPr>
          <a:xfrm>
            <a:off x="8796528"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125712"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454896" y="4242816"/>
            <a:ext cx="128016" cy="128016"/>
          </a:xfrm>
          <a:prstGeom prst="ellipse">
            <a:avLst/>
          </a:prstGeom>
          <a:solidFill>
            <a:srgbClr val="7B93FF"/>
          </a:solidFill>
          <a:ln w="12700">
            <a:solidFill>
              <a:srgbClr val="7B93FF"/>
            </a:solidFill>
            <a:prstDash val="solid"/>
          </a:ln>
        </p:spPr>
      </p:sp>
      <p:sp>
        <p:nvSpPr>
          <p:cNvPr id="100" name="Shape 98"/>
          <p:cNvSpPr/>
          <p:nvPr/>
        </p:nvSpPr>
        <p:spPr>
          <a:xfrm>
            <a:off x="9784080"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113264"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442448" y="4242816"/>
            <a:ext cx="128016" cy="128016"/>
          </a:xfrm>
          <a:prstGeom prst="ellipse">
            <a:avLst/>
          </a:prstGeom>
          <a:solidFill>
            <a:srgbClr val="4FC7C7"/>
          </a:solidFill>
          <a:ln w="12700">
            <a:solidFill>
              <a:srgbClr val="4FC7C7"/>
            </a:solidFill>
            <a:prstDash val="solid"/>
          </a:ln>
        </p:spPr>
      </p:sp>
      <p:sp>
        <p:nvSpPr>
          <p:cNvPr id="103" name="Shape 101"/>
          <p:cNvSpPr/>
          <p:nvPr/>
        </p:nvSpPr>
        <p:spPr>
          <a:xfrm>
            <a:off x="10771632"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11100816" y="4242816"/>
            <a:ext cx="128016" cy="128016"/>
          </a:xfrm>
          <a:prstGeom prst="ellipse">
            <a:avLst/>
          </a:prstGeom>
          <a:solidFill>
            <a:srgbClr val="7B93FF"/>
          </a:solidFill>
          <a:ln w="12700">
            <a:solidFill>
              <a:srgbClr val="7B93FF"/>
            </a:solidFill>
            <a:prstDash val="solid"/>
          </a:ln>
        </p:spPr>
      </p:sp>
      <p:sp>
        <p:nvSpPr>
          <p:cNvPr id="105" name="Shape 103"/>
          <p:cNvSpPr/>
          <p:nvPr/>
        </p:nvSpPr>
        <p:spPr>
          <a:xfrm>
            <a:off x="8138160"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467344" y="4572000"/>
            <a:ext cx="128016" cy="128016"/>
          </a:xfrm>
          <a:prstGeom prst="ellipse">
            <a:avLst/>
          </a:prstGeom>
          <a:solidFill>
            <a:srgbClr val="7B93FF"/>
          </a:solidFill>
          <a:ln w="12700">
            <a:solidFill>
              <a:srgbClr val="7B93FF"/>
            </a:solidFill>
            <a:prstDash val="solid"/>
          </a:ln>
        </p:spPr>
      </p:sp>
      <p:sp>
        <p:nvSpPr>
          <p:cNvPr id="107" name="Shape 105"/>
          <p:cNvSpPr/>
          <p:nvPr/>
        </p:nvSpPr>
        <p:spPr>
          <a:xfrm>
            <a:off x="8796528"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125712" y="4572000"/>
            <a:ext cx="128016" cy="128016"/>
          </a:xfrm>
          <a:prstGeom prst="ellipse">
            <a:avLst/>
          </a:prstGeom>
          <a:solidFill>
            <a:srgbClr val="4FC7C7"/>
          </a:solidFill>
          <a:ln w="12700">
            <a:solidFill>
              <a:srgbClr val="4FC7C7"/>
            </a:solidFill>
            <a:prstDash val="solid"/>
          </a:ln>
        </p:spPr>
      </p:sp>
      <p:sp>
        <p:nvSpPr>
          <p:cNvPr id="109" name="Shape 107"/>
          <p:cNvSpPr/>
          <p:nvPr/>
        </p:nvSpPr>
        <p:spPr>
          <a:xfrm>
            <a:off x="9454896"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9784080" y="4572000"/>
            <a:ext cx="128016" cy="128016"/>
          </a:xfrm>
          <a:prstGeom prst="ellipse">
            <a:avLst/>
          </a:prstGeom>
          <a:solidFill>
            <a:srgbClr val="7B93FF"/>
          </a:solidFill>
          <a:ln w="12700">
            <a:solidFill>
              <a:srgbClr val="7B93FF"/>
            </a:solidFill>
            <a:prstDash val="solid"/>
          </a:ln>
        </p:spPr>
      </p:sp>
      <p:sp>
        <p:nvSpPr>
          <p:cNvPr id="111" name="Shape 109"/>
          <p:cNvSpPr/>
          <p:nvPr/>
        </p:nvSpPr>
        <p:spPr>
          <a:xfrm>
            <a:off x="10113264" y="4572000"/>
            <a:ext cx="128016" cy="128016"/>
          </a:xfrm>
          <a:prstGeom prst="ellipse">
            <a:avLst/>
          </a:prstGeom>
          <a:solidFill>
            <a:srgbClr val="4FC7C7"/>
          </a:solidFill>
          <a:ln w="12700">
            <a:solidFill>
              <a:srgbClr val="4FC7C7"/>
            </a:solidFill>
            <a:prstDash val="solid"/>
          </a:ln>
        </p:spPr>
      </p:sp>
      <p:sp>
        <p:nvSpPr>
          <p:cNvPr id="112" name="Shape 110"/>
          <p:cNvSpPr/>
          <p:nvPr/>
        </p:nvSpPr>
        <p:spPr>
          <a:xfrm>
            <a:off x="10442448"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0771632"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11100816" y="4572000"/>
            <a:ext cx="128016" cy="128016"/>
          </a:xfrm>
          <a:prstGeom prst="ellipse">
            <a:avLst/>
          </a:prstGeom>
          <a:solidFill>
            <a:srgbClr val="7B93FF"/>
          </a:solidFill>
          <a:ln w="12700">
            <a:solidFill>
              <a:srgbClr val="7B93FF"/>
            </a:solidFill>
            <a:prstDash val="solid"/>
          </a:ln>
        </p:spPr>
      </p:sp>
      <p:sp>
        <p:nvSpPr>
          <p:cNvPr id="115" name="Shape 113"/>
          <p:cNvSpPr/>
          <p:nvPr/>
        </p:nvSpPr>
        <p:spPr>
          <a:xfrm>
            <a:off x="8138160" y="4901184"/>
            <a:ext cx="128016" cy="128016"/>
          </a:xfrm>
          <a:prstGeom prst="ellipse">
            <a:avLst/>
          </a:prstGeom>
          <a:solidFill>
            <a:srgbClr val="4FC7C7"/>
          </a:solidFill>
          <a:ln w="12700">
            <a:solidFill>
              <a:srgbClr val="4FC7C7"/>
            </a:solidFill>
            <a:prstDash val="solid"/>
          </a:ln>
        </p:spPr>
      </p:sp>
      <p:sp>
        <p:nvSpPr>
          <p:cNvPr id="116" name="Shape 114"/>
          <p:cNvSpPr/>
          <p:nvPr/>
        </p:nvSpPr>
        <p:spPr>
          <a:xfrm>
            <a:off x="8467344"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8796528"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125712" y="4901184"/>
            <a:ext cx="128016" cy="128016"/>
          </a:xfrm>
          <a:prstGeom prst="ellipse">
            <a:avLst/>
          </a:prstGeom>
          <a:solidFill>
            <a:srgbClr val="7B93FF"/>
          </a:solidFill>
          <a:ln w="12700">
            <a:solidFill>
              <a:srgbClr val="7B93FF"/>
            </a:solidFill>
            <a:prstDash val="solid"/>
          </a:ln>
        </p:spPr>
      </p:sp>
      <p:sp>
        <p:nvSpPr>
          <p:cNvPr id="119" name="Shape 117"/>
          <p:cNvSpPr/>
          <p:nvPr/>
        </p:nvSpPr>
        <p:spPr>
          <a:xfrm>
            <a:off x="9454896"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9784080"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113264"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442448" y="4901184"/>
            <a:ext cx="128016" cy="128016"/>
          </a:xfrm>
          <a:prstGeom prst="ellipse">
            <a:avLst/>
          </a:prstGeom>
          <a:solidFill>
            <a:srgbClr val="4FC7C7"/>
          </a:solidFill>
          <a:ln w="12700">
            <a:solidFill>
              <a:srgbClr val="4FC7C7"/>
            </a:solidFill>
            <a:prstDash val="solid"/>
          </a:ln>
        </p:spPr>
      </p:sp>
      <p:sp>
        <p:nvSpPr>
          <p:cNvPr id="123" name="Shape 121"/>
          <p:cNvSpPr/>
          <p:nvPr/>
        </p:nvSpPr>
        <p:spPr>
          <a:xfrm>
            <a:off x="10771632"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11100816" y="4901184"/>
            <a:ext cx="128016" cy="128016"/>
          </a:xfrm>
          <a:prstGeom prst="ellipse">
            <a:avLst/>
          </a:prstGeom>
          <a:solidFill>
            <a:srgbClr val="7B93FF"/>
          </a:solidFill>
          <a:ln w="12700">
            <a:solidFill>
              <a:srgbClr val="7B93FF"/>
            </a:solidFill>
            <a:prstDash val="solid"/>
          </a:ln>
        </p:spPr>
      </p:sp>
      <p:sp>
        <p:nvSpPr>
          <p:cNvPr id="125" name="Shape 123"/>
          <p:cNvSpPr/>
          <p:nvPr/>
        </p:nvSpPr>
        <p:spPr>
          <a:xfrm>
            <a:off x="8138160" y="5230368"/>
            <a:ext cx="128016" cy="128016"/>
          </a:xfrm>
          <a:prstGeom prst="ellipse">
            <a:avLst/>
          </a:prstGeom>
          <a:solidFill>
            <a:srgbClr val="7B93FF"/>
          </a:solidFill>
          <a:ln w="12700">
            <a:solidFill>
              <a:srgbClr val="7B93FF"/>
            </a:solidFill>
            <a:prstDash val="solid"/>
          </a:ln>
        </p:spPr>
      </p:sp>
      <p:sp>
        <p:nvSpPr>
          <p:cNvPr id="126" name="Shape 124"/>
          <p:cNvSpPr/>
          <p:nvPr/>
        </p:nvSpPr>
        <p:spPr>
          <a:xfrm>
            <a:off x="8467344" y="5230368"/>
            <a:ext cx="128016" cy="128016"/>
          </a:xfrm>
          <a:prstGeom prst="ellipse">
            <a:avLst/>
          </a:prstGeom>
          <a:solidFill>
            <a:srgbClr val="4FC7C7"/>
          </a:solidFill>
          <a:ln w="12700">
            <a:solidFill>
              <a:srgbClr val="4FC7C7"/>
            </a:solidFill>
            <a:prstDash val="solid"/>
          </a:ln>
        </p:spPr>
      </p:sp>
      <p:sp>
        <p:nvSpPr>
          <p:cNvPr id="127" name="Shape 125"/>
          <p:cNvSpPr/>
          <p:nvPr/>
        </p:nvSpPr>
        <p:spPr>
          <a:xfrm>
            <a:off x="8796528" y="5230368"/>
            <a:ext cx="128016" cy="128016"/>
          </a:xfrm>
          <a:prstGeom prst="ellipse">
            <a:avLst/>
          </a:prstGeom>
          <a:solidFill>
            <a:srgbClr val="7B93FF"/>
          </a:solidFill>
          <a:ln w="12700">
            <a:solidFill>
              <a:srgbClr val="7B93FF"/>
            </a:solidFill>
            <a:prstDash val="solid"/>
          </a:ln>
        </p:spPr>
      </p:sp>
      <p:sp>
        <p:nvSpPr>
          <p:cNvPr id="128" name="Shape 126"/>
          <p:cNvSpPr/>
          <p:nvPr/>
        </p:nvSpPr>
        <p:spPr>
          <a:xfrm>
            <a:off x="9125712"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454896"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9784080"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113264" y="5230368"/>
            <a:ext cx="128016" cy="128016"/>
          </a:xfrm>
          <a:prstGeom prst="ellipse">
            <a:avLst/>
          </a:prstGeom>
          <a:solidFill>
            <a:srgbClr val="4FC7C7"/>
          </a:solidFill>
          <a:ln w="12700">
            <a:solidFill>
              <a:srgbClr val="4FC7C7"/>
            </a:solidFill>
            <a:prstDash val="solid"/>
          </a:ln>
        </p:spPr>
      </p:sp>
      <p:sp>
        <p:nvSpPr>
          <p:cNvPr id="132" name="Shape 130"/>
          <p:cNvSpPr/>
          <p:nvPr/>
        </p:nvSpPr>
        <p:spPr>
          <a:xfrm>
            <a:off x="10442448"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0771632" y="5230368"/>
            <a:ext cx="128016" cy="128016"/>
          </a:xfrm>
          <a:prstGeom prst="ellipse">
            <a:avLst/>
          </a:prstGeom>
          <a:solidFill>
            <a:srgbClr val="7B93FF"/>
          </a:solidFill>
          <a:ln w="12700">
            <a:solidFill>
              <a:srgbClr val="7B93FF"/>
            </a:solidFill>
            <a:prstDash val="solid"/>
          </a:ln>
        </p:spPr>
      </p:sp>
      <p:sp>
        <p:nvSpPr>
          <p:cNvPr id="134" name="Shape 132"/>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목차</a:t>
            </a:r>
            <a:endParaRPr lang="en-US" sz="2000" dirty="0"/>
          </a:p>
        </p:txBody>
      </p:sp>
      <p:sp>
        <p:nvSpPr>
          <p:cNvPr id="5" name="Text 2"/>
          <p:cNvSpPr txBox="1"/>
          <p:nvPr/>
        </p:nvSpPr>
        <p:spPr>
          <a:xfrm>
            <a:off x="640080"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2094525" cy="0"/>
          </a:xfrm>
          <a:prstGeom prst="line">
            <a:avLst/>
          </a:prstGeom>
          <a:noFill/>
          <a:ln w="76200">
            <a:solidFill>
              <a:srgbClr val="3A5BFF"/>
            </a:solidFill>
            <a:prstDash val="solid"/>
          </a:ln>
        </p:spPr>
      </p:sp>
      <p:sp>
        <p:nvSpPr>
          <p:cNvPr id="7" name="Text 4"/>
          <p:cNvSpPr txBox="1"/>
          <p:nvPr/>
        </p:nvSpPr>
        <p:spPr>
          <a:xfrm>
            <a:off x="284433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8" name="Shape 5"/>
          <p:cNvSpPr/>
          <p:nvPr/>
        </p:nvSpPr>
        <p:spPr>
          <a:xfrm>
            <a:off x="2844333" y="3154680"/>
            <a:ext cx="2094525" cy="0"/>
          </a:xfrm>
          <a:prstGeom prst="line">
            <a:avLst/>
          </a:prstGeom>
          <a:noFill/>
          <a:ln w="76200">
            <a:solidFill>
              <a:srgbClr val="3A5BFF"/>
            </a:solidFill>
            <a:prstDash val="solid"/>
          </a:ln>
        </p:spPr>
      </p:sp>
      <p:sp>
        <p:nvSpPr>
          <p:cNvPr id="9" name="Text 6"/>
          <p:cNvSpPr txBox="1"/>
          <p:nvPr/>
        </p:nvSpPr>
        <p:spPr>
          <a:xfrm>
            <a:off x="5048585"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0" name="Shape 7"/>
          <p:cNvSpPr/>
          <p:nvPr/>
        </p:nvSpPr>
        <p:spPr>
          <a:xfrm>
            <a:off x="5048585" y="3154680"/>
            <a:ext cx="2094525" cy="0"/>
          </a:xfrm>
          <a:prstGeom prst="line">
            <a:avLst/>
          </a:prstGeom>
          <a:noFill/>
          <a:ln w="76200">
            <a:solidFill>
              <a:srgbClr val="3A5BFF"/>
            </a:solidFill>
            <a:prstDash val="solid"/>
          </a:ln>
        </p:spPr>
      </p:sp>
      <p:sp>
        <p:nvSpPr>
          <p:cNvPr id="11" name="Text 8"/>
          <p:cNvSpPr txBox="1"/>
          <p:nvPr/>
        </p:nvSpPr>
        <p:spPr>
          <a:xfrm>
            <a:off x="7252838"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2" name="Shape 9"/>
          <p:cNvSpPr/>
          <p:nvPr/>
        </p:nvSpPr>
        <p:spPr>
          <a:xfrm>
            <a:off x="7252838" y="3154680"/>
            <a:ext cx="2094525" cy="0"/>
          </a:xfrm>
          <a:prstGeom prst="line">
            <a:avLst/>
          </a:prstGeom>
          <a:noFill/>
          <a:ln w="76200">
            <a:solidFill>
              <a:srgbClr val="3A5BFF"/>
            </a:solidFill>
            <a:prstDash val="solid"/>
          </a:ln>
        </p:spPr>
      </p:sp>
      <p:sp>
        <p:nvSpPr>
          <p:cNvPr id="13" name="Text 10"/>
          <p:cNvSpPr txBox="1"/>
          <p:nvPr/>
        </p:nvSpPr>
        <p:spPr>
          <a:xfrm>
            <a:off x="9457091"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4" name="Shape 11"/>
          <p:cNvSpPr/>
          <p:nvPr/>
        </p:nvSpPr>
        <p:spPr>
          <a:xfrm>
            <a:off x="9457091" y="3154680"/>
            <a:ext cx="2094525" cy="0"/>
          </a:xfrm>
          <a:prstGeom prst="line">
            <a:avLst/>
          </a:prstGeom>
          <a:noFill/>
          <a:ln w="76200">
            <a:solidFill>
              <a:srgbClr val="3A5BFF"/>
            </a:solidFill>
            <a:prstDash val="solid"/>
          </a:ln>
        </p:spPr>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비교로는 </a:t>
            </a:r>
            <a:pPr indent="0" marL="0">
              <a:buNone/>
            </a:pPr>
            <a:r>
              <a:rPr lang="en-US" sz="2000" b="1" dirty="0">
                <a:solidFill>
                  <a:schemeClr val="accent4"/>
                </a:solidFill>
              </a:rPr>
              <a:t>무엇 때문에</a:t>
            </a:r>
            <a:pPr indent="0" marL="0">
              <a:buNone/>
            </a:pPr>
            <a:r>
              <a:rPr lang="en-US" sz="2000" dirty="0">
                <a:solidFill>
                  <a:schemeClr val="tx1"/>
                </a:solidFill>
              </a:rPr>
              <a:t> 올랐는지 가를 수 없다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 (Fundamental Problem of Causal Inference) → 개인 대신 집단 평균을 비교</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 → 두 그룹 평균 차이가 ATE의 편향 없는 추정치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 미뤄 둔 아이디어가 매출을 12% 올렸다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광고 제목 길게 표시 · 사용자 경험 지표(세션 수, 이용량, 관련성) 악화 없음</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같은 말: 온라인 통제 실험(Online Controlled Experiment), 분할 테스트, 버킷 테스트, 플라이트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통제를 엄격하게 할수록 내적 타당성 ↑, 현실과의 거리 ↑ → 단계적으로 확보</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Bing은 왜 전후 비교를 하지 않았나</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광고 제목 아래 문장을 제목에 합쳐 길게 표시</a:t>
            </a:r>
            <a:endParaRPr lang="en-US" sz="1500" dirty="0"/>
          </a:p>
          <a:p>
            <a:pPr marL="342900" indent="-342900">
              <a:spcAft>
                <a:spcPts val="800"/>
              </a:spcAft>
              <a:buSzPct val="100000"/>
              <a:buChar char="•"/>
            </a:pPr>
            <a:r>
              <a:rPr lang="en-US" sz="1500" dirty="0">
                <a:solidFill>
                  <a:schemeClr val="tx1"/>
                </a:solidFill>
              </a:rPr>
              <a:t>같은 기간에 일부는 기존 광고, 일부는 긴 제목 광고</a:t>
            </a:r>
            <a:endParaRPr lang="en-US" sz="1500" dirty="0"/>
          </a:p>
          <a:p>
            <a:pPr marL="342900" indent="-342900">
              <a:spcAft>
                <a:spcPts val="800"/>
              </a:spcAft>
              <a:buSzPct val="100000"/>
              <a:buChar char="•"/>
            </a:pPr>
            <a:r>
              <a:rPr lang="en-US" sz="1500" dirty="0">
                <a:solidFill>
                  <a:schemeClr val="tx1"/>
                </a:solidFill>
              </a:rPr>
              <a:t>매출 약 12% 증가, 사용자 경험 지표는 유지</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Ch1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전후 비교였다면</a:t>
            </a:r>
            <a:endParaRPr lang="en-US" sz="1500" dirty="0"/>
          </a:p>
          <a:p>
            <a:pPr indent="0" marL="0">
              <a:buNone/>
            </a:pPr>
            <a:r>
              <a:rPr lang="en-US" sz="1500" dirty="0">
                <a:solidFill>
                  <a:schemeClr val="tx2"/>
                </a:solidFill>
              </a:rPr>
              <a:t>광고 매출은 시즌·광고주 예산·검색 트렌드로 늘 출렁인다 → 12%의 원인을 가를 수 없다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무작위 배정</a:t>
            </a:r>
            <a:endParaRPr lang="en-US" sz="1500" dirty="0"/>
          </a:p>
          <a:p>
            <a:pPr indent="0" marL="0">
              <a:buNone/>
            </a:pPr>
            <a:r>
              <a:rPr lang="en-US" sz="1500" dirty="0">
                <a:solidFill>
                  <a:schemeClr val="tx2"/>
                </a:solidFill>
              </a:rPr>
              <a:t>같은 기간, 비슷한 두 그룹 → 차이 = 제목 변경 효과 + 우연</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Potential Outcomes</a:t>
            </a:r>
            <a:endParaRPr lang="en-US" sz="1500" dirty="0"/>
          </a:p>
          <a:p>
            <a:pPr indent="0" marL="0">
              <a:buNone/>
            </a:pPr>
            <a:r>
              <a:rPr lang="en-US" sz="1500" dirty="0">
                <a:solidFill>
                  <a:schemeClr val="tx2"/>
                </a:solidFill>
              </a:rPr>
              <a:t>한 사람이 두 제목을 동시에 볼 수 없다 → 그룹 평균 차이(ATE)로 추정</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내적·외적 타당성</a:t>
            </a:r>
            <a:endParaRPr lang="en-US" sz="1500" dirty="0"/>
          </a:p>
          <a:p>
            <a:pPr indent="0" marL="0">
              <a:buNone/>
            </a:pPr>
            <a:r>
              <a:rPr lang="en-US" sz="1500" dirty="0">
                <a:solidFill>
                  <a:schemeClr val="tx2"/>
                </a:solidFill>
              </a:rPr>
              <a:t>그 시기 Bing 사용자에서 맞는 결과 → 다른 시장·시기에는 다시 확인</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01편 1 · Kohavi &amp; Thomke (2017), HBR</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문제와 가설, 지표, 단위, 표본, 배정</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marL="342900" indent="-342900">
              <a:spcAft>
                <a:spcPts val="400"/>
              </a:spcAft>
              <a:buSzPct val="100000"/>
              <a:buChar char="•"/>
            </a:pPr>
            <a:r>
              <a:rPr lang="en-US" sz="1500" dirty="0">
                <a:solidFill>
                  <a:schemeClr val="tx2"/>
                </a:solidFill>
              </a:rPr>
              <a:t>A/B는 "무엇을 바꿨을 때 이 지표가 얼마나 달라졌나"를 비교</a:t>
            </a:r>
            <a:endParaRPr lang="en-US" sz="1500" dirty="0"/>
          </a:p>
          <a:p>
            <a:pPr marL="342900" indent="-342900">
              <a:spcAft>
                <a:spcPts val="400"/>
              </a:spcAft>
              <a:buSzPct val="100000"/>
              <a:buChar char="•"/>
            </a:pPr>
            <a:r>
              <a:rPr lang="en-US" sz="1500" dirty="0">
                <a:solidFill>
                  <a:schemeClr val="tx2"/>
                </a:solidFill>
              </a:rPr>
              <a:t>지표·구간까지 좁혀야 바꿀 곳이 보인다</a:t>
            </a:r>
            <a:endParaRPr lang="en-US" sz="1500" dirty="0"/>
          </a:p>
          <a:p>
            <a:pPr marL="342900" indent="-342900">
              <a:buSzPct val="100000"/>
              <a:buChar char="•"/>
            </a:pPr>
            <a:r>
              <a:rPr lang="en-US" sz="1500" dirty="0">
                <a:solidFill>
                  <a:schemeClr val="tx2"/>
                </a:solidFill>
              </a:rPr>
              <a:t>엉뚱한 Treatment를 실험하지 않게 된다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 전환율이 올라도 원인을 모른다</a:t>
            </a:r>
            <a:endParaRPr lang="en-US" sz="1500" dirty="0"/>
          </a:p>
          <a:p>
            <a:pPr indent="0" marL="0">
              <a:buNone/>
            </a:pPr>
            <a:r>
              <a:rPr lang="en-US" sz="2000" b="1" dirty="0">
                <a:solidFill>
                  <a:schemeClr val="accent1"/>
                </a:solidFill>
              </a:rPr>
              <a:t>대조군과의 차이는 핵심 변화 하나만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이 연결을 설명할 수 있어야 한다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대상·이유·지표가 없음 → 어떤 결과로도 '틀렸다'고 할 수 없다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제품 가설을 통계적 가설로 바꾼다</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참이라 두고 → 지금 데이터가 얼마나 드문지 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 "나빠지지 않았다"는 결과 1만 가능 · 마진은 실험 전에 비즈니스와 합의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OEC는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93776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 품질·사용량·광고 수익처럼 균형이 필요하면 실험 전에 정한 가중치로 조합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목표가 아니라 가치를 대신 재는 숫자다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 최대화" → 숫자는 오르는데 그 숫자가 대변하던 가치는 떨어질 수 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가치를 대신 재는 숫자</a:t>
            </a:r>
            <a:endParaRPr lang="en-US" sz="1500" dirty="0"/>
          </a:p>
          <a:p>
            <a:pPr indent="0" marL="0">
              <a:spcAft>
                <a:spcPts val="400"/>
              </a:spcAft>
              <a:buNone/>
            </a:pPr>
            <a:r>
              <a:rPr lang="en-US" sz="2000" b="1" dirty="0">
                <a:solidFill>
                  <a:schemeClr val="tx1"/>
                </a:solidFill>
              </a:rPr>
              <a:t>유의성의 한계</a:t>
            </a:r>
            <a:endParaRPr lang="en-US" sz="1500" dirty="0"/>
          </a:p>
          <a:p>
            <a:pPr indent="0" marL="0">
              <a:buNone/>
            </a:pPr>
            <a:r>
              <a:rPr lang="en-US" sz="1500" dirty="0">
                <a:solidFill>
                  <a:schemeClr val="tx2"/>
                </a:solidFill>
              </a:rPr>
              <a:t>유의하다 ≠ 지표를 잘 골랐다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 "취소율이 X 이상 나빠지면 배포 안 함"을 실험 전에</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다른 지표를 보지 말라는 게 아니다 · 나중에 찾은 패턴은 탐색적 결과로 구분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 다른 단위는 이유를 댈 수 있을 때만 · 배정 ≠ 분석 단위면 분산 보정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식별자는 사람의 근사치다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식별자는 사람의 근사치 · 배정 기준 식별자는 실험 전에 정하기 · 식별자 로그 = 개인정보</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전체 영향 보고 = 트리거 효과 × 트리거 비율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Bing 실험을 설계서로 다시 쓰면</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매출 약 12% 증가</a:t>
            </a:r>
            <a:endParaRPr lang="en-US" sz="1500" dirty="0"/>
          </a:p>
          <a:p>
            <a:pPr marL="342900" indent="-342900">
              <a:spcAft>
                <a:spcPts val="800"/>
              </a:spcAft>
              <a:buSzPct val="100000"/>
              <a:buChar char="•"/>
            </a:pPr>
            <a:r>
              <a:rPr lang="en-US" sz="1500" dirty="0">
                <a:solidFill>
                  <a:schemeClr val="tx1"/>
                </a:solidFill>
              </a:rPr>
              <a:t>사용자당 세션 수, 사용량, 관련성은 나빠지지 않음</a:t>
            </a:r>
            <a:endParaRPr lang="en-US" sz="1500" dirty="0"/>
          </a:p>
          <a:p>
            <a:pPr marL="342900" indent="-342900">
              <a:spcAft>
                <a:spcPts val="800"/>
              </a:spcAft>
              <a:buSzPct val="100000"/>
              <a:buChar char="•"/>
            </a:pPr>
            <a:r>
              <a:rPr lang="en-US" sz="1500" dirty="0">
                <a:solidFill>
                  <a:schemeClr val="tx1"/>
                </a:solidFill>
              </a:rPr>
              <a:t>다른 실험: 랭킹 버그로 검색 결과가 나빠지자 고유 쿼리 수 10% 이상, 매출 30% 이상 증가</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Ch2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가설</a:t>
            </a:r>
            <a:endParaRPr lang="en-US" sz="1500" dirty="0"/>
          </a:p>
          <a:p>
            <a:pPr indent="0" marL="0">
              <a:buNone/>
            </a:pPr>
            <a:r>
              <a:rPr lang="en-US" sz="1500" dirty="0">
                <a:solidFill>
                  <a:schemeClr val="tx2"/>
                </a:solidFill>
              </a:rPr>
              <a:t>검색 사용자에게 긴 광고 제목을 보여주면, 광고 내용이 잘 보여 사용자당 매출이 오를 것이다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OEC는 매출만으로 안 된다</a:t>
            </a:r>
            <a:endParaRPr lang="en-US" sz="1500" dirty="0"/>
          </a:p>
          <a:p>
            <a:pPr indent="0" marL="0">
              <a:buNone/>
            </a:pPr>
            <a:r>
              <a:rPr lang="en-US" sz="1500" dirty="0">
                <a:solidFill>
                  <a:schemeClr val="tx2"/>
                </a:solidFill>
              </a:rPr>
              <a:t>랭킹 버그처럼 나쁜 변화도 쿼리·매출을 올린다 → 사용자 경험을 함께 담는다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Guardrail</a:t>
            </a:r>
            <a:endParaRPr lang="en-US" sz="1500" dirty="0"/>
          </a:p>
          <a:p>
            <a:pPr indent="0" marL="0">
              <a:buNone/>
            </a:pPr>
            <a:r>
              <a:rPr lang="en-US" sz="1500" dirty="0">
                <a:solidFill>
                  <a:schemeClr val="tx2"/>
                </a:solidFill>
              </a:rPr>
              <a:t>사용자당 세션 수, 사용량, 관련성 → 원문이 확인한 바로 그 지표</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실험 단위</a:t>
            </a:r>
            <a:endParaRPr lang="en-US" sz="1500" dirty="0"/>
          </a:p>
          <a:p>
            <a:pPr indent="0" marL="0">
              <a:buNone/>
            </a:pPr>
            <a:r>
              <a:rPr lang="en-US" sz="1500" dirty="0">
                <a:solidFill>
                  <a:schemeClr val="tx2"/>
                </a:solidFill>
              </a:rPr>
              <a:t>사용자 단위 배정 → 같은 사람이 검색할 때마다 다른 광고를 보지 않게</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01편 1 · 랭킹 버그: Kohavi (2017), Trustworthy A/B Tests 발표 자료</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A/A, 램프업, 기간, 검정, 구간, 분산 축소</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단계를 넘기는 기준(에러율, 가드레일)은 실험 전에 정한다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 = 위험 제한  </a:t>
            </a:r>
            <a:pPr indent="0" marL="0">
              <a:buNone/>
            </a:pPr>
            <a:r>
              <a:rPr lang="en-US" sz="1500" dirty="0">
                <a:solidFill>
                  <a:schemeClr val="tx1"/>
                </a:solidFill>
              </a:rPr>
              <a:t>효과를 빨리 찾는 절차가 아니다 · 1%에서 좋아 보인다고 늘리면 Peeking과 같다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A/A에서 '유의'가 나오는 정상 빈도 (α = 5%)</a:t>
            </a:r>
            <a:endParaRPr lang="en-US" sz="1500" dirty="0"/>
          </a:p>
          <a:p>
            <a:pPr indent="0" marL="0">
              <a:buNone/>
            </a:pPr>
            <a:r>
              <a:rPr lang="en-US" sz="1500" dirty="0">
                <a:solidFill>
                  <a:schemeClr val="tx2"/>
                </a:solidFill>
              </a:rPr>
              <a:t>훨씬 잦으면 → 시스템 의심</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효과엔 신기효과가 섞여 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주말 사용자 ≠ 주중 사용자 → 완전한 주 단위로</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판단 기준: 필요 표본 · 행동 주기 포함 · 초기 시간 효과가 지배하지 않음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검정 자체는 공통 3주차 그대로 · 달라지는 건 무엇을 비교하느냐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엄밀한 뜻: 같은 절차를 반복하면 구간의 95%가 참값을 포함 ('이 구간에 참값이 있을 확률 95%'가 아님)</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차이도 p &lt; 0.05 · 유의 ≠ 크다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효과는 그대로, 신뢰구간만 좁힌다 → 더 작은 효과 탐지, 더 적은 표본·짧은 기간</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너무 좋은 결과부터 의심한다</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실험 직후 매출이 비정상적으로 높아 '너무 좋은 결과' 경보가 울림</a:t>
            </a:r>
            <a:endParaRPr lang="en-US" sz="1500" dirty="0"/>
          </a:p>
          <a:p>
            <a:pPr marL="342900" indent="-342900">
              <a:spcAft>
                <a:spcPts val="800"/>
              </a:spcAft>
              <a:buSzPct val="100000"/>
              <a:buChar char="•"/>
            </a:pPr>
            <a:r>
              <a:rPr lang="en-US" sz="1500" dirty="0">
                <a:solidFill>
                  <a:schemeClr val="tx1"/>
                </a:solidFill>
              </a:rPr>
              <a:t>보통 이런 경보는 버그 신호지만, 이번엔 버그가 없었음</a:t>
            </a:r>
            <a:endParaRPr lang="en-US" sz="1500" dirty="0"/>
          </a:p>
          <a:p>
            <a:pPr marL="342900" indent="-342900">
              <a:spcAft>
                <a:spcPts val="800"/>
              </a:spcAft>
              <a:buSzPct val="100000"/>
              <a:buChar char="•"/>
            </a:pPr>
            <a:r>
              <a:rPr lang="en-US" sz="1500" dirty="0">
                <a:solidFill>
                  <a:schemeClr val="tx1"/>
                </a:solidFill>
              </a:rPr>
              <a:t>Bing 실험에서 CUPED로 분산 약 50% 감소</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Ch3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트위먼의 법칙</a:t>
            </a:r>
            <a:endParaRPr lang="en-US" sz="1500" dirty="0"/>
          </a:p>
          <a:p>
            <a:pPr indent="0" marL="0">
              <a:buNone/>
            </a:pPr>
            <a:r>
              <a:rPr lang="en-US" sz="1500" dirty="0">
                <a:solidFill>
                  <a:schemeClr val="tx2"/>
                </a:solidFill>
              </a:rPr>
              <a:t>흥미롭거나 이상한 숫자는 대개 틀렸다 → 기뻐하기 전에 데이터부터</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SRM·A/A 먼저</a:t>
            </a:r>
            <a:endParaRPr lang="en-US" sz="1500" dirty="0"/>
          </a:p>
          <a:p>
            <a:pPr indent="0" marL="0">
              <a:buNone/>
            </a:pPr>
            <a:r>
              <a:rPr lang="en-US" sz="1500" dirty="0">
                <a:solidFill>
                  <a:schemeClr val="tx2"/>
                </a:solidFill>
              </a:rPr>
              <a:t>배정 비율, 로깅 누락, 봇 트래픽부터 확인한다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구간으로 읽기 + CUPED</a:t>
            </a:r>
            <a:endParaRPr lang="en-US" sz="1500" dirty="0"/>
          </a:p>
          <a:p>
            <a:pPr indent="0" marL="0">
              <a:buNone/>
            </a:pPr>
            <a:r>
              <a:rPr lang="en-US" sz="1500" dirty="0">
                <a:solidFill>
                  <a:schemeClr val="tx2"/>
                </a:solidFill>
              </a:rPr>
              <a:t>12%의 신뢰구간 하한까지 본다 · 분산이 절반이면 필요한 사용자도 약 절반</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신규성 효과</a:t>
            </a:r>
            <a:endParaRPr lang="en-US" sz="1500" dirty="0"/>
          </a:p>
          <a:p>
            <a:pPr indent="0" marL="0">
              <a:buNone/>
            </a:pPr>
            <a:r>
              <a:rPr lang="en-US" sz="1500" dirty="0">
                <a:solidFill>
                  <a:schemeClr val="tx2"/>
                </a:solidFill>
              </a:rPr>
              <a:t>긴 제목이 낯설어서 누른 것인지 → 일차별 효과 추이를 본다</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경보: Kohavi &amp; Thomke (2017), HBR</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개념을 먼저 잡고, 직접 겪는 건 뒤의 함정 세션에서</a:t>
            </a:r>
            <a:endParaRPr lang="en-US" sz="2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언제 멈춰도 α 유지 · 대가로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'매일 보고 마음대로 멈추기'가 아니다</a:t>
            </a:r>
            <a:endParaRPr lang="en-US" sz="1500" dirty="0"/>
          </a:p>
          <a:p>
            <a:pPr marL="342900" indent="-342900">
              <a:spcAft>
                <a:spcPts val="400"/>
              </a:spcAft>
              <a:buSzPct val="100000"/>
              <a:buChar char="•"/>
            </a:pPr>
            <a:r>
              <a:rPr lang="en-US" sz="1500" dirty="0">
                <a:solidFill>
                  <a:schemeClr val="tx1"/>
                </a:solidFill>
              </a:rPr>
              <a:t>방법: Alpha Spending, Group Sequential Test, Always-Valid p-value</a:t>
            </a:r>
            <a:endParaRPr lang="en-US" sz="1500" dirty="0"/>
          </a:p>
          <a:p>
            <a:pPr marL="342900" indent="-342900">
              <a:spcAft>
                <a:spcPts val="400"/>
              </a:spcAft>
              <a:buSzPct val="100000"/>
              <a:buChar char="•"/>
            </a:pPr>
            <a:r>
              <a:rPr lang="en-US" sz="1500" dirty="0">
                <a:solidFill>
                  <a:schemeClr val="tx1"/>
                </a:solidFill>
              </a:rPr>
              <a:t>중간에 Sequential로 갈아타지 않는다 · 중단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 낮은 모바일이 B 80%, A 20%</a:t>
            </a:r>
            <a:endParaRPr lang="en-US" sz="1500" dirty="0"/>
          </a:p>
          <a:p>
            <a:pPr indent="0" marL="0">
              <a:buNone/>
            </a:pPr>
            <a:r>
              <a:rPr lang="en-US" sz="2000" b="1" dirty="0">
                <a:solidFill>
                  <a:schemeClr val="tx1"/>
                </a:solidFill>
              </a:rPr>
              <a:t>실험이라면</a:t>
            </a:r>
            <a:endParaRPr lang="en-US" sz="1500" dirty="0"/>
          </a:p>
          <a:p>
            <a:pPr indent="0" marL="0">
              <a:buNone/>
            </a:pPr>
            <a:r>
              <a:rPr lang="en-US" sz="1500" dirty="0">
                <a:solidFill>
                  <a:schemeClr val="tx2"/>
                </a:solidFill>
              </a:rPr>
              <a:t>그룹 구성이 다르다 = 배정 문제 신호 · 램프업 중 비율 변경에서도 생김</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어디서든 생긴다</a:t>
            </a:r>
            <a:endParaRPr lang="en-US" sz="1500" dirty="0"/>
          </a:p>
          <a:p>
            <a:pPr indent="0" marL="0">
              <a:buNone/>
            </a:pPr>
            <a:r>
              <a:rPr lang="en-US" sz="1500" b="1" dirty="0">
                <a:solidFill>
                  <a:schemeClr val="tx1"/>
                </a:solidFill>
              </a:rPr>
              <a:t>배정  </a:t>
            </a:r>
            <a:pPr indent="0" marL="0">
              <a:spcAft>
                <a:spcPts val="300"/>
              </a:spcAft>
              <a:buNone/>
            </a:pPr>
            <a:r>
              <a:rPr lang="en-US" sz="1500" dirty="0">
                <a:solidFill>
                  <a:schemeClr val="tx1"/>
                </a:solidFill>
              </a:rPr>
              <a:t>해시·버킷 로직, 비율 설정 오류</a:t>
            </a:r>
            <a:endParaRPr lang="en-US" sz="1500" dirty="0"/>
          </a:p>
          <a:p>
            <a:pPr indent="0" marL="0">
              <a:buNone/>
            </a:pPr>
            <a:r>
              <a:rPr lang="en-US" sz="1500" b="1" dirty="0">
                <a:solidFill>
                  <a:schemeClr val="tx1"/>
                </a:solidFill>
              </a:rPr>
              <a:t>노출  </a:t>
            </a:r>
            <a:pPr indent="0" marL="0">
              <a:spcAft>
                <a:spcPts val="300"/>
              </a:spcAft>
              <a:buNone/>
            </a:pPr>
            <a:r>
              <a:rPr lang="en-US" sz="1500" dirty="0">
                <a:solidFill>
                  <a:schemeClr val="tx1"/>
                </a:solidFill>
              </a:rPr>
              <a:t>특정 기기·브라우저에서 B가 안 뜸</a:t>
            </a:r>
            <a:endParaRPr lang="en-US" sz="1500" dirty="0"/>
          </a:p>
          <a:p>
            <a:pPr indent="0" marL="0">
              <a:buNone/>
            </a:pPr>
            <a:r>
              <a:rPr lang="en-US" sz="1500" b="1" dirty="0">
                <a:solidFill>
                  <a:schemeClr val="tx1"/>
                </a:solidFill>
              </a:rPr>
              <a:t>로깅  </a:t>
            </a:r>
            <a:pPr indent="0" marL="0">
              <a:spcAft>
                <a:spcPts val="300"/>
              </a:spcAft>
              <a:buNone/>
            </a:pPr>
            <a:r>
              <a:rPr lang="en-US" sz="1500" dirty="0">
                <a:solidFill>
                  <a:schemeClr val="tx1"/>
                </a:solidFill>
              </a:rPr>
              <a:t>한 Variant의 이벤트 누락</a:t>
            </a:r>
            <a:endParaRPr lang="en-US" sz="1500" dirty="0"/>
          </a:p>
          <a:p>
            <a:pPr indent="0" marL="0">
              <a:buNone/>
            </a:pPr>
            <a:r>
              <a:rPr lang="en-US" sz="1500" b="1" dirty="0">
                <a:solidFill>
                  <a:schemeClr val="tx1"/>
                </a:solidFill>
              </a:rPr>
              <a:t>데이터 처리  </a:t>
            </a:r>
            <a:pPr indent="0" marL="0">
              <a:spcAft>
                <a:spcPts val="300"/>
              </a:spcAft>
              <a:buNone/>
            </a:pPr>
            <a:r>
              <a:rPr lang="en-US" sz="1500" dirty="0">
                <a:solidFill>
                  <a:schemeClr val="tx1"/>
                </a:solidFill>
              </a:rPr>
              <a:t>Join·ETL·필터에서 한쪽이 더 빠짐</a:t>
            </a:r>
            <a:endParaRPr lang="en-US" sz="1500" dirty="0"/>
          </a:p>
          <a:p>
            <a:pPr indent="0" marL="0">
              <a:buNone/>
            </a:pPr>
            <a:r>
              <a:rPr lang="en-US" sz="1500" b="1" dirty="0">
                <a:solidFill>
                  <a:schemeClr val="tx1"/>
                </a:solidFill>
              </a:rPr>
              <a:t>분석  </a:t>
            </a:r>
            <a:pPr indent="0" marL="0">
              <a:buNone/>
            </a:pP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점검 요령  </a:t>
            </a:r>
            <a:pPr indent="0" marL="0">
              <a:buNone/>
            </a:pPr>
            <a:r>
              <a:rPr lang="en-US" sz="1500" dirty="0">
                <a:solidFill>
                  <a:schemeClr val="tx1"/>
                </a:solidFill>
              </a:rPr>
              <a:t>배정 단위로 센다(사용자 배정 → 고유 사용자 수) · 기기·브라우저·날짜·국가·유입 채널로 쪼개 원인 찾기</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400" dirty="0">
                <a:solidFill>
                  <a:schemeClr val="tx2"/>
                </a:solidFill>
              </a:rPr>
              <a:t>SRM = 결과 지표가 아니라 신뢰성 지표(Trustworthiness Metric) · 핵심은 인원수가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indent="0" marL="0">
              <a:buNone/>
            </a:pPr>
            <a:r>
              <a:rPr lang="en-US" sz="1500" b="1" dirty="0">
                <a:solidFill>
                  <a:schemeClr val="accent4"/>
                </a:solidFill>
              </a:rPr>
              <a:t>결과를 본 뒤 필터링하지 않는다  </a:t>
            </a:r>
            <a:pPr indent="0" marL="0">
              <a:buNone/>
            </a:pPr>
            <a:r>
              <a:rPr lang="en-US" sz="1500" dirty="0">
                <a:solidFill>
                  <a:schemeClr val="tx1"/>
                </a:solidFill>
              </a:rPr>
              <a:t>'결제 시도한 사용자만', '10초 이상 본 사용자만' → 처치 이후 행동으로 고르면 다른 사람끼리 비교 · 제외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(Ch2)이 깨지는 현상 = 간섭 · 실무 용어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 이기는 쪽은 빨리 찾지만 효과 크기 추정은 부정확</a:t>
            </a:r>
            <a:endParaRPr lang="en-US" sz="1500" dirty="0"/>
          </a:p>
          <a:p>
            <a:pPr indent="0" marL="0">
              <a:buNone/>
            </a:pPr>
            <a:r>
              <a:rPr lang="en-US" sz="1500" dirty="0">
                <a:solidFill>
                  <a:schemeClr val="tx2"/>
                </a:solidFill>
              </a:rPr>
              <a:t>Cluster · Geo · Switchback → 간섭 줄이기 슬라이드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실험에 숨은 함정을 찾아보면</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accent5"/>
                </a:solidFill>
              </a:rPr>
              <a:t>가정해 보는 질문 · 원문에 없는 내용</a:t>
            </a:r>
            <a:endParaRPr lang="en-US" sz="1500" dirty="0"/>
          </a:p>
          <a:p>
            <a:pPr marL="342900" indent="-342900">
              <a:spcAft>
                <a:spcPts val="800"/>
              </a:spcAft>
              <a:buSzPct val="100000"/>
              <a:buChar char="•"/>
            </a:pPr>
            <a:r>
              <a:rPr lang="en-US" sz="1500" dirty="0">
                <a:solidFill>
                  <a:schemeClr val="tx1"/>
                </a:solidFill>
              </a:rPr>
              <a:t>광고주는 하루 광고 예산을 정해 둔다고 가정</a:t>
            </a:r>
            <a:endParaRPr lang="en-US" sz="1500" dirty="0"/>
          </a:p>
          <a:p>
            <a:pPr marL="342900" indent="-342900">
              <a:spcAft>
                <a:spcPts val="800"/>
              </a:spcAft>
              <a:buSzPct val="100000"/>
              <a:buChar char="•"/>
            </a:pPr>
            <a:r>
              <a:rPr lang="en-US" sz="1500" dirty="0">
                <a:solidFill>
                  <a:schemeClr val="tx1"/>
                </a:solidFill>
              </a:rPr>
              <a:t>B의 긴 제목 광고가 더 많이 클릭되면 그 광고주의 예산이 먼저 소진될 수 있다</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Ch4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간접 간섭</a:t>
            </a:r>
            <a:endParaRPr lang="en-US" sz="1500" dirty="0"/>
          </a:p>
          <a:p>
            <a:pPr indent="0" marL="0">
              <a:buNone/>
            </a:pPr>
            <a:r>
              <a:rPr lang="en-US" sz="1500" dirty="0">
                <a:solidFill>
                  <a:schemeClr val="tx2"/>
                </a:solidFill>
              </a:rPr>
              <a:t>B에서 예산이 빨리 소진 → A에서 그 광고가 덜 노출 → A 매출이 처치 없이도 변한다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효과 과대 추정</a:t>
            </a:r>
            <a:endParaRPr lang="en-US" sz="1500" dirty="0"/>
          </a:p>
          <a:p>
            <a:pPr indent="0" marL="0">
              <a:buNone/>
            </a:pPr>
            <a:r>
              <a:rPr lang="en-US" sz="1500" dirty="0">
                <a:solidFill>
                  <a:schemeClr val="tx2"/>
                </a:solidFill>
              </a:rPr>
              <a:t>A의 몫까지 B의 효과로 잡힐 수 있다 → 100% 출시 효과와 다를 수 있다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대안</a:t>
            </a:r>
            <a:endParaRPr lang="en-US" sz="1500" dirty="0"/>
          </a:p>
          <a:p>
            <a:pPr indent="0" marL="0">
              <a:buNone/>
            </a:pPr>
            <a:r>
              <a:rPr lang="en-US" sz="1500" dirty="0">
                <a:solidFill>
                  <a:schemeClr val="tx2"/>
                </a:solidFill>
              </a:rPr>
              <a:t>광고주 예산을 A·B로 나누기(자원 분리) · 분석 단계 보정</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Peeking·다중검정</a:t>
            </a:r>
            <a:endParaRPr lang="en-US" sz="1500" dirty="0"/>
          </a:p>
          <a:p>
            <a:pPr indent="0" marL="0">
              <a:buNone/>
            </a:pPr>
            <a:r>
              <a:rPr lang="en-US" sz="1500" dirty="0">
                <a:solidFill>
                  <a:schemeClr val="tx2"/>
                </a:solidFill>
              </a:rPr>
              <a:t>매출이 좋다고 중간에 멈추거나, 지표 여러 개 중 좋은 것만 고르지 않는다</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가정 시나리오(교육용) · 개념: 위키 06·07·10편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그리고 의사결정으로 닫기</a:t>
            </a:r>
            <a:endParaRPr lang="en-US" sz="2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좋아 보이는 것 ≠ 실제로 좋은 것</a:t>
            </a:r>
            <a:endParaRPr lang="en-US" sz="1500" dirty="0"/>
          </a:p>
          <a:p>
            <a:pPr indent="0" marL="0">
              <a:buNone/>
            </a:pPr>
            <a:r>
              <a:rPr lang="en-US" sz="1400" dirty="0">
                <a:solidFill>
                  <a:schemeClr val="tx2"/>
                </a:solidFill>
              </a:rPr>
              <a:t>잭팟 한 번보다 많은 아이디어를 싸게 실험하는 구조</a:t>
            </a:r>
            <a:endParaRPr lang="en-US" sz="1500" dirty="0"/>
          </a:p>
        </p:txBody>
      </p:sp>
      <p:sp>
        <p:nvSpPr>
          <p:cNvPr id="11" name="Text 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테스트의 자리: 이 반복의 '측정·검증'</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성숙도: Crawl → Walk → Run → Fly</a:t>
            </a:r>
            <a:endParaRPr lang="en-US" sz="20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6개월을 줄이는 조직</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우선순위가 낮아 아이디어가 6개월 넘게 미뤄짐</a:t>
            </a:r>
            <a:endParaRPr lang="en-US" sz="1500" dirty="0"/>
          </a:p>
          <a:p>
            <a:pPr marL="342900" indent="-342900">
              <a:spcAft>
                <a:spcPts val="800"/>
              </a:spcAft>
              <a:buSzPct val="100000"/>
              <a:buChar char="•"/>
            </a:pPr>
            <a:r>
              <a:rPr lang="en-US" sz="1500" dirty="0">
                <a:solidFill>
                  <a:schemeClr val="tx1"/>
                </a:solidFill>
              </a:rPr>
              <a:t>엔지니어가 며칠 만에 구현해 A/B 테스트를 시작</a:t>
            </a:r>
            <a:endParaRPr lang="en-US" sz="1500" dirty="0"/>
          </a:p>
          <a:p>
            <a:pPr marL="342900" indent="-342900">
              <a:spcAft>
                <a:spcPts val="800"/>
              </a:spcAft>
              <a:buSzPct val="100000"/>
              <a:buChar char="•"/>
            </a:pPr>
            <a:r>
              <a:rPr lang="en-US" sz="1500" dirty="0">
                <a:solidFill>
                  <a:schemeClr val="tx1"/>
                </a:solidFill>
              </a:rPr>
              <a:t>매출 약 12% 증가, 가드레일 지표는 유지</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Ch5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아이디어 가치는 미리 알기 어렵다</a:t>
            </a:r>
            <a:endParaRPr lang="en-US" sz="1500" dirty="0"/>
          </a:p>
          <a:p>
            <a:pPr indent="0" marL="0">
              <a:buNone/>
            </a:pPr>
            <a:r>
              <a:rPr lang="en-US" sz="1500" dirty="0">
                <a:solidFill>
                  <a:schemeClr val="tx2"/>
                </a:solidFill>
              </a:rPr>
              <a:t>우선순위 회의는 12%를 예측하지 못했다 → 실험으로 판단한다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실험 비용을 낮춘다</a:t>
            </a:r>
            <a:endParaRPr lang="en-US" sz="1500" dirty="0"/>
          </a:p>
          <a:p>
            <a:pPr indent="0" marL="0">
              <a:buNone/>
            </a:pPr>
            <a:r>
              <a:rPr lang="en-US" sz="1500" dirty="0">
                <a:solidFill>
                  <a:schemeClr val="tx2"/>
                </a:solidFill>
              </a:rPr>
              <a:t>Feature Flag·실험 플랫폼으로 작은 아이디어도 바로 돌린다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결정 프레임</a:t>
            </a:r>
            <a:endParaRPr lang="en-US" sz="1500" dirty="0"/>
          </a:p>
          <a:p>
            <a:pPr indent="0" marL="0">
              <a:buNone/>
            </a:pPr>
            <a:r>
              <a:rPr lang="en-US" sz="1500" dirty="0">
                <a:solidFill>
                  <a:schemeClr val="tx2"/>
                </a:solidFill>
              </a:rPr>
              <a:t>효과(+12%) × 비용(작은 UI 변경) × 리스크(가드레일 유지) → 배포</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조직적 기억</a:t>
            </a:r>
            <a:endParaRPr lang="en-US" sz="1500" dirty="0"/>
          </a:p>
          <a:p>
            <a:pPr indent="0" marL="0">
              <a:buNone/>
            </a:pPr>
            <a:r>
              <a:rPr lang="en-US" sz="1500" dirty="0">
                <a:solidFill>
                  <a:schemeClr val="tx2"/>
                </a:solidFill>
              </a:rPr>
              <a:t>결과를 기록해 다음 실험과 다른 팀이 재사용한다</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01편 1 · 11편 · Kohavi &amp; Thomke (2017), HBR · Kohavi (2017) 발표 자료</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640080" y="493776"/>
            <a:ext cx="6949440" cy="667512"/>
          </a:xfrm>
          <a:prstGeom prst="rect">
            <a:avLst/>
          </a:prstGeom>
          <a:noFill/>
          <a:ln/>
        </p:spPr>
        <p:txBody>
          <a:bodyPr wrap="square" lIns="0" tIns="0" rIns="0" bIns="0" rtlCol="0" anchor="t"/>
          <a:lstStyle/>
          <a:p>
            <a:pPr indent="0" marL="0">
              <a:buNone/>
            </a:pPr>
            <a:r>
              <a:rPr lang="en-US" sz="4400" b="1" dirty="0">
                <a:solidFill>
                  <a:srgbClr val="FFFFFF"/>
                </a:solidFill>
              </a:rPr>
              <a:t>정리</a:t>
            </a:r>
            <a:endParaRPr lang="en-US" sz="4400" dirty="0"/>
          </a:p>
        </p:txBody>
      </p:sp>
      <p:sp>
        <p:nvSpPr>
          <p:cNvPr id="3" name="Text 1"/>
          <p:cNvSpPr txBox="1"/>
          <p:nvPr/>
        </p:nvSpPr>
        <p:spPr>
          <a:xfrm>
            <a:off x="640080" y="2898648"/>
            <a:ext cx="4754880" cy="13716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
        <p:nvSpPr>
          <p:cNvPr id="5"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endParaRPr lang="en-US" sz="4400" dirty="0"/>
          </a:p>
        </p:txBody>
      </p:sp>
      <p:sp>
        <p:nvSpPr>
          <p:cNvPr id="6"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1 · 객관식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결과를 보고 가장 먼저 해야 할 일은 무엇일까요?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50:50으로 설계한 실험에서 B안 전환율이 +3%p, p = 0.01로 나왔습니다.</a:t>
            </a:r>
            <a:endParaRPr lang="en-US" sz="2000" dirty="0"/>
          </a:p>
        </p:txBody>
      </p:sp>
      <p:sp>
        <p:nvSpPr>
          <p:cNvPr id="6" name="Text 3"/>
          <p:cNvSpPr txBox="1"/>
          <p:nvPr/>
        </p:nvSpPr>
        <p:spPr>
          <a:xfrm>
            <a:off x="640080" y="2240280"/>
            <a:ext cx="10911535" cy="685800"/>
          </a:xfrm>
          <a:prstGeom prst="rect">
            <a:avLst/>
          </a:prstGeom>
          <a:noFill/>
          <a:ln/>
        </p:spPr>
        <p:txBody>
          <a:bodyPr wrap="square" lIns="0" tIns="0" rIns="0" bIns="0" rtlCol="0" anchor="t"/>
          <a:lstStyle/>
          <a:p>
            <a:pPr indent="0" marL="0">
              <a:buNone/>
            </a:pPr>
            <a:r>
              <a:rPr lang="en-US" sz="1500" dirty="0">
                <a:solidFill>
                  <a:schemeClr val="tx2"/>
                </a:solidFill>
              </a:rPr>
              <a:t>그런데 실제로 들어온 사용자 수는  </a:t>
            </a:r>
            <a:pPr indent="0" marL="0">
              <a:buNone/>
            </a:pPr>
            <a:r>
              <a:rPr lang="en-US" sz="3000" b="1" dirty="0">
                <a:solidFill>
                  <a:schemeClr val="accent1"/>
                </a:solidFill>
              </a:rPr>
              <a:t>A 50,000명</a:t>
            </a:r>
            <a:pPr indent="0" marL="0">
              <a:buNone/>
            </a:pPr>
            <a:r>
              <a:rPr lang="en-US" sz="3000" dirty="0">
                <a:solidFill>
                  <a:schemeClr val="tx1"/>
                </a:solidFill>
              </a:rPr>
              <a:t>   </a:t>
            </a:r>
            <a:pPr indent="0" marL="0">
              <a:buNone/>
            </a:pPr>
            <a:r>
              <a:rPr lang="en-US" sz="3000" b="1" dirty="0">
                <a:solidFill>
                  <a:schemeClr val="accent3"/>
                </a:solidFill>
              </a:rPr>
              <a:t>B 48,800명</a:t>
            </a:r>
            <a:pPr indent="0" marL="0">
              <a:buNone/>
            </a:pPr>
            <a:r>
              <a:rPr lang="en-US" sz="1500" dirty="0">
                <a:solidFill>
                  <a:schemeClr val="tx2"/>
                </a:solidFill>
              </a:rPr>
              <a:t>  입니다.</a:t>
            </a:r>
            <a:endParaRPr lang="en-US" sz="1500" dirty="0"/>
          </a:p>
        </p:txBody>
      </p:sp>
      <p:sp>
        <p:nvSpPr>
          <p:cNvPr id="7" name="Text 4"/>
          <p:cNvSpPr txBox="1"/>
          <p:nvPr/>
        </p:nvSpPr>
        <p:spPr>
          <a:xfrm>
            <a:off x="640080" y="30632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가장 먼저 해야 할 일로 옳은 것을 고르세요.</a:t>
            </a:r>
            <a:endParaRPr lang="en-US" sz="1500" dirty="0"/>
          </a:p>
        </p:txBody>
      </p:sp>
      <p:sp>
        <p:nvSpPr>
          <p:cNvPr id="8" name="Text 5"/>
          <p:cNvSpPr txBox="1"/>
          <p:nvPr/>
        </p:nvSpPr>
        <p:spPr>
          <a:xfrm>
            <a:off x="640080" y="36118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①</a:t>
            </a:r>
            <a:endParaRPr lang="en-US" sz="2000" dirty="0"/>
          </a:p>
        </p:txBody>
      </p:sp>
      <p:sp>
        <p:nvSpPr>
          <p:cNvPr id="9" name="Text 6"/>
          <p:cNvSpPr txBox="1"/>
          <p:nvPr/>
        </p:nvSpPr>
        <p:spPr>
          <a:xfrm>
            <a:off x="1188720" y="3611880"/>
            <a:ext cx="10362895" cy="457200"/>
          </a:xfrm>
          <a:prstGeom prst="rect">
            <a:avLst/>
          </a:prstGeom>
          <a:noFill/>
          <a:ln/>
        </p:spPr>
        <p:txBody>
          <a:bodyPr wrap="square" lIns="0" tIns="0" rIns="0" bIns="0" rtlCol="0" anchor="t"/>
          <a:lstStyle/>
          <a:p>
            <a:pPr indent="0" marL="0">
              <a:buNone/>
            </a:pPr>
            <a:r>
              <a:rPr lang="en-US" sz="2000" dirty="0">
                <a:solidFill>
                  <a:schemeClr val="tx1"/>
                </a:solidFill>
              </a:rPr>
              <a:t>유의하므로 B안을 배포합니다</a:t>
            </a:r>
            <a:endParaRPr lang="en-US" sz="2000" dirty="0"/>
          </a:p>
        </p:txBody>
      </p:sp>
      <p:sp>
        <p:nvSpPr>
          <p:cNvPr id="10" name="Text 7"/>
          <p:cNvSpPr txBox="1"/>
          <p:nvPr/>
        </p:nvSpPr>
        <p:spPr>
          <a:xfrm>
            <a:off x="640080" y="41422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11" name="Text 8"/>
          <p:cNvSpPr txBox="1"/>
          <p:nvPr/>
        </p:nvSpPr>
        <p:spPr>
          <a:xfrm>
            <a:off x="1188720" y="4142232"/>
            <a:ext cx="10362895" cy="457200"/>
          </a:xfrm>
          <a:prstGeom prst="rect">
            <a:avLst/>
          </a:prstGeom>
          <a:noFill/>
          <a:ln/>
        </p:spPr>
        <p:txBody>
          <a:bodyPr wrap="square" lIns="0" tIns="0" rIns="0" bIns="0" rtlCol="0" anchor="t"/>
          <a:lstStyle/>
          <a:p>
            <a:pPr indent="0" marL="0">
              <a:buNone/>
            </a:pPr>
            <a:r>
              <a:rPr lang="en-US" sz="2000" dirty="0">
                <a:solidFill>
                  <a:schemeClr val="tx1"/>
                </a:solidFill>
              </a:rPr>
              <a:t>표본이 충분하니 신뢰구간만 확인하고 배포합니다</a:t>
            </a:r>
            <a:endParaRPr lang="en-US" sz="2000" dirty="0"/>
          </a:p>
        </p:txBody>
      </p:sp>
      <p:sp>
        <p:nvSpPr>
          <p:cNvPr id="12" name="Text 9"/>
          <p:cNvSpPr txBox="1"/>
          <p:nvPr/>
        </p:nvSpPr>
        <p:spPr>
          <a:xfrm>
            <a:off x="640080" y="467258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13" name="Text 10"/>
          <p:cNvSpPr txBox="1"/>
          <p:nvPr/>
        </p:nvSpPr>
        <p:spPr>
          <a:xfrm>
            <a:off x="1188720" y="4672584"/>
            <a:ext cx="10362895" cy="457200"/>
          </a:xfrm>
          <a:prstGeom prst="rect">
            <a:avLst/>
          </a:prstGeom>
          <a:noFill/>
          <a:ln/>
        </p:spPr>
        <p:txBody>
          <a:bodyPr wrap="square" lIns="0" tIns="0" rIns="0" bIns="0" rtlCol="0" anchor="t"/>
          <a:lstStyle/>
          <a:p>
            <a:pPr indent="0" marL="0">
              <a:buNone/>
            </a:pPr>
            <a:r>
              <a:rPr lang="en-US" sz="2000" dirty="0">
                <a:solidFill>
                  <a:schemeClr val="tx1"/>
                </a:solidFill>
              </a:rPr>
              <a:t>결과 해석을 멈추고 배정·로깅 과정에서 원인을 찾습니다</a:t>
            </a:r>
            <a:endParaRPr lang="en-US" sz="2000" dirty="0"/>
          </a:p>
        </p:txBody>
      </p:sp>
      <p:sp>
        <p:nvSpPr>
          <p:cNvPr id="14" name="Text 11"/>
          <p:cNvSpPr txBox="1"/>
          <p:nvPr/>
        </p:nvSpPr>
        <p:spPr>
          <a:xfrm>
            <a:off x="640080" y="520293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5" name="Text 12"/>
          <p:cNvSpPr txBox="1"/>
          <p:nvPr/>
        </p:nvSpPr>
        <p:spPr>
          <a:xfrm>
            <a:off x="1188720" y="5202936"/>
            <a:ext cx="10362895" cy="457200"/>
          </a:xfrm>
          <a:prstGeom prst="rect">
            <a:avLst/>
          </a:prstGeom>
          <a:noFill/>
          <a:ln/>
        </p:spPr>
        <p:txBody>
          <a:bodyPr wrap="square" lIns="0" tIns="0" rIns="0" bIns="0" rtlCol="0" anchor="t"/>
          <a:lstStyle/>
          <a:p>
            <a:pPr indent="0" marL="0">
              <a:buNone/>
            </a:pPr>
            <a:r>
              <a:rPr lang="en-US" sz="2000" dirty="0">
                <a:solidFill>
                  <a:schemeClr val="tx1"/>
                </a:solidFill>
              </a:rPr>
              <a:t>B안의 이탈 사용자를 제외하고 다시 분석합니다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2 · 주관식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기능의 실험을 직접 설계해 보세요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중고거래 앱에서 </a:t>
            </a:r>
            <a:pPr indent="0" marL="0">
              <a:buNone/>
            </a:pPr>
            <a:r>
              <a:rPr lang="en-US" sz="2000" b="1" dirty="0">
                <a:solidFill>
                  <a:schemeClr val="accent1"/>
                </a:solidFill>
              </a:rPr>
              <a:t>판매자에게 적정 가격을 추천하는 기능</a:t>
            </a:r>
            <a:pPr indent="0" marL="0">
              <a:buNone/>
            </a:pPr>
            <a:r>
              <a:rPr lang="en-US" sz="2000" dirty="0">
                <a:solidFill>
                  <a:schemeClr val="tx1"/>
                </a:solidFill>
              </a:rPr>
              <a:t>을 실험하려고 합니다.</a:t>
            </a:r>
            <a:endParaRPr lang="en-US" sz="2000" dirty="0"/>
          </a:p>
        </p:txBody>
      </p:sp>
      <p:sp>
        <p:nvSpPr>
          <p:cNvPr id="6" name="Text 3"/>
          <p:cNvSpPr txBox="1"/>
          <p:nvPr/>
        </p:nvSpPr>
        <p:spPr>
          <a:xfrm>
            <a:off x="640080" y="228600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아래 세 가지 질문에 답하세요.</a:t>
            </a:r>
            <a:endParaRPr lang="en-US" sz="1500" dirty="0"/>
          </a:p>
        </p:txBody>
      </p:sp>
      <p:sp>
        <p:nvSpPr>
          <p:cNvPr id="7" name="Text 4"/>
          <p:cNvSpPr txBox="1"/>
          <p:nvPr/>
        </p:nvSpPr>
        <p:spPr>
          <a:xfrm>
            <a:off x="64008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8" name="Text 5"/>
          <p:cNvSpPr txBox="1"/>
          <p:nvPr/>
        </p:nvSpPr>
        <p:spPr>
          <a:xfrm>
            <a:off x="64008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가설</a:t>
            </a:r>
            <a:endParaRPr lang="en-US" sz="1500" dirty="0"/>
          </a:p>
          <a:p>
            <a:pPr indent="0" marL="0">
              <a:buNone/>
            </a:pPr>
            <a:r>
              <a:rPr lang="en-US" sz="1500" dirty="0">
                <a:solidFill>
                  <a:schemeClr val="tx2"/>
                </a:solidFill>
              </a:rPr>
              <a:t>한 문장으로 써 보세요</a:t>
            </a:r>
            <a:endParaRPr lang="en-US" sz="1500" dirty="0"/>
          </a:p>
        </p:txBody>
      </p:sp>
      <p:sp>
        <p:nvSpPr>
          <p:cNvPr id="9" name="Text 6"/>
          <p:cNvSpPr txBox="1"/>
          <p:nvPr/>
        </p:nvSpPr>
        <p:spPr>
          <a:xfrm>
            <a:off x="434340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10" name="Text 7"/>
          <p:cNvSpPr txBox="1"/>
          <p:nvPr/>
        </p:nvSpPr>
        <p:spPr>
          <a:xfrm>
            <a:off x="434340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지표</a:t>
            </a:r>
            <a:endParaRPr lang="en-US" sz="1500" dirty="0"/>
          </a:p>
          <a:p>
            <a:pPr indent="0" marL="0">
              <a:buNone/>
            </a:pPr>
            <a:r>
              <a:rPr lang="en-US" sz="1500" dirty="0">
                <a:solidFill>
                  <a:schemeClr val="tx2"/>
                </a:solidFill>
              </a:rPr>
              <a:t>Primary 지표와 Guardrail 지표를 하나씩 정해 보세요</a:t>
            </a:r>
            <a:endParaRPr lang="en-US" sz="1500" dirty="0"/>
          </a:p>
        </p:txBody>
      </p:sp>
      <p:sp>
        <p:nvSpPr>
          <p:cNvPr id="11" name="Text 8"/>
          <p:cNvSpPr txBox="1"/>
          <p:nvPr/>
        </p:nvSpPr>
        <p:spPr>
          <a:xfrm>
            <a:off x="804672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실험 단위</a:t>
            </a:r>
            <a:endParaRPr lang="en-US" sz="1500" dirty="0"/>
          </a:p>
          <a:p>
            <a:pPr indent="0" marL="0">
              <a:buNone/>
            </a:pPr>
            <a:r>
              <a:rPr lang="en-US" sz="1500" dirty="0">
                <a:solidFill>
                  <a:schemeClr val="tx2"/>
                </a:solidFill>
              </a:rPr>
              <a:t>사용자 단위로 나누면 어떤 문제가 생길 수 있는지, 대안은 무엇인지 써 보세요</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 · 42개 고유 링크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Reference</a:t>
            </a:r>
            <a:endParaRPr lang="en-US" sz="2000" dirty="0"/>
          </a:p>
        </p:txBody>
      </p:sp>
      <p:sp>
        <p:nvSpPr>
          <p:cNvPr id="5" name="Text 2">
            <a:hlinkClick r:id="rId1" tooltip=""/>
          </p:cNvPr>
          <p:cNvSpPr txBox="1"/>
          <p:nvPr/>
        </p:nvSpPr>
        <p:spPr>
          <a:xfrm>
            <a:off x="640080"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Oracle: A/B Testing</a:t>
            </a:r>
            <a:endParaRPr lang="en-US" sz="850" dirty="0"/>
          </a:p>
        </p:txBody>
      </p:sp>
      <p:sp>
        <p:nvSpPr>
          <p:cNvPr id="6" name="Text 3">
            <a:hlinkClick r:id="rId2" tooltip=""/>
          </p:cNvPr>
          <p:cNvSpPr txBox="1"/>
          <p:nvPr/>
        </p:nvSpPr>
        <p:spPr>
          <a:xfrm>
            <a:off x="640080"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Datarian: Experiment Bible</a:t>
            </a:r>
            <a:endParaRPr lang="en-US" sz="850" dirty="0"/>
          </a:p>
        </p:txBody>
      </p:sp>
      <p:sp>
        <p:nvSpPr>
          <p:cNvPr id="7" name="Text 4">
            <a:hlinkClick r:id="rId3" tooltip=""/>
          </p:cNvPr>
          <p:cNvSpPr txBox="1"/>
          <p:nvPr/>
        </p:nvSpPr>
        <p:spPr>
          <a:xfrm>
            <a:off x="640080"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OCE Case Studies</a:t>
            </a:r>
            <a:endParaRPr lang="en-US" sz="850" dirty="0"/>
          </a:p>
        </p:txBody>
      </p:sp>
      <p:sp>
        <p:nvSpPr>
          <p:cNvPr id="8" name="Text 5">
            <a:hlinkClick r:id="rId4" tooltip=""/>
          </p:cNvPr>
          <p:cNvSpPr txBox="1"/>
          <p:nvPr/>
        </p:nvSpPr>
        <p:spPr>
          <a:xfrm>
            <a:off x="640080"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Hypothesis Testing</a:t>
            </a:r>
            <a:endParaRPr lang="en-US" sz="850" dirty="0"/>
          </a:p>
        </p:txBody>
      </p:sp>
      <p:sp>
        <p:nvSpPr>
          <p:cNvPr id="9" name="Text 6">
            <a:hlinkClick r:id="rId5" tooltip=""/>
          </p:cNvPr>
          <p:cNvSpPr txBox="1"/>
          <p:nvPr/>
        </p:nvSpPr>
        <p:spPr>
          <a:xfrm>
            <a:off x="640080"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WikiDocs: A/B Guide</a:t>
            </a:r>
            <a:endParaRPr lang="en-US" sz="850" dirty="0"/>
          </a:p>
        </p:txBody>
      </p:sp>
      <p:sp>
        <p:nvSpPr>
          <p:cNvPr id="10" name="Text 7">
            <a:hlinkClick r:id="rId6" tooltip=""/>
          </p:cNvPr>
          <p:cNvSpPr txBox="1"/>
          <p:nvPr/>
        </p:nvSpPr>
        <p:spPr>
          <a:xfrm>
            <a:off x="640080"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Growth Culture</a:t>
            </a:r>
            <a:endParaRPr lang="en-US" sz="850" dirty="0"/>
          </a:p>
        </p:txBody>
      </p:sp>
      <p:sp>
        <p:nvSpPr>
          <p:cNvPr id="11" name="Text 8">
            <a:hlinkClick r:id="rId7" tooltip=""/>
          </p:cNvPr>
          <p:cNvSpPr txBox="1"/>
          <p:nvPr/>
        </p:nvSpPr>
        <p:spPr>
          <a:xfrm>
            <a:off x="640080"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Problem Definition</a:t>
            </a:r>
            <a:endParaRPr lang="en-US" sz="850" dirty="0"/>
          </a:p>
        </p:txBody>
      </p:sp>
      <p:sp>
        <p:nvSpPr>
          <p:cNvPr id="12" name="Text 9">
            <a:hlinkClick r:id="rId8" tooltip=""/>
          </p:cNvPr>
          <p:cNvSpPr txBox="1"/>
          <p:nvPr/>
        </p:nvSpPr>
        <p:spPr>
          <a:xfrm>
            <a:off x="640080"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Null vs Alternative</a:t>
            </a:r>
            <a:endParaRPr lang="en-US" sz="850" dirty="0"/>
          </a:p>
        </p:txBody>
      </p:sp>
      <p:sp>
        <p:nvSpPr>
          <p:cNvPr id="13" name="Text 10">
            <a:hlinkClick r:id="rId9" tooltip=""/>
          </p:cNvPr>
          <p:cNvSpPr txBox="1"/>
          <p:nvPr/>
        </p:nvSpPr>
        <p:spPr>
          <a:xfrm>
            <a:off x="640080"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One vs Two Tailed</a:t>
            </a:r>
            <a:endParaRPr lang="en-US" sz="850" dirty="0"/>
          </a:p>
        </p:txBody>
      </p:sp>
      <p:sp>
        <p:nvSpPr>
          <p:cNvPr id="14" name="Text 11">
            <a:hlinkClick r:id="rId10" tooltip=""/>
          </p:cNvPr>
          <p:cNvSpPr txBox="1"/>
          <p:nvPr/>
        </p:nvSpPr>
        <p:spPr>
          <a:xfrm>
            <a:off x="640080"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OEC / KPI / Driver</a:t>
            </a:r>
            <a:endParaRPr lang="en-US" sz="850" dirty="0"/>
          </a:p>
        </p:txBody>
      </p:sp>
      <p:sp>
        <p:nvSpPr>
          <p:cNvPr id="15" name="Text 12">
            <a:hlinkClick r:id="rId11" tooltip=""/>
          </p:cNvPr>
          <p:cNvSpPr txBox="1"/>
          <p:nvPr/>
        </p:nvSpPr>
        <p:spPr>
          <a:xfrm>
            <a:off x="640080"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Metric Selection</a:t>
            </a:r>
            <a:endParaRPr lang="en-US" sz="850" dirty="0"/>
          </a:p>
        </p:txBody>
      </p:sp>
      <p:sp>
        <p:nvSpPr>
          <p:cNvPr id="16" name="Text 13">
            <a:hlinkClick r:id="rId12" tooltip=""/>
          </p:cNvPr>
          <p:cNvSpPr txBox="1"/>
          <p:nvPr/>
        </p:nvSpPr>
        <p:spPr>
          <a:xfrm>
            <a:off x="3401568"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Ably: Product Metrics</a:t>
            </a:r>
            <a:endParaRPr lang="en-US" sz="850" dirty="0"/>
          </a:p>
        </p:txBody>
      </p:sp>
      <p:sp>
        <p:nvSpPr>
          <p:cNvPr id="17" name="Text 14">
            <a:hlinkClick r:id="rId13" tooltip=""/>
          </p:cNvPr>
          <p:cNvSpPr txBox="1"/>
          <p:nvPr/>
        </p:nvSpPr>
        <p:spPr>
          <a:xfrm>
            <a:off x="3401568"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OEC Design</a:t>
            </a:r>
            <a:endParaRPr lang="en-US" sz="850" dirty="0"/>
          </a:p>
        </p:txBody>
      </p:sp>
      <p:sp>
        <p:nvSpPr>
          <p:cNvPr id="18" name="Text 15">
            <a:hlinkClick r:id="rId14" tooltip=""/>
          </p:cNvPr>
          <p:cNvSpPr txBox="1"/>
          <p:nvPr/>
        </p:nvSpPr>
        <p:spPr>
          <a:xfrm>
            <a:off x="3401568"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A/B Data Quality</a:t>
            </a:r>
            <a:endParaRPr lang="en-US" sz="850" dirty="0"/>
          </a:p>
        </p:txBody>
      </p:sp>
      <p:sp>
        <p:nvSpPr>
          <p:cNvPr id="19" name="Text 16">
            <a:hlinkClick r:id="rId15" tooltip=""/>
          </p:cNvPr>
          <p:cNvSpPr txBox="1"/>
          <p:nvPr/>
        </p:nvSpPr>
        <p:spPr>
          <a:xfrm>
            <a:off x="3401568"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Hackle: User ID</a:t>
            </a:r>
            <a:endParaRPr lang="en-US" sz="850" dirty="0"/>
          </a:p>
        </p:txBody>
      </p:sp>
      <p:sp>
        <p:nvSpPr>
          <p:cNvPr id="20" name="Text 17">
            <a:hlinkClick r:id="rId16" tooltip=""/>
          </p:cNvPr>
          <p:cNvSpPr txBox="1"/>
          <p:nvPr/>
        </p:nvSpPr>
        <p:spPr>
          <a:xfrm>
            <a:off x="3401568"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6" invalidUrl="" action="" tgtFrame="" tooltip="" history="1" highlightClick="0" endSnd="0">
                  <a:extLst>
                    <a:ext uri="{A12FA001-AC4F-418D-AE19-62706E023703}">
                      <ahyp:hlinkClr xmlns:ahyp="http://schemas.microsoft.com/office/drawing/2018/hyperlinkcolor" val="tx"/>
                    </a:ext>
                  </a:extLst>
                </a:hlinkClick>
              </a:rPr>
              <a:t>Conversion Unit</a:t>
            </a:r>
            <a:endParaRPr lang="en-US" sz="850" dirty="0"/>
          </a:p>
        </p:txBody>
      </p:sp>
      <p:sp>
        <p:nvSpPr>
          <p:cNvPr id="21" name="Text 18">
            <a:hlinkClick r:id="rId17" tooltip=""/>
          </p:cNvPr>
          <p:cNvSpPr txBox="1"/>
          <p:nvPr/>
        </p:nvSpPr>
        <p:spPr>
          <a:xfrm>
            <a:off x="3401568"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7" invalidUrl="" action="" tgtFrame="" tooltip="" history="1" highlightClick="0" endSnd="0">
                  <a:extLst>
                    <a:ext uri="{A12FA001-AC4F-418D-AE19-62706E023703}">
                      <ahyp:hlinkClr xmlns:ahyp="http://schemas.microsoft.com/office/drawing/2018/hyperlinkcolor" val="tx"/>
                    </a:ext>
                  </a:extLst>
                </a:hlinkClick>
              </a:rPr>
              <a:t>Randomization Unit</a:t>
            </a:r>
            <a:endParaRPr lang="en-US" sz="850" dirty="0"/>
          </a:p>
        </p:txBody>
      </p:sp>
      <p:sp>
        <p:nvSpPr>
          <p:cNvPr id="22" name="Text 19">
            <a:hlinkClick r:id="rId18" tooltip=""/>
          </p:cNvPr>
          <p:cNvSpPr txBox="1"/>
          <p:nvPr/>
        </p:nvSpPr>
        <p:spPr>
          <a:xfrm>
            <a:off x="3401568"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8" invalidUrl="" action="" tgtFrame="" tooltip="" history="1" highlightClick="0" endSnd="0">
                  <a:extLst>
                    <a:ext uri="{A12FA001-AC4F-418D-AE19-62706E023703}">
                      <ahyp:hlinkClr xmlns:ahyp="http://schemas.microsoft.com/office/drawing/2018/hyperlinkcolor" val="tx"/>
                    </a:ext>
                  </a:extLst>
                </a:hlinkClick>
              </a:rPr>
              <a:t>Sample Proportion</a:t>
            </a:r>
            <a:endParaRPr lang="en-US" sz="850" dirty="0"/>
          </a:p>
        </p:txBody>
      </p:sp>
      <p:sp>
        <p:nvSpPr>
          <p:cNvPr id="23" name="Text 20">
            <a:hlinkClick r:id="rId19" tooltip=""/>
          </p:cNvPr>
          <p:cNvSpPr txBox="1"/>
          <p:nvPr/>
        </p:nvSpPr>
        <p:spPr>
          <a:xfrm>
            <a:off x="3401568"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9" invalidUrl="" action="" tgtFrame="" tooltip="" history="1" highlightClick="0" endSnd="0">
                  <a:extLst>
                    <a:ext uri="{A12FA001-AC4F-418D-AE19-62706E023703}">
                      <ahyp:hlinkClr xmlns:ahyp="http://schemas.microsoft.com/office/drawing/2018/hyperlinkcolor" val="tx"/>
                    </a:ext>
                  </a:extLst>
                </a:hlinkClick>
              </a:rPr>
              <a:t>MDE Guide</a:t>
            </a:r>
            <a:endParaRPr lang="en-US" sz="850" dirty="0"/>
          </a:p>
        </p:txBody>
      </p:sp>
      <p:sp>
        <p:nvSpPr>
          <p:cNvPr id="24" name="Text 21">
            <a:hlinkClick r:id="rId20" tooltip=""/>
          </p:cNvPr>
          <p:cNvSpPr txBox="1"/>
          <p:nvPr/>
        </p:nvSpPr>
        <p:spPr>
          <a:xfrm>
            <a:off x="3401568"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0" invalidUrl="" action="" tgtFrame="" tooltip="" history="1" highlightClick="0" endSnd="0">
                  <a:extLst>
                    <a:ext uri="{A12FA001-AC4F-418D-AE19-62706E023703}">
                      <ahyp:hlinkClr xmlns:ahyp="http://schemas.microsoft.com/office/drawing/2018/hyperlinkcolor" val="tx"/>
                    </a:ext>
                  </a:extLst>
                </a:hlinkClick>
              </a:rPr>
              <a:t>GA: Cookie + Dimension</a:t>
            </a:r>
            <a:endParaRPr lang="en-US" sz="850" dirty="0"/>
          </a:p>
        </p:txBody>
      </p:sp>
      <p:sp>
        <p:nvSpPr>
          <p:cNvPr id="25" name="Text 22">
            <a:hlinkClick r:id="rId21" tooltip=""/>
          </p:cNvPr>
          <p:cNvSpPr txBox="1"/>
          <p:nvPr/>
        </p:nvSpPr>
        <p:spPr>
          <a:xfrm>
            <a:off x="3401568"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1" invalidUrl="" action="" tgtFrame="" tooltip="" history="1" highlightClick="0" endSnd="0">
                  <a:extLst>
                    <a:ext uri="{A12FA001-AC4F-418D-AE19-62706E023703}">
                      <ahyp:hlinkClr xmlns:ahyp="http://schemas.microsoft.com/office/drawing/2018/hyperlinkcolor" val="tx"/>
                    </a:ext>
                  </a:extLst>
                </a:hlinkClick>
              </a:rPr>
              <a:t>Wanted: A/B Basics</a:t>
            </a:r>
            <a:endParaRPr lang="en-US" sz="850" dirty="0"/>
          </a:p>
        </p:txBody>
      </p:sp>
      <p:sp>
        <p:nvSpPr>
          <p:cNvPr id="26" name="Text 23">
            <a:hlinkClick r:id="rId22" tooltip=""/>
          </p:cNvPr>
          <p:cNvSpPr txBox="1"/>
          <p:nvPr/>
        </p:nvSpPr>
        <p:spPr>
          <a:xfrm>
            <a:off x="3401568"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2" invalidUrl="" action="" tgtFrame="" tooltip="" history="1" highlightClick="0" endSnd="0">
                  <a:extLst>
                    <a:ext uri="{A12FA001-AC4F-418D-AE19-62706E023703}">
                      <ahyp:hlinkClr xmlns:ahyp="http://schemas.microsoft.com/office/drawing/2018/hyperlinkcolor" val="tx"/>
                    </a:ext>
                  </a:extLst>
                </a:hlinkClick>
              </a:rPr>
              <a:t>Hash Assignment</a:t>
            </a:r>
            <a:endParaRPr lang="en-US" sz="850" dirty="0"/>
          </a:p>
        </p:txBody>
      </p:sp>
      <p:sp>
        <p:nvSpPr>
          <p:cNvPr id="27" name="Text 24">
            <a:hlinkClick r:id="rId23" tooltip=""/>
          </p:cNvPr>
          <p:cNvSpPr txBox="1"/>
          <p:nvPr/>
        </p:nvSpPr>
        <p:spPr>
          <a:xfrm>
            <a:off x="6163056"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3" invalidUrl="" action="" tgtFrame="" tooltip="" history="1" highlightClick="0" endSnd="0">
                  <a:extLst>
                    <a:ext uri="{A12FA001-AC4F-418D-AE19-62706E023703}">
                      <ahyp:hlinkClr xmlns:ahyp="http://schemas.microsoft.com/office/drawing/2018/hyperlinkcolor" val="tx"/>
                    </a:ext>
                  </a:extLst>
                </a:hlinkClick>
              </a:rPr>
              <a:t>Experiment Guide</a:t>
            </a:r>
            <a:endParaRPr lang="en-US" sz="850" dirty="0"/>
          </a:p>
        </p:txBody>
      </p:sp>
      <p:sp>
        <p:nvSpPr>
          <p:cNvPr id="28" name="Text 25">
            <a:hlinkClick r:id="rId24" tooltip=""/>
          </p:cNvPr>
          <p:cNvSpPr txBox="1"/>
          <p:nvPr/>
        </p:nvSpPr>
        <p:spPr>
          <a:xfrm>
            <a:off x="6163056"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4" invalidUrl="" action="" tgtFrame="" tooltip="" history="1" highlightClick="0" endSnd="0">
                  <a:extLst>
                    <a:ext uri="{A12FA001-AC4F-418D-AE19-62706E023703}">
                      <ahyp:hlinkClr xmlns:ahyp="http://schemas.microsoft.com/office/drawing/2018/hyperlinkcolor" val="tx"/>
                    </a:ext>
                  </a:extLst>
                </a:hlinkClick>
              </a:rPr>
              <a:t>SUTVA &amp; Interference</a:t>
            </a:r>
            <a:endParaRPr lang="en-US" sz="850" dirty="0"/>
          </a:p>
        </p:txBody>
      </p:sp>
      <p:sp>
        <p:nvSpPr>
          <p:cNvPr id="29" name="Text 26">
            <a:hlinkClick r:id="rId25" tooltip=""/>
          </p:cNvPr>
          <p:cNvSpPr txBox="1"/>
          <p:nvPr/>
        </p:nvSpPr>
        <p:spPr>
          <a:xfrm>
            <a:off x="6163056"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5" invalidUrl="" action="" tgtFrame="" tooltip="" history="1" highlightClick="0" endSnd="0">
                  <a:extLst>
                    <a:ext uri="{A12FA001-AC4F-418D-AE19-62706E023703}">
                      <ahyp:hlinkClr xmlns:ahyp="http://schemas.microsoft.com/office/drawing/2018/hyperlinkcolor" val="tx"/>
                    </a:ext>
                  </a:extLst>
                </a:hlinkClick>
              </a:rPr>
              <a:t>OCE: Leakage</a:t>
            </a:r>
            <a:endParaRPr lang="en-US" sz="850" dirty="0"/>
          </a:p>
        </p:txBody>
      </p:sp>
      <p:sp>
        <p:nvSpPr>
          <p:cNvPr id="30" name="Text 27">
            <a:hlinkClick r:id="rId26" tooltip=""/>
          </p:cNvPr>
          <p:cNvSpPr txBox="1"/>
          <p:nvPr/>
        </p:nvSpPr>
        <p:spPr>
          <a:xfrm>
            <a:off x="6163056"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6" invalidUrl="" action="" tgtFrame="" tooltip="" history="1" highlightClick="0" endSnd="0">
                  <a:extLst>
                    <a:ext uri="{A12FA001-AC4F-418D-AE19-62706E023703}">
                      <ahyp:hlinkClr xmlns:ahyp="http://schemas.microsoft.com/office/drawing/2018/hyperlinkcolor" val="tx"/>
                    </a:ext>
                  </a:extLst>
                </a:hlinkClick>
              </a:rPr>
              <a:t>Causal Workshop 2022</a:t>
            </a:r>
            <a:endParaRPr lang="en-US" sz="850" dirty="0"/>
          </a:p>
        </p:txBody>
      </p:sp>
      <p:sp>
        <p:nvSpPr>
          <p:cNvPr id="31" name="Text 28">
            <a:hlinkClick r:id="rId27" tooltip=""/>
          </p:cNvPr>
          <p:cNvSpPr txBox="1"/>
          <p:nvPr/>
        </p:nvSpPr>
        <p:spPr>
          <a:xfrm>
            <a:off x="6163056"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7" invalidUrl="" action="" tgtFrame="" tooltip="" history="1" highlightClick="0" endSnd="0">
                  <a:extLst>
                    <a:ext uri="{A12FA001-AC4F-418D-AE19-62706E023703}">
                      <ahyp:hlinkClr xmlns:ahyp="http://schemas.microsoft.com/office/drawing/2018/hyperlinkcolor" val="tx"/>
                    </a:ext>
                  </a:extLst>
                </a:hlinkClick>
              </a:rPr>
              <a:t>Facebook: Contagion</a:t>
            </a:r>
            <a:endParaRPr lang="en-US" sz="850" dirty="0"/>
          </a:p>
        </p:txBody>
      </p:sp>
      <p:sp>
        <p:nvSpPr>
          <p:cNvPr id="32" name="Text 29">
            <a:hlinkClick r:id="rId28" tooltip=""/>
          </p:cNvPr>
          <p:cNvSpPr txBox="1"/>
          <p:nvPr/>
        </p:nvSpPr>
        <p:spPr>
          <a:xfrm>
            <a:off x="6163056"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8" invalidUrl="" action="" tgtFrame="" tooltip="" history="1" highlightClick="0" endSnd="0">
                  <a:extLst>
                    <a:ext uri="{A12FA001-AC4F-418D-AE19-62706E023703}">
                      <ahyp:hlinkClr xmlns:ahyp="http://schemas.microsoft.com/office/drawing/2018/hyperlinkcolor" val="tx"/>
                    </a:ext>
                  </a:extLst>
                </a:hlinkClick>
              </a:rPr>
              <a:t>Contagion: Editorial Note</a:t>
            </a:r>
            <a:endParaRPr lang="en-US" sz="850" dirty="0"/>
          </a:p>
        </p:txBody>
      </p:sp>
      <p:sp>
        <p:nvSpPr>
          <p:cNvPr id="33" name="Text 30">
            <a:hlinkClick r:id="rId29" tooltip=""/>
          </p:cNvPr>
          <p:cNvSpPr txBox="1"/>
          <p:nvPr/>
        </p:nvSpPr>
        <p:spPr>
          <a:xfrm>
            <a:off x="6163056"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9" invalidUrl="" action="" tgtFrame="" tooltip="" history="1" highlightClick="0" endSnd="0">
                  <a:extLst>
                    <a:ext uri="{A12FA001-AC4F-418D-AE19-62706E023703}">
                      <ahyp:hlinkClr xmlns:ahyp="http://schemas.microsoft.com/office/drawing/2018/hyperlinkcolor" val="tx"/>
                    </a:ext>
                  </a:extLst>
                </a:hlinkClick>
              </a:rPr>
              <a:t>61M Social Influence</a:t>
            </a:r>
            <a:endParaRPr lang="en-US" sz="850" dirty="0"/>
          </a:p>
        </p:txBody>
      </p:sp>
      <p:sp>
        <p:nvSpPr>
          <p:cNvPr id="34" name="Text 31">
            <a:hlinkClick r:id="rId30" tooltip=""/>
          </p:cNvPr>
          <p:cNvSpPr txBox="1"/>
          <p:nvPr/>
        </p:nvSpPr>
        <p:spPr>
          <a:xfrm>
            <a:off x="6163056"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0" invalidUrl="" action="" tgtFrame="" tooltip="" history="1" highlightClick="0" endSnd="0">
                  <a:extLst>
                    <a:ext uri="{A12FA001-AC4F-418D-AE19-62706E023703}">
                      <ahyp:hlinkClr xmlns:ahyp="http://schemas.microsoft.com/office/drawing/2018/hyperlinkcolor" val="tx"/>
                    </a:ext>
                  </a:extLst>
                </a:hlinkClick>
              </a:rPr>
              <a:t>TOCE: A/A Test</a:t>
            </a:r>
            <a:endParaRPr lang="en-US" sz="850" dirty="0"/>
          </a:p>
        </p:txBody>
      </p:sp>
      <p:sp>
        <p:nvSpPr>
          <p:cNvPr id="35" name="Text 32">
            <a:hlinkClick r:id="rId31" tooltip=""/>
          </p:cNvPr>
          <p:cNvSpPr txBox="1"/>
          <p:nvPr/>
        </p:nvSpPr>
        <p:spPr>
          <a:xfrm>
            <a:off x="6163056"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1" invalidUrl="" action="" tgtFrame="" tooltip="" history="1" highlightClick="0" endSnd="0">
                  <a:extLst>
                    <a:ext uri="{A12FA001-AC4F-418D-AE19-62706E023703}">
                      <ahyp:hlinkClr xmlns:ahyp="http://schemas.microsoft.com/office/drawing/2018/hyperlinkcolor" val="tx"/>
                    </a:ext>
                  </a:extLst>
                </a:hlinkClick>
              </a:rPr>
              <a:t>TOCE: Ramp-up</a:t>
            </a:r>
            <a:endParaRPr lang="en-US" sz="850" dirty="0"/>
          </a:p>
        </p:txBody>
      </p:sp>
      <p:sp>
        <p:nvSpPr>
          <p:cNvPr id="36" name="Text 33">
            <a:hlinkClick r:id="rId32" tooltip=""/>
          </p:cNvPr>
          <p:cNvSpPr txBox="1"/>
          <p:nvPr/>
        </p:nvSpPr>
        <p:spPr>
          <a:xfrm>
            <a:off x="6163056"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2" invalidUrl="" action="" tgtFrame="" tooltip="" history="1" highlightClick="0" endSnd="0">
                  <a:extLst>
                    <a:ext uri="{A12FA001-AC4F-418D-AE19-62706E023703}">
                      <ahyp:hlinkClr xmlns:ahyp="http://schemas.microsoft.com/office/drawing/2018/hyperlinkcolor" val="tx"/>
                    </a:ext>
                  </a:extLst>
                </a:hlinkClick>
              </a:rPr>
              <a:t>Unexpected OCE Results</a:t>
            </a:r>
            <a:endParaRPr lang="en-US" sz="850" dirty="0"/>
          </a:p>
        </p:txBody>
      </p:sp>
      <p:sp>
        <p:nvSpPr>
          <p:cNvPr id="37" name="Text 34">
            <a:hlinkClick r:id="rId33" tooltip=""/>
          </p:cNvPr>
          <p:cNvSpPr txBox="1"/>
          <p:nvPr/>
        </p:nvSpPr>
        <p:spPr>
          <a:xfrm>
            <a:off x="6163056"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3" invalidUrl="" action="" tgtFrame="" tooltip="" history="1" highlightClick="0" endSnd="0">
                  <a:extLst>
                    <a:ext uri="{A12FA001-AC4F-418D-AE19-62706E023703}">
                      <ahyp:hlinkClr xmlns:ahyp="http://schemas.microsoft.com/office/drawing/2018/hyperlinkcolor" val="tx"/>
                    </a:ext>
                  </a:extLst>
                </a:hlinkClick>
              </a:rPr>
              <a:t>CUPED</a:t>
            </a:r>
            <a:endParaRPr lang="en-US" sz="850" dirty="0"/>
          </a:p>
        </p:txBody>
      </p:sp>
      <p:sp>
        <p:nvSpPr>
          <p:cNvPr id="38" name="Text 35">
            <a:hlinkClick r:id="rId34" tooltip=""/>
          </p:cNvPr>
          <p:cNvSpPr txBox="1"/>
          <p:nvPr/>
        </p:nvSpPr>
        <p:spPr>
          <a:xfrm>
            <a:off x="8924544"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4" invalidUrl="" action="" tgtFrame="" tooltip="" history="1" highlightClick="0" endSnd="0">
                  <a:extLst>
                    <a:ext uri="{A12FA001-AC4F-418D-AE19-62706E023703}">
                      <ahyp:hlinkClr xmlns:ahyp="http://schemas.microsoft.com/office/drawing/2018/hyperlinkcolor" val="tx"/>
                    </a:ext>
                  </a:extLst>
                </a:hlinkClick>
              </a:rPr>
              <a:t>ASA: p-values</a:t>
            </a:r>
            <a:endParaRPr lang="en-US" sz="850" dirty="0"/>
          </a:p>
        </p:txBody>
      </p:sp>
      <p:sp>
        <p:nvSpPr>
          <p:cNvPr id="39" name="Text 36">
            <a:hlinkClick r:id="rId35" tooltip=""/>
          </p:cNvPr>
          <p:cNvSpPr txBox="1"/>
          <p:nvPr/>
        </p:nvSpPr>
        <p:spPr>
          <a:xfrm>
            <a:off x="8924544"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5" invalidUrl="" action="" tgtFrame="" tooltip="" history="1" highlightClick="0" endSnd="0">
                  <a:extLst>
                    <a:ext uri="{A12FA001-AC4F-418D-AE19-62706E023703}">
                      <ahyp:hlinkClr xmlns:ahyp="http://schemas.microsoft.com/office/drawing/2018/hyperlinkcolor" val="tx"/>
                    </a:ext>
                  </a:extLst>
                </a:hlinkClick>
              </a:rPr>
              <a:t>Benjamini-Hochberg FDR</a:t>
            </a:r>
            <a:endParaRPr lang="en-US" sz="850" dirty="0"/>
          </a:p>
        </p:txBody>
      </p:sp>
      <p:sp>
        <p:nvSpPr>
          <p:cNvPr id="40" name="Text 37">
            <a:hlinkClick r:id="rId36" tooltip=""/>
          </p:cNvPr>
          <p:cNvSpPr txBox="1"/>
          <p:nvPr/>
        </p:nvSpPr>
        <p:spPr>
          <a:xfrm>
            <a:off x="8924544"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6" invalidUrl="" action="" tgtFrame="" tooltip="" history="1" highlightClick="0" endSnd="0">
                  <a:extLst>
                    <a:ext uri="{A12FA001-AC4F-418D-AE19-62706E023703}">
                      <ahyp:hlinkClr xmlns:ahyp="http://schemas.microsoft.com/office/drawing/2018/hyperlinkcolor" val="tx"/>
                    </a:ext>
                  </a:extLst>
                </a:hlinkClick>
              </a:rPr>
              <a:t>OCE: A/A Materials</a:t>
            </a:r>
            <a:endParaRPr lang="en-US" sz="850" dirty="0"/>
          </a:p>
        </p:txBody>
      </p:sp>
      <p:sp>
        <p:nvSpPr>
          <p:cNvPr id="41" name="Text 38">
            <a:hlinkClick r:id="rId37" tooltip=""/>
          </p:cNvPr>
          <p:cNvSpPr txBox="1"/>
          <p:nvPr/>
        </p:nvSpPr>
        <p:spPr>
          <a:xfrm>
            <a:off x="8924544"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7" invalidUrl="" action="" tgtFrame="" tooltip="" history="1" highlightClick="0" endSnd="0">
                  <a:extLst>
                    <a:ext uri="{A12FA001-AC4F-418D-AE19-62706E023703}">
                      <ahyp:hlinkClr xmlns:ahyp="http://schemas.microsoft.com/office/drawing/2018/hyperlinkcolor" val="tx"/>
                    </a:ext>
                  </a:extLst>
                </a:hlinkClick>
              </a:rPr>
              <a:t>SRM Diagnosis Guide</a:t>
            </a:r>
            <a:endParaRPr lang="en-US" sz="850" dirty="0"/>
          </a:p>
        </p:txBody>
      </p:sp>
      <p:sp>
        <p:nvSpPr>
          <p:cNvPr id="42" name="Text 39">
            <a:hlinkClick r:id="rId38" tooltip=""/>
          </p:cNvPr>
          <p:cNvSpPr txBox="1"/>
          <p:nvPr/>
        </p:nvSpPr>
        <p:spPr>
          <a:xfrm>
            <a:off x="8924544"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8" invalidUrl="" action="" tgtFrame="" tooltip="" history="1" highlightClick="0" endSnd="0">
                  <a:extLst>
                    <a:ext uri="{A12FA001-AC4F-418D-AE19-62706E023703}">
                      <ahyp:hlinkClr xmlns:ahyp="http://schemas.microsoft.com/office/drawing/2018/hyperlinkcolor" val="tx"/>
                    </a:ext>
                  </a:extLst>
                </a:hlinkClick>
              </a:rPr>
              <a:t>SRM Diagnosis Paper</a:t>
            </a:r>
            <a:endParaRPr lang="en-US" sz="850" dirty="0"/>
          </a:p>
        </p:txBody>
      </p:sp>
      <p:sp>
        <p:nvSpPr>
          <p:cNvPr id="43" name="Text 40">
            <a:hlinkClick r:id="rId39" tooltip=""/>
          </p:cNvPr>
          <p:cNvSpPr txBox="1"/>
          <p:nvPr/>
        </p:nvSpPr>
        <p:spPr>
          <a:xfrm>
            <a:off x="8924544"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9" invalidUrl="" action="" tgtFrame="" tooltip="" history="1" highlightClick="0" endSnd="0">
                  <a:extLst>
                    <a:ext uri="{A12FA001-AC4F-418D-AE19-62706E023703}">
                      <ahyp:hlinkClr xmlns:ahyp="http://schemas.microsoft.com/office/drawing/2018/hyperlinkcolor" val="tx"/>
                    </a:ext>
                  </a:extLst>
                </a:hlinkClick>
              </a:rPr>
              <a:t>Always Valid Inference</a:t>
            </a:r>
            <a:endParaRPr lang="en-US" sz="850" dirty="0"/>
          </a:p>
        </p:txBody>
      </p:sp>
      <p:sp>
        <p:nvSpPr>
          <p:cNvPr id="44" name="Text 41">
            <a:hlinkClick r:id="rId40" tooltip=""/>
          </p:cNvPr>
          <p:cNvSpPr txBox="1"/>
          <p:nvPr/>
        </p:nvSpPr>
        <p:spPr>
          <a:xfrm>
            <a:off x="8924544"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0" invalidUrl="" action="" tgtFrame="" tooltip="" history="1" highlightClick="0" endSnd="0">
                  <a:extLst>
                    <a:ext uri="{A12FA001-AC4F-418D-AE19-62706E023703}">
                      <ahyp:hlinkClr xmlns:ahyp="http://schemas.microsoft.com/office/drawing/2018/hyperlinkcolor" val="tx"/>
                    </a:ext>
                  </a:extLst>
                </a:hlinkClick>
              </a:rPr>
              <a:t>Oracle: A/B Pitfalls</a:t>
            </a:r>
            <a:endParaRPr lang="en-US" sz="850" dirty="0"/>
          </a:p>
        </p:txBody>
      </p:sp>
      <p:sp>
        <p:nvSpPr>
          <p:cNvPr id="45" name="Text 42">
            <a:hlinkClick r:id="rId41" tooltip=""/>
          </p:cNvPr>
          <p:cNvSpPr txBox="1"/>
          <p:nvPr/>
        </p:nvSpPr>
        <p:spPr>
          <a:xfrm>
            <a:off x="8924544"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1" invalidUrl="" action="" tgtFrame="" tooltip="" history="1" highlightClick="0" endSnd="0">
                  <a:extLst>
                    <a:ext uri="{A12FA001-AC4F-418D-AE19-62706E023703}">
                      <ahyp:hlinkClr xmlns:ahyp="http://schemas.microsoft.com/office/drawing/2018/hyperlinkcolor" val="tx"/>
                    </a:ext>
                  </a:extLst>
                </a:hlinkClick>
              </a:rPr>
              <a:t>Experiment Platform</a:t>
            </a:r>
            <a:endParaRPr lang="en-US" sz="850" dirty="0"/>
          </a:p>
        </p:txBody>
      </p:sp>
      <p:sp>
        <p:nvSpPr>
          <p:cNvPr id="46" name="Text 43">
            <a:hlinkClick r:id="rId42" tooltip=""/>
          </p:cNvPr>
          <p:cNvSpPr txBox="1"/>
          <p:nvPr/>
        </p:nvSpPr>
        <p:spPr>
          <a:xfrm>
            <a:off x="8924544"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2" invalidUrl="" action="" tgtFrame="" tooltip="" history="1" highlightClick="0" endSnd="0">
                  <a:extLst>
                    <a:ext uri="{A12FA001-AC4F-418D-AE19-62706E023703}">
                      <ahyp:hlinkClr xmlns:ahyp="http://schemas.microsoft.com/office/drawing/2018/hyperlinkcolor" val="tx"/>
                    </a:ext>
                  </a:extLst>
                </a:hlinkClick>
              </a:rPr>
              <a:t>Platform &amp; Culture</a:t>
            </a:r>
            <a:endParaRPr lang="en-US" sz="85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2026-10-08T15:41:39Z</dcterms:created>
  <dcterms:modified xsi:type="dcterms:W3CDTF">2026-10-08T15:41:39Z</dcterms:modified>
</cp:coreProperties>
</file>