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3.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4.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5.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charts/chart6.xml" ContentType="application/vnd.openxmlformats-officedocument.drawingml.chart+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990cd00e-85a0-4c96-f57f-2aef25a88133}">
          <p14:sldIdLst>
            <p14:sldId id="256"/>
            <p14:sldId id="257"/>
            <p14:sldId id="258"/>
          </p14:sldIdLst>
        </p14:section>
        <p14:section name="Ch1 실험과 인과추론" id="{e23fa4ce-9f13-3550-0a17-00af9ccc34a1}">
          <p14:sldIdLst>
            <p14:sldId id="259"/>
            <p14:sldId id="260"/>
            <p14:sldId id="261"/>
            <p14:sldId id="262"/>
            <p14:sldId id="263"/>
            <p14:sldId id="264"/>
            <p14:sldId id="265"/>
            <p14:sldId id="266"/>
            <p14:sldId id="267"/>
            <p14:sldId id="268"/>
          </p14:sldIdLst>
        </p14:section>
        <p14:section name="Ch2 설계 구성요소" id="{ac33f69f-b2f6-9794-0f2d-0df21740c406}">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Ch3 실행과 분석" id="{d01a8634-07f7-0707-9eeb-51960661e65b}">
          <p14:sldIdLst>
            <p14:sldId id="298"/>
            <p14:sldId id="299"/>
            <p14:sldId id="300"/>
            <p14:sldId id="301"/>
            <p14:sldId id="302"/>
            <p14:sldId id="303"/>
            <p14:sldId id="304"/>
            <p14:sldId id="305"/>
            <p14:sldId id="306"/>
            <p14:sldId id="307"/>
            <p14:sldId id="308"/>
            <p14:sldId id="309"/>
            <p14:sldId id="310"/>
            <p14:sldId id="311"/>
            <p14:sldId id="313"/>
          </p14:sldIdLst>
        </p14:section>
        <p14:section name="Ch4 함정과 고급 설계" id="{114e0ddf-12ce-969f-7d89-0435dc1c17f5}">
          <p14:sldIdLst>
            <p14:sldId id="312"/>
            <p14:sldId id="314"/>
            <p14:sldId id="315"/>
            <p14:sldId id="316"/>
            <p14:sldId id="317"/>
            <p14:sldId id="318"/>
            <p14:sldId id="319"/>
            <p14:sldId id="320"/>
            <p14:sldId id="321"/>
            <p14:sldId id="322"/>
            <p14:sldId id="323"/>
            <p14:sldId id="324"/>
          </p14:sldIdLst>
        </p14:section>
        <p14:section name="Ch5 사례와 결정" id="{7dc53745-edca-3d4f-63a8-2e6945c8498d}">
          <p14:sldIdLst>
            <p14:sldId id="325"/>
            <p14:sldId id="326"/>
            <p14:sldId id="327"/>
            <p14:sldId id="328"/>
            <p14:sldId id="329"/>
            <p14:sldId id="330"/>
            <p14:sldId id="331"/>
            <p14:sldId id="332"/>
            <p14:sldId id="333"/>
            <p14:sldId id="334"/>
            <p14:sldId id="33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11편: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 위키 09편 1.2: 비율은 정해진 표준이 아니고, 초기 단계에서는 Primary의 유의성보다 오류율·로딩·로깅·Guardrail을 먼저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 위키 09편 1.1: A/A의 핵심은 차이가 없어야 한다가 아니라, 차이가 없는 상황에서 시스템이 차이를 만들어내지 않는지 확인하는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1.5. CUPED는 효과의 중심값을 키우지 않고 신뢰구간만 좁힙니다(예: +1.0%p [-0.4, +2.4] → 약 +1.0%p [+0.2, +1.8], 교육용 예시). 공변량은 반드시 실험 전에 측정한 값이어야 하고, 실험 후 행동을 쓰면 처치가 그 값 자체를 바꿨을 수 있어 인과효과가 왜곡됩니다.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11편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α와 Power를 엄격하게 잡을수록 실험은 길어진다</a:t>
            </a:r>
            <a:endParaRPr lang="en-US" sz="2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노출·로깅 기록 확인</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18" name="Text 15"/>
          <p:cNvSpPr txBox="1"/>
          <p:nvPr/>
        </p:nvSpPr>
        <p:spPr>
          <a:xfrm>
            <a:off x="640080" y="5303520"/>
            <a:ext cx="10911535" cy="457200"/>
          </a:xfrm>
          <a:prstGeom prst="rect">
            <a:avLst/>
          </a:prstGeom>
          <a:noFill/>
          <a:ln/>
        </p:spPr>
        <p:txBody>
          <a:bodyPr wrap="square" lIns="0" tIns="0" rIns="0" bIns="0" rtlCol="0" anchor="t"/>
          <a:lstStyle/>
          <a:p>
            <a:pPr indent="0" marL="0">
              <a:buNone/>
            </a:pPr>
            <a:r>
              <a:rPr lang="en-US" sz="1500" b="1" dirty="0">
                <a:solidFill>
                  <a:schemeClr val="accent4"/>
                </a:solidFill>
              </a:rPr>
              <a:t>램프업은 위험을 제한하는 절차  </a:t>
            </a:r>
            <a:pPr indent="0" marL="0">
              <a:buNone/>
            </a:pPr>
            <a:r>
              <a:rPr lang="en-US" sz="1500" dirty="0">
                <a:solidFill>
                  <a:schemeClr val="tx1"/>
                </a:solidFill>
              </a:rPr>
              <a:t>효과를 빨리 찾는 절차가 아닙니다. 1%에서 좋아 보인다고 바로 늘리면 Peeking과 같은 문제가 생깁니다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40080" y="4069080"/>
            <a:ext cx="5669280" cy="18288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한 번 유의했다고 고장은 아니다. 이런 패턴을 본다</a:t>
            </a:r>
            <a:endParaRPr lang="en-US" sz="1500" dirty="0"/>
          </a:p>
          <a:p>
            <a:pPr marL="342900" indent="-342900">
              <a:spcAft>
                <a:spcPts val="200"/>
              </a:spcAft>
              <a:buSzPct val="100000"/>
              <a:buChar char="•"/>
            </a:pPr>
            <a:r>
              <a:rPr lang="en-US" sz="1500" dirty="0">
                <a:solidFill>
                  <a:schemeClr val="tx1"/>
                </a:solidFill>
              </a:rPr>
              <a:t>반복했을 때 유의가 지나치게 자주 나온다</a:t>
            </a:r>
            <a:endParaRPr lang="en-US" sz="1500" dirty="0"/>
          </a:p>
          <a:p>
            <a:pPr marL="342900" indent="-342900">
              <a:spcAft>
                <a:spcPts val="200"/>
              </a:spcAft>
              <a:buSzPct val="100000"/>
              <a:buChar char="•"/>
            </a:pPr>
            <a:r>
              <a:rPr lang="en-US" sz="1500" dirty="0">
                <a:solidFill>
                  <a:schemeClr val="tx1"/>
                </a:solidFill>
              </a:rPr>
              <a:t>특정 지표가 계속 한쪽 방향으로 차이 난다</a:t>
            </a:r>
            <a:endParaRPr lang="en-US" sz="1500" dirty="0"/>
          </a:p>
          <a:p>
            <a:pPr marL="342900" indent="-342900">
              <a:spcAft>
                <a:spcPts val="200"/>
              </a:spcAft>
              <a:buSzPct val="100000"/>
              <a:buChar char="•"/>
            </a:pPr>
            <a:r>
              <a:rPr lang="en-US" sz="1500" dirty="0">
                <a:solidFill>
                  <a:schemeClr val="tx1"/>
                </a:solidFill>
              </a:rPr>
              <a:t>특정 브라우저·국가·기기에서만 차이 난다</a:t>
            </a:r>
            <a:endParaRPr lang="en-US" sz="1500" dirty="0"/>
          </a:p>
          <a:p>
            <a:pPr marL="342900" indent="-342900">
              <a:spcAft>
                <a:spcPts val="200"/>
              </a:spcAft>
              <a:buSzPct val="100000"/>
              <a:buChar char="•"/>
            </a:pPr>
            <a:r>
              <a:rPr lang="en-US" sz="1500" dirty="0">
                <a:solidFill>
                  <a:schemeClr val="tx1"/>
                </a:solidFill>
              </a:rPr>
              <a:t>계산한 표준오차보다 실제 변동이 훨씬 크다</a:t>
            </a:r>
            <a:endParaRPr lang="en-US" sz="1500" dirty="0"/>
          </a:p>
        </p:txBody>
      </p:sp>
      <p:sp>
        <p:nvSpPr>
          <p:cNvPr id="8" name="Text 5"/>
          <p:cNvSpPr txBox="1"/>
          <p:nvPr/>
        </p:nvSpPr>
        <p:spPr>
          <a:xfrm>
            <a:off x="6858000" y="1920240"/>
            <a:ext cx="4709160" cy="38404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파이프라인 전체를 그대로 통과시킨다</a:t>
            </a:r>
            <a:endParaRPr lang="en-US" sz="1500" dirty="0"/>
          </a:p>
          <a:p>
            <a:pPr indent="0" marL="0">
              <a:spcAft>
                <a:spcPts val="1000"/>
              </a:spcAft>
              <a:buNone/>
            </a:pPr>
            <a:r>
              <a:rPr lang="en-US" sz="1500" b="1" dirty="0">
                <a:solidFill>
                  <a:schemeClr val="accent1"/>
                </a:solidFill>
              </a:rPr>
              <a:t>배정 → 노출 → 로깅 → 지표 계산 → 분석</a:t>
            </a:r>
            <a:endParaRPr lang="en-US" sz="1500" dirty="0"/>
          </a:p>
          <a:p>
            <a:pPr indent="0" marL="0">
              <a:buNone/>
            </a:pPr>
            <a:r>
              <a:rPr lang="en-US" sz="1500" b="1" dirty="0">
                <a:solidFill>
                  <a:schemeClr val="tx1"/>
                </a:solidFill>
              </a:rPr>
              <a:t>배정  </a:t>
            </a:r>
            <a:pPr indent="0" marL="0">
              <a:spcAft>
                <a:spcPts val="400"/>
              </a:spcAft>
              <a:buNone/>
            </a:pPr>
            <a:r>
              <a:rPr lang="en-US" sz="1500" dirty="0">
                <a:solidFill>
                  <a:schemeClr val="tx1"/>
                </a:solidFill>
              </a:rPr>
              <a:t>특정 국가·브라우저가 한쪽에 몰림</a:t>
            </a:r>
            <a:endParaRPr lang="en-US" sz="1500" dirty="0"/>
          </a:p>
          <a:p>
            <a:pPr indent="0" marL="0">
              <a:buNone/>
            </a:pPr>
            <a:r>
              <a:rPr lang="en-US" sz="1500" b="1" dirty="0">
                <a:solidFill>
                  <a:schemeClr val="tx1"/>
                </a:solidFill>
              </a:rPr>
              <a:t>노출  </a:t>
            </a:r>
            <a:pPr indent="0" marL="0">
              <a:spcAft>
                <a:spcPts val="400"/>
              </a:spcAft>
              <a:buNone/>
            </a:pPr>
            <a:r>
              <a:rPr lang="en-US" sz="1500" dirty="0">
                <a:solidFill>
                  <a:schemeClr val="tx1"/>
                </a:solidFill>
              </a:rPr>
              <a:t>배정됐지만 한쪽만 기능에 노출되지 않음</a:t>
            </a:r>
            <a:endParaRPr lang="en-US" sz="1500" dirty="0"/>
          </a:p>
          <a:p>
            <a:pPr indent="0" marL="0">
              <a:buNone/>
            </a:pPr>
            <a:r>
              <a:rPr lang="en-US" sz="1500" b="1" dirty="0">
                <a:solidFill>
                  <a:schemeClr val="tx1"/>
                </a:solidFill>
              </a:rPr>
              <a:t>로깅  </a:t>
            </a:r>
            <a:pPr indent="0" marL="0">
              <a:spcAft>
                <a:spcPts val="400"/>
              </a:spcAft>
              <a:buNone/>
            </a:pPr>
            <a:r>
              <a:rPr lang="en-US" sz="1500" dirty="0">
                <a:solidFill>
                  <a:schemeClr val="tx1"/>
                </a:solidFill>
              </a:rPr>
              <a:t>한 Variant의 이벤트가 누락·중복</a:t>
            </a:r>
            <a:endParaRPr lang="en-US" sz="1500" dirty="0"/>
          </a:p>
          <a:p>
            <a:pPr indent="0" marL="0">
              <a:buNone/>
            </a:pPr>
            <a:r>
              <a:rPr lang="en-US" sz="1500" b="1" dirty="0">
                <a:solidFill>
                  <a:schemeClr val="tx1"/>
                </a:solidFill>
              </a:rPr>
              <a:t>지표 계산  </a:t>
            </a:r>
            <a:pPr indent="0" marL="0">
              <a:spcAft>
                <a:spcPts val="400"/>
              </a:spcAft>
              <a:buNone/>
            </a:pPr>
            <a:r>
              <a:rPr lang="en-US" sz="1500" dirty="0">
                <a:solidFill>
                  <a:schemeClr val="tx1"/>
                </a:solidFill>
              </a:rPr>
              <a:t>그룹마다 집계 기준·필터가 다름</a:t>
            </a:r>
            <a:endParaRPr lang="en-US" sz="1500" dirty="0"/>
          </a:p>
          <a:p>
            <a:pPr indent="0" marL="0">
              <a:buNone/>
            </a:pPr>
            <a:r>
              <a:rPr lang="en-US" sz="1500" b="1" dirty="0">
                <a:solidFill>
                  <a:schemeClr val="tx1"/>
                </a:solidFill>
              </a:rPr>
              <a:t>분산·SE  </a:t>
            </a:r>
            <a:pPr indent="0" marL="0">
              <a:buNone/>
            </a:pPr>
            <a:r>
              <a:rPr lang="en-US" sz="1500" dirty="0">
                <a:solidFill>
                  <a:schemeClr val="tx1"/>
                </a:solidFill>
              </a:rPr>
              <a:t>반복 관측을 독립으로 봐서 불확실성을 작게 계산</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'무조건 2주' 규칙은 없다</a:t>
            </a:r>
            <a:endParaRPr lang="en-US" sz="1500" dirty="0"/>
          </a:p>
          <a:p>
            <a:pPr indent="0" marL="0">
              <a:buNone/>
            </a:pPr>
            <a:r>
              <a:rPr lang="en-US" sz="1500" dirty="0">
                <a:solidFill>
                  <a:schemeClr val="tx2"/>
                </a:solidFill>
              </a:rPr>
              <a:t>필요한 표본을 채웠나, 주요 행동 주기를 포함했나, 초기 시간 효과가 결과를 지배하지 않나로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4" name="Text 21"/>
          <p:cNvSpPr txBox="1"/>
          <p:nvPr/>
        </p:nvSpPr>
        <p:spPr>
          <a:xfrm>
            <a:off x="640080" y="5715000"/>
            <a:ext cx="10911535" cy="457200"/>
          </a:xfrm>
          <a:prstGeom prst="rect">
            <a:avLst/>
          </a:prstGeom>
          <a:noFill/>
          <a:ln/>
        </p:spPr>
        <p:txBody>
          <a:bodyPr wrap="square" lIns="0" tIns="0" rIns="0" bIns="0" rtlCol="0" anchor="t"/>
          <a:lstStyle/>
          <a:p>
            <a:pPr indent="0" marL="0">
              <a:buNone/>
            </a:pPr>
            <a:r>
              <a:rPr lang="en-US" sz="1400" dirty="0">
                <a:solidFill>
                  <a:schemeClr val="tx2"/>
                </a:solidFill>
              </a:rPr>
              <a:t>엄밀히는 '같은 절차를 반복하면 만든 구간의 95%가 참값을 포함한다'는 뜻입니다. '이 구간에 참값이 있을 확률이 95%'는 정확한 해석이 아닙니다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7" name="Text 3"/>
          <p:cNvSpPr txBox="1"/>
          <p:nvPr/>
        </p:nvSpPr>
        <p:spPr>
          <a:xfrm>
            <a:off x="640080" y="49834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8" name="Text 4"/>
          <p:cNvSpPr txBox="1"/>
          <p:nvPr/>
        </p:nvSpPr>
        <p:spPr>
          <a:xfrm>
            <a:off x="640080" y="5349240"/>
            <a:ext cx="1920240" cy="457200"/>
          </a:xfrm>
          <a:prstGeom prst="rect">
            <a:avLst/>
          </a:prstGeom>
          <a:noFill/>
          <a:ln/>
        </p:spPr>
        <p:txBody>
          <a:bodyPr wrap="square" lIns="0" tIns="0" rIns="0" bIns="0" rtlCol="0" anchor="t"/>
          <a:lstStyle/>
          <a:p>
            <a:pPr indent="0" marL="0">
              <a:buNone/>
            </a:pPr>
            <a:r>
              <a:rPr lang="en-US" sz="2000" b="1" dirty="0">
                <a:solidFill>
                  <a:schemeClr val="accent1"/>
                </a:solidFill>
              </a:rPr>
              <a:t>효과 크기</a:t>
            </a:r>
            <a:endParaRPr lang="en-US" sz="2000" dirty="0"/>
          </a:p>
        </p:txBody>
      </p:sp>
      <p:sp>
        <p:nvSpPr>
          <p:cNvPr id="9" name="Shape 5"/>
          <p:cNvSpPr/>
          <p:nvPr/>
        </p:nvSpPr>
        <p:spPr>
          <a:xfrm>
            <a:off x="2514600" y="5550408"/>
            <a:ext cx="411480" cy="0"/>
          </a:xfrm>
          <a:prstGeom prst="line">
            <a:avLst/>
          </a:prstGeom>
          <a:noFill/>
          <a:ln w="19050">
            <a:solidFill>
              <a:srgbClr val="8A90A8"/>
            </a:solidFill>
            <a:prstDash val="solid"/>
            <a:tailEnd type="triangle"/>
          </a:ln>
        </p:spPr>
      </p:sp>
      <p:sp>
        <p:nvSpPr>
          <p:cNvPr id="10" name="Text 6"/>
          <p:cNvSpPr txBox="1"/>
          <p:nvPr/>
        </p:nvSpPr>
        <p:spPr>
          <a:xfrm>
            <a:off x="301752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신뢰구간</a:t>
            </a:r>
            <a:endParaRPr lang="en-US" sz="2000" dirty="0"/>
          </a:p>
        </p:txBody>
      </p:sp>
      <p:sp>
        <p:nvSpPr>
          <p:cNvPr id="11" name="Shape 7"/>
          <p:cNvSpPr/>
          <p:nvPr/>
        </p:nvSpPr>
        <p:spPr>
          <a:xfrm>
            <a:off x="4892040" y="5550408"/>
            <a:ext cx="411480" cy="0"/>
          </a:xfrm>
          <a:prstGeom prst="line">
            <a:avLst/>
          </a:prstGeom>
          <a:noFill/>
          <a:ln w="19050">
            <a:solidFill>
              <a:srgbClr val="8A90A8"/>
            </a:solidFill>
            <a:prstDash val="solid"/>
            <a:tailEnd type="triangle"/>
          </a:ln>
        </p:spPr>
      </p:sp>
      <p:sp>
        <p:nvSpPr>
          <p:cNvPr id="12" name="Text 8"/>
          <p:cNvSpPr txBox="1"/>
          <p:nvPr/>
        </p:nvSpPr>
        <p:spPr>
          <a:xfrm>
            <a:off x="539496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p-value</a:t>
            </a:r>
            <a:endParaRPr lang="en-US" sz="2000" dirty="0"/>
          </a:p>
        </p:txBody>
      </p:sp>
      <p:sp>
        <p:nvSpPr>
          <p:cNvPr id="13" name="Shape 9"/>
          <p:cNvSpPr/>
          <p:nvPr/>
        </p:nvSpPr>
        <p:spPr>
          <a:xfrm>
            <a:off x="7269480" y="5550408"/>
            <a:ext cx="411480" cy="0"/>
          </a:xfrm>
          <a:prstGeom prst="line">
            <a:avLst/>
          </a:prstGeom>
          <a:noFill/>
          <a:ln w="19050">
            <a:solidFill>
              <a:srgbClr val="8A90A8"/>
            </a:solidFill>
            <a:prstDash val="solid"/>
            <a:tailEnd type="triangle"/>
          </a:ln>
        </p:spPr>
      </p:sp>
      <p:sp>
        <p:nvSpPr>
          <p:cNvPr id="14" name="Text 10"/>
          <p:cNvSpPr txBox="1"/>
          <p:nvPr/>
        </p:nvSpPr>
        <p:spPr>
          <a:xfrm>
            <a:off x="7772400" y="5349240"/>
            <a:ext cx="4114800" cy="457200"/>
          </a:xfrm>
          <a:prstGeom prst="rect">
            <a:avLst/>
          </a:prstGeom>
          <a:noFill/>
          <a:ln/>
        </p:spPr>
        <p:txBody>
          <a:bodyPr wrap="square" lIns="0" tIns="0" rIns="0" bIns="0" rtlCol="0" anchor="t"/>
          <a:lstStyle/>
          <a:p>
            <a:pPr indent="0" marL="0">
              <a:buNone/>
            </a:pPr>
            <a:r>
              <a:rPr lang="en-US" sz="2000" b="1" dirty="0">
                <a:solidFill>
                  <a:schemeClr val="tx1"/>
                </a:solidFill>
              </a:rPr>
              <a:t>비용·리스크를 포함한 의사결정</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b="1" dirty="0">
                <a:solidFill>
                  <a:schemeClr val="tx1"/>
                </a:solidFill>
              </a:rPr>
              <a:t>θ = Cov(Y, X) / Var(X)</a:t>
            </a:r>
            <a:pPr indent="0" marL="0">
              <a:buNone/>
            </a:pPr>
            <a:r>
              <a:rPr lang="en-US" sz="1500" dirty="0">
                <a:solidFill>
                  <a:schemeClr val="tx2"/>
                </a:solidFill>
              </a:rPr>
              <a:t>      분산은 약 Var(Y)(1 - ρ²)로 준다. 실험 전후 지표 상관 ρ = 0.7이면 원래 분산의 51%</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CUPED 주의점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CUPED는 좋은 실험의 노이즈를 줄일 뿐, 나쁜 실험을 고치지 못한다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실험 전후 지표의 상관이 낮으면 효과가 작다</a:t>
            </a:r>
            <a:endParaRPr lang="en-US" sz="1500" dirty="0"/>
          </a:p>
          <a:p>
            <a:pPr indent="0" marL="0">
              <a:buNone/>
            </a:pPr>
            <a:r>
              <a:rPr lang="en-US" sz="1500" dirty="0">
                <a:solidFill>
                  <a:schemeClr val="tx2"/>
                </a:solidFill>
              </a:rPr>
              <a:t>과거·현재 구매액처럼 반복성이 높은 지표에 유리하다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처치의 영향을 받지 않은 변수만 쓴다</a:t>
            </a:r>
            <a:endParaRPr lang="en-US" sz="1500" dirty="0"/>
          </a:p>
          <a:p>
            <a:pPr indent="0" marL="0">
              <a:buNone/>
            </a:pPr>
            <a:r>
              <a:rPr lang="en-US" sz="1500" dirty="0">
                <a:solidFill>
                  <a:schemeClr val="tx2"/>
                </a:solidFill>
              </a:rPr>
              <a:t>실험 후에 정해진 값을 넣으면 편향이 생긴다</a:t>
            </a:r>
            <a:endParaRPr lang="en-US" sz="1500" dirty="0"/>
          </a:p>
        </p:txBody>
      </p:sp>
      <p:sp>
        <p:nvSpPr>
          <p:cNvPr id="9" name="Text 6"/>
          <p:cNvSpPr txBox="1"/>
          <p:nvPr/>
        </p:nvSpPr>
        <p:spPr>
          <a:xfrm>
            <a:off x="64008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신규 사용자는 실험 전 데이터가 없다</a:t>
            </a:r>
            <a:endParaRPr lang="en-US" sz="1500" dirty="0"/>
          </a:p>
          <a:p>
            <a:pPr indent="0" marL="0">
              <a:buNone/>
            </a:pPr>
            <a:r>
              <a:rPr lang="en-US" sz="1500" dirty="0">
                <a:solidFill>
                  <a:schemeClr val="tx2"/>
                </a:solidFill>
              </a:rPr>
              <a:t>신규 비중이 높으면 결측 처리나 별도 설계가 필요하다</a:t>
            </a:r>
            <a:endParaRPr lang="en-US" sz="1500" dirty="0"/>
          </a:p>
        </p:txBody>
      </p:sp>
      <p:sp>
        <p:nvSpPr>
          <p:cNvPr id="11" name="Text 8"/>
          <p:cNvSpPr txBox="1"/>
          <p:nvPr/>
        </p:nvSpPr>
        <p:spPr>
          <a:xfrm>
            <a:off x="621792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잘못된 설계를 고쳐주지 않는다</a:t>
            </a:r>
            <a:endParaRPr lang="en-US" sz="1500" dirty="0"/>
          </a:p>
          <a:p>
            <a:pPr indent="0" marL="0">
              <a:buNone/>
            </a:pPr>
            <a:r>
              <a:rPr lang="en-US" sz="1500" dirty="0">
                <a:solidFill>
                  <a:schemeClr val="tx2"/>
                </a:solidFill>
              </a:rPr>
              <a:t>배정·로깅·SRM 문제가 있는 실험에 써도 결과를 믿을 수 없다</a:t>
            </a:r>
            <a:endParaRPr lang="en-US" sz="1500" dirty="0"/>
          </a:p>
        </p:txBody>
      </p:sp>
      <p:sp>
        <p:nvSpPr>
          <p:cNvPr id="13" name="Text 10"/>
          <p:cNvSpPr txBox="1"/>
          <p:nvPr/>
        </p:nvSpPr>
        <p:spPr>
          <a:xfrm>
            <a:off x="640080" y="44348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CUPED가 하는 일  </a:t>
            </a:r>
            <a:pPr indent="0" marL="0">
              <a:buNone/>
            </a:pPr>
            <a:r>
              <a:rPr lang="en-US" sz="1500" dirty="0">
                <a:solidFill>
                  <a:schemeClr val="tx1"/>
                </a:solidFill>
              </a:rPr>
              <a:t>효과를 키우는 게 아니라 신뢰구간을 좁힌다 → 더 작은 효과를 잡고, 같은 검정력을 더 적은 표본·짧은 기간으로 얻는다</a:t>
            </a:r>
            <a:endParaRPr lang="en-US" sz="1500" dirty="0"/>
          </a:p>
        </p:txBody>
      </p:sp>
      <p:sp>
        <p:nvSpPr>
          <p:cNvPr id="14"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1.5 · 출처: Deng et al. (2013),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α/m. 하나라도 거짓 양성이 날 확률(FWER)을 막는다. 소수의 중요한 가설에</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 검정력이 더 높아 많은 지표를 탐색할 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내 처치가 남의 결과를 바꾸지 않는다는 가정. 이것이 깨지면 간섭입니다 (실무: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밴딧은 빨리 이기는 쪽을 찾지만, 효과 크기 추정은 A/B 테스트보다 부정확합니다</a:t>
            </a:r>
            <a:endParaRPr lang="en-US" sz="1500" dirty="0"/>
          </a:p>
          <a:p>
            <a:pPr indent="0" marL="0">
              <a:buNone/>
            </a:pPr>
            <a:r>
              <a:rPr lang="en-US" sz="1500" dirty="0">
                <a:solidFill>
                  <a:schemeClr val="tx2"/>
                </a:solidFill>
              </a:rPr>
              <a:t>간섭에 대응하는 Cluster · Geo · Switchback 설계는 앞 장에서 다뤘습니다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좋은 OEC  </a:t>
            </a:r>
            <a:pPr indent="0" marL="0">
              <a:buNone/>
            </a:pPr>
            <a:r>
              <a:rPr lang="en-US" sz="1500" dirty="0">
                <a:solidFill>
                  <a:schemeClr val="tx1"/>
                </a:solidFill>
              </a:rPr>
              <a:t>① 단기간에 측정 가능 ② 실험 변화에 민감 ③ 회사의 장기 목표를 예측</a:t>
            </a:r>
            <a:endParaRPr lang="en-US" sz="15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11편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테스트는 이 반복에서 '측정하고 검증하는' 역할을 맡습니다</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11편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 실험 운영 설계 · 06·07 간섭 · 08 윤리 · 09·10 실무 (1)(2) · 11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80</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2026-10-07T14:33:10Z</dcterms:created>
  <dcterms:modified xsi:type="dcterms:W3CDTF">2026-10-07T14:33:10Z</dcterms:modified>
</cp:coreProperties>
</file>