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3.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5.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3a8e5382-3a47-4838-98b3-a2654f87f639}">
          <p14:sldIdLst>
            <p14:sldId id="256"/>
            <p14:sldId id="257"/>
            <p14:sldId id="258"/>
          </p14:sldIdLst>
        </p14:section>
        <p14:section name="Ch1 실험과 인과추론" id="{8675ece9-be30-bcda-435b-e27e651d3c78}">
          <p14:sldIdLst>
            <p14:sldId id="259"/>
            <p14:sldId id="260"/>
            <p14:sldId id="261"/>
            <p14:sldId id="262"/>
            <p14:sldId id="263"/>
            <p14:sldId id="264"/>
            <p14:sldId id="265"/>
            <p14:sldId id="266"/>
            <p14:sldId id="267"/>
            <p14:sldId id="268"/>
          </p14:sldIdLst>
        </p14:section>
        <p14:section name="Ch2 설계 구성요소" id="{4b8ab63a-2544-2dab-abba-695560443500}">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6a981e12-741f-3832-ff1f-58c4eeb35212}">
          <p14:sldIdLst>
            <p14:sldId id="298"/>
            <p14:sldId id="299"/>
            <p14:sldId id="300"/>
            <p14:sldId id="301"/>
            <p14:sldId id="302"/>
            <p14:sldId id="303"/>
            <p14:sldId id="304"/>
            <p14:sldId id="305"/>
            <p14:sldId id="306"/>
            <p14:sldId id="307"/>
            <p14:sldId id="308"/>
            <p14:sldId id="309"/>
            <p14:sldId id="310"/>
            <p14:sldId id="311"/>
            <p14:sldId id="312"/>
          </p14:sldIdLst>
        </p14:section>
        <p14:section name="Ch4 함정과 고급 설계" id="{443d2964-3b00-7b1c-5bbd-43122a32f702}">
          <p14:sldIdLst>
            <p14:sldId id="313"/>
            <p14:sldId id="314"/>
            <p14:sldId id="315"/>
            <p14:sldId id="316"/>
            <p14:sldId id="317"/>
            <p14:sldId id="318"/>
            <p14:sldId id="319"/>
            <p14:sldId id="320"/>
            <p14:sldId id="321"/>
            <p14:sldId id="322"/>
            <p14:sldId id="323"/>
            <p14:sldId id="324"/>
          </p14:sldIdLst>
        </p14:section>
        <p14:section name="Ch5 사례와 결정" id="{c25883c8-dea3-db6f-98ef-e7dd7da26a8e}">
          <p14:sldIdLst>
            <p14:sldId id="325"/>
            <p14:sldId id="326"/>
            <p14:sldId id="327"/>
            <p14:sldId id="328"/>
            <p14:sldId id="329"/>
            <p14:sldId id="330"/>
            <p14:sldId id="331"/>
            <p14:sldId id="332"/>
            <p14:sldId id="333"/>
            <p14:sldId id="334"/>
            <p14:sldId id="335"/>
            <p14:sldId id="336"/>
            <p14:sldId id="3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 다룰 다섯 장</a:t>
            </a:r>
            <a:endParaRPr lang="en-US" sz="2000" dirty="0"/>
          </a:p>
        </p:txBody>
      </p:sp>
      <p:sp>
        <p:nvSpPr>
          <p:cNvPr id="5" name="Text 2"/>
          <p:cNvSpPr txBox="1"/>
          <p:nvPr/>
        </p:nvSpPr>
        <p:spPr>
          <a:xfrm>
            <a:off x="640080"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2094525" cy="0"/>
          </a:xfrm>
          <a:prstGeom prst="line">
            <a:avLst/>
          </a:prstGeom>
          <a:noFill/>
          <a:ln w="76200">
            <a:solidFill>
              <a:srgbClr val="3A5BFF"/>
            </a:solidFill>
            <a:prstDash val="solid"/>
          </a:ln>
        </p:spPr>
      </p:sp>
      <p:sp>
        <p:nvSpPr>
          <p:cNvPr id="7" name="Text 4"/>
          <p:cNvSpPr txBox="1"/>
          <p:nvPr/>
        </p:nvSpPr>
        <p:spPr>
          <a:xfrm>
            <a:off x="284433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8" name="Shape 5"/>
          <p:cNvSpPr/>
          <p:nvPr/>
        </p:nvSpPr>
        <p:spPr>
          <a:xfrm>
            <a:off x="2844333" y="3154680"/>
            <a:ext cx="2094525" cy="0"/>
          </a:xfrm>
          <a:prstGeom prst="line">
            <a:avLst/>
          </a:prstGeom>
          <a:noFill/>
          <a:ln w="76200">
            <a:solidFill>
              <a:srgbClr val="3A5BFF"/>
            </a:solidFill>
            <a:prstDash val="solid"/>
          </a:ln>
        </p:spPr>
      </p:sp>
      <p:sp>
        <p:nvSpPr>
          <p:cNvPr id="9" name="Text 6"/>
          <p:cNvSpPr txBox="1"/>
          <p:nvPr/>
        </p:nvSpPr>
        <p:spPr>
          <a:xfrm>
            <a:off x="5048585"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0" name="Shape 7"/>
          <p:cNvSpPr/>
          <p:nvPr/>
        </p:nvSpPr>
        <p:spPr>
          <a:xfrm>
            <a:off x="5048585" y="3154680"/>
            <a:ext cx="2094525" cy="0"/>
          </a:xfrm>
          <a:prstGeom prst="line">
            <a:avLst/>
          </a:prstGeom>
          <a:noFill/>
          <a:ln w="76200">
            <a:solidFill>
              <a:srgbClr val="3A5BFF"/>
            </a:solidFill>
            <a:prstDash val="solid"/>
          </a:ln>
        </p:spPr>
      </p:sp>
      <p:sp>
        <p:nvSpPr>
          <p:cNvPr id="11" name="Text 8"/>
          <p:cNvSpPr txBox="1"/>
          <p:nvPr/>
        </p:nvSpPr>
        <p:spPr>
          <a:xfrm>
            <a:off x="7252838"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2" name="Shape 9"/>
          <p:cNvSpPr/>
          <p:nvPr/>
        </p:nvSpPr>
        <p:spPr>
          <a:xfrm>
            <a:off x="7252838" y="3154680"/>
            <a:ext cx="2094525" cy="0"/>
          </a:xfrm>
          <a:prstGeom prst="line">
            <a:avLst/>
          </a:prstGeom>
          <a:noFill/>
          <a:ln w="76200">
            <a:solidFill>
              <a:srgbClr val="3A5BFF"/>
            </a:solidFill>
            <a:prstDash val="solid"/>
          </a:ln>
        </p:spPr>
      </p:sp>
      <p:sp>
        <p:nvSpPr>
          <p:cNvPr id="13" name="Text 10"/>
          <p:cNvSpPr txBox="1"/>
          <p:nvPr/>
        </p:nvSpPr>
        <p:spPr>
          <a:xfrm>
            <a:off x="9457091"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4" name="Shape 11"/>
          <p:cNvSpPr/>
          <p:nvPr/>
        </p:nvSpPr>
        <p:spPr>
          <a:xfrm>
            <a:off x="9457091" y="3154680"/>
            <a:ext cx="2094525" cy="0"/>
          </a:xfrm>
          <a:prstGeom prst="line">
            <a:avLst/>
          </a:prstGeom>
          <a:noFill/>
          <a:ln w="76200">
            <a:solidFill>
              <a:srgbClr val="3A5BFF"/>
            </a:solidFill>
            <a:prstDash val="solid"/>
          </a:ln>
        </p:spPr>
      </p:sp>
      <p:sp>
        <p:nvSpPr>
          <p:cNvPr id="15" name="Text 12"/>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유도보다 "그래서 배포할까?"로 번역하기 · 이론 뒤에 실습, 함정·해석·공유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1 · 객관식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결과를 보고 가장 먼저 할 일은?</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50:50으로 설계한 실험에서 B안 전환율이 +3%p, p = 0.01로 나왔다</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indent="0" marL="0">
              <a:buNone/>
            </a:pPr>
            <a:r>
              <a:rPr lang="en-US" sz="1500" dirty="0">
                <a:solidFill>
                  <a:schemeClr val="tx2"/>
                </a:solidFill>
              </a:rPr>
              <a:t>그런데 실제로 들어온 사용자 수는  </a:t>
            </a:r>
            <a:pPr indent="0" marL="0">
              <a:buNone/>
            </a:pPr>
            <a:r>
              <a:rPr lang="en-US" sz="3000" b="1" dirty="0">
                <a:solidFill>
                  <a:schemeClr val="accent1"/>
                </a:solidFill>
              </a:rPr>
              <a:t>A 50,000명</a:t>
            </a:r>
            <a:pPr indent="0" marL="0">
              <a:buNone/>
            </a:pPr>
            <a:r>
              <a:rPr lang="en-US" sz="3000" dirty="0">
                <a:solidFill>
                  <a:schemeClr val="tx1"/>
                </a:solidFill>
              </a:rPr>
              <a:t>   </a:t>
            </a:r>
            <a:pPr indent="0" marL="0">
              <a:buNone/>
            </a:pPr>
            <a:r>
              <a:rPr lang="en-US" sz="3000" b="1" dirty="0">
                <a:solidFill>
                  <a:schemeClr val="accent3"/>
                </a:solidFill>
              </a:rPr>
              <a:t>B 48,800명</a:t>
            </a:r>
            <a:endParaRPr lang="en-US" sz="1500" dirty="0"/>
          </a:p>
        </p:txBody>
      </p:sp>
      <p:sp>
        <p:nvSpPr>
          <p:cNvPr id="7" name="Text 4"/>
          <p:cNvSpPr txBox="1"/>
          <p:nvPr/>
        </p:nvSpPr>
        <p:spPr>
          <a:xfrm>
            <a:off x="640080" y="324612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①</a:t>
            </a:r>
            <a:endParaRPr lang="en-US" sz="2000" dirty="0"/>
          </a:p>
        </p:txBody>
      </p:sp>
      <p:sp>
        <p:nvSpPr>
          <p:cNvPr id="8" name="Text 5"/>
          <p:cNvSpPr txBox="1"/>
          <p:nvPr/>
        </p:nvSpPr>
        <p:spPr>
          <a:xfrm>
            <a:off x="1188720" y="3246120"/>
            <a:ext cx="10362895" cy="457200"/>
          </a:xfrm>
          <a:prstGeom prst="rect">
            <a:avLst/>
          </a:prstGeom>
          <a:noFill/>
          <a:ln/>
        </p:spPr>
        <p:txBody>
          <a:bodyPr wrap="square" lIns="0" tIns="0" rIns="0" bIns="0" rtlCol="0" anchor="t"/>
          <a:lstStyle/>
          <a:p>
            <a:pPr indent="0" marL="0">
              <a:buNone/>
            </a:pPr>
            <a:r>
              <a:rPr lang="en-US" sz="2000" dirty="0">
                <a:solidFill>
                  <a:schemeClr val="tx1"/>
                </a:solidFill>
              </a:rPr>
              <a:t>유의하므로 B안을 배포한다</a:t>
            </a:r>
            <a:endParaRPr lang="en-US" sz="2000" dirty="0"/>
          </a:p>
        </p:txBody>
      </p:sp>
      <p:sp>
        <p:nvSpPr>
          <p:cNvPr id="9" name="Text 6"/>
          <p:cNvSpPr txBox="1"/>
          <p:nvPr/>
        </p:nvSpPr>
        <p:spPr>
          <a:xfrm>
            <a:off x="640080" y="3813048"/>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10" name="Text 7"/>
          <p:cNvSpPr txBox="1"/>
          <p:nvPr/>
        </p:nvSpPr>
        <p:spPr>
          <a:xfrm>
            <a:off x="1188720" y="3813048"/>
            <a:ext cx="10362895" cy="457200"/>
          </a:xfrm>
          <a:prstGeom prst="rect">
            <a:avLst/>
          </a:prstGeom>
          <a:noFill/>
          <a:ln/>
        </p:spPr>
        <p:txBody>
          <a:bodyPr wrap="square" lIns="0" tIns="0" rIns="0" bIns="0" rtlCol="0" anchor="t"/>
          <a:lstStyle/>
          <a:p>
            <a:pPr indent="0" marL="0">
              <a:buNone/>
            </a:pPr>
            <a:r>
              <a:rPr lang="en-US" sz="2000" dirty="0">
                <a:solidFill>
                  <a:schemeClr val="tx1"/>
                </a:solidFill>
              </a:rPr>
              <a:t>표본이 충분하니 신뢰구간만 확인하고 배포한다</a:t>
            </a:r>
            <a:endParaRPr lang="en-US" sz="2000" dirty="0"/>
          </a:p>
        </p:txBody>
      </p:sp>
      <p:sp>
        <p:nvSpPr>
          <p:cNvPr id="11" name="Text 8"/>
          <p:cNvSpPr txBox="1"/>
          <p:nvPr/>
        </p:nvSpPr>
        <p:spPr>
          <a:xfrm>
            <a:off x="640080" y="437997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12" name="Text 9"/>
          <p:cNvSpPr txBox="1"/>
          <p:nvPr/>
        </p:nvSpPr>
        <p:spPr>
          <a:xfrm>
            <a:off x="1188720" y="4379976"/>
            <a:ext cx="10362895" cy="457200"/>
          </a:xfrm>
          <a:prstGeom prst="rect">
            <a:avLst/>
          </a:prstGeom>
          <a:noFill/>
          <a:ln/>
        </p:spPr>
        <p:txBody>
          <a:bodyPr wrap="square" lIns="0" tIns="0" rIns="0" bIns="0" rtlCol="0" anchor="t"/>
          <a:lstStyle/>
          <a:p>
            <a:pPr indent="0" marL="0">
              <a:buNone/>
            </a:pPr>
            <a:r>
              <a:rPr lang="en-US" sz="2000" dirty="0">
                <a:solidFill>
                  <a:schemeClr val="tx1"/>
                </a:solidFill>
              </a:rPr>
              <a:t>결과 해석을 멈추고 배정·로깅 과정에서 원인을 찾는다</a:t>
            </a:r>
            <a:endParaRPr lang="en-US" sz="2000" dirty="0"/>
          </a:p>
        </p:txBody>
      </p:sp>
      <p:sp>
        <p:nvSpPr>
          <p:cNvPr id="13" name="Text 10"/>
          <p:cNvSpPr txBox="1"/>
          <p:nvPr/>
        </p:nvSpPr>
        <p:spPr>
          <a:xfrm>
            <a:off x="640080" y="494690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4" name="Text 11"/>
          <p:cNvSpPr txBox="1"/>
          <p:nvPr/>
        </p:nvSpPr>
        <p:spPr>
          <a:xfrm>
            <a:off x="1188720" y="4946904"/>
            <a:ext cx="10362895" cy="457200"/>
          </a:xfrm>
          <a:prstGeom prst="rect">
            <a:avLst/>
          </a:prstGeom>
          <a:noFill/>
          <a:ln/>
        </p:spPr>
        <p:txBody>
          <a:bodyPr wrap="square" lIns="0" tIns="0" rIns="0" bIns="0" rtlCol="0" anchor="t"/>
          <a:lstStyle/>
          <a:p>
            <a:pPr indent="0" marL="0">
              <a:buNone/>
            </a:pPr>
            <a:r>
              <a:rPr lang="en-US" sz="2000" dirty="0">
                <a:solidFill>
                  <a:schemeClr val="tx1"/>
                </a:solidFill>
              </a:rPr>
              <a:t>B안의 이탈 사용자를 제외하고 다시 분석한다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2 · 주관식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기능의 실험을 설계하라</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중고거래 앱에서 </a:t>
            </a:r>
            <a:pPr indent="0" marL="0">
              <a:buNone/>
            </a:pPr>
            <a:r>
              <a:rPr lang="en-US" sz="2000" b="1" dirty="0">
                <a:solidFill>
                  <a:schemeClr val="accent1"/>
                </a:solidFill>
              </a:rPr>
              <a:t>판매자에게 적정 가격을 추천하는 기능</a:t>
            </a:r>
            <a:pPr indent="0" marL="0">
              <a:buNone/>
            </a:pPr>
            <a:r>
              <a:rPr lang="en-US" sz="2000" dirty="0">
                <a:solidFill>
                  <a:schemeClr val="tx1"/>
                </a:solidFill>
              </a:rPr>
              <a:t>을 실험하려 한다</a:t>
            </a:r>
            <a:endParaRPr lang="en-US" sz="2000" dirty="0"/>
          </a:p>
        </p:txBody>
      </p:sp>
      <p:sp>
        <p:nvSpPr>
          <p:cNvPr id="6" name="Text 3"/>
          <p:cNvSpPr txBox="1"/>
          <p:nvPr/>
        </p:nvSpPr>
        <p:spPr>
          <a:xfrm>
            <a:off x="640080" y="26517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7" name="Text 4"/>
          <p:cNvSpPr txBox="1"/>
          <p:nvPr/>
        </p:nvSpPr>
        <p:spPr>
          <a:xfrm>
            <a:off x="640080" y="32918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한 문장으로 쓴다</a:t>
            </a:r>
            <a:endParaRPr lang="en-US" sz="1500" dirty="0"/>
          </a:p>
        </p:txBody>
      </p:sp>
      <p:sp>
        <p:nvSpPr>
          <p:cNvPr id="8" name="Text 5"/>
          <p:cNvSpPr txBox="1"/>
          <p:nvPr/>
        </p:nvSpPr>
        <p:spPr>
          <a:xfrm>
            <a:off x="4343400" y="26517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32918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지표</a:t>
            </a:r>
            <a:endParaRPr lang="en-US" sz="1500" dirty="0"/>
          </a:p>
          <a:p>
            <a:pPr indent="0" marL="0">
              <a:buNone/>
            </a:pPr>
            <a:r>
              <a:rPr lang="en-US" sz="1500" dirty="0">
                <a:solidFill>
                  <a:schemeClr val="tx2"/>
                </a:solidFill>
              </a:rPr>
              <a:t>Primary 하나, Guardrail 하나를 정한다</a:t>
            </a:r>
            <a:endParaRPr lang="en-US" sz="1500" dirty="0"/>
          </a:p>
        </p:txBody>
      </p:sp>
      <p:sp>
        <p:nvSpPr>
          <p:cNvPr id="10" name="Text 7"/>
          <p:cNvSpPr txBox="1"/>
          <p:nvPr/>
        </p:nvSpPr>
        <p:spPr>
          <a:xfrm>
            <a:off x="8046720" y="265176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1" name="Text 8"/>
          <p:cNvSpPr txBox="1"/>
          <p:nvPr/>
        </p:nvSpPr>
        <p:spPr>
          <a:xfrm>
            <a:off x="8046720" y="32918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단위로 나눌 때의 문제와 대안</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82</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2026-10-08T02:40:54Z</dcterms:created>
  <dcterms:modified xsi:type="dcterms:W3CDTF">2026-10-08T02:40:54Z</dcterms:modified>
</cp:coreProperties>
</file>