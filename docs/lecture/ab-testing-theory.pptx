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3.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charts/chart4.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5.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charts/chart6.xml" ContentType="application/vnd.openxmlformats-officedocument.drawingml.chart+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Lst>
  <p:notesMasterIdLst>
    <p:notesMasterId r:id="rId8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d63775aa-c105-9948-55c9-626b94e91ba6}">
          <p14:sldIdLst>
            <p14:sldId id="256"/>
            <p14:sldId id="257"/>
            <p14:sldId id="258"/>
          </p14:sldIdLst>
        </p14:section>
        <p14:section name="Ch1 실험과 인과추론" id="{f85b86b7-48e4-265b-a645-1f65c88c1728}">
          <p14:sldIdLst>
            <p14:sldId id="259"/>
            <p14:sldId id="260"/>
            <p14:sldId id="261"/>
            <p14:sldId id="262"/>
            <p14:sldId id="263"/>
            <p14:sldId id="264"/>
            <p14:sldId id="265"/>
            <p14:sldId id="266"/>
            <p14:sldId id="267"/>
            <p14:sldId id="268"/>
          </p14:sldIdLst>
        </p14:section>
        <p14:section name="Ch2 설계 구성요소" id="{0efe4bcf-d505-1894-d372-aae1a7dd7fd2}">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Lst>
        </p14:section>
        <p14:section name="Ch3 실행과 분석" id="{12b12ae1-4394-13cc-0e7a-79b5f09a73a0}">
          <p14:sldIdLst>
            <p14:sldId id="298"/>
            <p14:sldId id="299"/>
            <p14:sldId id="300"/>
            <p14:sldId id="301"/>
            <p14:sldId id="302"/>
            <p14:sldId id="303"/>
            <p14:sldId id="304"/>
            <p14:sldId id="305"/>
            <p14:sldId id="306"/>
            <p14:sldId id="307"/>
            <p14:sldId id="308"/>
            <p14:sldId id="309"/>
            <p14:sldId id="310"/>
            <p14:sldId id="311"/>
            <p14:sldId id="312"/>
          </p14:sldIdLst>
        </p14:section>
        <p14:section name="Ch4 함정과 고급 설계" id="{68683303-7e03-8982-12ad-2b574caef6d8}">
          <p14:sldIdLst>
            <p14:sldId id="313"/>
            <p14:sldId id="314"/>
            <p14:sldId id="315"/>
            <p14:sldId id="316"/>
            <p14:sldId id="317"/>
            <p14:sldId id="318"/>
            <p14:sldId id="319"/>
            <p14:sldId id="320"/>
            <p14:sldId id="321"/>
            <p14:sldId id="322"/>
            <p14:sldId id="323"/>
            <p14:sldId id="324"/>
          </p14:sldIdLst>
        </p14:section>
        <p14:section name="Ch5 사례와 결정" id="{68304317-246e-149e-3038-28ee7e1e844e}">
          <p14:sldIdLst>
            <p14:sldId id="325"/>
            <p14:sldId id="326"/>
            <p14:sldId id="327"/>
            <p14:sldId id="328"/>
            <p14:sldId id="329"/>
            <p14:sldId id="330"/>
            <p14:sldId id="331"/>
            <p14:sldId id="332"/>
            <p14:sldId id="333"/>
            <p14:sldId id="334"/>
            <p14:sldId id="335"/>
            <p14:sldId id="336"/>
            <p14:sldId id="33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11편: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2.1.2. NSM은 그로스 쪽, OEC는 온라인 실험 쪽에서 나온 용어라 'NSM → OEC' 같은 공식 위계는 없습니다. 다만 좋은 OEC는 장기 목표와 연결되어야 하므로 자연스럽게 노스스타와 방향이 맞습니다. 그로스 세션과 이어지는 지점입니다.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2.3. 구매전환율이 10.0%에서 10.8%로 올랐다면 효과가 있다는 건 알지만 왜인지는 모릅니다. Secondary는 또 무엇이 변했는지, 그중 Driver는 Primary를 움직인 경로를 보여줍니다. 단, Driver는 메커니즘을 진단하는 지표일 뿐 중간 단계의 인과를 증명하지는 않습니다. Secondary를 너무 많이 보면 다중검정 문제가 생기므로 가설의 메커니즘에 따라 미리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3.3. 세션 단위는 같은 사람이 오늘 오고 내일 또 와도 서비스 입장에서 '처음 보는 사람'처럼 보이는 환경에서 유용합니다. 단위 수가 빨리 늘지만, 자주 오는 사용자의 세션이 더 많이 반영되어 결론이 '평균적인 사용자'가 아니라 '평균적인 세션'에 대한 것이 됩니다. B를 본 다음 세션에 A를 보고 구매하면 A의 성과로 집계되는 이월 효과도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04편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4.1. α와 Power는 마지막 검정 때 쓰는 숫자가 아니라 실험 전에 필요한 표본 수를 정하는 입력값입니다. 0.05와 80%는 절대적인 정답이 아니라 관행입니다. 헛배포(False Positive) 비용이 크면 α를 더 엄격하게, 기회를 놓치기(False Negative) 싫으면 Power를 높이되, 둘 다 표본과 기간이 늘어나는 대가가 있습니다. 예: 하루 실험 대상 10,000명, 필요한 표본 140,000명이면 약 14일.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4.2. MDE는 감지할 수 있는 가장 작은 효과가 아니라, 주어진 α와 Power에서 일정한 확률로 잡도록 설계한 최소 효과 크기입니다. MDE보다 작은 효과도 유의하게 나올 수는 있습니다. 구현 비용을 정당화하려면 5%는 올라야 하는데 0.5%까지 잡도록 설계하면 표본과 시간을 낭비하고(Overpowered), 50%로 잡으면 20~30%의 의미 있는 개선도 놓칩니다(Underpowered). 기간부터 정하고 MDE를 역으로 맞추지 말고, 의미 있는 효과부터 정합니다. 표본 크기는 Baseline·분산, MDE, α, Power로 정해지며, Baseline의 영향은 지표 형태에 따라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4.3. 두 그룹의 조건이 같다면 같은 전체 표본에서 50:50이 비교 효율이 가장 좋습니다. 장애 위험이 있는 기능은 90:10처럼 일부에게 먼저 노출할 수 있지만, 실험군 표본이 천천히 쌓여 같은 검정력에 더 많은 트래픽이나 시간이 필요합니다. 비대칭 배정은 통계적 효율보다 위험 관리, 비용, 트래픽 제약 때문에 선택합니다. 좋은 배정의 핵심은 사용자 수를 맞추는 것이 아니라 처치 여부와 사용자 특성이 체계적으로 연결되지 않게 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 위키 09편 1.2: 비율은 정해진 표준이 아니고, 초기 단계에서는 Primary의 유의성보다 오류율·로딩·로깅·Guardrail을 먼저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 위키 09편 1.1: A/A의 핵심은 차이가 없어야 한다가 아니라, 차이가 없는 상황에서 시스템이 차이를 만들어내지 않는지 확인하는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09편 1.5. CUPED는 효과의 중심값을 키우지 않고 신뢰구간만 좁힙니다(예: +1.0%p [-0.4, +2.4] → 약 +1.0%p [+0.2, +1.8], 교육용 예시). 공변량은 반드시 실험 전에 측정한 값이어야 하고, 실험 후 행동을 쓰면 처치가 그 값 자체를 바꿨을 수 있어 인과효과가 왜곡됩니다.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 위키 10편 2장: SRM 검정은 왜 문제가 생겼는지까지 알려주지 않는 경고등이고, 빠진 사용자가 무작위가 아니면 Selection Bias가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1.1~1.3. SUTVA는 한 사용자가 받은 처치가 다른 사용자의 결과에 영향을 주지 않는다는 가정이고, 이것이 깨지는 현상이 간섭입니다. 실무에서는 Spillover, Leakage라고도 부릅니다. 직접 간섭은 사용자끼리 연결된 서비스(SNS, 메신저, 게임)에서, 간접 간섭은 한정된 자원이나 같은 시장을 공유할 때(메이플 옥션의 매물, Airbnb 숙소, Uber 드라이버, 광고 예산, 서버)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1.4. 간섭이 생기면 A와 B가 완전히 분리된 집단으로 기능하지 못합니다. 대조군이 더 이상 처치 없는 기준선이 아니고, 한 사람의 결과가 자기 배정뿐 아니라 다른 사람들의 배정에도 좌우됩니다. 그래서 몇 %에게 적용했느냐에 따라 효과가 달라지고, 실험에서 잰 효과가 전체 출시 효과와 다를 수 있습니다. 이 문제는 표본을 늘려도 해결되지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07편. 핵심은 서로 영향을 주는 사용자나 자원이 A와 B 사이에 섞이지 않게 실험 단위를 다시 설계하는 것입니다. 묶어서 나눌수록 간섭은 줄지만 독립 단위 수가 줄어 검정력이 떨어집니다. 설계로 다 막지 못하면 분석 단계에서 직접 효과와 Spillover 효과를 나눠 추정합니다 (Network-based Causal Inference, IV 등은 심화 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통계적으로 타당한 실험도 사용자에게 주는 영향을 따져야 합니다. Facebook 감정 전염 실험(2014, PNAS)은 사용자 689,003명의 뉴스피드 감정 노출을 줄였고, 충분한 사전 동의와 제외 기회가 있었는지 논란이 되어 PNAS가 편집자 우려를 표명했습니다. Facebook 투표 독려 실험(2012, Nature)은 약 6,100만 명에게 메시지를 노출했고 친구와 친구의 친구에게까지 효과가 퍼졌다고 보고했습니다. 간섭은 통계 문제이면서 외부효과의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인터리빙은 랭킹을 비교할 때 씁니다. 간섭에 대응하는 Cluster·Geo·Switchback은 앞 장에서 다뤘습니다.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1.1. 좋은 OEC는 단기간에 측정 가능하고, 실험 변화에 민감하며, 회사가 원하는 장기 목표를 예측해야 합니다. 토스 푸시 실험은 푸시 CTR을 주 지표로, 앱 오픈 AU·서비스별 AU·매출 하락 방지를 가드레일로 두었습니다. 토스뱅크 신분증 촬영은 촬영 단계 통과율과 사후 검증 반려율이라는 지표 조합으로 '원활하게 통과하면서 잘못된 신분증은 걸러지는가'를 측정했습니다.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1.2. 온라인 서비스는 무작위 배정, 행동 측정, 기능 배포가 비교적 쉬워 실험 환경을 만들기 좋습니다. 작은 시도를 반복하며 제품을 개선하는 방식들 안에서 A/B 테스트는 측정하고 검증하는 역할을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해설은 위키 12편에 있습니다. 1~2분 생각할 시간을 주고 손을 들어 답을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모범 답안과 채점 포인트는 위키 12편에 있습니다. 조별로 5분 정도 토의하고 한두 조가 발표합니다.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docs/ab-testing 01~11편의 Reference 링크를 URL 기준으로 중복 제거했습니다.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hyperlink" Target="https://www.oracle.com/kr/cx/marketing/what-is-ab-testing/" TargetMode="External"/><Relationship Id="rId2" Type="http://schemas.openxmlformats.org/officeDocument/2006/relationships/hyperlink" Target="https://datarian.io/blog/experiment-bible-for-product-growth-1" TargetMode="External"/><Relationship Id="rId3" Type="http://schemas.openxmlformats.org/officeDocument/2006/relationships/hyperlink" Target="https://mjrecord.tistory.com/39" TargetMode="External"/><Relationship Id="rId4" Type="http://schemas.openxmlformats.org/officeDocument/2006/relationships/hyperlink" Target="https://datarian.io/blog/ab-test-statistics-part-7-logic-of-hypothesis-testing" TargetMode="External"/><Relationship Id="rId5" Type="http://schemas.openxmlformats.org/officeDocument/2006/relationships/hyperlink" Target="https://wikidocs.net/book/9534" TargetMode="External"/><Relationship Id="rId6" Type="http://schemas.openxmlformats.org/officeDocument/2006/relationships/hyperlink" Target="https://brunch.co.kr/@2sin1/13" TargetMode="External"/><Relationship Id="rId7" Type="http://schemas.openxmlformats.org/officeDocument/2006/relationships/hyperlink" Target="https://ljyljy0813.tistory.com/31" TargetMode="External"/><Relationship Id="rId8" Type="http://schemas.openxmlformats.org/officeDocument/2006/relationships/hyperlink" Target="https://code-lab.tistory.com/entry/AB-%ED%85%8C%EC%8A%A4%ED%8A%B8%EC%97%90%EC%84%9C-%EA%B7%80%EB%AC%B4%EA%B0%80%EC%84%A4%EA%B3%BC-%EB%8C%80%EB%A6%BD%EA%B0%80%EC%84%A4-%EC%9D%B4%ED%95%B4%ED%95%98%EA%B8%B0-%EC%89%AC%EC%9A%B4-%EC%84%A4%EB%AA%85" TargetMode="External"/><Relationship Id="rId9" Type="http://schemas.openxmlformats.org/officeDocument/2006/relationships/hyperlink" Target="https://www.invespcro.com/blog/one-tailed-vs-two-tailed-a-b-testing-everything-you-possibly-need-to-know/#elementor-toc__heading-anchor-0" TargetMode="External"/><Relationship Id="rId10" Type="http://schemas.openxmlformats.org/officeDocument/2006/relationships/hyperlink" Target="https://playinpap.github.io/summary-of-indicator-concepts-explained-by-bread/#metric-%EC%9D%B4%EB%9E%80" TargetMode="External"/><Relationship Id="rId11" Type="http://schemas.openxmlformats.org/officeDocument/2006/relationships/hyperlink" Target="https://medium.com/alexandersyoon/%EC%A7%80%ED%91%9C%EC%84%A0%EC%A0%95-%EC%9E%90%EB%A6%AC%EC%97%90%EC%84%9C-%ED%95%B4%EC%95%BC%ED%95%98%EB%8A%94-5%EA%B0%80%EC%A7%80-%EC%A7%88%EB%AC%B8%EB%93%A4-data-analyst-%EC%9D%98-%EC%BB%A8%EC%84%A4%ED%8C%85-f7012d61a572" TargetMode="External"/><Relationship Id="rId12" Type="http://schemas.openxmlformats.org/officeDocument/2006/relationships/hyperlink" Target="https://ably.team/news/Z6xdlBIAAFGbReza" TargetMode="External"/><Relationship Id="rId13" Type="http://schemas.openxmlformats.org/officeDocument/2006/relationships/hyperlink" Target="https://mjrecord.tistory.com/42" TargetMode="External"/><Relationship Id="rId14" Type="http://schemas.openxmlformats.org/officeDocument/2006/relationships/hyperlink" Target="https://playinpap.github.io/data-quality-for-ab-testing/" TargetMode="External"/><Relationship Id="rId15" Type="http://schemas.openxmlformats.org/officeDocument/2006/relationships/hyperlink" Target="https://blog.hackle.io/post/conquering-abtest-4" TargetMode="External"/><Relationship Id="rId16" Type="http://schemas.openxmlformats.org/officeDocument/2006/relationships/hyperlink" Target="https://wikidocs.net/198646" TargetMode="External"/><Relationship Id="rId17" Type="http://schemas.openxmlformats.org/officeDocument/2006/relationships/hyperlink" Target="https://okpy.net/blog/choosing-unit-of-randomization" TargetMode="External"/><Relationship Id="rId18" Type="http://schemas.openxmlformats.org/officeDocument/2006/relationships/hyperlink" Target="https://datarian.io/blog/ab-test-statistics-part-4-sample-proportion" TargetMode="External"/><Relationship Id="rId19" Type="http://schemas.openxmlformats.org/officeDocument/2006/relationships/hyperlink" Target="https://playinpap.github.io/abtest-setting-mde" TargetMode="External"/><Relationship Id="rId20" Type="http://schemas.openxmlformats.org/officeDocument/2006/relationships/hyperlink" Target="https://medium.com/daangn/%EA%B5%AC%EA%B8%80-%EC%95%A0%EB%84%90%EB%A6%AC%ED%8B%B1%EC%8A%A4-a-b-%ED%85%8C%EC%8A%A4%ED%8A%B8-%ED%95%98%EA%B8%B0-%EC%BF%A0%ED%82%A4-demension-%ED%99%9C%EC%9A%A9-6f994e1247e8" TargetMode="External"/><Relationship Id="rId21" Type="http://schemas.openxmlformats.org/officeDocument/2006/relationships/hyperlink" Target="https://medium.com/wantedjobs/a-b%ED%85%8C%EC%8A%A4%ED%8A%B8-%EA%B8%B0%EC%B4%88-what-why-how-6f571ddc19fc" TargetMode="External"/><Relationship Id="rId22" Type="http://schemas.openxmlformats.org/officeDocument/2006/relationships/hyperlink" Target="https://mojito.mx/docs/example-hash-function-split-test-assignment/" TargetMode="External"/><Relationship Id="rId23" Type="http://schemas.openxmlformats.org/officeDocument/2006/relationships/hyperlink" Target="https://experimentguide.com/" TargetMode="External"/><Relationship Id="rId24" Type="http://schemas.openxmlformats.org/officeDocument/2006/relationships/hyperlink" Target="https://jong-min.org/blog/2025/exp-network-interference/" TargetMode="External"/><Relationship Id="rId25" Type="http://schemas.openxmlformats.org/officeDocument/2006/relationships/hyperlink" Target="https://github.com/CausalInferenceLab/OCE-Materials/blob/main/%EB%B0%9C%ED%91%9C%20%EC%9E%90%EB%A3%8C/20240528_%EC%8B%A4%ED%97%98%EA%B0%84%EC%9D%98%20%EB%88%84%EC%B6%9C%20%EB%B0%8F%20%EA%B0%84%EC%84%AD.pdf" TargetMode="External"/><Relationship Id="rId26" Type="http://schemas.openxmlformats.org/officeDocument/2006/relationships/hyperlink" Target="https://www.slideshare.net/slideshow/causal-inference-workshop-2022-applications-of-causal-inference-in-product-analytics/267698546" TargetMode="External"/><Relationship Id="rId27" Type="http://schemas.openxmlformats.org/officeDocument/2006/relationships/hyperlink" Target="https://www.pnas.org/doi/full/10.1073/pnas.1320040111" TargetMode="External"/><Relationship Id="rId28" Type="http://schemas.openxmlformats.org/officeDocument/2006/relationships/hyperlink" Target="https://pmc.ncbi.nlm.nih.gov/articles/PMC4115552" TargetMode="External"/><Relationship Id="rId29" Type="http://schemas.openxmlformats.org/officeDocument/2006/relationships/hyperlink" Target="https://www.nature.com/articles/nature11421" TargetMode="External"/><Relationship Id="rId30" Type="http://schemas.openxmlformats.org/officeDocument/2006/relationships/hyperlink" Target="https://www.cambridge.org/core/books/abs/trustworthy-online-controlled-experiments/aa-test/D0779D2FB153D36DD4C624BA207E41C2" TargetMode="External"/><Relationship Id="rId31" Type="http://schemas.openxmlformats.org/officeDocument/2006/relationships/hyperlink" Target="https://www.cambridge.org/core/books/abs/trustworthy-online-controlled-experiments/ramping-experiment-exposure-trading-off-speed-quality-and-risk/1C177E1AAEDAFBF79840AFDFE15E7F5D" TargetMode="External"/><Relationship Id="rId32" Type="http://schemas.openxmlformats.org/officeDocument/2006/relationships/hyperlink" Target="https://www.kdd.org/exploration_files/v12-02-8-UR-Kohavi.pdf" TargetMode="External"/><Relationship Id="rId33" Type="http://schemas.openxmlformats.org/officeDocument/2006/relationships/hyperlink" Target="https://exp-platform.com/cuped/" TargetMode="External"/><Relationship Id="rId34" Type="http://schemas.openxmlformats.org/officeDocument/2006/relationships/hyperlink" Target="https://www.stat.berkeley.edu/~aldous/Real_World/ASA_statement.pdf" TargetMode="External"/><Relationship Id="rId35" Type="http://schemas.openxmlformats.org/officeDocument/2006/relationships/hyperlink" Target="https://academic.oup.com/jrsssb/article/57/1/289/7035855" TargetMode="External"/><Relationship Id="rId36" Type="http://schemas.openxmlformats.org/officeDocument/2006/relationships/hyperlink" Target="https://github.com/CausalInferenceLab/OCE-Materials/blob/main/%EB%B0%9C%ED%91%9C%20%EC%9E%90%EB%A3%8C/20240507_A%3AA%20%ED%85%8C%EC%8A%A4%ED%8A%B8.pdf" TargetMode="External"/><Relationship Id="rId37" Type="http://schemas.openxmlformats.org/officeDocument/2006/relationships/hyperlink" Target="https://www.microsoft.com/en-us/research/articles/diagnosing-sample-ratio-mismatch-in-a-b-testing/" TargetMode="External"/><Relationship Id="rId38" Type="http://schemas.openxmlformats.org/officeDocument/2006/relationships/hyperlink" Target="https://www.microsoft.com/en-us/research/publication/diagnosing-sample-ratio-mismatch-in-online-controlled-experiments-a-taxonomy-and-rules-of-thumb-for-practitioners/" TargetMode="External"/><Relationship Id="rId39" Type="http://schemas.openxmlformats.org/officeDocument/2006/relationships/hyperlink" Target="https://arxiv.org/abs/1512.04922" TargetMode="External"/><Relationship Id="rId40" Type="http://schemas.openxmlformats.org/officeDocument/2006/relationships/hyperlink" Target="https://blogs.oracle.com/marketingcloud/ab-testing-pitfalls-how-marketers-can-avoid-costly-mistakes" TargetMode="External"/><Relationship Id="rId41" Type="http://schemas.openxmlformats.org/officeDocument/2006/relationships/hyperlink" Target="https://mjrecord.tistory.com/40" TargetMode="External"/><Relationship Id="rId42" Type="http://schemas.openxmlformats.org/officeDocument/2006/relationships/hyperlink" Target="https://walkingfox.tistory.com/205" TargetMode="External"/><Relationship Id="rId43" Type="http://schemas.openxmlformats.org/officeDocument/2006/relationships/slideLayout" Target="../slideLayouts/slideLayout4.xml"/><Relationship Id="rId44" Type="http://schemas.openxmlformats.org/officeDocument/2006/relationships/notesSlide" Target="../notesSlides/notesSlide8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이론 파트 · DA 트랙</a:t>
            </a:r>
            <a:endParaRPr lang="en-US" sz="2000" dirty="0"/>
          </a:p>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Shape 2"/>
          <p:cNvSpPr/>
          <p:nvPr/>
        </p:nvSpPr>
        <p:spPr>
          <a:xfrm>
            <a:off x="8138160" y="1280160"/>
            <a:ext cx="128016" cy="128016"/>
          </a:xfrm>
          <a:prstGeom prst="ellipse">
            <a:avLst/>
          </a:prstGeom>
          <a:solidFill>
            <a:srgbClr val="7B93FF"/>
          </a:solidFill>
          <a:ln w="12700">
            <a:solidFill>
              <a:srgbClr val="7B93FF"/>
            </a:solidFill>
            <a:prstDash val="solid"/>
          </a:ln>
        </p:spPr>
      </p:sp>
      <p:sp>
        <p:nvSpPr>
          <p:cNvPr id="5" name="Shape 3"/>
          <p:cNvSpPr/>
          <p:nvPr/>
        </p:nvSpPr>
        <p:spPr>
          <a:xfrm>
            <a:off x="8467344"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796528" y="1280160"/>
            <a:ext cx="128016" cy="128016"/>
          </a:xfrm>
          <a:prstGeom prst="ellipse">
            <a:avLst/>
          </a:prstGeom>
          <a:solidFill>
            <a:srgbClr val="4FC7C7"/>
          </a:solidFill>
          <a:ln w="12700">
            <a:solidFill>
              <a:srgbClr val="4FC7C7"/>
            </a:solidFill>
            <a:prstDash val="solid"/>
          </a:ln>
        </p:spPr>
      </p:sp>
      <p:sp>
        <p:nvSpPr>
          <p:cNvPr id="7" name="Shape 5"/>
          <p:cNvSpPr/>
          <p:nvPr/>
        </p:nvSpPr>
        <p:spPr>
          <a:xfrm>
            <a:off x="9125712" y="1280160"/>
            <a:ext cx="128016" cy="128016"/>
          </a:xfrm>
          <a:prstGeom prst="ellipse">
            <a:avLst/>
          </a:prstGeom>
          <a:solidFill>
            <a:srgbClr val="7B93FF"/>
          </a:solidFill>
          <a:ln w="12700">
            <a:solidFill>
              <a:srgbClr val="7B93FF"/>
            </a:solidFill>
            <a:prstDash val="solid"/>
          </a:ln>
        </p:spPr>
      </p:sp>
      <p:sp>
        <p:nvSpPr>
          <p:cNvPr id="8" name="Shape 6"/>
          <p:cNvSpPr/>
          <p:nvPr/>
        </p:nvSpPr>
        <p:spPr>
          <a:xfrm>
            <a:off x="9454896"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784080"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10113264"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442448"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771632" y="1280160"/>
            <a:ext cx="128016" cy="128016"/>
          </a:xfrm>
          <a:prstGeom prst="ellipse">
            <a:avLst/>
          </a:prstGeom>
          <a:solidFill>
            <a:srgbClr val="4FC7C7"/>
          </a:solidFill>
          <a:ln w="12700">
            <a:solidFill>
              <a:srgbClr val="4FC7C7"/>
            </a:solidFill>
            <a:prstDash val="solid"/>
          </a:ln>
        </p:spPr>
      </p:sp>
      <p:sp>
        <p:nvSpPr>
          <p:cNvPr id="13" name="Shape 11"/>
          <p:cNvSpPr/>
          <p:nvPr/>
        </p:nvSpPr>
        <p:spPr>
          <a:xfrm>
            <a:off x="11100816"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8138160" y="1609344"/>
            <a:ext cx="128016" cy="128016"/>
          </a:xfrm>
          <a:prstGeom prst="ellipse">
            <a:avLst/>
          </a:prstGeom>
          <a:solidFill>
            <a:srgbClr val="4FC7C7"/>
          </a:solidFill>
          <a:ln w="12700">
            <a:solidFill>
              <a:srgbClr val="4FC7C7"/>
            </a:solidFill>
            <a:prstDash val="solid"/>
          </a:ln>
        </p:spPr>
      </p:sp>
      <p:sp>
        <p:nvSpPr>
          <p:cNvPr id="15" name="Shape 13"/>
          <p:cNvSpPr/>
          <p:nvPr/>
        </p:nvSpPr>
        <p:spPr>
          <a:xfrm>
            <a:off x="8467344" y="1609344"/>
            <a:ext cx="128016" cy="128016"/>
          </a:xfrm>
          <a:prstGeom prst="ellipse">
            <a:avLst/>
          </a:prstGeom>
          <a:solidFill>
            <a:srgbClr val="7B93FF"/>
          </a:solidFill>
          <a:ln w="12700">
            <a:solidFill>
              <a:srgbClr val="7B93FF"/>
            </a:solidFill>
            <a:prstDash val="solid"/>
          </a:ln>
        </p:spPr>
      </p:sp>
      <p:sp>
        <p:nvSpPr>
          <p:cNvPr id="16" name="Shape 14"/>
          <p:cNvSpPr/>
          <p:nvPr/>
        </p:nvSpPr>
        <p:spPr>
          <a:xfrm>
            <a:off x="8796528" y="1609344"/>
            <a:ext cx="128016" cy="128016"/>
          </a:xfrm>
          <a:prstGeom prst="ellipse">
            <a:avLst/>
          </a:prstGeom>
          <a:solidFill>
            <a:srgbClr val="4FC7C7"/>
          </a:solidFill>
          <a:ln w="12700">
            <a:solidFill>
              <a:srgbClr val="4FC7C7"/>
            </a:solidFill>
            <a:prstDash val="solid"/>
          </a:ln>
        </p:spPr>
      </p:sp>
      <p:sp>
        <p:nvSpPr>
          <p:cNvPr id="17" name="Shape 15"/>
          <p:cNvSpPr/>
          <p:nvPr/>
        </p:nvSpPr>
        <p:spPr>
          <a:xfrm>
            <a:off x="9125712"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454896"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784080" y="1609344"/>
            <a:ext cx="128016" cy="128016"/>
          </a:xfrm>
          <a:prstGeom prst="ellipse">
            <a:avLst/>
          </a:prstGeom>
          <a:solidFill>
            <a:srgbClr val="7B93FF"/>
          </a:solidFill>
          <a:ln w="12700">
            <a:solidFill>
              <a:srgbClr val="7B93FF"/>
            </a:solidFill>
            <a:prstDash val="solid"/>
          </a:ln>
        </p:spPr>
      </p:sp>
      <p:sp>
        <p:nvSpPr>
          <p:cNvPr id="20" name="Shape 18"/>
          <p:cNvSpPr/>
          <p:nvPr/>
        </p:nvSpPr>
        <p:spPr>
          <a:xfrm>
            <a:off x="10113264"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442448" y="1609344"/>
            <a:ext cx="128016" cy="128016"/>
          </a:xfrm>
          <a:prstGeom prst="ellipse">
            <a:avLst/>
          </a:prstGeom>
          <a:solidFill>
            <a:srgbClr val="4FC7C7"/>
          </a:solidFill>
          <a:ln w="12700">
            <a:solidFill>
              <a:srgbClr val="4FC7C7"/>
            </a:solidFill>
            <a:prstDash val="solid"/>
          </a:ln>
        </p:spPr>
      </p:sp>
      <p:sp>
        <p:nvSpPr>
          <p:cNvPr id="22" name="Shape 20"/>
          <p:cNvSpPr/>
          <p:nvPr/>
        </p:nvSpPr>
        <p:spPr>
          <a:xfrm>
            <a:off x="10771632"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1100816"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8138160" y="1938528"/>
            <a:ext cx="128016" cy="128016"/>
          </a:xfrm>
          <a:prstGeom prst="ellipse">
            <a:avLst/>
          </a:prstGeom>
          <a:solidFill>
            <a:srgbClr val="4FC7C7"/>
          </a:solidFill>
          <a:ln w="12700">
            <a:solidFill>
              <a:srgbClr val="4FC7C7"/>
            </a:solidFill>
            <a:prstDash val="solid"/>
          </a:ln>
        </p:spPr>
      </p:sp>
      <p:sp>
        <p:nvSpPr>
          <p:cNvPr id="25" name="Shape 23"/>
          <p:cNvSpPr/>
          <p:nvPr/>
        </p:nvSpPr>
        <p:spPr>
          <a:xfrm>
            <a:off x="8467344" y="1938528"/>
            <a:ext cx="128016" cy="128016"/>
          </a:xfrm>
          <a:prstGeom prst="ellipse">
            <a:avLst/>
          </a:prstGeom>
          <a:solidFill>
            <a:srgbClr val="7B93FF"/>
          </a:solidFill>
          <a:ln w="12700">
            <a:solidFill>
              <a:srgbClr val="7B93FF"/>
            </a:solidFill>
            <a:prstDash val="solid"/>
          </a:ln>
        </p:spPr>
      </p:sp>
      <p:sp>
        <p:nvSpPr>
          <p:cNvPr id="26" name="Shape 24"/>
          <p:cNvSpPr/>
          <p:nvPr/>
        </p:nvSpPr>
        <p:spPr>
          <a:xfrm>
            <a:off x="8796528" y="1938528"/>
            <a:ext cx="128016" cy="128016"/>
          </a:xfrm>
          <a:prstGeom prst="ellipse">
            <a:avLst/>
          </a:prstGeom>
          <a:solidFill>
            <a:srgbClr val="4FC7C7"/>
          </a:solidFill>
          <a:ln w="12700">
            <a:solidFill>
              <a:srgbClr val="4FC7C7"/>
            </a:solidFill>
            <a:prstDash val="solid"/>
          </a:ln>
        </p:spPr>
      </p:sp>
      <p:sp>
        <p:nvSpPr>
          <p:cNvPr id="27" name="Shape 25"/>
          <p:cNvSpPr/>
          <p:nvPr/>
        </p:nvSpPr>
        <p:spPr>
          <a:xfrm>
            <a:off x="9125712" y="1938528"/>
            <a:ext cx="128016" cy="128016"/>
          </a:xfrm>
          <a:prstGeom prst="ellipse">
            <a:avLst/>
          </a:prstGeom>
          <a:solidFill>
            <a:srgbClr val="7B93FF"/>
          </a:solidFill>
          <a:ln w="12700">
            <a:solidFill>
              <a:srgbClr val="7B93FF"/>
            </a:solidFill>
            <a:prstDash val="solid"/>
          </a:ln>
        </p:spPr>
      </p:sp>
      <p:sp>
        <p:nvSpPr>
          <p:cNvPr id="28" name="Shape 26"/>
          <p:cNvSpPr/>
          <p:nvPr/>
        </p:nvSpPr>
        <p:spPr>
          <a:xfrm>
            <a:off x="9454896" y="1938528"/>
            <a:ext cx="128016" cy="128016"/>
          </a:xfrm>
          <a:prstGeom prst="ellipse">
            <a:avLst/>
          </a:prstGeom>
          <a:solidFill>
            <a:srgbClr val="4FC7C7"/>
          </a:solidFill>
          <a:ln w="12700">
            <a:solidFill>
              <a:srgbClr val="4FC7C7"/>
            </a:solidFill>
            <a:prstDash val="solid"/>
          </a:ln>
        </p:spPr>
      </p:sp>
      <p:sp>
        <p:nvSpPr>
          <p:cNvPr id="29" name="Shape 27"/>
          <p:cNvSpPr/>
          <p:nvPr/>
        </p:nvSpPr>
        <p:spPr>
          <a:xfrm>
            <a:off x="9784080"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10113264" y="1938528"/>
            <a:ext cx="128016" cy="128016"/>
          </a:xfrm>
          <a:prstGeom prst="ellipse">
            <a:avLst/>
          </a:prstGeom>
          <a:solidFill>
            <a:srgbClr val="7B93FF"/>
          </a:solidFill>
          <a:ln w="12700">
            <a:solidFill>
              <a:srgbClr val="7B93FF"/>
            </a:solidFill>
            <a:prstDash val="solid"/>
          </a:ln>
        </p:spPr>
      </p:sp>
      <p:sp>
        <p:nvSpPr>
          <p:cNvPr id="31" name="Shape 29"/>
          <p:cNvSpPr/>
          <p:nvPr/>
        </p:nvSpPr>
        <p:spPr>
          <a:xfrm>
            <a:off x="10442448" y="1938528"/>
            <a:ext cx="128016" cy="128016"/>
          </a:xfrm>
          <a:prstGeom prst="ellipse">
            <a:avLst/>
          </a:prstGeom>
          <a:solidFill>
            <a:srgbClr val="4FC7C7"/>
          </a:solidFill>
          <a:ln w="12700">
            <a:solidFill>
              <a:srgbClr val="4FC7C7"/>
            </a:solidFill>
            <a:prstDash val="solid"/>
          </a:ln>
        </p:spPr>
      </p:sp>
      <p:sp>
        <p:nvSpPr>
          <p:cNvPr id="32" name="Shape 30"/>
          <p:cNvSpPr/>
          <p:nvPr/>
        </p:nvSpPr>
        <p:spPr>
          <a:xfrm>
            <a:off x="10771632" y="1938528"/>
            <a:ext cx="128016" cy="128016"/>
          </a:xfrm>
          <a:prstGeom prst="ellipse">
            <a:avLst/>
          </a:prstGeom>
          <a:solidFill>
            <a:srgbClr val="7B93FF"/>
          </a:solidFill>
          <a:ln w="12700">
            <a:solidFill>
              <a:srgbClr val="7B93FF"/>
            </a:solidFill>
            <a:prstDash val="solid"/>
          </a:ln>
        </p:spPr>
      </p:sp>
      <p:sp>
        <p:nvSpPr>
          <p:cNvPr id="33" name="Shape 31"/>
          <p:cNvSpPr/>
          <p:nvPr/>
        </p:nvSpPr>
        <p:spPr>
          <a:xfrm>
            <a:off x="11100816"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8138160" y="2267712"/>
            <a:ext cx="128016" cy="128016"/>
          </a:xfrm>
          <a:prstGeom prst="ellipse">
            <a:avLst/>
          </a:prstGeom>
          <a:solidFill>
            <a:srgbClr val="7B93FF"/>
          </a:solidFill>
          <a:ln w="12700">
            <a:solidFill>
              <a:srgbClr val="7B93FF"/>
            </a:solidFill>
            <a:prstDash val="solid"/>
          </a:ln>
        </p:spPr>
      </p:sp>
      <p:sp>
        <p:nvSpPr>
          <p:cNvPr id="35" name="Shape 33"/>
          <p:cNvSpPr/>
          <p:nvPr/>
        </p:nvSpPr>
        <p:spPr>
          <a:xfrm>
            <a:off x="8467344" y="2267712"/>
            <a:ext cx="128016" cy="128016"/>
          </a:xfrm>
          <a:prstGeom prst="ellipse">
            <a:avLst/>
          </a:prstGeom>
          <a:solidFill>
            <a:srgbClr val="4FC7C7"/>
          </a:solidFill>
          <a:ln w="12700">
            <a:solidFill>
              <a:srgbClr val="4FC7C7"/>
            </a:solidFill>
            <a:prstDash val="solid"/>
          </a:ln>
        </p:spPr>
      </p:sp>
      <p:sp>
        <p:nvSpPr>
          <p:cNvPr id="36" name="Shape 34"/>
          <p:cNvSpPr/>
          <p:nvPr/>
        </p:nvSpPr>
        <p:spPr>
          <a:xfrm>
            <a:off x="8796528"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9125712"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454896"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784080" y="2267712"/>
            <a:ext cx="128016" cy="128016"/>
          </a:xfrm>
          <a:prstGeom prst="ellipse">
            <a:avLst/>
          </a:prstGeom>
          <a:solidFill>
            <a:srgbClr val="7B93FF"/>
          </a:solidFill>
          <a:ln w="12700">
            <a:solidFill>
              <a:srgbClr val="7B93FF"/>
            </a:solidFill>
            <a:prstDash val="solid"/>
          </a:ln>
        </p:spPr>
      </p:sp>
      <p:sp>
        <p:nvSpPr>
          <p:cNvPr id="40" name="Shape 38"/>
          <p:cNvSpPr/>
          <p:nvPr/>
        </p:nvSpPr>
        <p:spPr>
          <a:xfrm>
            <a:off x="10113264" y="2267712"/>
            <a:ext cx="128016" cy="128016"/>
          </a:xfrm>
          <a:prstGeom prst="ellipse">
            <a:avLst/>
          </a:prstGeom>
          <a:solidFill>
            <a:srgbClr val="4FC7C7"/>
          </a:solidFill>
          <a:ln w="12700">
            <a:solidFill>
              <a:srgbClr val="4FC7C7"/>
            </a:solidFill>
            <a:prstDash val="solid"/>
          </a:ln>
        </p:spPr>
      </p:sp>
      <p:sp>
        <p:nvSpPr>
          <p:cNvPr id="41" name="Shape 39"/>
          <p:cNvSpPr/>
          <p:nvPr/>
        </p:nvSpPr>
        <p:spPr>
          <a:xfrm>
            <a:off x="10442448"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771632"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1100816"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8138160" y="2596896"/>
            <a:ext cx="128016" cy="128016"/>
          </a:xfrm>
          <a:prstGeom prst="ellipse">
            <a:avLst/>
          </a:prstGeom>
          <a:solidFill>
            <a:srgbClr val="4FC7C7"/>
          </a:solidFill>
          <a:ln w="12700">
            <a:solidFill>
              <a:srgbClr val="4FC7C7"/>
            </a:solidFill>
            <a:prstDash val="solid"/>
          </a:ln>
        </p:spPr>
      </p:sp>
      <p:sp>
        <p:nvSpPr>
          <p:cNvPr id="45" name="Shape 43"/>
          <p:cNvSpPr/>
          <p:nvPr/>
        </p:nvSpPr>
        <p:spPr>
          <a:xfrm>
            <a:off x="8467344" y="2596896"/>
            <a:ext cx="128016" cy="128016"/>
          </a:xfrm>
          <a:prstGeom prst="ellipse">
            <a:avLst/>
          </a:prstGeom>
          <a:solidFill>
            <a:srgbClr val="7B93FF"/>
          </a:solidFill>
          <a:ln w="12700">
            <a:solidFill>
              <a:srgbClr val="7B93FF"/>
            </a:solidFill>
            <a:prstDash val="solid"/>
          </a:ln>
        </p:spPr>
      </p:sp>
      <p:sp>
        <p:nvSpPr>
          <p:cNvPr id="46" name="Shape 44"/>
          <p:cNvSpPr/>
          <p:nvPr/>
        </p:nvSpPr>
        <p:spPr>
          <a:xfrm>
            <a:off x="8796528"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9125712"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454896"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784080"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10113264" y="2596896"/>
            <a:ext cx="128016" cy="128016"/>
          </a:xfrm>
          <a:prstGeom prst="ellipse">
            <a:avLst/>
          </a:prstGeom>
          <a:solidFill>
            <a:srgbClr val="4FC7C7"/>
          </a:solidFill>
          <a:ln w="12700">
            <a:solidFill>
              <a:srgbClr val="4FC7C7"/>
            </a:solidFill>
            <a:prstDash val="solid"/>
          </a:ln>
        </p:spPr>
      </p:sp>
      <p:sp>
        <p:nvSpPr>
          <p:cNvPr id="51" name="Shape 49"/>
          <p:cNvSpPr/>
          <p:nvPr/>
        </p:nvSpPr>
        <p:spPr>
          <a:xfrm>
            <a:off x="10442448"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771632"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1100816" y="2596896"/>
            <a:ext cx="128016" cy="128016"/>
          </a:xfrm>
          <a:prstGeom prst="ellipse">
            <a:avLst/>
          </a:prstGeom>
          <a:solidFill>
            <a:srgbClr val="7B93FF"/>
          </a:solidFill>
          <a:ln w="12700">
            <a:solidFill>
              <a:srgbClr val="7B93FF"/>
            </a:solidFill>
            <a:prstDash val="solid"/>
          </a:ln>
        </p:spPr>
      </p:sp>
      <p:sp>
        <p:nvSpPr>
          <p:cNvPr id="54" name="Shape 52"/>
          <p:cNvSpPr/>
          <p:nvPr/>
        </p:nvSpPr>
        <p:spPr>
          <a:xfrm>
            <a:off x="8138160" y="2926080"/>
            <a:ext cx="128016" cy="128016"/>
          </a:xfrm>
          <a:prstGeom prst="ellipse">
            <a:avLst/>
          </a:prstGeom>
          <a:solidFill>
            <a:srgbClr val="7B93FF"/>
          </a:solidFill>
          <a:ln w="12700">
            <a:solidFill>
              <a:srgbClr val="7B93FF"/>
            </a:solidFill>
            <a:prstDash val="solid"/>
          </a:ln>
        </p:spPr>
      </p:sp>
      <p:sp>
        <p:nvSpPr>
          <p:cNvPr id="55" name="Shape 53"/>
          <p:cNvSpPr/>
          <p:nvPr/>
        </p:nvSpPr>
        <p:spPr>
          <a:xfrm>
            <a:off x="8467344"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796528"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9125712"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454896"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784080" y="2926080"/>
            <a:ext cx="128016" cy="128016"/>
          </a:xfrm>
          <a:prstGeom prst="ellipse">
            <a:avLst/>
          </a:prstGeom>
          <a:solidFill>
            <a:srgbClr val="4FC7C7"/>
          </a:solidFill>
          <a:ln w="12700">
            <a:solidFill>
              <a:srgbClr val="4FC7C7"/>
            </a:solidFill>
            <a:prstDash val="solid"/>
          </a:ln>
        </p:spPr>
      </p:sp>
      <p:sp>
        <p:nvSpPr>
          <p:cNvPr id="60" name="Shape 58"/>
          <p:cNvSpPr/>
          <p:nvPr/>
        </p:nvSpPr>
        <p:spPr>
          <a:xfrm>
            <a:off x="10113264"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442448" y="2926080"/>
            <a:ext cx="128016" cy="128016"/>
          </a:xfrm>
          <a:prstGeom prst="ellipse">
            <a:avLst/>
          </a:prstGeom>
          <a:solidFill>
            <a:srgbClr val="7B93FF"/>
          </a:solidFill>
          <a:ln w="12700">
            <a:solidFill>
              <a:srgbClr val="7B93FF"/>
            </a:solidFill>
            <a:prstDash val="solid"/>
          </a:ln>
        </p:spPr>
      </p:sp>
      <p:sp>
        <p:nvSpPr>
          <p:cNvPr id="62" name="Shape 60"/>
          <p:cNvSpPr/>
          <p:nvPr/>
        </p:nvSpPr>
        <p:spPr>
          <a:xfrm>
            <a:off x="10771632" y="2926080"/>
            <a:ext cx="128016" cy="128016"/>
          </a:xfrm>
          <a:prstGeom prst="ellipse">
            <a:avLst/>
          </a:prstGeom>
          <a:solidFill>
            <a:srgbClr val="4FC7C7"/>
          </a:solidFill>
          <a:ln w="12700">
            <a:solidFill>
              <a:srgbClr val="4FC7C7"/>
            </a:solidFill>
            <a:prstDash val="solid"/>
          </a:ln>
        </p:spPr>
      </p:sp>
      <p:sp>
        <p:nvSpPr>
          <p:cNvPr id="63" name="Shape 61"/>
          <p:cNvSpPr/>
          <p:nvPr/>
        </p:nvSpPr>
        <p:spPr>
          <a:xfrm>
            <a:off x="11100816"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8138160" y="3255264"/>
            <a:ext cx="128016" cy="128016"/>
          </a:xfrm>
          <a:prstGeom prst="ellipse">
            <a:avLst/>
          </a:prstGeom>
          <a:solidFill>
            <a:srgbClr val="7B93FF"/>
          </a:solidFill>
          <a:ln w="12700">
            <a:solidFill>
              <a:srgbClr val="7B93FF"/>
            </a:solidFill>
            <a:prstDash val="solid"/>
          </a:ln>
        </p:spPr>
      </p:sp>
      <p:sp>
        <p:nvSpPr>
          <p:cNvPr id="65" name="Shape 63"/>
          <p:cNvSpPr/>
          <p:nvPr/>
        </p:nvSpPr>
        <p:spPr>
          <a:xfrm>
            <a:off x="8467344"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796528"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9125712" y="3255264"/>
            <a:ext cx="128016" cy="128016"/>
          </a:xfrm>
          <a:prstGeom prst="ellipse">
            <a:avLst/>
          </a:prstGeom>
          <a:solidFill>
            <a:srgbClr val="4FC7C7"/>
          </a:solidFill>
          <a:ln w="12700">
            <a:solidFill>
              <a:srgbClr val="4FC7C7"/>
            </a:solidFill>
            <a:prstDash val="solid"/>
          </a:ln>
        </p:spPr>
      </p:sp>
      <p:sp>
        <p:nvSpPr>
          <p:cNvPr id="68" name="Shape 66"/>
          <p:cNvSpPr/>
          <p:nvPr/>
        </p:nvSpPr>
        <p:spPr>
          <a:xfrm>
            <a:off x="9454896" y="3255264"/>
            <a:ext cx="128016" cy="128016"/>
          </a:xfrm>
          <a:prstGeom prst="ellipse">
            <a:avLst/>
          </a:prstGeom>
          <a:solidFill>
            <a:srgbClr val="7B93FF"/>
          </a:solidFill>
          <a:ln w="12700">
            <a:solidFill>
              <a:srgbClr val="7B93FF"/>
            </a:solidFill>
            <a:prstDash val="solid"/>
          </a:ln>
        </p:spPr>
      </p:sp>
      <p:sp>
        <p:nvSpPr>
          <p:cNvPr id="69" name="Shape 67"/>
          <p:cNvSpPr/>
          <p:nvPr/>
        </p:nvSpPr>
        <p:spPr>
          <a:xfrm>
            <a:off x="9784080" y="3255264"/>
            <a:ext cx="128016" cy="128016"/>
          </a:xfrm>
          <a:prstGeom prst="ellipse">
            <a:avLst/>
          </a:prstGeom>
          <a:solidFill>
            <a:srgbClr val="4FC7C7"/>
          </a:solidFill>
          <a:ln w="12700">
            <a:solidFill>
              <a:srgbClr val="4FC7C7"/>
            </a:solidFill>
            <a:prstDash val="solid"/>
          </a:ln>
        </p:spPr>
      </p:sp>
      <p:sp>
        <p:nvSpPr>
          <p:cNvPr id="70" name="Shape 68"/>
          <p:cNvSpPr/>
          <p:nvPr/>
        </p:nvSpPr>
        <p:spPr>
          <a:xfrm>
            <a:off x="10113264"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442448" y="3255264"/>
            <a:ext cx="128016" cy="128016"/>
          </a:xfrm>
          <a:prstGeom prst="ellipse">
            <a:avLst/>
          </a:prstGeom>
          <a:solidFill>
            <a:srgbClr val="7B93FF"/>
          </a:solidFill>
          <a:ln w="12700">
            <a:solidFill>
              <a:srgbClr val="7B93FF"/>
            </a:solidFill>
            <a:prstDash val="solid"/>
          </a:ln>
        </p:spPr>
      </p:sp>
      <p:sp>
        <p:nvSpPr>
          <p:cNvPr id="72" name="Shape 70"/>
          <p:cNvSpPr/>
          <p:nvPr/>
        </p:nvSpPr>
        <p:spPr>
          <a:xfrm>
            <a:off x="10771632" y="3255264"/>
            <a:ext cx="128016" cy="128016"/>
          </a:xfrm>
          <a:prstGeom prst="ellipse">
            <a:avLst/>
          </a:prstGeom>
          <a:solidFill>
            <a:srgbClr val="4FC7C7"/>
          </a:solidFill>
          <a:ln w="12700">
            <a:solidFill>
              <a:srgbClr val="4FC7C7"/>
            </a:solidFill>
            <a:prstDash val="solid"/>
          </a:ln>
        </p:spPr>
      </p:sp>
      <p:sp>
        <p:nvSpPr>
          <p:cNvPr id="73" name="Shape 71"/>
          <p:cNvSpPr/>
          <p:nvPr/>
        </p:nvSpPr>
        <p:spPr>
          <a:xfrm>
            <a:off x="11100816" y="3255264"/>
            <a:ext cx="128016" cy="128016"/>
          </a:xfrm>
          <a:prstGeom prst="ellipse">
            <a:avLst/>
          </a:prstGeom>
          <a:solidFill>
            <a:srgbClr val="7B93FF"/>
          </a:solidFill>
          <a:ln w="12700">
            <a:solidFill>
              <a:srgbClr val="7B93FF"/>
            </a:solidFill>
            <a:prstDash val="solid"/>
          </a:ln>
        </p:spPr>
      </p:sp>
      <p:sp>
        <p:nvSpPr>
          <p:cNvPr id="74" name="Shape 72"/>
          <p:cNvSpPr/>
          <p:nvPr/>
        </p:nvSpPr>
        <p:spPr>
          <a:xfrm>
            <a:off x="8138160" y="3584448"/>
            <a:ext cx="128016" cy="128016"/>
          </a:xfrm>
          <a:prstGeom prst="ellipse">
            <a:avLst/>
          </a:prstGeom>
          <a:solidFill>
            <a:srgbClr val="7B93FF"/>
          </a:solidFill>
          <a:ln w="12700">
            <a:solidFill>
              <a:srgbClr val="7B93FF"/>
            </a:solidFill>
            <a:prstDash val="solid"/>
          </a:ln>
        </p:spPr>
      </p:sp>
      <p:sp>
        <p:nvSpPr>
          <p:cNvPr id="75" name="Shape 73"/>
          <p:cNvSpPr/>
          <p:nvPr/>
        </p:nvSpPr>
        <p:spPr>
          <a:xfrm>
            <a:off x="8467344" y="3584448"/>
            <a:ext cx="128016" cy="128016"/>
          </a:xfrm>
          <a:prstGeom prst="ellipse">
            <a:avLst/>
          </a:prstGeom>
          <a:solidFill>
            <a:srgbClr val="4FC7C7"/>
          </a:solidFill>
          <a:ln w="12700">
            <a:solidFill>
              <a:srgbClr val="4FC7C7"/>
            </a:solidFill>
            <a:prstDash val="solid"/>
          </a:ln>
        </p:spPr>
      </p:sp>
      <p:sp>
        <p:nvSpPr>
          <p:cNvPr id="76" name="Shape 74"/>
          <p:cNvSpPr/>
          <p:nvPr/>
        </p:nvSpPr>
        <p:spPr>
          <a:xfrm>
            <a:off x="8796528" y="3584448"/>
            <a:ext cx="128016" cy="128016"/>
          </a:xfrm>
          <a:prstGeom prst="ellipse">
            <a:avLst/>
          </a:prstGeom>
          <a:solidFill>
            <a:srgbClr val="7B93FF"/>
          </a:solidFill>
          <a:ln w="12700">
            <a:solidFill>
              <a:srgbClr val="7B93FF"/>
            </a:solidFill>
            <a:prstDash val="solid"/>
          </a:ln>
        </p:spPr>
      </p:sp>
      <p:sp>
        <p:nvSpPr>
          <p:cNvPr id="77" name="Shape 75"/>
          <p:cNvSpPr/>
          <p:nvPr/>
        </p:nvSpPr>
        <p:spPr>
          <a:xfrm>
            <a:off x="9125712"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454896" y="3584448"/>
            <a:ext cx="128016" cy="128016"/>
          </a:xfrm>
          <a:prstGeom prst="ellipse">
            <a:avLst/>
          </a:prstGeom>
          <a:solidFill>
            <a:srgbClr val="4FC7C7"/>
          </a:solidFill>
          <a:ln w="12700">
            <a:solidFill>
              <a:srgbClr val="4FC7C7"/>
            </a:solidFill>
            <a:prstDash val="solid"/>
          </a:ln>
        </p:spPr>
      </p:sp>
      <p:sp>
        <p:nvSpPr>
          <p:cNvPr id="79" name="Shape 77"/>
          <p:cNvSpPr/>
          <p:nvPr/>
        </p:nvSpPr>
        <p:spPr>
          <a:xfrm>
            <a:off x="9784080"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10113264" y="3584448"/>
            <a:ext cx="128016" cy="128016"/>
          </a:xfrm>
          <a:prstGeom prst="ellipse">
            <a:avLst/>
          </a:prstGeom>
          <a:solidFill>
            <a:srgbClr val="7B93FF"/>
          </a:solidFill>
          <a:ln w="12700">
            <a:solidFill>
              <a:srgbClr val="7B93FF"/>
            </a:solidFill>
            <a:prstDash val="solid"/>
          </a:ln>
        </p:spPr>
      </p:sp>
      <p:sp>
        <p:nvSpPr>
          <p:cNvPr id="81" name="Shape 79"/>
          <p:cNvSpPr/>
          <p:nvPr/>
        </p:nvSpPr>
        <p:spPr>
          <a:xfrm>
            <a:off x="10442448"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771632"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1100816" y="3584448"/>
            <a:ext cx="128016" cy="128016"/>
          </a:xfrm>
          <a:prstGeom prst="ellipse">
            <a:avLst/>
          </a:prstGeom>
          <a:solidFill>
            <a:srgbClr val="4FC7C7"/>
          </a:solidFill>
          <a:ln w="12700">
            <a:solidFill>
              <a:srgbClr val="4FC7C7"/>
            </a:solidFill>
            <a:prstDash val="solid"/>
          </a:ln>
        </p:spPr>
      </p:sp>
      <p:sp>
        <p:nvSpPr>
          <p:cNvPr id="84" name="Shape 82"/>
          <p:cNvSpPr/>
          <p:nvPr/>
        </p:nvSpPr>
        <p:spPr>
          <a:xfrm>
            <a:off x="8138160" y="3913632"/>
            <a:ext cx="128016" cy="128016"/>
          </a:xfrm>
          <a:prstGeom prst="ellipse">
            <a:avLst/>
          </a:prstGeom>
          <a:solidFill>
            <a:srgbClr val="4FC7C7"/>
          </a:solidFill>
          <a:ln w="12700">
            <a:solidFill>
              <a:srgbClr val="4FC7C7"/>
            </a:solidFill>
            <a:prstDash val="solid"/>
          </a:ln>
        </p:spPr>
      </p:sp>
      <p:sp>
        <p:nvSpPr>
          <p:cNvPr id="85" name="Shape 83"/>
          <p:cNvSpPr/>
          <p:nvPr/>
        </p:nvSpPr>
        <p:spPr>
          <a:xfrm>
            <a:off x="8467344"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796528"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9125712"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454896" y="3913632"/>
            <a:ext cx="128016" cy="128016"/>
          </a:xfrm>
          <a:prstGeom prst="ellipse">
            <a:avLst/>
          </a:prstGeom>
          <a:solidFill>
            <a:srgbClr val="7B93FF"/>
          </a:solidFill>
          <a:ln w="12700">
            <a:solidFill>
              <a:srgbClr val="7B93FF"/>
            </a:solidFill>
            <a:prstDash val="solid"/>
          </a:ln>
        </p:spPr>
      </p:sp>
      <p:sp>
        <p:nvSpPr>
          <p:cNvPr id="89" name="Shape 87"/>
          <p:cNvSpPr/>
          <p:nvPr/>
        </p:nvSpPr>
        <p:spPr>
          <a:xfrm>
            <a:off x="9784080"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10113264"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442448" y="3913632"/>
            <a:ext cx="128016" cy="128016"/>
          </a:xfrm>
          <a:prstGeom prst="ellipse">
            <a:avLst/>
          </a:prstGeom>
          <a:solidFill>
            <a:srgbClr val="4FC7C7"/>
          </a:solidFill>
          <a:ln w="12700">
            <a:solidFill>
              <a:srgbClr val="4FC7C7"/>
            </a:solidFill>
            <a:prstDash val="solid"/>
          </a:ln>
        </p:spPr>
      </p:sp>
      <p:sp>
        <p:nvSpPr>
          <p:cNvPr id="92" name="Shape 90"/>
          <p:cNvSpPr/>
          <p:nvPr/>
        </p:nvSpPr>
        <p:spPr>
          <a:xfrm>
            <a:off x="10771632"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1100816"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8138160" y="4242816"/>
            <a:ext cx="128016" cy="128016"/>
          </a:xfrm>
          <a:prstGeom prst="ellipse">
            <a:avLst/>
          </a:prstGeom>
          <a:solidFill>
            <a:srgbClr val="7B93FF"/>
          </a:solidFill>
          <a:ln w="12700">
            <a:solidFill>
              <a:srgbClr val="7B93FF"/>
            </a:solidFill>
            <a:prstDash val="solid"/>
          </a:ln>
        </p:spPr>
      </p:sp>
      <p:sp>
        <p:nvSpPr>
          <p:cNvPr id="95" name="Shape 93"/>
          <p:cNvSpPr/>
          <p:nvPr/>
        </p:nvSpPr>
        <p:spPr>
          <a:xfrm>
            <a:off x="8467344" y="4242816"/>
            <a:ext cx="128016" cy="128016"/>
          </a:xfrm>
          <a:prstGeom prst="ellipse">
            <a:avLst/>
          </a:prstGeom>
          <a:solidFill>
            <a:srgbClr val="4FC7C7"/>
          </a:solidFill>
          <a:ln w="12700">
            <a:solidFill>
              <a:srgbClr val="4FC7C7"/>
            </a:solidFill>
            <a:prstDash val="solid"/>
          </a:ln>
        </p:spPr>
      </p:sp>
      <p:sp>
        <p:nvSpPr>
          <p:cNvPr id="96" name="Shape 94"/>
          <p:cNvSpPr/>
          <p:nvPr/>
        </p:nvSpPr>
        <p:spPr>
          <a:xfrm>
            <a:off x="8796528" y="4242816"/>
            <a:ext cx="128016" cy="128016"/>
          </a:xfrm>
          <a:prstGeom prst="ellipse">
            <a:avLst/>
          </a:prstGeom>
          <a:solidFill>
            <a:srgbClr val="7B93FF"/>
          </a:solidFill>
          <a:ln w="12700">
            <a:solidFill>
              <a:srgbClr val="7B93FF"/>
            </a:solidFill>
            <a:prstDash val="solid"/>
          </a:ln>
        </p:spPr>
      </p:sp>
      <p:sp>
        <p:nvSpPr>
          <p:cNvPr id="97" name="Shape 95"/>
          <p:cNvSpPr/>
          <p:nvPr/>
        </p:nvSpPr>
        <p:spPr>
          <a:xfrm>
            <a:off x="9125712"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454896"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784080" y="4242816"/>
            <a:ext cx="128016" cy="128016"/>
          </a:xfrm>
          <a:prstGeom prst="ellipse">
            <a:avLst/>
          </a:prstGeom>
          <a:solidFill>
            <a:srgbClr val="4FC7C7"/>
          </a:solidFill>
          <a:ln w="12700">
            <a:solidFill>
              <a:srgbClr val="4FC7C7"/>
            </a:solidFill>
            <a:prstDash val="solid"/>
          </a:ln>
        </p:spPr>
      </p:sp>
      <p:sp>
        <p:nvSpPr>
          <p:cNvPr id="100" name="Shape 98"/>
          <p:cNvSpPr/>
          <p:nvPr/>
        </p:nvSpPr>
        <p:spPr>
          <a:xfrm>
            <a:off x="10113264"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442448"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771632" y="4242816"/>
            <a:ext cx="128016" cy="128016"/>
          </a:xfrm>
          <a:prstGeom prst="ellipse">
            <a:avLst/>
          </a:prstGeom>
          <a:solidFill>
            <a:srgbClr val="7B93FF"/>
          </a:solidFill>
          <a:ln w="12700">
            <a:solidFill>
              <a:srgbClr val="7B93FF"/>
            </a:solidFill>
            <a:prstDash val="solid"/>
          </a:ln>
        </p:spPr>
      </p:sp>
      <p:sp>
        <p:nvSpPr>
          <p:cNvPr id="103" name="Shape 101"/>
          <p:cNvSpPr/>
          <p:nvPr/>
        </p:nvSpPr>
        <p:spPr>
          <a:xfrm>
            <a:off x="11100816"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8138160" y="4572000"/>
            <a:ext cx="128016" cy="128016"/>
          </a:xfrm>
          <a:prstGeom prst="ellipse">
            <a:avLst/>
          </a:prstGeom>
          <a:solidFill>
            <a:srgbClr val="7B93FF"/>
          </a:solidFill>
          <a:ln w="12700">
            <a:solidFill>
              <a:srgbClr val="7B93FF"/>
            </a:solidFill>
            <a:prstDash val="solid"/>
          </a:ln>
        </p:spPr>
      </p:sp>
      <p:sp>
        <p:nvSpPr>
          <p:cNvPr id="105" name="Shape 103"/>
          <p:cNvSpPr/>
          <p:nvPr/>
        </p:nvSpPr>
        <p:spPr>
          <a:xfrm>
            <a:off x="8467344"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796528" y="4572000"/>
            <a:ext cx="128016" cy="128016"/>
          </a:xfrm>
          <a:prstGeom prst="ellipse">
            <a:avLst/>
          </a:prstGeom>
          <a:solidFill>
            <a:srgbClr val="4FC7C7"/>
          </a:solidFill>
          <a:ln w="12700">
            <a:solidFill>
              <a:srgbClr val="4FC7C7"/>
            </a:solidFill>
            <a:prstDash val="solid"/>
          </a:ln>
        </p:spPr>
      </p:sp>
      <p:sp>
        <p:nvSpPr>
          <p:cNvPr id="107" name="Shape 105"/>
          <p:cNvSpPr/>
          <p:nvPr/>
        </p:nvSpPr>
        <p:spPr>
          <a:xfrm>
            <a:off x="9125712"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454896" y="4572000"/>
            <a:ext cx="128016" cy="128016"/>
          </a:xfrm>
          <a:prstGeom prst="ellipse">
            <a:avLst/>
          </a:prstGeom>
          <a:solidFill>
            <a:srgbClr val="7B93FF"/>
          </a:solidFill>
          <a:ln w="12700">
            <a:solidFill>
              <a:srgbClr val="7B93FF"/>
            </a:solidFill>
            <a:prstDash val="solid"/>
          </a:ln>
        </p:spPr>
      </p:sp>
      <p:sp>
        <p:nvSpPr>
          <p:cNvPr id="109" name="Shape 107"/>
          <p:cNvSpPr/>
          <p:nvPr/>
        </p:nvSpPr>
        <p:spPr>
          <a:xfrm>
            <a:off x="9784080"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10113264" y="4572000"/>
            <a:ext cx="128016" cy="128016"/>
          </a:xfrm>
          <a:prstGeom prst="ellipse">
            <a:avLst/>
          </a:prstGeom>
          <a:solidFill>
            <a:srgbClr val="4FC7C7"/>
          </a:solidFill>
          <a:ln w="12700">
            <a:solidFill>
              <a:srgbClr val="4FC7C7"/>
            </a:solidFill>
            <a:prstDash val="solid"/>
          </a:ln>
        </p:spPr>
      </p:sp>
      <p:sp>
        <p:nvSpPr>
          <p:cNvPr id="111" name="Shape 109"/>
          <p:cNvSpPr/>
          <p:nvPr/>
        </p:nvSpPr>
        <p:spPr>
          <a:xfrm>
            <a:off x="10442448" y="4572000"/>
            <a:ext cx="128016" cy="128016"/>
          </a:xfrm>
          <a:prstGeom prst="ellipse">
            <a:avLst/>
          </a:prstGeom>
          <a:solidFill>
            <a:srgbClr val="7B93FF"/>
          </a:solidFill>
          <a:ln w="12700">
            <a:solidFill>
              <a:srgbClr val="7B93FF"/>
            </a:solidFill>
            <a:prstDash val="solid"/>
          </a:ln>
        </p:spPr>
      </p:sp>
      <p:sp>
        <p:nvSpPr>
          <p:cNvPr id="112" name="Shape 110"/>
          <p:cNvSpPr/>
          <p:nvPr/>
        </p:nvSpPr>
        <p:spPr>
          <a:xfrm>
            <a:off x="10771632"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1100816"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8138160" y="4901184"/>
            <a:ext cx="128016" cy="128016"/>
          </a:xfrm>
          <a:prstGeom prst="ellipse">
            <a:avLst/>
          </a:prstGeom>
          <a:solidFill>
            <a:srgbClr val="4FC7C7"/>
          </a:solidFill>
          <a:ln w="12700">
            <a:solidFill>
              <a:srgbClr val="4FC7C7"/>
            </a:solidFill>
            <a:prstDash val="solid"/>
          </a:ln>
        </p:spPr>
      </p:sp>
      <p:sp>
        <p:nvSpPr>
          <p:cNvPr id="115" name="Shape 113"/>
          <p:cNvSpPr/>
          <p:nvPr/>
        </p:nvSpPr>
        <p:spPr>
          <a:xfrm>
            <a:off x="8467344" y="4901184"/>
            <a:ext cx="128016" cy="128016"/>
          </a:xfrm>
          <a:prstGeom prst="ellipse">
            <a:avLst/>
          </a:prstGeom>
          <a:solidFill>
            <a:srgbClr val="7B93FF"/>
          </a:solidFill>
          <a:ln w="12700">
            <a:solidFill>
              <a:srgbClr val="7B93FF"/>
            </a:solidFill>
            <a:prstDash val="solid"/>
          </a:ln>
        </p:spPr>
      </p:sp>
      <p:sp>
        <p:nvSpPr>
          <p:cNvPr id="116" name="Shape 114"/>
          <p:cNvSpPr/>
          <p:nvPr/>
        </p:nvSpPr>
        <p:spPr>
          <a:xfrm>
            <a:off x="8796528"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9125712"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454896" y="4901184"/>
            <a:ext cx="128016" cy="128016"/>
          </a:xfrm>
          <a:prstGeom prst="ellipse">
            <a:avLst/>
          </a:prstGeom>
          <a:solidFill>
            <a:srgbClr val="4FC7C7"/>
          </a:solidFill>
          <a:ln w="12700">
            <a:solidFill>
              <a:srgbClr val="4FC7C7"/>
            </a:solidFill>
            <a:prstDash val="solid"/>
          </a:ln>
        </p:spPr>
      </p:sp>
      <p:sp>
        <p:nvSpPr>
          <p:cNvPr id="119" name="Shape 117"/>
          <p:cNvSpPr/>
          <p:nvPr/>
        </p:nvSpPr>
        <p:spPr>
          <a:xfrm>
            <a:off x="9784080"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10113264"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442448"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771632" y="4901184"/>
            <a:ext cx="128016" cy="128016"/>
          </a:xfrm>
          <a:prstGeom prst="ellipse">
            <a:avLst/>
          </a:prstGeom>
          <a:solidFill>
            <a:srgbClr val="7B93FF"/>
          </a:solidFill>
          <a:ln w="12700">
            <a:solidFill>
              <a:srgbClr val="7B93FF"/>
            </a:solidFill>
            <a:prstDash val="solid"/>
          </a:ln>
        </p:spPr>
      </p:sp>
      <p:sp>
        <p:nvSpPr>
          <p:cNvPr id="123" name="Shape 121"/>
          <p:cNvSpPr/>
          <p:nvPr/>
        </p:nvSpPr>
        <p:spPr>
          <a:xfrm>
            <a:off x="11100816"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8138160" y="5230368"/>
            <a:ext cx="128016" cy="128016"/>
          </a:xfrm>
          <a:prstGeom prst="ellipse">
            <a:avLst/>
          </a:prstGeom>
          <a:solidFill>
            <a:srgbClr val="7B93FF"/>
          </a:solidFill>
          <a:ln w="12700">
            <a:solidFill>
              <a:srgbClr val="7B93FF"/>
            </a:solidFill>
            <a:prstDash val="solid"/>
          </a:ln>
        </p:spPr>
      </p:sp>
      <p:sp>
        <p:nvSpPr>
          <p:cNvPr id="125" name="Shape 123"/>
          <p:cNvSpPr/>
          <p:nvPr/>
        </p:nvSpPr>
        <p:spPr>
          <a:xfrm>
            <a:off x="8467344" y="5230368"/>
            <a:ext cx="128016" cy="128016"/>
          </a:xfrm>
          <a:prstGeom prst="ellipse">
            <a:avLst/>
          </a:prstGeom>
          <a:solidFill>
            <a:srgbClr val="4FC7C7"/>
          </a:solidFill>
          <a:ln w="12700">
            <a:solidFill>
              <a:srgbClr val="4FC7C7"/>
            </a:solidFill>
            <a:prstDash val="solid"/>
          </a:ln>
        </p:spPr>
      </p:sp>
      <p:sp>
        <p:nvSpPr>
          <p:cNvPr id="126" name="Shape 124"/>
          <p:cNvSpPr/>
          <p:nvPr/>
        </p:nvSpPr>
        <p:spPr>
          <a:xfrm>
            <a:off x="8796528" y="5230368"/>
            <a:ext cx="128016" cy="128016"/>
          </a:xfrm>
          <a:prstGeom prst="ellipse">
            <a:avLst/>
          </a:prstGeom>
          <a:solidFill>
            <a:srgbClr val="7B93FF"/>
          </a:solidFill>
          <a:ln w="12700">
            <a:solidFill>
              <a:srgbClr val="7B93FF"/>
            </a:solidFill>
            <a:prstDash val="solid"/>
          </a:ln>
        </p:spPr>
      </p:sp>
      <p:sp>
        <p:nvSpPr>
          <p:cNvPr id="127" name="Shape 125"/>
          <p:cNvSpPr/>
          <p:nvPr/>
        </p:nvSpPr>
        <p:spPr>
          <a:xfrm>
            <a:off x="9125712" y="5230368"/>
            <a:ext cx="128016" cy="128016"/>
          </a:xfrm>
          <a:prstGeom prst="ellipse">
            <a:avLst/>
          </a:prstGeom>
          <a:solidFill>
            <a:srgbClr val="4FC7C7"/>
          </a:solidFill>
          <a:ln w="12700">
            <a:solidFill>
              <a:srgbClr val="4FC7C7"/>
            </a:solidFill>
            <a:prstDash val="solid"/>
          </a:ln>
        </p:spPr>
      </p:sp>
      <p:sp>
        <p:nvSpPr>
          <p:cNvPr id="128" name="Shape 126"/>
          <p:cNvSpPr/>
          <p:nvPr/>
        </p:nvSpPr>
        <p:spPr>
          <a:xfrm>
            <a:off x="9454896"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784080"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10113264"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442448" y="5230368"/>
            <a:ext cx="128016" cy="128016"/>
          </a:xfrm>
          <a:prstGeom prst="ellipse">
            <a:avLst/>
          </a:prstGeom>
          <a:solidFill>
            <a:srgbClr val="7B93FF"/>
          </a:solidFill>
          <a:ln w="12700">
            <a:solidFill>
              <a:srgbClr val="7B93FF"/>
            </a:solidFill>
            <a:prstDash val="solid"/>
          </a:ln>
        </p:spPr>
      </p:sp>
      <p:sp>
        <p:nvSpPr>
          <p:cNvPr id="132" name="Shape 130"/>
          <p:cNvSpPr/>
          <p:nvPr/>
        </p:nvSpPr>
        <p:spPr>
          <a:xfrm>
            <a:off x="10771632"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 다룰 다섯 장</a:t>
            </a:r>
            <a:endParaRPr lang="en-US" sz="2000" dirty="0"/>
          </a:p>
        </p:txBody>
      </p:sp>
      <p:sp>
        <p:nvSpPr>
          <p:cNvPr id="5" name="Text 2"/>
          <p:cNvSpPr txBox="1"/>
          <p:nvPr/>
        </p:nvSpPr>
        <p:spPr>
          <a:xfrm>
            <a:off x="640080"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500" dirty="0"/>
          </a:p>
          <a:p>
            <a:pPr indent="0" marL="0">
              <a:buNone/>
            </a:pPr>
            <a:r>
              <a:rPr lang="en-US" sz="1500" b="1" dirty="0">
                <a:solidFill>
                  <a:schemeClr val="tx1"/>
                </a:solidFill>
              </a:rPr>
              <a:t>실험과 인과추론</a:t>
            </a:r>
            <a:endParaRPr lang="en-US" sz="1500" dirty="0"/>
          </a:p>
        </p:txBody>
      </p:sp>
      <p:sp>
        <p:nvSpPr>
          <p:cNvPr id="6" name="Shape 3"/>
          <p:cNvSpPr/>
          <p:nvPr/>
        </p:nvSpPr>
        <p:spPr>
          <a:xfrm>
            <a:off x="640080" y="3154680"/>
            <a:ext cx="2094525" cy="0"/>
          </a:xfrm>
          <a:prstGeom prst="line">
            <a:avLst/>
          </a:prstGeom>
          <a:noFill/>
          <a:ln w="76200">
            <a:solidFill>
              <a:srgbClr val="3A5BFF"/>
            </a:solidFill>
            <a:prstDash val="solid"/>
          </a:ln>
        </p:spPr>
      </p:sp>
      <p:sp>
        <p:nvSpPr>
          <p:cNvPr id="7" name="Text 4"/>
          <p:cNvSpPr txBox="1"/>
          <p:nvPr/>
        </p:nvSpPr>
        <p:spPr>
          <a:xfrm>
            <a:off x="284433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500" dirty="0"/>
          </a:p>
          <a:p>
            <a:pPr indent="0" marL="0">
              <a:buNone/>
            </a:pPr>
            <a:r>
              <a:rPr lang="en-US" sz="1500" b="1" dirty="0">
                <a:solidFill>
                  <a:schemeClr val="tx1"/>
                </a:solidFill>
              </a:rPr>
              <a:t>설계의 핵심 구성요소</a:t>
            </a:r>
            <a:endParaRPr lang="en-US" sz="1500" dirty="0"/>
          </a:p>
        </p:txBody>
      </p:sp>
      <p:sp>
        <p:nvSpPr>
          <p:cNvPr id="8" name="Shape 5"/>
          <p:cNvSpPr/>
          <p:nvPr/>
        </p:nvSpPr>
        <p:spPr>
          <a:xfrm>
            <a:off x="2844333" y="3154680"/>
            <a:ext cx="2094525" cy="0"/>
          </a:xfrm>
          <a:prstGeom prst="line">
            <a:avLst/>
          </a:prstGeom>
          <a:noFill/>
          <a:ln w="76200">
            <a:solidFill>
              <a:srgbClr val="3A5BFF"/>
            </a:solidFill>
            <a:prstDash val="solid"/>
          </a:ln>
        </p:spPr>
      </p:sp>
      <p:sp>
        <p:nvSpPr>
          <p:cNvPr id="9" name="Text 6"/>
          <p:cNvSpPr txBox="1"/>
          <p:nvPr/>
        </p:nvSpPr>
        <p:spPr>
          <a:xfrm>
            <a:off x="5048585"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500" dirty="0"/>
          </a:p>
          <a:p>
            <a:pPr indent="0" marL="0">
              <a:buNone/>
            </a:pPr>
            <a:r>
              <a:rPr lang="en-US" sz="1500" b="1" dirty="0">
                <a:solidFill>
                  <a:schemeClr val="tx1"/>
                </a:solidFill>
              </a:rPr>
              <a:t>실행과 통계 분석</a:t>
            </a:r>
            <a:endParaRPr lang="en-US" sz="1500" dirty="0"/>
          </a:p>
        </p:txBody>
      </p:sp>
      <p:sp>
        <p:nvSpPr>
          <p:cNvPr id="10" name="Shape 7"/>
          <p:cNvSpPr/>
          <p:nvPr/>
        </p:nvSpPr>
        <p:spPr>
          <a:xfrm>
            <a:off x="5048585" y="3154680"/>
            <a:ext cx="2094525" cy="0"/>
          </a:xfrm>
          <a:prstGeom prst="line">
            <a:avLst/>
          </a:prstGeom>
          <a:noFill/>
          <a:ln w="76200">
            <a:solidFill>
              <a:srgbClr val="3A5BFF"/>
            </a:solidFill>
            <a:prstDash val="solid"/>
          </a:ln>
        </p:spPr>
      </p:sp>
      <p:sp>
        <p:nvSpPr>
          <p:cNvPr id="11" name="Text 8"/>
          <p:cNvSpPr txBox="1"/>
          <p:nvPr/>
        </p:nvSpPr>
        <p:spPr>
          <a:xfrm>
            <a:off x="7252838"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500" dirty="0"/>
          </a:p>
          <a:p>
            <a:pPr indent="0" marL="0">
              <a:buNone/>
            </a:pPr>
            <a:r>
              <a:rPr lang="en-US" sz="1500" b="1" dirty="0">
                <a:solidFill>
                  <a:schemeClr val="tx1"/>
                </a:solidFill>
              </a:rPr>
              <a:t>실무 함정과 고급 설계</a:t>
            </a:r>
            <a:endParaRPr lang="en-US" sz="1500" dirty="0"/>
          </a:p>
        </p:txBody>
      </p:sp>
      <p:sp>
        <p:nvSpPr>
          <p:cNvPr id="12" name="Shape 9"/>
          <p:cNvSpPr/>
          <p:nvPr/>
        </p:nvSpPr>
        <p:spPr>
          <a:xfrm>
            <a:off x="7252838" y="3154680"/>
            <a:ext cx="2094525" cy="0"/>
          </a:xfrm>
          <a:prstGeom prst="line">
            <a:avLst/>
          </a:prstGeom>
          <a:noFill/>
          <a:ln w="76200">
            <a:solidFill>
              <a:srgbClr val="3A5BFF"/>
            </a:solidFill>
            <a:prstDash val="solid"/>
          </a:ln>
        </p:spPr>
      </p:sp>
      <p:sp>
        <p:nvSpPr>
          <p:cNvPr id="13" name="Text 10"/>
          <p:cNvSpPr txBox="1"/>
          <p:nvPr/>
        </p:nvSpPr>
        <p:spPr>
          <a:xfrm>
            <a:off x="9457091"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500" dirty="0"/>
          </a:p>
          <a:p>
            <a:pPr indent="0" marL="0">
              <a:buNone/>
            </a:pPr>
            <a:r>
              <a:rPr lang="en-US" sz="1500" b="1" dirty="0">
                <a:solidFill>
                  <a:schemeClr val="tx1"/>
                </a:solidFill>
              </a:rPr>
              <a:t>사례·문화·의사결정</a:t>
            </a:r>
            <a:endParaRPr lang="en-US" sz="1500" dirty="0"/>
          </a:p>
        </p:txBody>
      </p:sp>
      <p:sp>
        <p:nvSpPr>
          <p:cNvPr id="14" name="Shape 11"/>
          <p:cNvSpPr/>
          <p:nvPr/>
        </p:nvSpPr>
        <p:spPr>
          <a:xfrm>
            <a:off x="9457091" y="3154680"/>
            <a:ext cx="2094525" cy="0"/>
          </a:xfrm>
          <a:prstGeom prst="line">
            <a:avLst/>
          </a:prstGeom>
          <a:noFill/>
          <a:ln w="76200">
            <a:solidFill>
              <a:srgbClr val="3A5BFF"/>
            </a:solidFill>
            <a:prstDash val="solid"/>
          </a:ln>
        </p:spPr>
      </p:sp>
      <p:sp>
        <p:nvSpPr>
          <p:cNvPr id="15" name="Text 12"/>
          <p:cNvSpPr txBox="1"/>
          <p:nvPr/>
        </p:nvSpPr>
        <p:spPr>
          <a:xfrm>
            <a:off x="640080" y="4297680"/>
            <a:ext cx="9601200" cy="1280160"/>
          </a:xfrm>
          <a:prstGeom prst="rect">
            <a:avLst/>
          </a:prstGeom>
          <a:noFill/>
          <a:ln/>
        </p:spPr>
        <p:txBody>
          <a:bodyPr wrap="square" lIns="0" tIns="0" rIns="0" bIns="0" rtlCol="0" anchor="t"/>
          <a:lstStyle/>
          <a:p>
            <a:pPr indent="0" marL="0">
              <a:buNone/>
            </a:pPr>
            <a:r>
              <a:rPr lang="en-US" sz="2000" b="1" dirty="0">
                <a:solidFill>
                  <a:schemeClr val="tx1"/>
                </a:solidFill>
              </a:rPr>
              <a:t>통계는 도구, 무게중심은 설계와 해석</a:t>
            </a:r>
            <a:endParaRPr lang="en-US" sz="1500" dirty="0"/>
          </a:p>
          <a:p>
            <a:pPr indent="0" marL="0">
              <a:buNone/>
            </a:pPr>
            <a:r>
              <a:rPr lang="en-US" sz="1500" dirty="0">
                <a:solidFill>
                  <a:schemeClr val="tx2"/>
                </a:solidFill>
              </a:rPr>
              <a:t>수식 유도보다 "그래서 배포할까?"로 번역하기 · 이론 뒤에 실습, 함정·해석·공유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 (교육용 예시 수치)</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비교로는 </a:t>
            </a:r>
            <a:pPr indent="0" marL="0">
              <a:buNone/>
            </a:pPr>
            <a:r>
              <a:rPr lang="en-US" sz="2000" b="1" dirty="0">
                <a:solidFill>
                  <a:schemeClr val="accent4"/>
                </a:solidFill>
              </a:rPr>
              <a:t>무엇 때문에</a:t>
            </a:r>
            <a:pPr indent="0" marL="0">
              <a:buNone/>
            </a:pPr>
            <a:r>
              <a:rPr lang="en-US" sz="2000" dirty="0">
                <a:solidFill>
                  <a:schemeClr val="tx1"/>
                </a:solidFill>
              </a:rPr>
              <a:t> 올랐는지 가를 수 없다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 (Fundamental Problem of Causal Inference) → 개인 대신 집단 평균을 비교</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 → 두 그룹 평균 차이가 ATE의 편향 없는 추정치</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6개월 미뤄 둔 아이디어가 매출을 12% 올렸다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광고 제목 길게 표시 · 사용자 경험 지표(세션 수, 이용량, 관련성) 악화 없음</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11편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같은 말: 온라인 통제 실험(Online Controlled Experiment), 분할 테스트, 버킷 테스트, 플라이트</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Ch5</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통제를 엄격하게 할수록 내적 타당성 ↑, 현실과의 거리 ↑ → 단계적으로 확보</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대안: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문제와 가설, 지표, 단위, 표본, 배정</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marL="342900" indent="-342900">
              <a:spcAft>
                <a:spcPts val="400"/>
              </a:spcAft>
              <a:buSzPct val="100000"/>
              <a:buChar char="•"/>
            </a:pPr>
            <a:r>
              <a:rPr lang="en-US" sz="1500" dirty="0">
                <a:solidFill>
                  <a:schemeClr val="tx2"/>
                </a:solidFill>
              </a:rPr>
              <a:t>A/B는 "무엇을 바꿨을 때 이 지표가 얼마나 달라졌나"를 비교</a:t>
            </a:r>
            <a:endParaRPr lang="en-US" sz="1500" dirty="0"/>
          </a:p>
          <a:p>
            <a:pPr marL="342900" indent="-342900">
              <a:spcAft>
                <a:spcPts val="400"/>
              </a:spcAft>
              <a:buSzPct val="100000"/>
              <a:buChar char="•"/>
            </a:pPr>
            <a:r>
              <a:rPr lang="en-US" sz="1500" dirty="0">
                <a:solidFill>
                  <a:schemeClr val="tx2"/>
                </a:solidFill>
              </a:rPr>
              <a:t>지표·구간까지 좁혀야 바꿀 곳이 보인다</a:t>
            </a:r>
            <a:endParaRPr lang="en-US" sz="1500" dirty="0"/>
          </a:p>
          <a:p>
            <a:pPr marL="342900" indent="-342900">
              <a:buSzPct val="100000"/>
              <a:buChar char="•"/>
            </a:pPr>
            <a:r>
              <a:rPr lang="en-US" sz="1500" dirty="0">
                <a:solidFill>
                  <a:schemeClr val="tx2"/>
                </a:solidFill>
              </a:rPr>
              <a:t>엉뚱한 Treatment를 실험하지 않게 된다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 전환율이 올라도 원인을 모른다</a:t>
            </a:r>
            <a:endParaRPr lang="en-US" sz="1500" dirty="0"/>
          </a:p>
          <a:p>
            <a:pPr indent="0" marL="0">
              <a:buNone/>
            </a:pPr>
            <a:r>
              <a:rPr lang="en-US" sz="2000" b="1" dirty="0">
                <a:solidFill>
                  <a:schemeClr val="accent1"/>
                </a:solidFill>
              </a:rPr>
              <a:t>대조군과의 차이는 핵심 변화 하나만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이 연결을 설명할 수 있어야 한다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대상·이유·지표가 없음 → 어떤 결과로도 '틀렸다'고 할 수 없다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제품 가설을 통계적 가설로 바꾼다</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참이라 두고 → 지금 데이터가 얼마나 드문지 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 "나빠지지 않았다"는 결과 1만 가능 · 마진은 실험 전에 비즈니스와 합의</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OEC는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93776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 품질·사용량·광고 수익처럼 균형이 필요하면 실험 전에 정한 가중치로 조합</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OEC와 North Star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노스스타는 방향을, OEC는 이번 실험을 판단한다</a:t>
            </a:r>
            <a:endParaRPr lang="en-US" sz="2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297680"/>
                <a:gridCol w="4233672"/>
              </a:tblGrid>
              <a:tr h="566928">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North Star Metric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제품이 어떤 핵심 가치를 계속 만들어야 하나?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이 실험이 전체적으로 좋은 변화인가?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적용 범위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 · 조직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개별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여러 팀의 장기 방향을 정렬한다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Treatment의 성공 여부를 판단한다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측정 조건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핵심 사용자 가치를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기간 안에 충분히 측정된다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장기 목표와의 관계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 자체를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목표를 예측·추진할 수 있어야 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48640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Secondary · Driver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Driver 지표는 Primary가 움직인 경로를 보여준다</a:t>
            </a:r>
            <a:endParaRPr lang="en-US" sz="2000" dirty="0"/>
          </a:p>
        </p:txBody>
      </p:sp>
      <p:sp>
        <p:nvSpPr>
          <p:cNvPr id="5" name="Text 2"/>
          <p:cNvSpPr txBox="1"/>
          <p:nvPr/>
        </p:nvSpPr>
        <p:spPr>
          <a:xfrm>
            <a:off x="640080" y="1783080"/>
            <a:ext cx="1965960" cy="822960"/>
          </a:xfrm>
          <a:prstGeom prst="rect">
            <a:avLst/>
          </a:prstGeom>
          <a:noFill/>
          <a:ln/>
        </p:spPr>
        <p:txBody>
          <a:bodyPr wrap="square" lIns="0" tIns="0" rIns="0" bIns="0" rtlCol="0" anchor="t"/>
          <a:lstStyle/>
          <a:p>
            <a:pPr indent="0" marL="0">
              <a:buNone/>
            </a:pPr>
            <a:r>
              <a:rPr lang="en-US" sz="1400" b="1" dirty="0">
                <a:solidFill>
                  <a:schemeClr val="tx2"/>
                </a:solidFill>
              </a:rPr>
              <a:t>Treatment</a:t>
            </a:r>
            <a:endParaRPr lang="en-US" sz="1500" dirty="0"/>
          </a:p>
          <a:p>
            <a:pPr indent="0" marL="0">
              <a:buNone/>
            </a:pPr>
            <a:r>
              <a:rPr lang="en-US" sz="1500" b="1" dirty="0">
                <a:solidFill>
                  <a:schemeClr val="tx1"/>
                </a:solidFill>
              </a:rPr>
              <a:t>개인화 추천 적용</a:t>
            </a:r>
            <a:endParaRPr lang="en-US" sz="1500" dirty="0"/>
          </a:p>
        </p:txBody>
      </p:sp>
      <p:sp>
        <p:nvSpPr>
          <p:cNvPr id="6" name="Shape 3"/>
          <p:cNvSpPr/>
          <p:nvPr/>
        </p:nvSpPr>
        <p:spPr>
          <a:xfrm>
            <a:off x="2468880" y="2331720"/>
            <a:ext cx="365760" cy="0"/>
          </a:xfrm>
          <a:prstGeom prst="line">
            <a:avLst/>
          </a:prstGeom>
          <a:noFill/>
          <a:ln w="19050">
            <a:solidFill>
              <a:srgbClr val="8A90A8"/>
            </a:solidFill>
            <a:prstDash val="solid"/>
            <a:tailEnd type="triangle"/>
          </a:ln>
        </p:spPr>
      </p:sp>
      <p:sp>
        <p:nvSpPr>
          <p:cNvPr id="7" name="Text 4"/>
          <p:cNvSpPr txBox="1"/>
          <p:nvPr/>
        </p:nvSpPr>
        <p:spPr>
          <a:xfrm>
            <a:off x="2889504"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추천 CTR</a:t>
            </a:r>
            <a:endParaRPr lang="en-US" sz="1500" dirty="0"/>
          </a:p>
        </p:txBody>
      </p:sp>
      <p:sp>
        <p:nvSpPr>
          <p:cNvPr id="8" name="Shape 5"/>
          <p:cNvSpPr/>
          <p:nvPr/>
        </p:nvSpPr>
        <p:spPr>
          <a:xfrm>
            <a:off x="4718304" y="2331720"/>
            <a:ext cx="365760" cy="0"/>
          </a:xfrm>
          <a:prstGeom prst="line">
            <a:avLst/>
          </a:prstGeom>
          <a:noFill/>
          <a:ln w="19050">
            <a:solidFill>
              <a:srgbClr val="8A90A8"/>
            </a:solidFill>
            <a:prstDash val="solid"/>
            <a:tailEnd type="triangle"/>
          </a:ln>
        </p:spPr>
      </p:sp>
      <p:sp>
        <p:nvSpPr>
          <p:cNvPr id="9" name="Text 6"/>
          <p:cNvSpPr txBox="1"/>
          <p:nvPr/>
        </p:nvSpPr>
        <p:spPr>
          <a:xfrm>
            <a:off x="5138928"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상세페이지 도달률</a:t>
            </a:r>
            <a:endParaRPr lang="en-US" sz="1500" dirty="0"/>
          </a:p>
        </p:txBody>
      </p:sp>
      <p:sp>
        <p:nvSpPr>
          <p:cNvPr id="10" name="Shape 7"/>
          <p:cNvSpPr/>
          <p:nvPr/>
        </p:nvSpPr>
        <p:spPr>
          <a:xfrm>
            <a:off x="6967728" y="2331720"/>
            <a:ext cx="365760" cy="0"/>
          </a:xfrm>
          <a:prstGeom prst="line">
            <a:avLst/>
          </a:prstGeom>
          <a:noFill/>
          <a:ln w="19050">
            <a:solidFill>
              <a:srgbClr val="8A90A8"/>
            </a:solidFill>
            <a:prstDash val="solid"/>
            <a:tailEnd type="triangle"/>
          </a:ln>
        </p:spPr>
      </p:sp>
      <p:sp>
        <p:nvSpPr>
          <p:cNvPr id="11" name="Text 8"/>
          <p:cNvSpPr txBox="1"/>
          <p:nvPr/>
        </p:nvSpPr>
        <p:spPr>
          <a:xfrm>
            <a:off x="7388352"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장바구니 추가율</a:t>
            </a:r>
            <a:endParaRPr lang="en-US" sz="1500" dirty="0"/>
          </a:p>
        </p:txBody>
      </p:sp>
      <p:sp>
        <p:nvSpPr>
          <p:cNvPr id="12" name="Shape 9"/>
          <p:cNvSpPr/>
          <p:nvPr/>
        </p:nvSpPr>
        <p:spPr>
          <a:xfrm>
            <a:off x="9217152" y="2331720"/>
            <a:ext cx="365760" cy="0"/>
          </a:xfrm>
          <a:prstGeom prst="line">
            <a:avLst/>
          </a:prstGeom>
          <a:noFill/>
          <a:ln w="19050">
            <a:solidFill>
              <a:srgbClr val="8A90A8"/>
            </a:solidFill>
            <a:prstDash val="solid"/>
            <a:tailEnd type="triangle"/>
          </a:ln>
        </p:spPr>
      </p:sp>
      <p:sp>
        <p:nvSpPr>
          <p:cNvPr id="13" name="Text 10"/>
          <p:cNvSpPr txBox="1"/>
          <p:nvPr/>
        </p:nvSpPr>
        <p:spPr>
          <a:xfrm>
            <a:off x="9637776" y="1783080"/>
            <a:ext cx="1965960" cy="822960"/>
          </a:xfrm>
          <a:prstGeom prst="rect">
            <a:avLst/>
          </a:prstGeom>
          <a:noFill/>
          <a:ln/>
        </p:spPr>
        <p:txBody>
          <a:bodyPr wrap="square" lIns="0" tIns="0" rIns="0" bIns="0" rtlCol="0" anchor="t"/>
          <a:lstStyle/>
          <a:p>
            <a:pPr indent="0" marL="0">
              <a:buNone/>
            </a:pPr>
            <a:r>
              <a:rPr lang="en-US" sz="1400" b="1" dirty="0">
                <a:solidFill>
                  <a:schemeClr val="accent1"/>
                </a:solidFill>
              </a:rPr>
              <a:t>Primary</a:t>
            </a:r>
            <a:endParaRPr lang="en-US" sz="1500" dirty="0"/>
          </a:p>
          <a:p>
            <a:pPr indent="0" marL="0">
              <a:buNone/>
            </a:pPr>
            <a:r>
              <a:rPr lang="en-US" sz="1500" b="1" dirty="0">
                <a:solidFill>
                  <a:schemeClr val="tx1"/>
                </a:solidFill>
              </a:rPr>
              <a:t>구매전환율</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2971800"/>
          <a:ext cx="6949440" cy="914400"/>
        </p:xfrm>
        <a:graphic>
          <a:graphicData uri="http://schemas.openxmlformats.org/drawingml/2006/table">
            <a:tbl>
              <a:tblPr/>
              <a:tblGrid>
                <a:gridCol w="1645920"/>
                <a:gridCol w="2651760"/>
                <a:gridCol w="2651760"/>
              </a:tblGrid>
              <a:tr h="4572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Secondary</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Driver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또 어떤 변화가 있었나?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왜 Primary가 움직였나?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보조 Outcome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메커니즘 설명</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주문액, 세션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CTR, 상세 조회율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5" name="Text 11"/>
          <p:cNvSpPr txBox="1"/>
          <p:nvPr/>
        </p:nvSpPr>
        <p:spPr>
          <a:xfrm>
            <a:off x="7955280" y="2971800"/>
            <a:ext cx="3611880" cy="2560320"/>
          </a:xfrm>
          <a:prstGeom prst="rect">
            <a:avLst/>
          </a:prstGeom>
          <a:noFill/>
          <a:ln/>
        </p:spPr>
        <p:txBody>
          <a:bodyPr wrap="square" lIns="0" tIns="0" rIns="0" bIns="0" rtlCol="0" anchor="t"/>
          <a:lstStyle/>
          <a:p>
            <a:pPr indent="0" marL="0">
              <a:buNone/>
            </a:pPr>
            <a:r>
              <a:rPr lang="en-US" sz="1500" b="1" dirty="0">
                <a:solidFill>
                  <a:schemeClr val="accent4"/>
                </a:solidFill>
              </a:rPr>
              <a:t>주의 1</a:t>
            </a:r>
            <a:endParaRPr lang="en-US" sz="1500" dirty="0"/>
          </a:p>
          <a:p>
            <a:pPr indent="0" marL="0">
              <a:spcAft>
                <a:spcPts val="1200"/>
              </a:spcAft>
              <a:buNone/>
            </a:pPr>
            <a:r>
              <a:rPr lang="en-US" sz="1500" dirty="0">
                <a:solidFill>
                  <a:schemeClr val="tx1"/>
                </a:solidFill>
              </a:rPr>
              <a:t>Driver는 진단용입니다. 중간 단계의 인과를 증명하지 않습니다</a:t>
            </a:r>
            <a:endParaRPr lang="en-US" sz="1500" dirty="0"/>
          </a:p>
          <a:p>
            <a:pPr indent="0" marL="0">
              <a:buNone/>
            </a:pPr>
            <a:r>
              <a:rPr lang="en-US" sz="1500" b="1" dirty="0">
                <a:solidFill>
                  <a:schemeClr val="accent4"/>
                </a:solidFill>
              </a:rPr>
              <a:t>주의 2</a:t>
            </a:r>
            <a:endParaRPr lang="en-US" sz="1500" dirty="0"/>
          </a:p>
          <a:p>
            <a:pPr indent="0" marL="0">
              <a:buNone/>
            </a:pPr>
            <a:r>
              <a:rPr lang="en-US" sz="1500" dirty="0">
                <a:solidFill>
                  <a:schemeClr val="tx1"/>
                </a:solidFill>
              </a:rPr>
              <a:t>Secondary가 많을수록 우연히 '유의'가 나옵니다. 메커니즘에 따라 미리 고릅니다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CTR이 올랐다: 더 눌러서인가, 덜 보여줘서인가</a:t>
            </a:r>
            <a:endParaRPr lang="en-US" sz="2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목표가 아니라 가치를 대신 재는 숫자다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 최대화" → 숫자는 오르는데 그 숫자가 대변하던 가치는 떨어질 수 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가치를 대신 재는 숫자</a:t>
            </a:r>
            <a:endParaRPr lang="en-US" sz="1500" dirty="0"/>
          </a:p>
          <a:p>
            <a:pPr indent="0" marL="0">
              <a:spcAft>
                <a:spcPts val="400"/>
              </a:spcAft>
              <a:buNone/>
            </a:pPr>
            <a:r>
              <a:rPr lang="en-US" sz="2000" b="1" dirty="0">
                <a:solidFill>
                  <a:schemeClr val="tx1"/>
                </a:solidFill>
              </a:rPr>
              <a:t>유의성의 한계</a:t>
            </a:r>
            <a:endParaRPr lang="en-US" sz="1500" dirty="0"/>
          </a:p>
          <a:p>
            <a:pPr indent="0" marL="0">
              <a:buNone/>
            </a:pPr>
            <a:r>
              <a:rPr lang="en-US" sz="1500" dirty="0">
                <a:solidFill>
                  <a:schemeClr val="tx2"/>
                </a:solidFill>
              </a:rPr>
              <a:t>유의하다 ≠ 지표를 잘 골랐다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 "취소율이 X 이상 나빠지면 배포 안 함"을 실험 전에</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다른 지표를 보지 말라는 게 아니다 · 나중에 찾은 패턴은 탐색적 결과로 구분</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 다른 단위는 이유를 댈 수 있을 때만 · 배정 ≠ 분석 단위면 분산 보정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식별자는 사람의 근사치다</a:t>
            </a:r>
            <a:endParaRPr lang="en-US" sz="2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식별자는 사람의 근사치 · 배정 기준 식별자는 실험 전에 정하기 · 식별자 로그 = 개인정보</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세션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사람을 계속 알아보기 어렵다면 세션 단위를 쓴다</a:t>
            </a:r>
            <a:endParaRPr lang="en-US" sz="2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949440" cy="914400"/>
        </p:xfrm>
        <a:graphic>
          <a:graphicData uri="http://schemas.openxmlformats.org/drawingml/2006/table">
            <a:tbl>
              <a:tblPr/>
              <a:tblGrid>
                <a:gridCol w="3566160"/>
                <a:gridCol w="3383280"/>
              </a:tblGrid>
              <a:tr h="548640">
                <a:tc>
                  <a:txBody>
                    <a:bodyPr/>
                    <a:lstStyle/>
                    <a:p>
                      <a:pPr indent="0" marL="0">
                        <a:buNone/>
                      </a:pPr>
                      <a:r>
                        <a:rPr lang="en-US" sz="1400" b="1" dirty="0">
                          <a:solidFill>
                            <a:srgbClr val="555C7A"/>
                          </a:solidFill>
                        </a:rPr>
                        <a:t>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식별이 어려운가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dirty="0">
                          <a:solidFill>
                            <a:srgbClr val="1B1F3B"/>
                          </a:solidFill>
                        </a:rPr>
                        <a:t>로그인이 없는 웹사이트 (뉴스, 정보성 페이지)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사용자를 알아보는 수단이 쿠키뿐이다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쿠키를 거부하거나 자주 지우는 환경</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쿠키가 사라지면 같은 사람이 새 사용자로 보인다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시크릿 모드, 추적 방지 브라우저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세션이 끝나면 식별 정보가 삭제된다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공용 기기 (키오스크, 매장 태블릿, 도서관 PC)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한 기기를 여러 사람이 써서 개인을 알 수 없다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개인정보 수집을 제한하는 서비스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식별자를 아예 저장하지 않는다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001000" y="1737360"/>
            <a:ext cx="3566160" cy="4114800"/>
          </a:xfrm>
          <a:prstGeom prst="rect">
            <a:avLst/>
          </a:prstGeom>
          <a:noFill/>
          <a:ln/>
        </p:spPr>
        <p:txBody>
          <a:bodyPr wrap="square" lIns="0" tIns="0" rIns="0" bIns="0" rtlCol="0" anchor="t"/>
          <a:lstStyle/>
          <a:p>
            <a:pPr indent="0" marL="0">
              <a:buNone/>
            </a:pPr>
            <a:r>
              <a:rPr lang="en-US" sz="2000" b="1" dirty="0">
                <a:solidFill>
                  <a:schemeClr val="accent1"/>
                </a:solidFill>
              </a:rPr>
              <a:t>장점</a:t>
            </a:r>
            <a:endParaRPr lang="en-US" sz="1500" dirty="0"/>
          </a:p>
          <a:p>
            <a:pPr indent="0" marL="0">
              <a:spcAft>
                <a:spcPts val="400"/>
              </a:spcAft>
              <a:buNone/>
            </a:pPr>
            <a:r>
              <a:rPr lang="en-US" sz="1500" dirty="0">
                <a:solidFill>
                  <a:schemeClr val="tx1"/>
                </a:solidFill>
              </a:rPr>
              <a:t>단위 수가 빨리 는다. 하루 3번 오면 세션 3개</a:t>
            </a:r>
            <a:endParaRPr lang="en-US" sz="1500" dirty="0"/>
          </a:p>
          <a:p>
            <a:pPr indent="0" marL="0">
              <a:spcAft>
                <a:spcPts val="1400"/>
              </a:spcAft>
              <a:buNone/>
            </a:pPr>
            <a:r>
              <a:rPr lang="en-US" sz="1500" dirty="0">
                <a:solidFill>
                  <a:schemeClr val="tx1"/>
                </a:solidFill>
              </a:rPr>
              <a:t>영구적인 사용자 ID에 덜 의존한다</a:t>
            </a:r>
            <a:endParaRPr lang="en-US" sz="1500" dirty="0"/>
          </a:p>
          <a:p>
            <a:pPr indent="0" marL="0">
              <a:buNone/>
            </a:pPr>
            <a:r>
              <a:rPr lang="en-US" sz="2000" b="1" dirty="0">
                <a:solidFill>
                  <a:schemeClr val="accent4"/>
                </a:solidFill>
              </a:rPr>
              <a:t>주의</a:t>
            </a:r>
            <a:endParaRPr lang="en-US" sz="1500" dirty="0"/>
          </a:p>
          <a:p>
            <a:pPr indent="0" marL="0">
              <a:spcAft>
                <a:spcPts val="400"/>
              </a:spcAft>
              <a:buNone/>
            </a:pPr>
            <a:r>
              <a:rPr lang="en-US" sz="1500" dirty="0">
                <a:solidFill>
                  <a:schemeClr val="tx1"/>
                </a:solidFill>
              </a:rPr>
              <a:t>결론이 '평균적인 세션'에 대한 것이 된다</a:t>
            </a:r>
            <a:endParaRPr lang="en-US" sz="1500" dirty="0"/>
          </a:p>
          <a:p>
            <a:pPr indent="0" marL="0">
              <a:spcAft>
                <a:spcPts val="400"/>
              </a:spcAft>
              <a:buNone/>
            </a:pPr>
            <a:r>
              <a:rPr lang="en-US" sz="1500" dirty="0">
                <a:solidFill>
                  <a:schemeClr val="tx1"/>
                </a:solidFill>
              </a:rPr>
              <a:t>이월 효과: 앞 세션의 B 경험이 뒤 세션 A 성과로 섞인다</a:t>
            </a:r>
            <a:endParaRPr lang="en-US" sz="1500" dirty="0"/>
          </a:p>
          <a:p>
            <a:pPr indent="0" marL="0">
              <a:buNone/>
            </a:pPr>
            <a:r>
              <a:rPr lang="en-US" sz="1500" dirty="0">
                <a:solidFill>
                  <a:schemeClr val="tx1"/>
                </a:solidFill>
              </a:rPr>
              <a:t>세션마다 화면이 바뀌어도 괜찮은 기능인지 확인한다</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전체 영향 보고 = 트리거 효과 × 트리거 비율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틀리는 두 가지 방식</a:t>
            </a:r>
            <a:endParaRPr lang="en-US" sz="2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α와 Power</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α와 Power를 엄격하게 잡을수록 실험은 길어진다</a:t>
            </a:r>
            <a:endParaRPr lang="en-US" sz="2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583680" cy="914400"/>
        </p:xfrm>
        <a:graphic>
          <a:graphicData uri="http://schemas.openxmlformats.org/drawingml/2006/table">
            <a:tbl>
              <a:tblPr/>
              <a:tblGrid>
                <a:gridCol w="1463040"/>
                <a:gridCol w="3566160"/>
                <a:gridCol w="1554480"/>
              </a:tblGrid>
              <a:tr h="512064">
                <a:tc>
                  <a:txBody>
                    <a:bodyPr/>
                    <a:lstStyle/>
                    <a:p>
                      <a:pPr indent="0" marL="0">
                        <a:buNone/>
                      </a:pPr>
                      <a:r>
                        <a:rPr lang="en-US" sz="1400" b="1" dirty="0">
                          <a:solidFill>
                            <a:srgbClr val="555C7A"/>
                          </a:solidFill>
                        </a:rPr>
                        <a:t>설계 변경</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의미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필요한 표본 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False Positive를 더 엄격하게 막는다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효과 있다고 판단하기 쉬워진다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줄인다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더 허용한다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680960" y="1783080"/>
            <a:ext cx="3840480" cy="411480"/>
          </a:xfrm>
          <a:prstGeom prst="rect">
            <a:avLst/>
          </a:prstGeom>
          <a:noFill/>
          <a:ln/>
        </p:spPr>
        <p:txBody>
          <a:bodyPr wrap="square" lIns="0" tIns="0" rIns="0" bIns="0" rtlCol="0" anchor="t"/>
          <a:lstStyle/>
          <a:p>
            <a:pPr indent="0" marL="0">
              <a:buNone/>
            </a:pPr>
            <a:r>
              <a:rPr lang="en-US" sz="2000" b="1" dirty="0">
                <a:solidFill>
                  <a:schemeClr val="tx1"/>
                </a:solidFill>
              </a:rPr>
              <a:t>α · Power 결정</a:t>
            </a:r>
            <a:endParaRPr lang="en-US" sz="2000" dirty="0"/>
          </a:p>
        </p:txBody>
      </p:sp>
      <p:sp>
        <p:nvSpPr>
          <p:cNvPr id="7" name="Text 3"/>
          <p:cNvSpPr txBox="1"/>
          <p:nvPr/>
        </p:nvSpPr>
        <p:spPr>
          <a:xfrm>
            <a:off x="7680960" y="216712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8" name="Text 4"/>
          <p:cNvSpPr txBox="1"/>
          <p:nvPr/>
        </p:nvSpPr>
        <p:spPr>
          <a:xfrm>
            <a:off x="7680960" y="2560320"/>
            <a:ext cx="3840480" cy="411480"/>
          </a:xfrm>
          <a:prstGeom prst="rect">
            <a:avLst/>
          </a:prstGeom>
          <a:noFill/>
          <a:ln/>
        </p:spPr>
        <p:txBody>
          <a:bodyPr wrap="square" lIns="0" tIns="0" rIns="0" bIns="0" rtlCol="0" anchor="t"/>
          <a:lstStyle/>
          <a:p>
            <a:pPr indent="0" marL="0">
              <a:buNone/>
            </a:pPr>
            <a:r>
              <a:rPr lang="en-US" sz="2000" b="1" dirty="0">
                <a:solidFill>
                  <a:schemeClr val="tx1"/>
                </a:solidFill>
              </a:rPr>
              <a:t>필요한 표본 수</a:t>
            </a:r>
            <a:endParaRPr lang="en-US" sz="2000" dirty="0"/>
          </a:p>
        </p:txBody>
      </p:sp>
      <p:sp>
        <p:nvSpPr>
          <p:cNvPr id="9" name="Text 5"/>
          <p:cNvSpPr txBox="1"/>
          <p:nvPr/>
        </p:nvSpPr>
        <p:spPr>
          <a:xfrm>
            <a:off x="7680960" y="294436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0" name="Text 6"/>
          <p:cNvSpPr txBox="1"/>
          <p:nvPr/>
        </p:nvSpPr>
        <p:spPr>
          <a:xfrm>
            <a:off x="7680960" y="3337560"/>
            <a:ext cx="3840480" cy="411480"/>
          </a:xfrm>
          <a:prstGeom prst="rect">
            <a:avLst/>
          </a:prstGeom>
          <a:noFill/>
          <a:ln/>
        </p:spPr>
        <p:txBody>
          <a:bodyPr wrap="square" lIns="0" tIns="0" rIns="0" bIns="0" rtlCol="0" anchor="t"/>
          <a:lstStyle/>
          <a:p>
            <a:pPr indent="0" marL="0">
              <a:buNone/>
            </a:pPr>
            <a:r>
              <a:rPr lang="en-US" sz="2000" b="1" dirty="0">
                <a:solidFill>
                  <a:schemeClr val="tx1"/>
                </a:solidFill>
              </a:rPr>
              <a:t>서비스 트래픽과 결합</a:t>
            </a:r>
            <a:endParaRPr lang="en-US" sz="2000" dirty="0"/>
          </a:p>
        </p:txBody>
      </p:sp>
      <p:sp>
        <p:nvSpPr>
          <p:cNvPr id="11" name="Text 7"/>
          <p:cNvSpPr txBox="1"/>
          <p:nvPr/>
        </p:nvSpPr>
        <p:spPr>
          <a:xfrm>
            <a:off x="7680960" y="372160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2" name="Text 8"/>
          <p:cNvSpPr txBox="1"/>
          <p:nvPr/>
        </p:nvSpPr>
        <p:spPr>
          <a:xfrm>
            <a:off x="7680960" y="4114800"/>
            <a:ext cx="3840480" cy="411480"/>
          </a:xfrm>
          <a:prstGeom prst="rect">
            <a:avLst/>
          </a:prstGeom>
          <a:noFill/>
          <a:ln/>
        </p:spPr>
        <p:txBody>
          <a:bodyPr wrap="square" lIns="0" tIns="0" rIns="0" bIns="0" rtlCol="0" anchor="t"/>
          <a:lstStyle/>
          <a:p>
            <a:pPr indent="0" marL="0">
              <a:buNone/>
            </a:pPr>
            <a:r>
              <a:rPr lang="en-US" sz="2000" b="1" dirty="0">
                <a:solidFill>
                  <a:schemeClr val="accent1"/>
                </a:solidFill>
              </a:rPr>
              <a:t>실험 기간</a:t>
            </a:r>
            <a:endParaRPr lang="en-US" sz="2000" dirty="0"/>
          </a:p>
        </p:txBody>
      </p:sp>
      <p:sp>
        <p:nvSpPr>
          <p:cNvPr id="13" name="Text 9"/>
          <p:cNvSpPr txBox="1"/>
          <p:nvPr/>
        </p:nvSpPr>
        <p:spPr>
          <a:xfrm>
            <a:off x="640080" y="4663440"/>
            <a:ext cx="6766560" cy="11887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두 실수의 비용을 비교한다</a:t>
            </a:r>
            <a:endParaRPr lang="en-US" sz="1500" dirty="0"/>
          </a:p>
          <a:p>
            <a:pPr marL="342900" indent="-342900">
              <a:spcAft>
                <a:spcPts val="400"/>
              </a:spcAft>
              <a:buSzPct val="100000"/>
              <a:buChar char="•"/>
            </a:pPr>
            <a:r>
              <a:rPr lang="en-US" sz="1500" dirty="0">
                <a:solidFill>
                  <a:schemeClr val="tx1"/>
                </a:solidFill>
              </a:rPr>
              <a:t>False Positive: 효과 없는 기능을 배포하면 얼마나 큰 문제가 생기나?</a:t>
            </a:r>
            <a:endParaRPr lang="en-US" sz="1500" dirty="0"/>
          </a:p>
          <a:p>
            <a:pPr marL="342900" indent="-342900">
              <a:spcAft>
                <a:spcPts val="400"/>
              </a:spcAft>
              <a:buSzPct val="100000"/>
              <a:buChar char="•"/>
            </a:pPr>
            <a:r>
              <a:rPr lang="en-US" sz="1500" dirty="0">
                <a:solidFill>
                  <a:schemeClr val="tx1"/>
                </a:solidFill>
              </a:rPr>
              <a:t>False Negative: 좋은 기능을 버리면 얼마나 큰 기회를 잃나?</a:t>
            </a:r>
            <a:endParaRPr lang="en-US" sz="1500" dirty="0"/>
          </a:p>
        </p:txBody>
      </p:sp>
      <p:sp>
        <p:nvSpPr>
          <p:cNvPr id="14" name="Text 10"/>
          <p:cNvSpPr txBox="1"/>
          <p:nvPr/>
        </p:nvSpPr>
        <p:spPr>
          <a:xfrm>
            <a:off x="7680960" y="4937760"/>
            <a:ext cx="3886200" cy="457200"/>
          </a:xfrm>
          <a:prstGeom prst="rect">
            <a:avLst/>
          </a:prstGeom>
          <a:noFill/>
          <a:ln/>
        </p:spPr>
        <p:txBody>
          <a:bodyPr wrap="square" lIns="0" tIns="0" rIns="0" bIns="0" rtlCol="0" anchor="t"/>
          <a:lstStyle/>
          <a:p>
            <a:pPr indent="0" marL="0">
              <a:buNone/>
            </a:pPr>
            <a:r>
              <a:rPr lang="en-US" sz="1500" dirty="0">
                <a:solidFill>
                  <a:schemeClr val="tx2"/>
                </a:solidFill>
              </a:rPr>
              <a:t>예: 하루 10,000명, 필요 표본 140,000명 → 약 14일</a:t>
            </a:r>
            <a:endParaRPr lang="en-US" sz="1500" dirty="0"/>
          </a:p>
        </p:txBody>
      </p:sp>
      <p:sp>
        <p:nvSpPr>
          <p:cNvPr id="15"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MDE 정하기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MDE는 통계가 아니라 비즈니스가 정한다</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Baseline CVR 10% · MDE +1%p · Power 80%  </a:t>
            </a:r>
            <a:pPr indent="0" marL="0">
              <a:buNone/>
            </a:pPr>
            <a:r>
              <a:rPr lang="en-US" sz="1500" dirty="0">
                <a:solidFill>
                  <a:schemeClr val="tx1"/>
                </a:solidFill>
              </a:rPr>
              <a:t>→ 10%가 11%로 바뀌는 변화가 실제로 있을 때 80% 확률로 잡도록 설계한다</a:t>
            </a:r>
            <a:endParaRPr lang="en-US" sz="1500" dirty="0"/>
          </a:p>
        </p:txBody>
      </p:sp>
      <p:sp>
        <p:nvSpPr>
          <p:cNvPr id="6" name="Text 3"/>
          <p:cNvSpPr txBox="1"/>
          <p:nvPr/>
        </p:nvSpPr>
        <p:spPr>
          <a:xfrm>
            <a:off x="640080" y="2194560"/>
            <a:ext cx="10911535" cy="365760"/>
          </a:xfrm>
          <a:prstGeom prst="rect">
            <a:avLst/>
          </a:prstGeom>
          <a:noFill/>
          <a:ln/>
        </p:spPr>
        <p:txBody>
          <a:bodyPr wrap="square" lIns="0" tIns="0" rIns="0" bIns="0" rtlCol="0" anchor="t"/>
          <a:lstStyle/>
          <a:p>
            <a:pPr indent="0" marL="0">
              <a:buNone/>
            </a:pPr>
            <a:r>
              <a:rPr lang="en-US" sz="1400" dirty="0">
                <a:solidFill>
                  <a:schemeClr val="tx2"/>
                </a:solidFill>
              </a:rPr>
              <a:t>MDE보다 작은 효과가 절대 유의하게 나오지 않는다는 뜻은 아닙니다</a:t>
            </a:r>
            <a:endParaRPr lang="en-US" sz="1400" dirty="0"/>
          </a:p>
        </p:txBody>
      </p:sp>
      <p:sp>
        <p:nvSpPr>
          <p:cNvPr id="7" name="Text 4"/>
          <p:cNvSpPr txBox="1"/>
          <p:nvPr/>
        </p:nvSpPr>
        <p:spPr>
          <a:xfrm>
            <a:off x="640080" y="2834640"/>
            <a:ext cx="3429000" cy="1554480"/>
          </a:xfrm>
          <a:prstGeom prst="rect">
            <a:avLst/>
          </a:prstGeom>
          <a:noFill/>
          <a:ln/>
        </p:spPr>
        <p:txBody>
          <a:bodyPr wrap="square" lIns="0" tIns="0" rIns="0" bIns="0" rtlCol="0" anchor="t"/>
          <a:lstStyle/>
          <a:p>
            <a:pPr indent="0" marL="0">
              <a:buNone/>
            </a:pPr>
            <a:r>
              <a:rPr lang="en-US" sz="2000" b="1" dirty="0">
                <a:solidFill>
                  <a:schemeClr val="accent5"/>
                </a:solidFill>
              </a:rPr>
              <a:t>Overpowered</a:t>
            </a:r>
            <a:endParaRPr lang="en-US" sz="1500" dirty="0"/>
          </a:p>
          <a:p>
            <a:pPr indent="0" marL="0">
              <a:spcAft>
                <a:spcPts val="600"/>
              </a:spcAft>
              <a:buNone/>
            </a:pPr>
            <a:r>
              <a:rPr lang="en-US" sz="1500" dirty="0">
                <a:solidFill>
                  <a:schemeClr val="tx1"/>
                </a:solidFill>
              </a:rPr>
              <a:t>MDE를 너무 작게: 0.5%</a:t>
            </a:r>
            <a:endParaRPr lang="en-US" sz="1500" dirty="0"/>
          </a:p>
          <a:p>
            <a:pPr indent="0" marL="0">
              <a:buNone/>
            </a:pPr>
            <a:r>
              <a:rPr lang="en-US" sz="1400" dirty="0">
                <a:solidFill>
                  <a:schemeClr val="tx2"/>
                </a:solidFill>
              </a:rPr>
              <a:t>5%는 올라야 의미 있는데 0.5%까지 잡으려고 표본과 시간을 낭비한다</a:t>
            </a:r>
            <a:endParaRPr lang="en-US" sz="1500" dirty="0"/>
          </a:p>
        </p:txBody>
      </p:sp>
      <p:sp>
        <p:nvSpPr>
          <p:cNvPr id="8" name="Text 5"/>
          <p:cNvSpPr txBox="1"/>
          <p:nvPr/>
        </p:nvSpPr>
        <p:spPr>
          <a:xfrm>
            <a:off x="4343400" y="2834640"/>
            <a:ext cx="3429000" cy="1554480"/>
          </a:xfrm>
          <a:prstGeom prst="rect">
            <a:avLst/>
          </a:prstGeom>
          <a:noFill/>
          <a:ln/>
        </p:spPr>
        <p:txBody>
          <a:bodyPr wrap="square" lIns="0" tIns="0" rIns="0" bIns="0" rtlCol="0" anchor="t"/>
          <a:lstStyle/>
          <a:p>
            <a:pPr indent="0" marL="0">
              <a:buNone/>
            </a:pPr>
            <a:r>
              <a:rPr lang="en-US" sz="2000" b="1" dirty="0">
                <a:solidFill>
                  <a:schemeClr val="accent1"/>
                </a:solidFill>
              </a:rPr>
              <a:t>적절한 MDE</a:t>
            </a:r>
            <a:endParaRPr lang="en-US" sz="1500" dirty="0"/>
          </a:p>
          <a:p>
            <a:pPr indent="0" marL="0">
              <a:spcAft>
                <a:spcPts val="600"/>
              </a:spcAft>
              <a:buNone/>
            </a:pPr>
            <a:r>
              <a:rPr lang="en-US" sz="1500" dirty="0">
                <a:solidFill>
                  <a:schemeClr val="tx1"/>
                </a:solidFill>
              </a:rPr>
              <a:t>도입할 가치가 있는 최소 효과</a:t>
            </a:r>
            <a:endParaRPr lang="en-US" sz="1500" dirty="0"/>
          </a:p>
          <a:p>
            <a:pPr indent="0" marL="0">
              <a:buNone/>
            </a:pPr>
            <a:r>
              <a:rPr lang="en-US" sz="1400" dirty="0">
                <a:solidFill>
                  <a:schemeClr val="tx2"/>
                </a:solidFill>
              </a:rPr>
              <a:t>구현·운영 비용, 리스크, 기대 효과를 놓고 ROI로 정한다</a:t>
            </a:r>
            <a:endParaRPr lang="en-US" sz="1500" dirty="0"/>
          </a:p>
        </p:txBody>
      </p:sp>
      <p:sp>
        <p:nvSpPr>
          <p:cNvPr id="9" name="Text 6"/>
          <p:cNvSpPr txBox="1"/>
          <p:nvPr/>
        </p:nvSpPr>
        <p:spPr>
          <a:xfrm>
            <a:off x="8046720" y="2834640"/>
            <a:ext cx="3429000" cy="1554480"/>
          </a:xfrm>
          <a:prstGeom prst="rect">
            <a:avLst/>
          </a:prstGeom>
          <a:noFill/>
          <a:ln/>
        </p:spPr>
        <p:txBody>
          <a:bodyPr wrap="square" lIns="0" tIns="0" rIns="0" bIns="0" rtlCol="0" anchor="t"/>
          <a:lstStyle/>
          <a:p>
            <a:pPr indent="0" marL="0">
              <a:buNone/>
            </a:pPr>
            <a:r>
              <a:rPr lang="en-US" sz="2000" b="1" dirty="0">
                <a:solidFill>
                  <a:schemeClr val="accent4"/>
                </a:solidFill>
              </a:rPr>
              <a:t>Underpowered</a:t>
            </a:r>
            <a:endParaRPr lang="en-US" sz="1500" dirty="0"/>
          </a:p>
          <a:p>
            <a:pPr indent="0" marL="0">
              <a:spcAft>
                <a:spcPts val="600"/>
              </a:spcAft>
              <a:buNone/>
            </a:pPr>
            <a:r>
              <a:rPr lang="en-US" sz="1500" dirty="0">
                <a:solidFill>
                  <a:schemeClr val="tx1"/>
                </a:solidFill>
              </a:rPr>
              <a:t>MDE를 너무 크게: 50%</a:t>
            </a:r>
            <a:endParaRPr lang="en-US" sz="1500" dirty="0"/>
          </a:p>
          <a:p>
            <a:pPr indent="0" marL="0">
              <a:buNone/>
            </a:pPr>
            <a:r>
              <a:rPr lang="en-US" sz="1400" dirty="0">
                <a:solidFill>
                  <a:schemeClr val="tx2"/>
                </a:solidFill>
              </a:rPr>
              <a:t>실제로 20~30% 개선이 있어도 안정적으로 잡지 못한다</a:t>
            </a:r>
            <a:endParaRPr lang="en-US" sz="1500" dirty="0"/>
          </a:p>
        </p:txBody>
      </p:sp>
      <p:sp>
        <p:nvSpPr>
          <p:cNvPr id="10" name="Text 7"/>
          <p:cNvSpPr txBox="1"/>
          <p:nvPr/>
        </p:nvSpPr>
        <p:spPr>
          <a:xfrm>
            <a:off x="640080" y="4800600"/>
            <a:ext cx="1463040" cy="457200"/>
          </a:xfrm>
          <a:prstGeom prst="rect">
            <a:avLst/>
          </a:prstGeom>
          <a:noFill/>
          <a:ln/>
        </p:spPr>
        <p:txBody>
          <a:bodyPr wrap="square" lIns="0" tIns="0" rIns="0" bIns="0" rtlCol="0" anchor="t"/>
          <a:lstStyle/>
          <a:p>
            <a:pPr indent="0" marL="0">
              <a:buNone/>
            </a:pPr>
            <a:r>
              <a:rPr lang="en-US" sz="1500" b="1" dirty="0">
                <a:solidFill>
                  <a:schemeClr val="accent1"/>
                </a:solidFill>
              </a:rPr>
              <a:t>의미 있는 효과</a:t>
            </a:r>
            <a:endParaRPr lang="en-US" sz="1500" dirty="0"/>
          </a:p>
        </p:txBody>
      </p:sp>
      <p:sp>
        <p:nvSpPr>
          <p:cNvPr id="11" name="Shape 8"/>
          <p:cNvSpPr/>
          <p:nvPr/>
        </p:nvSpPr>
        <p:spPr>
          <a:xfrm>
            <a:off x="2011680" y="4983480"/>
            <a:ext cx="365760" cy="0"/>
          </a:xfrm>
          <a:prstGeom prst="line">
            <a:avLst/>
          </a:prstGeom>
          <a:noFill/>
          <a:ln w="19050">
            <a:solidFill>
              <a:srgbClr val="8A90A8"/>
            </a:solidFill>
            <a:prstDash val="solid"/>
            <a:tailEnd type="triangle"/>
          </a:ln>
        </p:spPr>
      </p:sp>
      <p:sp>
        <p:nvSpPr>
          <p:cNvPr id="12" name="Text 9"/>
          <p:cNvSpPr txBox="1"/>
          <p:nvPr/>
        </p:nvSpPr>
        <p:spPr>
          <a:xfrm>
            <a:off x="24688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MDE</a:t>
            </a:r>
            <a:endParaRPr lang="en-US" sz="1500" dirty="0"/>
          </a:p>
        </p:txBody>
      </p:sp>
      <p:sp>
        <p:nvSpPr>
          <p:cNvPr id="13" name="Shape 10"/>
          <p:cNvSpPr/>
          <p:nvPr/>
        </p:nvSpPr>
        <p:spPr>
          <a:xfrm>
            <a:off x="3840480" y="4983480"/>
            <a:ext cx="365760" cy="0"/>
          </a:xfrm>
          <a:prstGeom prst="line">
            <a:avLst/>
          </a:prstGeom>
          <a:noFill/>
          <a:ln w="19050">
            <a:solidFill>
              <a:srgbClr val="8A90A8"/>
            </a:solidFill>
            <a:prstDash val="solid"/>
            <a:tailEnd type="triangle"/>
          </a:ln>
        </p:spPr>
      </p:sp>
      <p:sp>
        <p:nvSpPr>
          <p:cNvPr id="14" name="Text 11"/>
          <p:cNvSpPr txBox="1"/>
          <p:nvPr/>
        </p:nvSpPr>
        <p:spPr>
          <a:xfrm>
            <a:off x="42976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α · Power</a:t>
            </a:r>
            <a:endParaRPr lang="en-US" sz="1500" dirty="0"/>
          </a:p>
        </p:txBody>
      </p:sp>
      <p:sp>
        <p:nvSpPr>
          <p:cNvPr id="15" name="Shape 12"/>
          <p:cNvSpPr/>
          <p:nvPr/>
        </p:nvSpPr>
        <p:spPr>
          <a:xfrm>
            <a:off x="5669280" y="4983480"/>
            <a:ext cx="365760" cy="0"/>
          </a:xfrm>
          <a:prstGeom prst="line">
            <a:avLst/>
          </a:prstGeom>
          <a:noFill/>
          <a:ln w="19050">
            <a:solidFill>
              <a:srgbClr val="8A90A8"/>
            </a:solidFill>
            <a:prstDash val="solid"/>
            <a:tailEnd type="triangle"/>
          </a:ln>
        </p:spPr>
      </p:sp>
      <p:sp>
        <p:nvSpPr>
          <p:cNvPr id="16" name="Text 13"/>
          <p:cNvSpPr txBox="1"/>
          <p:nvPr/>
        </p:nvSpPr>
        <p:spPr>
          <a:xfrm>
            <a:off x="61264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필요 표본 수</a:t>
            </a:r>
            <a:endParaRPr lang="en-US" sz="1500" dirty="0"/>
          </a:p>
        </p:txBody>
      </p:sp>
      <p:sp>
        <p:nvSpPr>
          <p:cNvPr id="17" name="Shape 14"/>
          <p:cNvSpPr/>
          <p:nvPr/>
        </p:nvSpPr>
        <p:spPr>
          <a:xfrm>
            <a:off x="7498080" y="4983480"/>
            <a:ext cx="365760" cy="0"/>
          </a:xfrm>
          <a:prstGeom prst="line">
            <a:avLst/>
          </a:prstGeom>
          <a:noFill/>
          <a:ln w="19050">
            <a:solidFill>
              <a:srgbClr val="8A90A8"/>
            </a:solidFill>
            <a:prstDash val="solid"/>
            <a:tailEnd type="triangle"/>
          </a:ln>
        </p:spPr>
      </p:sp>
      <p:sp>
        <p:nvSpPr>
          <p:cNvPr id="18" name="Text 15"/>
          <p:cNvSpPr txBox="1"/>
          <p:nvPr/>
        </p:nvSpPr>
        <p:spPr>
          <a:xfrm>
            <a:off x="79552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트래픽</a:t>
            </a:r>
            <a:endParaRPr lang="en-US" sz="1500" dirty="0"/>
          </a:p>
        </p:txBody>
      </p:sp>
      <p:sp>
        <p:nvSpPr>
          <p:cNvPr id="19" name="Shape 16"/>
          <p:cNvSpPr/>
          <p:nvPr/>
        </p:nvSpPr>
        <p:spPr>
          <a:xfrm>
            <a:off x="9326880" y="4983480"/>
            <a:ext cx="365760" cy="0"/>
          </a:xfrm>
          <a:prstGeom prst="line">
            <a:avLst/>
          </a:prstGeom>
          <a:noFill/>
          <a:ln w="19050">
            <a:solidFill>
              <a:srgbClr val="8A90A8"/>
            </a:solidFill>
            <a:prstDash val="solid"/>
            <a:tailEnd type="triangle"/>
          </a:ln>
        </p:spPr>
      </p:sp>
      <p:sp>
        <p:nvSpPr>
          <p:cNvPr id="20" name="Text 17"/>
          <p:cNvSpPr txBox="1"/>
          <p:nvPr/>
        </p:nvSpPr>
        <p:spPr>
          <a:xfrm>
            <a:off x="97840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실험 기간</a:t>
            </a:r>
            <a:endParaRPr lang="en-US" sz="1500" dirty="0"/>
          </a:p>
        </p:txBody>
      </p:sp>
      <p:sp>
        <p:nvSpPr>
          <p:cNvPr id="21" name="Text 18"/>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기간부터 정하고 MDE를 역으로 맞추지 않는다</a:t>
            </a:r>
            <a:endParaRPr lang="en-US" sz="1400" dirty="0"/>
          </a:p>
        </p:txBody>
      </p:sp>
      <p:sp>
        <p:nvSpPr>
          <p:cNvPr id="22" name="Text 1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배정 비율</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50:50이 가장 효율적이고, 90:10은 위험 관리용이다</a:t>
            </a:r>
            <a:endParaRPr lang="en-US" sz="2000" dirty="0"/>
          </a:p>
        </p:txBody>
      </p:sp>
      <p:sp>
        <p:nvSpPr>
          <p:cNvPr id="5" name="Text 2"/>
          <p:cNvSpPr txBox="1"/>
          <p:nvPr/>
        </p:nvSpPr>
        <p:spPr>
          <a:xfrm>
            <a:off x="640080" y="1874520"/>
            <a:ext cx="1463040" cy="365760"/>
          </a:xfrm>
          <a:prstGeom prst="rect">
            <a:avLst/>
          </a:prstGeom>
          <a:noFill/>
          <a:ln/>
        </p:spPr>
        <p:txBody>
          <a:bodyPr wrap="square" lIns="0" tIns="0" rIns="0" bIns="0" rtlCol="0" anchor="t"/>
          <a:lstStyle/>
          <a:p>
            <a:pPr indent="0" marL="0">
              <a:buNone/>
            </a:pPr>
            <a:r>
              <a:rPr lang="en-US" sz="2000" b="1" dirty="0">
                <a:solidFill>
                  <a:schemeClr val="tx1"/>
                </a:solidFill>
              </a:rPr>
              <a:t>50 : 50</a:t>
            </a:r>
            <a:endParaRPr lang="en-US" sz="2000" dirty="0"/>
          </a:p>
        </p:txBody>
      </p:sp>
      <p:sp>
        <p:nvSpPr>
          <p:cNvPr id="6" name="Shape 3"/>
          <p:cNvSpPr/>
          <p:nvPr/>
        </p:nvSpPr>
        <p:spPr>
          <a:xfrm>
            <a:off x="2194560" y="1920240"/>
            <a:ext cx="182880" cy="182880"/>
          </a:xfrm>
          <a:prstGeom prst="ellipse">
            <a:avLst/>
          </a:prstGeom>
          <a:solidFill>
            <a:srgbClr val="3A5BFF"/>
          </a:solidFill>
          <a:ln w="12700">
            <a:solidFill>
              <a:srgbClr val="3A5BFF"/>
            </a:solidFill>
            <a:prstDash val="solid"/>
          </a:ln>
        </p:spPr>
      </p:sp>
      <p:sp>
        <p:nvSpPr>
          <p:cNvPr id="7" name="Shape 4"/>
          <p:cNvSpPr/>
          <p:nvPr/>
        </p:nvSpPr>
        <p:spPr>
          <a:xfrm>
            <a:off x="2487168" y="1920240"/>
            <a:ext cx="182880" cy="182880"/>
          </a:xfrm>
          <a:prstGeom prst="ellipse">
            <a:avLst/>
          </a:prstGeom>
          <a:solidFill>
            <a:srgbClr val="3A5BFF"/>
          </a:solidFill>
          <a:ln w="12700">
            <a:solidFill>
              <a:srgbClr val="3A5BFF"/>
            </a:solidFill>
            <a:prstDash val="solid"/>
          </a:ln>
        </p:spPr>
      </p:sp>
      <p:sp>
        <p:nvSpPr>
          <p:cNvPr id="8" name="Shape 5"/>
          <p:cNvSpPr/>
          <p:nvPr/>
        </p:nvSpPr>
        <p:spPr>
          <a:xfrm>
            <a:off x="2779776" y="1920240"/>
            <a:ext cx="182880" cy="182880"/>
          </a:xfrm>
          <a:prstGeom prst="ellipse">
            <a:avLst/>
          </a:prstGeom>
          <a:solidFill>
            <a:srgbClr val="3A5BFF"/>
          </a:solidFill>
          <a:ln w="12700">
            <a:solidFill>
              <a:srgbClr val="3A5BFF"/>
            </a:solidFill>
            <a:prstDash val="solid"/>
          </a:ln>
        </p:spPr>
      </p:sp>
      <p:sp>
        <p:nvSpPr>
          <p:cNvPr id="9" name="Shape 6"/>
          <p:cNvSpPr/>
          <p:nvPr/>
        </p:nvSpPr>
        <p:spPr>
          <a:xfrm>
            <a:off x="3072384" y="1920240"/>
            <a:ext cx="182880" cy="182880"/>
          </a:xfrm>
          <a:prstGeom prst="ellipse">
            <a:avLst/>
          </a:prstGeom>
          <a:solidFill>
            <a:srgbClr val="3A5BFF"/>
          </a:solidFill>
          <a:ln w="12700">
            <a:solidFill>
              <a:srgbClr val="3A5BFF"/>
            </a:solidFill>
            <a:prstDash val="solid"/>
          </a:ln>
        </p:spPr>
      </p:sp>
      <p:sp>
        <p:nvSpPr>
          <p:cNvPr id="10" name="Shape 7"/>
          <p:cNvSpPr/>
          <p:nvPr/>
        </p:nvSpPr>
        <p:spPr>
          <a:xfrm>
            <a:off x="3364992" y="1920240"/>
            <a:ext cx="182880" cy="182880"/>
          </a:xfrm>
          <a:prstGeom prst="ellipse">
            <a:avLst/>
          </a:prstGeom>
          <a:solidFill>
            <a:srgbClr val="3A5BFF"/>
          </a:solidFill>
          <a:ln w="12700">
            <a:solidFill>
              <a:srgbClr val="3A5BFF"/>
            </a:solidFill>
            <a:prstDash val="solid"/>
          </a:ln>
        </p:spPr>
      </p:sp>
      <p:sp>
        <p:nvSpPr>
          <p:cNvPr id="11" name="Shape 8"/>
          <p:cNvSpPr/>
          <p:nvPr/>
        </p:nvSpPr>
        <p:spPr>
          <a:xfrm>
            <a:off x="3657600" y="1920240"/>
            <a:ext cx="182880" cy="182880"/>
          </a:xfrm>
          <a:prstGeom prst="ellipse">
            <a:avLst/>
          </a:prstGeom>
          <a:solidFill>
            <a:srgbClr val="3A5BFF"/>
          </a:solidFill>
          <a:ln w="12700">
            <a:solidFill>
              <a:srgbClr val="3A5BFF"/>
            </a:solidFill>
            <a:prstDash val="solid"/>
          </a:ln>
        </p:spPr>
      </p:sp>
      <p:sp>
        <p:nvSpPr>
          <p:cNvPr id="12" name="Shape 9"/>
          <p:cNvSpPr/>
          <p:nvPr/>
        </p:nvSpPr>
        <p:spPr>
          <a:xfrm>
            <a:off x="3950208" y="1920240"/>
            <a:ext cx="182880" cy="182880"/>
          </a:xfrm>
          <a:prstGeom prst="ellipse">
            <a:avLst/>
          </a:prstGeom>
          <a:solidFill>
            <a:srgbClr val="3A5BFF"/>
          </a:solidFill>
          <a:ln w="12700">
            <a:solidFill>
              <a:srgbClr val="3A5BFF"/>
            </a:solidFill>
            <a:prstDash val="solid"/>
          </a:ln>
        </p:spPr>
      </p:sp>
      <p:sp>
        <p:nvSpPr>
          <p:cNvPr id="13" name="Shape 10"/>
          <p:cNvSpPr/>
          <p:nvPr/>
        </p:nvSpPr>
        <p:spPr>
          <a:xfrm>
            <a:off x="4242816" y="1920240"/>
            <a:ext cx="182880" cy="182880"/>
          </a:xfrm>
          <a:prstGeom prst="ellipse">
            <a:avLst/>
          </a:prstGeom>
          <a:solidFill>
            <a:srgbClr val="3A5BFF"/>
          </a:solidFill>
          <a:ln w="12700">
            <a:solidFill>
              <a:srgbClr val="3A5BFF"/>
            </a:solidFill>
            <a:prstDash val="solid"/>
          </a:ln>
        </p:spPr>
      </p:sp>
      <p:sp>
        <p:nvSpPr>
          <p:cNvPr id="14" name="Shape 11"/>
          <p:cNvSpPr/>
          <p:nvPr/>
        </p:nvSpPr>
        <p:spPr>
          <a:xfrm>
            <a:off x="4535424" y="1920240"/>
            <a:ext cx="182880" cy="182880"/>
          </a:xfrm>
          <a:prstGeom prst="ellipse">
            <a:avLst/>
          </a:prstGeom>
          <a:solidFill>
            <a:srgbClr val="3A5BFF"/>
          </a:solidFill>
          <a:ln w="12700">
            <a:solidFill>
              <a:srgbClr val="3A5BFF"/>
            </a:solidFill>
            <a:prstDash val="solid"/>
          </a:ln>
        </p:spPr>
      </p:sp>
      <p:sp>
        <p:nvSpPr>
          <p:cNvPr id="15" name="Shape 12"/>
          <p:cNvSpPr/>
          <p:nvPr/>
        </p:nvSpPr>
        <p:spPr>
          <a:xfrm>
            <a:off x="4828032" y="1920240"/>
            <a:ext cx="182880" cy="182880"/>
          </a:xfrm>
          <a:prstGeom prst="ellipse">
            <a:avLst/>
          </a:prstGeom>
          <a:solidFill>
            <a:srgbClr val="3A5BFF"/>
          </a:solidFill>
          <a:ln w="12700">
            <a:solidFill>
              <a:srgbClr val="3A5BFF"/>
            </a:solidFill>
            <a:prstDash val="solid"/>
          </a:ln>
        </p:spPr>
      </p:sp>
      <p:sp>
        <p:nvSpPr>
          <p:cNvPr id="16" name="Shape 13"/>
          <p:cNvSpPr/>
          <p:nvPr/>
        </p:nvSpPr>
        <p:spPr>
          <a:xfrm>
            <a:off x="5120640" y="1920240"/>
            <a:ext cx="182880" cy="182880"/>
          </a:xfrm>
          <a:prstGeom prst="ellipse">
            <a:avLst/>
          </a:prstGeom>
          <a:solidFill>
            <a:srgbClr val="0E9C9C"/>
          </a:solidFill>
          <a:ln w="12700">
            <a:solidFill>
              <a:srgbClr val="0E9C9C"/>
            </a:solidFill>
            <a:prstDash val="solid"/>
          </a:ln>
        </p:spPr>
      </p:sp>
      <p:sp>
        <p:nvSpPr>
          <p:cNvPr id="17" name="Shape 14"/>
          <p:cNvSpPr/>
          <p:nvPr/>
        </p:nvSpPr>
        <p:spPr>
          <a:xfrm>
            <a:off x="5413248" y="1920240"/>
            <a:ext cx="182880" cy="182880"/>
          </a:xfrm>
          <a:prstGeom prst="ellipse">
            <a:avLst/>
          </a:prstGeom>
          <a:solidFill>
            <a:srgbClr val="0E9C9C"/>
          </a:solidFill>
          <a:ln w="12700">
            <a:solidFill>
              <a:srgbClr val="0E9C9C"/>
            </a:solidFill>
            <a:prstDash val="solid"/>
          </a:ln>
        </p:spPr>
      </p:sp>
      <p:sp>
        <p:nvSpPr>
          <p:cNvPr id="18" name="Shape 15"/>
          <p:cNvSpPr/>
          <p:nvPr/>
        </p:nvSpPr>
        <p:spPr>
          <a:xfrm>
            <a:off x="5705856" y="1920240"/>
            <a:ext cx="182880" cy="182880"/>
          </a:xfrm>
          <a:prstGeom prst="ellipse">
            <a:avLst/>
          </a:prstGeom>
          <a:solidFill>
            <a:srgbClr val="0E9C9C"/>
          </a:solidFill>
          <a:ln w="12700">
            <a:solidFill>
              <a:srgbClr val="0E9C9C"/>
            </a:solidFill>
            <a:prstDash val="solid"/>
          </a:ln>
        </p:spPr>
      </p:sp>
      <p:sp>
        <p:nvSpPr>
          <p:cNvPr id="19" name="Shape 16"/>
          <p:cNvSpPr/>
          <p:nvPr/>
        </p:nvSpPr>
        <p:spPr>
          <a:xfrm>
            <a:off x="5998464" y="1920240"/>
            <a:ext cx="182880" cy="182880"/>
          </a:xfrm>
          <a:prstGeom prst="ellipse">
            <a:avLst/>
          </a:prstGeom>
          <a:solidFill>
            <a:srgbClr val="0E9C9C"/>
          </a:solidFill>
          <a:ln w="12700">
            <a:solidFill>
              <a:srgbClr val="0E9C9C"/>
            </a:solidFill>
            <a:prstDash val="solid"/>
          </a:ln>
        </p:spPr>
      </p:sp>
      <p:sp>
        <p:nvSpPr>
          <p:cNvPr id="20" name="Shape 17"/>
          <p:cNvSpPr/>
          <p:nvPr/>
        </p:nvSpPr>
        <p:spPr>
          <a:xfrm>
            <a:off x="6291072" y="1920240"/>
            <a:ext cx="182880" cy="182880"/>
          </a:xfrm>
          <a:prstGeom prst="ellipse">
            <a:avLst/>
          </a:prstGeom>
          <a:solidFill>
            <a:srgbClr val="0E9C9C"/>
          </a:solidFill>
          <a:ln w="12700">
            <a:solidFill>
              <a:srgbClr val="0E9C9C"/>
            </a:solidFill>
            <a:prstDash val="solid"/>
          </a:ln>
        </p:spPr>
      </p:sp>
      <p:sp>
        <p:nvSpPr>
          <p:cNvPr id="21" name="Shape 18"/>
          <p:cNvSpPr/>
          <p:nvPr/>
        </p:nvSpPr>
        <p:spPr>
          <a:xfrm>
            <a:off x="6583680" y="1920240"/>
            <a:ext cx="182880" cy="182880"/>
          </a:xfrm>
          <a:prstGeom prst="ellipse">
            <a:avLst/>
          </a:prstGeom>
          <a:solidFill>
            <a:srgbClr val="0E9C9C"/>
          </a:solidFill>
          <a:ln w="12700">
            <a:solidFill>
              <a:srgbClr val="0E9C9C"/>
            </a:solidFill>
            <a:prstDash val="solid"/>
          </a:ln>
        </p:spPr>
      </p:sp>
      <p:sp>
        <p:nvSpPr>
          <p:cNvPr id="22" name="Shape 19"/>
          <p:cNvSpPr/>
          <p:nvPr/>
        </p:nvSpPr>
        <p:spPr>
          <a:xfrm>
            <a:off x="6876288" y="1920240"/>
            <a:ext cx="182880" cy="182880"/>
          </a:xfrm>
          <a:prstGeom prst="ellipse">
            <a:avLst/>
          </a:prstGeom>
          <a:solidFill>
            <a:srgbClr val="0E9C9C"/>
          </a:solidFill>
          <a:ln w="12700">
            <a:solidFill>
              <a:srgbClr val="0E9C9C"/>
            </a:solidFill>
            <a:prstDash val="solid"/>
          </a:ln>
        </p:spPr>
      </p:sp>
      <p:sp>
        <p:nvSpPr>
          <p:cNvPr id="23" name="Shape 20"/>
          <p:cNvSpPr/>
          <p:nvPr/>
        </p:nvSpPr>
        <p:spPr>
          <a:xfrm>
            <a:off x="7168896" y="1920240"/>
            <a:ext cx="182880" cy="182880"/>
          </a:xfrm>
          <a:prstGeom prst="ellipse">
            <a:avLst/>
          </a:prstGeom>
          <a:solidFill>
            <a:srgbClr val="0E9C9C"/>
          </a:solidFill>
          <a:ln w="12700">
            <a:solidFill>
              <a:srgbClr val="0E9C9C"/>
            </a:solidFill>
            <a:prstDash val="solid"/>
          </a:ln>
        </p:spPr>
      </p:sp>
      <p:sp>
        <p:nvSpPr>
          <p:cNvPr id="24" name="Shape 21"/>
          <p:cNvSpPr/>
          <p:nvPr/>
        </p:nvSpPr>
        <p:spPr>
          <a:xfrm>
            <a:off x="7461504" y="1920240"/>
            <a:ext cx="182880" cy="182880"/>
          </a:xfrm>
          <a:prstGeom prst="ellipse">
            <a:avLst/>
          </a:prstGeom>
          <a:solidFill>
            <a:srgbClr val="0E9C9C"/>
          </a:solidFill>
          <a:ln w="12700">
            <a:solidFill>
              <a:srgbClr val="0E9C9C"/>
            </a:solidFill>
            <a:prstDash val="solid"/>
          </a:ln>
        </p:spPr>
      </p:sp>
      <p:sp>
        <p:nvSpPr>
          <p:cNvPr id="25" name="Shape 22"/>
          <p:cNvSpPr/>
          <p:nvPr/>
        </p:nvSpPr>
        <p:spPr>
          <a:xfrm>
            <a:off x="7754112" y="1920240"/>
            <a:ext cx="182880" cy="182880"/>
          </a:xfrm>
          <a:prstGeom prst="ellipse">
            <a:avLst/>
          </a:prstGeom>
          <a:solidFill>
            <a:srgbClr val="0E9C9C"/>
          </a:solidFill>
          <a:ln w="12700">
            <a:solidFill>
              <a:srgbClr val="0E9C9C"/>
            </a:solidFill>
            <a:prstDash val="solid"/>
          </a:ln>
        </p:spPr>
      </p:sp>
      <p:sp>
        <p:nvSpPr>
          <p:cNvPr id="26" name="Text 23"/>
          <p:cNvSpPr txBox="1"/>
          <p:nvPr/>
        </p:nvSpPr>
        <p:spPr>
          <a:xfrm>
            <a:off x="8229600" y="1874520"/>
            <a:ext cx="3337560" cy="640080"/>
          </a:xfrm>
          <a:prstGeom prst="rect">
            <a:avLst/>
          </a:prstGeom>
          <a:noFill/>
          <a:ln/>
        </p:spPr>
        <p:txBody>
          <a:bodyPr wrap="square" lIns="0" tIns="0" rIns="0" bIns="0" rtlCol="0" anchor="t"/>
          <a:lstStyle/>
          <a:p>
            <a:pPr indent="0" marL="0">
              <a:buNone/>
            </a:pPr>
            <a:r>
              <a:rPr lang="en-US" sz="1400" dirty="0">
                <a:solidFill>
                  <a:schemeClr val="tx2"/>
                </a:solidFill>
              </a:rPr>
              <a:t>같은 전체 표본에서 비교 효율이 가장 좋다</a:t>
            </a:r>
            <a:endParaRPr lang="en-US" sz="1400" dirty="0"/>
          </a:p>
        </p:txBody>
      </p:sp>
      <p:sp>
        <p:nvSpPr>
          <p:cNvPr id="27" name="Text 24"/>
          <p:cNvSpPr txBox="1"/>
          <p:nvPr/>
        </p:nvSpPr>
        <p:spPr>
          <a:xfrm>
            <a:off x="640080" y="2606040"/>
            <a:ext cx="1463040" cy="365760"/>
          </a:xfrm>
          <a:prstGeom prst="rect">
            <a:avLst/>
          </a:prstGeom>
          <a:noFill/>
          <a:ln/>
        </p:spPr>
        <p:txBody>
          <a:bodyPr wrap="square" lIns="0" tIns="0" rIns="0" bIns="0" rtlCol="0" anchor="t"/>
          <a:lstStyle/>
          <a:p>
            <a:pPr indent="0" marL="0">
              <a:buNone/>
            </a:pPr>
            <a:r>
              <a:rPr lang="en-US" sz="2000" b="1" dirty="0">
                <a:solidFill>
                  <a:schemeClr val="tx1"/>
                </a:solidFill>
              </a:rPr>
              <a:t>90 : 10</a:t>
            </a:r>
            <a:endParaRPr lang="en-US" sz="2000" dirty="0"/>
          </a:p>
        </p:txBody>
      </p:sp>
      <p:sp>
        <p:nvSpPr>
          <p:cNvPr id="28" name="Shape 25"/>
          <p:cNvSpPr/>
          <p:nvPr/>
        </p:nvSpPr>
        <p:spPr>
          <a:xfrm>
            <a:off x="2194560" y="2651760"/>
            <a:ext cx="182880" cy="182880"/>
          </a:xfrm>
          <a:prstGeom prst="ellipse">
            <a:avLst/>
          </a:prstGeom>
          <a:solidFill>
            <a:srgbClr val="3A5BFF"/>
          </a:solidFill>
          <a:ln w="12700">
            <a:solidFill>
              <a:srgbClr val="3A5BFF"/>
            </a:solidFill>
            <a:prstDash val="solid"/>
          </a:ln>
        </p:spPr>
      </p:sp>
      <p:sp>
        <p:nvSpPr>
          <p:cNvPr id="29" name="Shape 26"/>
          <p:cNvSpPr/>
          <p:nvPr/>
        </p:nvSpPr>
        <p:spPr>
          <a:xfrm>
            <a:off x="2487168" y="2651760"/>
            <a:ext cx="182880" cy="182880"/>
          </a:xfrm>
          <a:prstGeom prst="ellipse">
            <a:avLst/>
          </a:prstGeom>
          <a:solidFill>
            <a:srgbClr val="3A5BFF"/>
          </a:solidFill>
          <a:ln w="12700">
            <a:solidFill>
              <a:srgbClr val="3A5BFF"/>
            </a:solidFill>
            <a:prstDash val="solid"/>
          </a:ln>
        </p:spPr>
      </p:sp>
      <p:sp>
        <p:nvSpPr>
          <p:cNvPr id="30" name="Shape 27"/>
          <p:cNvSpPr/>
          <p:nvPr/>
        </p:nvSpPr>
        <p:spPr>
          <a:xfrm>
            <a:off x="2779776" y="2651760"/>
            <a:ext cx="182880" cy="182880"/>
          </a:xfrm>
          <a:prstGeom prst="ellipse">
            <a:avLst/>
          </a:prstGeom>
          <a:solidFill>
            <a:srgbClr val="3A5BFF"/>
          </a:solidFill>
          <a:ln w="12700">
            <a:solidFill>
              <a:srgbClr val="3A5BFF"/>
            </a:solidFill>
            <a:prstDash val="solid"/>
          </a:ln>
        </p:spPr>
      </p:sp>
      <p:sp>
        <p:nvSpPr>
          <p:cNvPr id="31" name="Shape 28"/>
          <p:cNvSpPr/>
          <p:nvPr/>
        </p:nvSpPr>
        <p:spPr>
          <a:xfrm>
            <a:off x="3072384" y="2651760"/>
            <a:ext cx="182880" cy="182880"/>
          </a:xfrm>
          <a:prstGeom prst="ellipse">
            <a:avLst/>
          </a:prstGeom>
          <a:solidFill>
            <a:srgbClr val="3A5BFF"/>
          </a:solidFill>
          <a:ln w="12700">
            <a:solidFill>
              <a:srgbClr val="3A5BFF"/>
            </a:solidFill>
            <a:prstDash val="solid"/>
          </a:ln>
        </p:spPr>
      </p:sp>
      <p:sp>
        <p:nvSpPr>
          <p:cNvPr id="32" name="Shape 29"/>
          <p:cNvSpPr/>
          <p:nvPr/>
        </p:nvSpPr>
        <p:spPr>
          <a:xfrm>
            <a:off x="3364992" y="2651760"/>
            <a:ext cx="182880" cy="182880"/>
          </a:xfrm>
          <a:prstGeom prst="ellipse">
            <a:avLst/>
          </a:prstGeom>
          <a:solidFill>
            <a:srgbClr val="3A5BFF"/>
          </a:solidFill>
          <a:ln w="12700">
            <a:solidFill>
              <a:srgbClr val="3A5BFF"/>
            </a:solidFill>
            <a:prstDash val="solid"/>
          </a:ln>
        </p:spPr>
      </p:sp>
      <p:sp>
        <p:nvSpPr>
          <p:cNvPr id="33" name="Shape 30"/>
          <p:cNvSpPr/>
          <p:nvPr/>
        </p:nvSpPr>
        <p:spPr>
          <a:xfrm>
            <a:off x="3657600" y="2651760"/>
            <a:ext cx="182880" cy="182880"/>
          </a:xfrm>
          <a:prstGeom prst="ellipse">
            <a:avLst/>
          </a:prstGeom>
          <a:solidFill>
            <a:srgbClr val="3A5BFF"/>
          </a:solidFill>
          <a:ln w="12700">
            <a:solidFill>
              <a:srgbClr val="3A5BFF"/>
            </a:solidFill>
            <a:prstDash val="solid"/>
          </a:ln>
        </p:spPr>
      </p:sp>
      <p:sp>
        <p:nvSpPr>
          <p:cNvPr id="34" name="Shape 31"/>
          <p:cNvSpPr/>
          <p:nvPr/>
        </p:nvSpPr>
        <p:spPr>
          <a:xfrm>
            <a:off x="3950208" y="2651760"/>
            <a:ext cx="182880" cy="182880"/>
          </a:xfrm>
          <a:prstGeom prst="ellipse">
            <a:avLst/>
          </a:prstGeom>
          <a:solidFill>
            <a:srgbClr val="3A5BFF"/>
          </a:solidFill>
          <a:ln w="12700">
            <a:solidFill>
              <a:srgbClr val="3A5BFF"/>
            </a:solidFill>
            <a:prstDash val="solid"/>
          </a:ln>
        </p:spPr>
      </p:sp>
      <p:sp>
        <p:nvSpPr>
          <p:cNvPr id="35" name="Shape 32"/>
          <p:cNvSpPr/>
          <p:nvPr/>
        </p:nvSpPr>
        <p:spPr>
          <a:xfrm>
            <a:off x="4242816" y="2651760"/>
            <a:ext cx="182880" cy="182880"/>
          </a:xfrm>
          <a:prstGeom prst="ellipse">
            <a:avLst/>
          </a:prstGeom>
          <a:solidFill>
            <a:srgbClr val="3A5BFF"/>
          </a:solidFill>
          <a:ln w="12700">
            <a:solidFill>
              <a:srgbClr val="3A5BFF"/>
            </a:solidFill>
            <a:prstDash val="solid"/>
          </a:ln>
        </p:spPr>
      </p:sp>
      <p:sp>
        <p:nvSpPr>
          <p:cNvPr id="36" name="Shape 33"/>
          <p:cNvSpPr/>
          <p:nvPr/>
        </p:nvSpPr>
        <p:spPr>
          <a:xfrm>
            <a:off x="4535424" y="2651760"/>
            <a:ext cx="182880" cy="182880"/>
          </a:xfrm>
          <a:prstGeom prst="ellipse">
            <a:avLst/>
          </a:prstGeom>
          <a:solidFill>
            <a:srgbClr val="3A5BFF"/>
          </a:solidFill>
          <a:ln w="12700">
            <a:solidFill>
              <a:srgbClr val="3A5BFF"/>
            </a:solidFill>
            <a:prstDash val="solid"/>
          </a:ln>
        </p:spPr>
      </p:sp>
      <p:sp>
        <p:nvSpPr>
          <p:cNvPr id="37" name="Shape 34"/>
          <p:cNvSpPr/>
          <p:nvPr/>
        </p:nvSpPr>
        <p:spPr>
          <a:xfrm>
            <a:off x="4828032" y="2651760"/>
            <a:ext cx="182880" cy="182880"/>
          </a:xfrm>
          <a:prstGeom prst="ellipse">
            <a:avLst/>
          </a:prstGeom>
          <a:solidFill>
            <a:srgbClr val="3A5BFF"/>
          </a:solidFill>
          <a:ln w="12700">
            <a:solidFill>
              <a:srgbClr val="3A5BFF"/>
            </a:solidFill>
            <a:prstDash val="solid"/>
          </a:ln>
        </p:spPr>
      </p:sp>
      <p:sp>
        <p:nvSpPr>
          <p:cNvPr id="38" name="Shape 35"/>
          <p:cNvSpPr/>
          <p:nvPr/>
        </p:nvSpPr>
        <p:spPr>
          <a:xfrm>
            <a:off x="5120640" y="2651760"/>
            <a:ext cx="182880" cy="182880"/>
          </a:xfrm>
          <a:prstGeom prst="ellipse">
            <a:avLst/>
          </a:prstGeom>
          <a:solidFill>
            <a:srgbClr val="3A5BFF"/>
          </a:solidFill>
          <a:ln w="12700">
            <a:solidFill>
              <a:srgbClr val="3A5BFF"/>
            </a:solidFill>
            <a:prstDash val="solid"/>
          </a:ln>
        </p:spPr>
      </p:sp>
      <p:sp>
        <p:nvSpPr>
          <p:cNvPr id="39" name="Shape 36"/>
          <p:cNvSpPr/>
          <p:nvPr/>
        </p:nvSpPr>
        <p:spPr>
          <a:xfrm>
            <a:off x="5413248" y="2651760"/>
            <a:ext cx="182880" cy="182880"/>
          </a:xfrm>
          <a:prstGeom prst="ellipse">
            <a:avLst/>
          </a:prstGeom>
          <a:solidFill>
            <a:srgbClr val="3A5BFF"/>
          </a:solidFill>
          <a:ln w="12700">
            <a:solidFill>
              <a:srgbClr val="3A5BFF"/>
            </a:solidFill>
            <a:prstDash val="solid"/>
          </a:ln>
        </p:spPr>
      </p:sp>
      <p:sp>
        <p:nvSpPr>
          <p:cNvPr id="40" name="Shape 37"/>
          <p:cNvSpPr/>
          <p:nvPr/>
        </p:nvSpPr>
        <p:spPr>
          <a:xfrm>
            <a:off x="5705856" y="2651760"/>
            <a:ext cx="182880" cy="182880"/>
          </a:xfrm>
          <a:prstGeom prst="ellipse">
            <a:avLst/>
          </a:prstGeom>
          <a:solidFill>
            <a:srgbClr val="3A5BFF"/>
          </a:solidFill>
          <a:ln w="12700">
            <a:solidFill>
              <a:srgbClr val="3A5BFF"/>
            </a:solidFill>
            <a:prstDash val="solid"/>
          </a:ln>
        </p:spPr>
      </p:sp>
      <p:sp>
        <p:nvSpPr>
          <p:cNvPr id="41" name="Shape 38"/>
          <p:cNvSpPr/>
          <p:nvPr/>
        </p:nvSpPr>
        <p:spPr>
          <a:xfrm>
            <a:off x="5998464" y="2651760"/>
            <a:ext cx="182880" cy="182880"/>
          </a:xfrm>
          <a:prstGeom prst="ellipse">
            <a:avLst/>
          </a:prstGeom>
          <a:solidFill>
            <a:srgbClr val="3A5BFF"/>
          </a:solidFill>
          <a:ln w="12700">
            <a:solidFill>
              <a:srgbClr val="3A5BFF"/>
            </a:solidFill>
            <a:prstDash val="solid"/>
          </a:ln>
        </p:spPr>
      </p:sp>
      <p:sp>
        <p:nvSpPr>
          <p:cNvPr id="42" name="Shape 39"/>
          <p:cNvSpPr/>
          <p:nvPr/>
        </p:nvSpPr>
        <p:spPr>
          <a:xfrm>
            <a:off x="6291072" y="2651760"/>
            <a:ext cx="182880" cy="182880"/>
          </a:xfrm>
          <a:prstGeom prst="ellipse">
            <a:avLst/>
          </a:prstGeom>
          <a:solidFill>
            <a:srgbClr val="3A5BFF"/>
          </a:solidFill>
          <a:ln w="12700">
            <a:solidFill>
              <a:srgbClr val="3A5BFF"/>
            </a:solidFill>
            <a:prstDash val="solid"/>
          </a:ln>
        </p:spPr>
      </p:sp>
      <p:sp>
        <p:nvSpPr>
          <p:cNvPr id="43" name="Shape 40"/>
          <p:cNvSpPr/>
          <p:nvPr/>
        </p:nvSpPr>
        <p:spPr>
          <a:xfrm>
            <a:off x="6583680" y="2651760"/>
            <a:ext cx="182880" cy="182880"/>
          </a:xfrm>
          <a:prstGeom prst="ellipse">
            <a:avLst/>
          </a:prstGeom>
          <a:solidFill>
            <a:srgbClr val="3A5BFF"/>
          </a:solidFill>
          <a:ln w="12700">
            <a:solidFill>
              <a:srgbClr val="3A5BFF"/>
            </a:solidFill>
            <a:prstDash val="solid"/>
          </a:ln>
        </p:spPr>
      </p:sp>
      <p:sp>
        <p:nvSpPr>
          <p:cNvPr id="44" name="Shape 41"/>
          <p:cNvSpPr/>
          <p:nvPr/>
        </p:nvSpPr>
        <p:spPr>
          <a:xfrm>
            <a:off x="6876288" y="2651760"/>
            <a:ext cx="182880" cy="182880"/>
          </a:xfrm>
          <a:prstGeom prst="ellipse">
            <a:avLst/>
          </a:prstGeom>
          <a:solidFill>
            <a:srgbClr val="3A5BFF"/>
          </a:solidFill>
          <a:ln w="12700">
            <a:solidFill>
              <a:srgbClr val="3A5BFF"/>
            </a:solidFill>
            <a:prstDash val="solid"/>
          </a:ln>
        </p:spPr>
      </p:sp>
      <p:sp>
        <p:nvSpPr>
          <p:cNvPr id="45" name="Shape 42"/>
          <p:cNvSpPr/>
          <p:nvPr/>
        </p:nvSpPr>
        <p:spPr>
          <a:xfrm>
            <a:off x="7168896" y="2651760"/>
            <a:ext cx="182880" cy="182880"/>
          </a:xfrm>
          <a:prstGeom prst="ellipse">
            <a:avLst/>
          </a:prstGeom>
          <a:solidFill>
            <a:srgbClr val="3A5BFF"/>
          </a:solidFill>
          <a:ln w="12700">
            <a:solidFill>
              <a:srgbClr val="3A5BFF"/>
            </a:solidFill>
            <a:prstDash val="solid"/>
          </a:ln>
        </p:spPr>
      </p:sp>
      <p:sp>
        <p:nvSpPr>
          <p:cNvPr id="46" name="Shape 43"/>
          <p:cNvSpPr/>
          <p:nvPr/>
        </p:nvSpPr>
        <p:spPr>
          <a:xfrm>
            <a:off x="7461504" y="2651760"/>
            <a:ext cx="182880" cy="182880"/>
          </a:xfrm>
          <a:prstGeom prst="ellipse">
            <a:avLst/>
          </a:prstGeom>
          <a:solidFill>
            <a:srgbClr val="0E9C9C"/>
          </a:solidFill>
          <a:ln w="12700">
            <a:solidFill>
              <a:srgbClr val="0E9C9C"/>
            </a:solidFill>
            <a:prstDash val="solid"/>
          </a:ln>
        </p:spPr>
      </p:sp>
      <p:sp>
        <p:nvSpPr>
          <p:cNvPr id="47" name="Shape 44"/>
          <p:cNvSpPr/>
          <p:nvPr/>
        </p:nvSpPr>
        <p:spPr>
          <a:xfrm>
            <a:off x="7754112" y="2651760"/>
            <a:ext cx="182880" cy="182880"/>
          </a:xfrm>
          <a:prstGeom prst="ellipse">
            <a:avLst/>
          </a:prstGeom>
          <a:solidFill>
            <a:srgbClr val="0E9C9C"/>
          </a:solidFill>
          <a:ln w="12700">
            <a:solidFill>
              <a:srgbClr val="0E9C9C"/>
            </a:solidFill>
            <a:prstDash val="solid"/>
          </a:ln>
        </p:spPr>
      </p:sp>
      <p:sp>
        <p:nvSpPr>
          <p:cNvPr id="48" name="Text 45"/>
          <p:cNvSpPr txBox="1"/>
          <p:nvPr/>
        </p:nvSpPr>
        <p:spPr>
          <a:xfrm>
            <a:off x="8229600" y="2606040"/>
            <a:ext cx="3337560" cy="640080"/>
          </a:xfrm>
          <a:prstGeom prst="rect">
            <a:avLst/>
          </a:prstGeom>
          <a:noFill/>
          <a:ln/>
        </p:spPr>
        <p:txBody>
          <a:bodyPr wrap="square" lIns="0" tIns="0" rIns="0" bIns="0" rtlCol="0" anchor="t"/>
          <a:lstStyle/>
          <a:p>
            <a:pPr indent="0" marL="0">
              <a:buNone/>
            </a:pPr>
            <a:r>
              <a:rPr lang="en-US" sz="1400" dirty="0">
                <a:solidFill>
                  <a:schemeClr val="tx2"/>
                </a:solidFill>
              </a:rPr>
              <a:t>장애 위험이 있을 때 일부에게 먼저. 실험군 표본이 느리게 쌓인다</a:t>
            </a:r>
            <a:endParaRPr lang="en-US" sz="1400" dirty="0"/>
          </a:p>
        </p:txBody>
      </p:sp>
      <p:sp>
        <p:nvSpPr>
          <p:cNvPr id="49" name="Text 46"/>
          <p:cNvSpPr txBox="1"/>
          <p:nvPr/>
        </p:nvSpPr>
        <p:spPr>
          <a:xfrm>
            <a:off x="2194560" y="3154680"/>
            <a:ext cx="365760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대조군   </a:t>
            </a:r>
            <a:pPr indent="0" marL="0">
              <a:buNone/>
            </a:pPr>
            <a:r>
              <a:rPr lang="en-US" sz="1400" dirty="0">
                <a:solidFill>
                  <a:schemeClr val="accent2"/>
                </a:solidFill>
              </a:rPr>
              <a:t>●</a:t>
            </a:r>
            <a:pPr indent="0" marL="0">
              <a:buNone/>
            </a:pPr>
            <a:r>
              <a:rPr lang="en-US" sz="1400" dirty="0">
                <a:solidFill>
                  <a:schemeClr val="tx2"/>
                </a:solidFill>
              </a:rPr>
              <a:t> 실험군</a:t>
            </a:r>
            <a:endParaRPr lang="en-US" sz="1400" dirty="0"/>
          </a:p>
        </p:txBody>
      </p:sp>
      <p:sp>
        <p:nvSpPr>
          <p:cNvPr id="50" name="Text 47"/>
          <p:cNvSpPr txBox="1"/>
          <p:nvPr/>
        </p:nvSpPr>
        <p:spPr>
          <a:xfrm>
            <a:off x="640080" y="3794760"/>
            <a:ext cx="5212080" cy="146304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좋은 배정이란</a:t>
            </a:r>
            <a:endParaRPr lang="en-US" sz="1500" dirty="0"/>
          </a:p>
          <a:p>
            <a:pPr indent="0" marL="0">
              <a:buNone/>
            </a:pPr>
            <a:r>
              <a:rPr lang="en-US" sz="1500" dirty="0">
                <a:solidFill>
                  <a:schemeClr val="tx1"/>
                </a:solidFill>
              </a:rPr>
              <a:t>A와 B의 사용자 수를 맞추는 것이 아니라, 처치 여부와 사용자 특성이 체계적으로 연결되지 않게 하는 것</a:t>
            </a:r>
            <a:endParaRPr lang="en-US" sz="1500" dirty="0"/>
          </a:p>
        </p:txBody>
      </p:sp>
      <p:sp>
        <p:nvSpPr>
          <p:cNvPr id="51" name="Shape 48"/>
          <p:cNvSpPr/>
          <p:nvPr/>
        </p:nvSpPr>
        <p:spPr>
          <a:xfrm>
            <a:off x="5989320" y="3840480"/>
            <a:ext cx="0" cy="1554480"/>
          </a:xfrm>
          <a:prstGeom prst="line">
            <a:avLst/>
          </a:prstGeom>
          <a:noFill/>
          <a:ln w="12700">
            <a:solidFill>
              <a:srgbClr val="E3E7F1"/>
            </a:solidFill>
            <a:prstDash val="solid"/>
          </a:ln>
        </p:spPr>
      </p:sp>
      <p:sp>
        <p:nvSpPr>
          <p:cNvPr id="52" name="Text 49"/>
          <p:cNvSpPr txBox="1"/>
          <p:nvPr/>
        </p:nvSpPr>
        <p:spPr>
          <a:xfrm>
            <a:off x="6355080" y="3794760"/>
            <a:ext cx="5212080" cy="16459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실험 전에 정해 둘 것</a:t>
            </a:r>
            <a:endParaRPr lang="en-US" sz="1500" dirty="0"/>
          </a:p>
          <a:p>
            <a:pPr marL="342900" indent="-342900">
              <a:spcAft>
                <a:spcPts val="400"/>
              </a:spcAft>
              <a:buSzPct val="100000"/>
              <a:buChar char="•"/>
            </a:pPr>
            <a:r>
              <a:rPr lang="en-US" sz="1500" dirty="0">
                <a:solidFill>
                  <a:schemeClr val="tx1"/>
                </a:solidFill>
              </a:rPr>
              <a:t>어떤 단위를 어떤 규칙으로 배정할지</a:t>
            </a:r>
            <a:endParaRPr lang="en-US" sz="1500" dirty="0"/>
          </a:p>
          <a:p>
            <a:pPr marL="342900" indent="-342900">
              <a:spcAft>
                <a:spcPts val="400"/>
              </a:spcAft>
              <a:buSzPct val="100000"/>
              <a:buChar char="•"/>
            </a:pPr>
            <a:r>
              <a:rPr lang="en-US" sz="1500" dirty="0">
                <a:solidFill>
                  <a:schemeClr val="tx1"/>
                </a:solidFill>
              </a:rPr>
              <a:t>배정 비율은 얼마인지</a:t>
            </a:r>
            <a:endParaRPr lang="en-US" sz="1500" dirty="0"/>
          </a:p>
          <a:p>
            <a:pPr marL="342900" indent="-342900">
              <a:spcAft>
                <a:spcPts val="400"/>
              </a:spcAft>
              <a:buSzPct val="100000"/>
              <a:buChar char="•"/>
            </a:pPr>
            <a:r>
              <a:rPr lang="en-US" sz="1500" dirty="0">
                <a:solidFill>
                  <a:schemeClr val="tx1"/>
                </a:solidFill>
              </a:rPr>
              <a:t>필요하면 어떤 특성을 균형화할지 (층화)</a:t>
            </a:r>
            <a:endParaRPr lang="en-US" sz="1500" dirty="0"/>
          </a:p>
        </p:txBody>
      </p:sp>
      <p:sp>
        <p:nvSpPr>
          <p:cNvPr id="53" name="Text 50"/>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A/A, 램프업, 기간, 검정, 구간, 분산 축소</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노출·로깅 기록 확인</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단계를 넘기는 기준(에러율, 가드레일)은 실험 전에 정한다</a:t>
            </a:r>
            <a:endParaRPr lang="en-US" sz="1500" dirty="0"/>
          </a:p>
        </p:txBody>
      </p:sp>
      <p:sp>
        <p:nvSpPr>
          <p:cNvPr id="18" name="Text 15"/>
          <p:cNvSpPr txBox="1"/>
          <p:nvPr/>
        </p:nvSpPr>
        <p:spPr>
          <a:xfrm>
            <a:off x="640080" y="5303520"/>
            <a:ext cx="10911535" cy="457200"/>
          </a:xfrm>
          <a:prstGeom prst="rect">
            <a:avLst/>
          </a:prstGeom>
          <a:noFill/>
          <a:ln/>
        </p:spPr>
        <p:txBody>
          <a:bodyPr wrap="square" lIns="0" tIns="0" rIns="0" bIns="0" rtlCol="0" anchor="t"/>
          <a:lstStyle/>
          <a:p>
            <a:pPr indent="0" marL="0">
              <a:buNone/>
            </a:pPr>
            <a:r>
              <a:rPr lang="en-US" sz="1500" b="1" dirty="0">
                <a:solidFill>
                  <a:schemeClr val="accent4"/>
                </a:solidFill>
              </a:rPr>
              <a:t>램프업 = 위험 제한  </a:t>
            </a:r>
            <a:pPr indent="0" marL="0">
              <a:buNone/>
            </a:pPr>
            <a:r>
              <a:rPr lang="en-US" sz="1500" dirty="0">
                <a:solidFill>
                  <a:schemeClr val="tx1"/>
                </a:solidFill>
              </a:rPr>
              <a:t>효과를 빨리 찾는 절차가 아니다 · 1%에서 좋아 보인다고 늘리면 Peeking과 같다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A/A에서 '유의'가 나오는 정상 빈도 (α = 5%)</a:t>
            </a:r>
            <a:endParaRPr lang="en-US" sz="1500" dirty="0"/>
          </a:p>
          <a:p>
            <a:pPr indent="0" marL="0">
              <a:buNone/>
            </a:pPr>
            <a:r>
              <a:rPr lang="en-US" sz="1500" dirty="0">
                <a:solidFill>
                  <a:schemeClr val="tx2"/>
                </a:solidFill>
              </a:rPr>
              <a:t>훨씬 잦으면 → 시스템 의심</a:t>
            </a:r>
            <a:endParaRPr lang="en-US" sz="1500" dirty="0"/>
          </a:p>
        </p:txBody>
      </p:sp>
      <p:sp>
        <p:nvSpPr>
          <p:cNvPr id="7" name="Text 4"/>
          <p:cNvSpPr txBox="1"/>
          <p:nvPr/>
        </p:nvSpPr>
        <p:spPr>
          <a:xfrm>
            <a:off x="640080" y="4069080"/>
            <a:ext cx="5669280" cy="18288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한 번 유의했다고 고장은 아니다. 이런 패턴을 본다</a:t>
            </a:r>
            <a:endParaRPr lang="en-US" sz="1500" dirty="0"/>
          </a:p>
          <a:p>
            <a:pPr marL="342900" indent="-342900">
              <a:spcAft>
                <a:spcPts val="200"/>
              </a:spcAft>
              <a:buSzPct val="100000"/>
              <a:buChar char="•"/>
            </a:pPr>
            <a:r>
              <a:rPr lang="en-US" sz="1500" dirty="0">
                <a:solidFill>
                  <a:schemeClr val="tx1"/>
                </a:solidFill>
              </a:rPr>
              <a:t>반복했을 때 유의가 지나치게 자주 나온다</a:t>
            </a:r>
            <a:endParaRPr lang="en-US" sz="1500" dirty="0"/>
          </a:p>
          <a:p>
            <a:pPr marL="342900" indent="-342900">
              <a:spcAft>
                <a:spcPts val="200"/>
              </a:spcAft>
              <a:buSzPct val="100000"/>
              <a:buChar char="•"/>
            </a:pPr>
            <a:r>
              <a:rPr lang="en-US" sz="1500" dirty="0">
                <a:solidFill>
                  <a:schemeClr val="tx1"/>
                </a:solidFill>
              </a:rPr>
              <a:t>특정 지표가 계속 한쪽 방향으로 차이 난다</a:t>
            </a:r>
            <a:endParaRPr lang="en-US" sz="1500" dirty="0"/>
          </a:p>
          <a:p>
            <a:pPr marL="342900" indent="-342900">
              <a:spcAft>
                <a:spcPts val="200"/>
              </a:spcAft>
              <a:buSzPct val="100000"/>
              <a:buChar char="•"/>
            </a:pPr>
            <a:r>
              <a:rPr lang="en-US" sz="1500" dirty="0">
                <a:solidFill>
                  <a:schemeClr val="tx1"/>
                </a:solidFill>
              </a:rPr>
              <a:t>특정 브라우저·국가·기기에서만 차이 난다</a:t>
            </a:r>
            <a:endParaRPr lang="en-US" sz="1500" dirty="0"/>
          </a:p>
          <a:p>
            <a:pPr marL="342900" indent="-342900">
              <a:spcAft>
                <a:spcPts val="200"/>
              </a:spcAft>
              <a:buSzPct val="100000"/>
              <a:buChar char="•"/>
            </a:pPr>
            <a:r>
              <a:rPr lang="en-US" sz="1500" dirty="0">
                <a:solidFill>
                  <a:schemeClr val="tx1"/>
                </a:solidFill>
              </a:rPr>
              <a:t>계산한 표준오차보다 실제 변동이 훨씬 크다</a:t>
            </a:r>
            <a:endParaRPr lang="en-US" sz="1500" dirty="0"/>
          </a:p>
        </p:txBody>
      </p:sp>
      <p:sp>
        <p:nvSpPr>
          <p:cNvPr id="8" name="Text 5"/>
          <p:cNvSpPr txBox="1"/>
          <p:nvPr/>
        </p:nvSpPr>
        <p:spPr>
          <a:xfrm>
            <a:off x="6858000" y="1920240"/>
            <a:ext cx="4709160" cy="384048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파이프라인 전체를 그대로 통과시킨다</a:t>
            </a:r>
            <a:endParaRPr lang="en-US" sz="1500" dirty="0"/>
          </a:p>
          <a:p>
            <a:pPr indent="0" marL="0">
              <a:spcAft>
                <a:spcPts val="1000"/>
              </a:spcAft>
              <a:buNone/>
            </a:pPr>
            <a:r>
              <a:rPr lang="en-US" sz="1500" b="1" dirty="0">
                <a:solidFill>
                  <a:schemeClr val="accent1"/>
                </a:solidFill>
              </a:rPr>
              <a:t>배정 → 노출 → 로깅 → 지표 계산 → 분석</a:t>
            </a:r>
            <a:endParaRPr lang="en-US" sz="1500" dirty="0"/>
          </a:p>
          <a:p>
            <a:pPr indent="0" marL="0">
              <a:buNone/>
            </a:pPr>
            <a:r>
              <a:rPr lang="en-US" sz="1500" b="1" dirty="0">
                <a:solidFill>
                  <a:schemeClr val="tx1"/>
                </a:solidFill>
              </a:rPr>
              <a:t>배정  </a:t>
            </a:r>
            <a:pPr indent="0" marL="0">
              <a:spcAft>
                <a:spcPts val="400"/>
              </a:spcAft>
              <a:buNone/>
            </a:pPr>
            <a:r>
              <a:rPr lang="en-US" sz="1500" dirty="0">
                <a:solidFill>
                  <a:schemeClr val="tx1"/>
                </a:solidFill>
              </a:rPr>
              <a:t>특정 국가·브라우저가 한쪽에 몰림</a:t>
            </a:r>
            <a:endParaRPr lang="en-US" sz="1500" dirty="0"/>
          </a:p>
          <a:p>
            <a:pPr indent="0" marL="0">
              <a:buNone/>
            </a:pPr>
            <a:r>
              <a:rPr lang="en-US" sz="1500" b="1" dirty="0">
                <a:solidFill>
                  <a:schemeClr val="tx1"/>
                </a:solidFill>
              </a:rPr>
              <a:t>노출  </a:t>
            </a:r>
            <a:pPr indent="0" marL="0">
              <a:spcAft>
                <a:spcPts val="400"/>
              </a:spcAft>
              <a:buNone/>
            </a:pPr>
            <a:r>
              <a:rPr lang="en-US" sz="1500" dirty="0">
                <a:solidFill>
                  <a:schemeClr val="tx1"/>
                </a:solidFill>
              </a:rPr>
              <a:t>배정됐지만 한쪽만 기능에 노출되지 않음</a:t>
            </a:r>
            <a:endParaRPr lang="en-US" sz="1500" dirty="0"/>
          </a:p>
          <a:p>
            <a:pPr indent="0" marL="0">
              <a:buNone/>
            </a:pPr>
            <a:r>
              <a:rPr lang="en-US" sz="1500" b="1" dirty="0">
                <a:solidFill>
                  <a:schemeClr val="tx1"/>
                </a:solidFill>
              </a:rPr>
              <a:t>로깅  </a:t>
            </a:r>
            <a:pPr indent="0" marL="0">
              <a:spcAft>
                <a:spcPts val="400"/>
              </a:spcAft>
              <a:buNone/>
            </a:pPr>
            <a:r>
              <a:rPr lang="en-US" sz="1500" dirty="0">
                <a:solidFill>
                  <a:schemeClr val="tx1"/>
                </a:solidFill>
              </a:rPr>
              <a:t>한 Variant의 이벤트가 누락·중복</a:t>
            </a:r>
            <a:endParaRPr lang="en-US" sz="1500" dirty="0"/>
          </a:p>
          <a:p>
            <a:pPr indent="0" marL="0">
              <a:buNone/>
            </a:pPr>
            <a:r>
              <a:rPr lang="en-US" sz="1500" b="1" dirty="0">
                <a:solidFill>
                  <a:schemeClr val="tx1"/>
                </a:solidFill>
              </a:rPr>
              <a:t>지표 계산  </a:t>
            </a:r>
            <a:pPr indent="0" marL="0">
              <a:spcAft>
                <a:spcPts val="400"/>
              </a:spcAft>
              <a:buNone/>
            </a:pPr>
            <a:r>
              <a:rPr lang="en-US" sz="1500" dirty="0">
                <a:solidFill>
                  <a:schemeClr val="tx1"/>
                </a:solidFill>
              </a:rPr>
              <a:t>그룹마다 집계 기준·필터가 다름</a:t>
            </a:r>
            <a:endParaRPr lang="en-US" sz="1500" dirty="0"/>
          </a:p>
          <a:p>
            <a:pPr indent="0" marL="0">
              <a:buNone/>
            </a:pPr>
            <a:r>
              <a:rPr lang="en-US" sz="1500" b="1" dirty="0">
                <a:solidFill>
                  <a:schemeClr val="tx1"/>
                </a:solidFill>
              </a:rPr>
              <a:t>분산·SE  </a:t>
            </a:r>
            <a:pPr indent="0" marL="0">
              <a:buNone/>
            </a:pPr>
            <a:r>
              <a:rPr lang="en-US" sz="1500" dirty="0">
                <a:solidFill>
                  <a:schemeClr val="tx1"/>
                </a:solidFill>
              </a:rPr>
              <a:t>반복 관측을 독립으로 봐서 불확실성을 작게 계산</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최소 1~2주, 요일과 신기효과를 넘겨서</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효과엔 신기효과가 섞여 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주말 사용자 ≠ 주중 사용자 → 완전한 주 단위로</a:t>
            </a:r>
            <a:endParaRPr lang="en-US" sz="1500" dirty="0"/>
          </a:p>
          <a:p>
            <a:pPr indent="0" marL="0">
              <a:buNone/>
            </a:pPr>
            <a:r>
              <a:rPr lang="en-US" sz="2000" b="1" dirty="0">
                <a:solidFill>
                  <a:schemeClr val="tx1"/>
                </a:solidFill>
              </a:rPr>
              <a:t>'무조건 2주' 규칙은 없다</a:t>
            </a:r>
            <a:endParaRPr lang="en-US" sz="1500" dirty="0"/>
          </a:p>
          <a:p>
            <a:pPr indent="0" marL="0">
              <a:buNone/>
            </a:pPr>
            <a:r>
              <a:rPr lang="en-US" sz="1500" dirty="0">
                <a:solidFill>
                  <a:schemeClr val="tx2"/>
                </a:solidFill>
              </a:rPr>
              <a:t>판단 기준: 필요 표본 · 행동 주기 포함 · 초기 시간 효과가 지배하지 않음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검정은 지표의 모양을 보고 고른다</a:t>
            </a:r>
            <a:endParaRPr lang="en-US" sz="2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검정 자체는 공통 3주차 그대로 · 달라지는 건 무엇을 비교하느냐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배정 단위와 분석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단위보다 작은 단위로 분석하면 신뢰구간이 좁아진다</a:t>
            </a:r>
            <a:endParaRPr lang="en-US" sz="20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1737360"/>
                <a:gridCol w="2651760"/>
                <a:gridCol w="2377440"/>
              </a:tblGrid>
              <a:tr h="548640">
                <a:tc>
                  <a:txBody>
                    <a:bodyPr/>
                    <a:lstStyle/>
                    <a:p>
                      <a:pPr indent="0" marL="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indent="0" marL="0">
              <a:buNone/>
            </a:pPr>
            <a:r>
              <a:rPr lang="en-US" sz="5400" b="1" dirty="0">
                <a:solidFill>
                  <a:schemeClr val="accent4"/>
                </a:solidFill>
              </a:rPr>
              <a:t>47%</a:t>
            </a:r>
            <a:endParaRPr lang="en-US" sz="1500" dirty="0"/>
          </a:p>
          <a:p>
            <a:pPr indent="0" marL="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① 배정 단위로 다시 집계한다</a:t>
            </a:r>
            <a:endParaRPr lang="en-US" sz="1500" dirty="0"/>
          </a:p>
          <a:p>
            <a:pPr indent="0" marL="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② 지표는 유지하고 불확실성을 보정한다</a:t>
            </a:r>
            <a:endParaRPr lang="en-US" sz="1500" dirty="0"/>
          </a:p>
          <a:p>
            <a:pPr indent="0" marL="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sp>
      <p:sp>
        <p:nvSpPr>
          <p:cNvPr id="10" name="Text 6"/>
          <p:cNvSpPr txBox="1"/>
          <p:nvPr/>
        </p:nvSpPr>
        <p:spPr>
          <a:xfrm>
            <a:off x="640080" y="585216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4" name="Text 21"/>
          <p:cNvSpPr txBox="1"/>
          <p:nvPr/>
        </p:nvSpPr>
        <p:spPr>
          <a:xfrm>
            <a:off x="640080" y="5715000"/>
            <a:ext cx="10911535" cy="457200"/>
          </a:xfrm>
          <a:prstGeom prst="rect">
            <a:avLst/>
          </a:prstGeom>
          <a:noFill/>
          <a:ln/>
        </p:spPr>
        <p:txBody>
          <a:bodyPr wrap="square" lIns="0" tIns="0" rIns="0" bIns="0" rtlCol="0" anchor="t"/>
          <a:lstStyle/>
          <a:p>
            <a:pPr indent="0" marL="0">
              <a:buNone/>
            </a:pPr>
            <a:r>
              <a:rPr lang="en-US" sz="1400" dirty="0">
                <a:solidFill>
                  <a:schemeClr val="tx2"/>
                </a:solidFill>
              </a:rPr>
              <a:t>엄밀한 뜻: 같은 절차를 반복하면 구간의 95%가 참값을 포함 ('이 구간에 참값이 있을 확률 95%'가 아님)</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통계적으로 유의하다 ≠ 의미 있다</a:t>
            </a:r>
            <a:endParaRPr lang="en-US" sz="2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차이도 p &lt; 0.05 · 유의 ≠ 크다</a:t>
            </a:r>
            <a:endParaRPr lang="en-US" sz="1500" dirty="0"/>
          </a:p>
        </p:txBody>
      </p:sp>
      <p:sp>
        <p:nvSpPr>
          <p:cNvPr id="7" name="Text 3"/>
          <p:cNvSpPr txBox="1"/>
          <p:nvPr/>
        </p:nvSpPr>
        <p:spPr>
          <a:xfrm>
            <a:off x="640080" y="49834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8" name="Text 4"/>
          <p:cNvSpPr txBox="1"/>
          <p:nvPr/>
        </p:nvSpPr>
        <p:spPr>
          <a:xfrm>
            <a:off x="640080" y="5349240"/>
            <a:ext cx="1920240" cy="457200"/>
          </a:xfrm>
          <a:prstGeom prst="rect">
            <a:avLst/>
          </a:prstGeom>
          <a:noFill/>
          <a:ln/>
        </p:spPr>
        <p:txBody>
          <a:bodyPr wrap="square" lIns="0" tIns="0" rIns="0" bIns="0" rtlCol="0" anchor="t"/>
          <a:lstStyle/>
          <a:p>
            <a:pPr indent="0" marL="0">
              <a:buNone/>
            </a:pPr>
            <a:r>
              <a:rPr lang="en-US" sz="2000" b="1" dirty="0">
                <a:solidFill>
                  <a:schemeClr val="accent1"/>
                </a:solidFill>
              </a:rPr>
              <a:t>효과 크기</a:t>
            </a:r>
            <a:endParaRPr lang="en-US" sz="2000" dirty="0"/>
          </a:p>
        </p:txBody>
      </p:sp>
      <p:sp>
        <p:nvSpPr>
          <p:cNvPr id="9" name="Shape 5"/>
          <p:cNvSpPr/>
          <p:nvPr/>
        </p:nvSpPr>
        <p:spPr>
          <a:xfrm>
            <a:off x="2514600" y="5550408"/>
            <a:ext cx="411480" cy="0"/>
          </a:xfrm>
          <a:prstGeom prst="line">
            <a:avLst/>
          </a:prstGeom>
          <a:noFill/>
          <a:ln w="19050">
            <a:solidFill>
              <a:srgbClr val="8A90A8"/>
            </a:solidFill>
            <a:prstDash val="solid"/>
            <a:tailEnd type="triangle"/>
          </a:ln>
        </p:spPr>
      </p:sp>
      <p:sp>
        <p:nvSpPr>
          <p:cNvPr id="10" name="Text 6"/>
          <p:cNvSpPr txBox="1"/>
          <p:nvPr/>
        </p:nvSpPr>
        <p:spPr>
          <a:xfrm>
            <a:off x="3017520" y="5349240"/>
            <a:ext cx="1920240" cy="457200"/>
          </a:xfrm>
          <a:prstGeom prst="rect">
            <a:avLst/>
          </a:prstGeom>
          <a:noFill/>
          <a:ln/>
        </p:spPr>
        <p:txBody>
          <a:bodyPr wrap="square" lIns="0" tIns="0" rIns="0" bIns="0" rtlCol="0" anchor="t"/>
          <a:lstStyle/>
          <a:p>
            <a:pPr indent="0" marL="0">
              <a:buNone/>
            </a:pPr>
            <a:r>
              <a:rPr lang="en-US" sz="2000" b="1" dirty="0">
                <a:solidFill>
                  <a:schemeClr val="tx1"/>
                </a:solidFill>
              </a:rPr>
              <a:t>신뢰구간</a:t>
            </a:r>
            <a:endParaRPr lang="en-US" sz="2000" dirty="0"/>
          </a:p>
        </p:txBody>
      </p:sp>
      <p:sp>
        <p:nvSpPr>
          <p:cNvPr id="11" name="Shape 7"/>
          <p:cNvSpPr/>
          <p:nvPr/>
        </p:nvSpPr>
        <p:spPr>
          <a:xfrm>
            <a:off x="4892040" y="5550408"/>
            <a:ext cx="411480" cy="0"/>
          </a:xfrm>
          <a:prstGeom prst="line">
            <a:avLst/>
          </a:prstGeom>
          <a:noFill/>
          <a:ln w="19050">
            <a:solidFill>
              <a:srgbClr val="8A90A8"/>
            </a:solidFill>
            <a:prstDash val="solid"/>
            <a:tailEnd type="triangle"/>
          </a:ln>
        </p:spPr>
      </p:sp>
      <p:sp>
        <p:nvSpPr>
          <p:cNvPr id="12" name="Text 8"/>
          <p:cNvSpPr txBox="1"/>
          <p:nvPr/>
        </p:nvSpPr>
        <p:spPr>
          <a:xfrm>
            <a:off x="5394960" y="5349240"/>
            <a:ext cx="1920240" cy="457200"/>
          </a:xfrm>
          <a:prstGeom prst="rect">
            <a:avLst/>
          </a:prstGeom>
          <a:noFill/>
          <a:ln/>
        </p:spPr>
        <p:txBody>
          <a:bodyPr wrap="square" lIns="0" tIns="0" rIns="0" bIns="0" rtlCol="0" anchor="t"/>
          <a:lstStyle/>
          <a:p>
            <a:pPr indent="0" marL="0">
              <a:buNone/>
            </a:pPr>
            <a:r>
              <a:rPr lang="en-US" sz="2000" b="1" dirty="0">
                <a:solidFill>
                  <a:schemeClr val="tx1"/>
                </a:solidFill>
              </a:rPr>
              <a:t>p-value</a:t>
            </a:r>
            <a:endParaRPr lang="en-US" sz="2000" dirty="0"/>
          </a:p>
        </p:txBody>
      </p:sp>
      <p:sp>
        <p:nvSpPr>
          <p:cNvPr id="13" name="Shape 9"/>
          <p:cNvSpPr/>
          <p:nvPr/>
        </p:nvSpPr>
        <p:spPr>
          <a:xfrm>
            <a:off x="7269480" y="5550408"/>
            <a:ext cx="411480" cy="0"/>
          </a:xfrm>
          <a:prstGeom prst="line">
            <a:avLst/>
          </a:prstGeom>
          <a:noFill/>
          <a:ln w="19050">
            <a:solidFill>
              <a:srgbClr val="8A90A8"/>
            </a:solidFill>
            <a:prstDash val="solid"/>
            <a:tailEnd type="triangle"/>
          </a:ln>
        </p:spPr>
      </p:sp>
      <p:sp>
        <p:nvSpPr>
          <p:cNvPr id="14" name="Text 10"/>
          <p:cNvSpPr txBox="1"/>
          <p:nvPr/>
        </p:nvSpPr>
        <p:spPr>
          <a:xfrm>
            <a:off x="7772400" y="5349240"/>
            <a:ext cx="4114800" cy="457200"/>
          </a:xfrm>
          <a:prstGeom prst="rect">
            <a:avLst/>
          </a:prstGeom>
          <a:noFill/>
          <a:ln/>
        </p:spPr>
        <p:txBody>
          <a:bodyPr wrap="square" lIns="0" tIns="0" rIns="0" bIns="0" rtlCol="0" anchor="t"/>
          <a:lstStyle/>
          <a:p>
            <a:pPr indent="0" marL="0">
              <a:buNone/>
            </a:pPr>
            <a:r>
              <a:rPr lang="en-US" sz="2000" b="1" dirty="0">
                <a:solidFill>
                  <a:schemeClr val="tx1"/>
                </a:solidFill>
              </a:rPr>
              <a:t>비용·리스크를 포함한 의사결정</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b="1" dirty="0">
                <a:solidFill>
                  <a:schemeClr val="tx1"/>
                </a:solidFill>
              </a:rPr>
              <a:t>θ = Cov(Y, X) / Var(X)</a:t>
            </a:r>
            <a:pPr indent="0" marL="0">
              <a:buNone/>
            </a:pPr>
            <a:r>
              <a:rPr lang="en-US" sz="1500" dirty="0">
                <a:solidFill>
                  <a:schemeClr val="tx2"/>
                </a:solidFill>
              </a:rPr>
              <a:t>      분산은 약 Var(Y)(1 - ρ²)로 준다. 실험 전후 지표 상관 ρ = 0.7이면 원래 분산의 51%</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CUPED 주의점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CUPED는 좋은 실험의 노이즈를 줄일 뿐, 나쁜 실험을 고치지 못한다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실험 전후 지표의 상관이 낮으면 효과가 작다</a:t>
            </a:r>
            <a:endParaRPr lang="en-US" sz="1500" dirty="0"/>
          </a:p>
          <a:p>
            <a:pPr indent="0" marL="0">
              <a:buNone/>
            </a:pPr>
            <a:r>
              <a:rPr lang="en-US" sz="1500" dirty="0">
                <a:solidFill>
                  <a:schemeClr val="tx2"/>
                </a:solidFill>
              </a:rPr>
              <a:t>과거·현재 구매액처럼 반복성이 높은 지표에 유리하다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처치의 영향을 받지 않은 변수만 쓴다</a:t>
            </a:r>
            <a:endParaRPr lang="en-US" sz="1500" dirty="0"/>
          </a:p>
          <a:p>
            <a:pPr indent="0" marL="0">
              <a:buNone/>
            </a:pPr>
            <a:r>
              <a:rPr lang="en-US" sz="1500" dirty="0">
                <a:solidFill>
                  <a:schemeClr val="tx2"/>
                </a:solidFill>
              </a:rPr>
              <a:t>실험 후에 정해진 값을 넣으면 편향이 생긴다</a:t>
            </a:r>
            <a:endParaRPr lang="en-US" sz="1500" dirty="0"/>
          </a:p>
        </p:txBody>
      </p:sp>
      <p:sp>
        <p:nvSpPr>
          <p:cNvPr id="9" name="Text 6"/>
          <p:cNvSpPr txBox="1"/>
          <p:nvPr/>
        </p:nvSpPr>
        <p:spPr>
          <a:xfrm>
            <a:off x="640080" y="301752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306324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신규 사용자는 실험 전 데이터가 없다</a:t>
            </a:r>
            <a:endParaRPr lang="en-US" sz="1500" dirty="0"/>
          </a:p>
          <a:p>
            <a:pPr indent="0" marL="0">
              <a:buNone/>
            </a:pPr>
            <a:r>
              <a:rPr lang="en-US" sz="1500" dirty="0">
                <a:solidFill>
                  <a:schemeClr val="tx2"/>
                </a:solidFill>
              </a:rPr>
              <a:t>신규 비중이 높으면 결측 처리나 별도 설계가 필요하다</a:t>
            </a:r>
            <a:endParaRPr lang="en-US" sz="1500" dirty="0"/>
          </a:p>
        </p:txBody>
      </p:sp>
      <p:sp>
        <p:nvSpPr>
          <p:cNvPr id="11" name="Text 8"/>
          <p:cNvSpPr txBox="1"/>
          <p:nvPr/>
        </p:nvSpPr>
        <p:spPr>
          <a:xfrm>
            <a:off x="6217920" y="301752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306324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잘못된 설계를 고쳐주지 않는다</a:t>
            </a:r>
            <a:endParaRPr lang="en-US" sz="1500" dirty="0"/>
          </a:p>
          <a:p>
            <a:pPr indent="0" marL="0">
              <a:buNone/>
            </a:pPr>
            <a:r>
              <a:rPr lang="en-US" sz="1500" dirty="0">
                <a:solidFill>
                  <a:schemeClr val="tx2"/>
                </a:solidFill>
              </a:rPr>
              <a:t>배정·로깅·SRM 문제가 있는 실험에 써도 결과를 믿을 수 없다</a:t>
            </a:r>
            <a:endParaRPr lang="en-US" sz="1500" dirty="0"/>
          </a:p>
        </p:txBody>
      </p:sp>
      <p:sp>
        <p:nvSpPr>
          <p:cNvPr id="13" name="Text 10"/>
          <p:cNvSpPr txBox="1"/>
          <p:nvPr/>
        </p:nvSpPr>
        <p:spPr>
          <a:xfrm>
            <a:off x="640080" y="44348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CUPED가 하는 일  </a:t>
            </a:r>
            <a:pPr indent="0" marL="0">
              <a:buNone/>
            </a:pPr>
            <a:r>
              <a:rPr lang="en-US" sz="1500" dirty="0">
                <a:solidFill>
                  <a:schemeClr val="tx1"/>
                </a:solidFill>
              </a:rPr>
              <a:t>효과는 그대로, 신뢰구간만 좁힌다 → 더 작은 효과 탐지, 더 적은 표본·짧은 기간</a:t>
            </a:r>
            <a:endParaRPr lang="en-US" sz="1500" dirty="0"/>
          </a:p>
        </p:txBody>
      </p:sp>
      <p:sp>
        <p:nvSpPr>
          <p:cNvPr id="14"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09편 1.5 · 출처: Deng et al. (2013),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α/m. 하나라도 거짓 양성이 날 확률(FWER)을 막는다. 소수의 중요한 가설에</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 검정력이 더 높아 많은 지표를 탐색할 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개념을 먼저 잡고, 직접 겪는 건 뒤의 함정 세션에서</a:t>
            </a:r>
            <a:endParaRPr lang="en-US" sz="2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실무에서 자주 밟는 여섯 가지 함정</a:t>
            </a:r>
            <a:endParaRPr lang="en-US" sz="2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언제 멈춰도 α 유지 · 대가로 검정력이 조금 낮다</a:t>
            </a:r>
            <a:endParaRPr lang="en-US" sz="1500" dirty="0"/>
          </a:p>
        </p:txBody>
      </p:sp>
      <p:sp>
        <p:nvSpPr>
          <p:cNvPr id="8" name="Text 5"/>
          <p:cNvSpPr txBox="1"/>
          <p:nvPr/>
        </p:nvSpPr>
        <p:spPr>
          <a:xfrm>
            <a:off x="640080" y="393192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9" name="Text 6"/>
          <p:cNvSpPr txBox="1"/>
          <p:nvPr/>
        </p:nvSpPr>
        <p:spPr>
          <a:xfrm>
            <a:off x="640080" y="4572000"/>
            <a:ext cx="10911535" cy="137160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'매일 보고 마음대로 멈추기'가 아니다</a:t>
            </a:r>
            <a:endParaRPr lang="en-US" sz="1500" dirty="0"/>
          </a:p>
          <a:p>
            <a:pPr marL="342900" indent="-342900">
              <a:spcAft>
                <a:spcPts val="400"/>
              </a:spcAft>
              <a:buSzPct val="100000"/>
              <a:buChar char="•"/>
            </a:pPr>
            <a:r>
              <a:rPr lang="en-US" sz="1500" dirty="0">
                <a:solidFill>
                  <a:schemeClr val="tx1"/>
                </a:solidFill>
              </a:rPr>
              <a:t>방법: Alpha Spending, Group Sequential Test, Always-Valid p-value</a:t>
            </a:r>
            <a:endParaRPr lang="en-US" sz="1500" dirty="0"/>
          </a:p>
          <a:p>
            <a:pPr marL="342900" indent="-342900">
              <a:spcAft>
                <a:spcPts val="400"/>
              </a:spcAft>
              <a:buSzPct val="100000"/>
              <a:buChar char="•"/>
            </a:pPr>
            <a:r>
              <a:rPr lang="en-US" sz="1500" dirty="0">
                <a:solidFill>
                  <a:schemeClr val="tx1"/>
                </a:solidFill>
              </a:rPr>
              <a:t>중간에 Sequential로 갈아타지 않는다 · 중단 규칙은 실험 전에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세그먼트마다 이기는데 전체로는 진다</a:t>
            </a:r>
            <a:endParaRPr lang="en-US" sz="20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 낮은 모바일이 B 80%, A 20%</a:t>
            </a:r>
            <a:endParaRPr lang="en-US" sz="1500" dirty="0"/>
          </a:p>
          <a:p>
            <a:pPr indent="0" marL="0">
              <a:buNone/>
            </a:pPr>
            <a:r>
              <a:rPr lang="en-US" sz="2000" b="1" dirty="0">
                <a:solidFill>
                  <a:schemeClr val="tx1"/>
                </a:solidFill>
              </a:rPr>
              <a:t>실험이라면</a:t>
            </a:r>
            <a:endParaRPr lang="en-US" sz="1500" dirty="0"/>
          </a:p>
          <a:p>
            <a:pPr indent="0" marL="0">
              <a:buNone/>
            </a:pPr>
            <a:r>
              <a:rPr lang="en-US" sz="1500" dirty="0">
                <a:solidFill>
                  <a:schemeClr val="tx2"/>
                </a:solidFill>
              </a:rPr>
              <a:t>그룹 구성이 다르다 = 배정 문제 신호 · 램프업 중 비율 변경에서도 생김</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498080" y="1920240"/>
            <a:ext cx="4069080" cy="30175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어디서든 생긴다</a:t>
            </a:r>
            <a:endParaRPr lang="en-US" sz="1500" dirty="0"/>
          </a:p>
          <a:p>
            <a:pPr indent="0" marL="0">
              <a:buNone/>
            </a:pPr>
            <a:r>
              <a:rPr lang="en-US" sz="1500" b="1" dirty="0">
                <a:solidFill>
                  <a:schemeClr val="tx1"/>
                </a:solidFill>
              </a:rPr>
              <a:t>배정  </a:t>
            </a:r>
            <a:pPr indent="0" marL="0">
              <a:spcAft>
                <a:spcPts val="300"/>
              </a:spcAft>
              <a:buNone/>
            </a:pPr>
            <a:r>
              <a:rPr lang="en-US" sz="1500" dirty="0">
                <a:solidFill>
                  <a:schemeClr val="tx1"/>
                </a:solidFill>
              </a:rPr>
              <a:t>해시·버킷 로직, 비율 설정 오류</a:t>
            </a:r>
            <a:endParaRPr lang="en-US" sz="1500" dirty="0"/>
          </a:p>
          <a:p>
            <a:pPr indent="0" marL="0">
              <a:buNone/>
            </a:pPr>
            <a:r>
              <a:rPr lang="en-US" sz="1500" b="1" dirty="0">
                <a:solidFill>
                  <a:schemeClr val="tx1"/>
                </a:solidFill>
              </a:rPr>
              <a:t>노출  </a:t>
            </a:r>
            <a:pPr indent="0" marL="0">
              <a:spcAft>
                <a:spcPts val="300"/>
              </a:spcAft>
              <a:buNone/>
            </a:pPr>
            <a:r>
              <a:rPr lang="en-US" sz="1500" dirty="0">
                <a:solidFill>
                  <a:schemeClr val="tx1"/>
                </a:solidFill>
              </a:rPr>
              <a:t>특정 기기·브라우저에서 B가 안 뜸</a:t>
            </a:r>
            <a:endParaRPr lang="en-US" sz="1500" dirty="0"/>
          </a:p>
          <a:p>
            <a:pPr indent="0" marL="0">
              <a:buNone/>
            </a:pPr>
            <a:r>
              <a:rPr lang="en-US" sz="1500" b="1" dirty="0">
                <a:solidFill>
                  <a:schemeClr val="tx1"/>
                </a:solidFill>
              </a:rPr>
              <a:t>로깅  </a:t>
            </a:r>
            <a:pPr indent="0" marL="0">
              <a:spcAft>
                <a:spcPts val="300"/>
              </a:spcAft>
              <a:buNone/>
            </a:pPr>
            <a:r>
              <a:rPr lang="en-US" sz="1500" dirty="0">
                <a:solidFill>
                  <a:schemeClr val="tx1"/>
                </a:solidFill>
              </a:rPr>
              <a:t>한 Variant의 이벤트 누락</a:t>
            </a:r>
            <a:endParaRPr lang="en-US" sz="1500" dirty="0"/>
          </a:p>
          <a:p>
            <a:pPr indent="0" marL="0">
              <a:buNone/>
            </a:pPr>
            <a:r>
              <a:rPr lang="en-US" sz="1500" b="1" dirty="0">
                <a:solidFill>
                  <a:schemeClr val="tx1"/>
                </a:solidFill>
              </a:rPr>
              <a:t>데이터 처리  </a:t>
            </a:r>
            <a:pPr indent="0" marL="0">
              <a:spcAft>
                <a:spcPts val="300"/>
              </a:spcAft>
              <a:buNone/>
            </a:pPr>
            <a:r>
              <a:rPr lang="en-US" sz="1500" dirty="0">
                <a:solidFill>
                  <a:schemeClr val="tx1"/>
                </a:solidFill>
              </a:rPr>
              <a:t>Join·ETL·필터에서 한쪽이 더 빠짐</a:t>
            </a:r>
            <a:endParaRPr lang="en-US" sz="1500" dirty="0"/>
          </a:p>
          <a:p>
            <a:pPr indent="0" marL="0">
              <a:buNone/>
            </a:pPr>
            <a:r>
              <a:rPr lang="en-US" sz="1500" b="1" dirty="0">
                <a:solidFill>
                  <a:schemeClr val="tx1"/>
                </a:solidFill>
              </a:rPr>
              <a:t>분석  </a:t>
            </a:r>
            <a:pPr indent="0" marL="0">
              <a:buNone/>
            </a:pPr>
            <a:r>
              <a:rPr lang="en-US" sz="1500" dirty="0">
                <a:solidFill>
                  <a:schemeClr val="tx1"/>
                </a:solidFill>
              </a:rPr>
              <a:t>결과를 보고 특정 사용자만 제거</a:t>
            </a:r>
            <a:endParaRPr lang="en-US" sz="1500" dirty="0"/>
          </a:p>
        </p:txBody>
      </p:sp>
      <p:sp>
        <p:nvSpPr>
          <p:cNvPr id="10" name="Text 7"/>
          <p:cNvSpPr txBox="1"/>
          <p:nvPr/>
        </p:nvSpPr>
        <p:spPr>
          <a:xfrm>
            <a:off x="640080" y="498348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점검 요령  </a:t>
            </a:r>
            <a:pPr indent="0" marL="0">
              <a:buNone/>
            </a:pPr>
            <a:r>
              <a:rPr lang="en-US" sz="1500" dirty="0">
                <a:solidFill>
                  <a:schemeClr val="tx1"/>
                </a:solidFill>
              </a:rPr>
              <a:t>배정 단위로 센다(사용자 배정 → 고유 사용자 수) · 기기·브라우저·날짜·국가·유입 채널로 쪼개 원인 찾기</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400" dirty="0">
                <a:solidFill>
                  <a:schemeClr val="tx2"/>
                </a:solidFill>
              </a:rPr>
              <a:t>SRM = 결과 지표가 아니라 신뢰성 지표(Trustworthiness Metric) · 핵심은 인원수가 아니라 누가 빠졌는지 모른다는 것</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B 화면이 일부 환경에서 느려 이탈한 사용자가 노출 로그에서 빠지면, 남은 사용자만 비교해 B가 좋아 보인다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8" name="Text 5"/>
          <p:cNvSpPr txBox="1"/>
          <p:nvPr/>
        </p:nvSpPr>
        <p:spPr>
          <a:xfrm>
            <a:off x="640080" y="4754880"/>
            <a:ext cx="10911535" cy="822960"/>
          </a:xfrm>
          <a:prstGeom prst="rect">
            <a:avLst/>
          </a:prstGeom>
          <a:noFill/>
          <a:ln/>
        </p:spPr>
        <p:txBody>
          <a:bodyPr wrap="square" lIns="0" tIns="0" rIns="0" bIns="0" rtlCol="0" anchor="t"/>
          <a:lstStyle/>
          <a:p>
            <a:pPr indent="0" marL="0">
              <a:buNone/>
            </a:pPr>
            <a:r>
              <a:rPr lang="en-US" sz="1500" b="1" dirty="0">
                <a:solidFill>
                  <a:schemeClr val="accent4"/>
                </a:solidFill>
              </a:rPr>
              <a:t>결과를 본 뒤 필터링하지 않는다  </a:t>
            </a:r>
            <a:pPr indent="0" marL="0">
              <a:buNone/>
            </a:pPr>
            <a:r>
              <a:rPr lang="en-US" sz="1500" dirty="0">
                <a:solidFill>
                  <a:schemeClr val="tx1"/>
                </a:solidFill>
              </a:rPr>
              <a:t>'결제 시도한 사용자만', '10초 이상 본 사용자만' → 처치 이후 행동으로 고르면 다른 사람끼리 비교 · 제외 규칙은 실험 전에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간섭(Interference)</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간섭은 두 경로로 생긴다</a:t>
            </a:r>
            <a:endParaRPr lang="en-US" sz="2000" dirty="0"/>
          </a:p>
        </p:txBody>
      </p:sp>
      <p:sp>
        <p:nvSpPr>
          <p:cNvPr id="5" name="Text 2"/>
          <p:cNvSpPr txBox="1"/>
          <p:nvPr/>
        </p:nvSpPr>
        <p:spPr>
          <a:xfrm>
            <a:off x="640080" y="173736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SUTVA  </a:t>
            </a:r>
            <a:pPr indent="0" marL="0">
              <a:buNone/>
            </a:pPr>
            <a:r>
              <a:rPr lang="en-US" sz="1500" dirty="0">
                <a:solidFill>
                  <a:schemeClr val="tx1"/>
                </a:solidFill>
              </a:rPr>
              <a:t>(Ch2)이 깨지는 현상 = 간섭 · 실무 용어 Spillover, Leakage</a:t>
            </a:r>
            <a:endParaRPr lang="en-US" sz="1500" dirty="0"/>
          </a:p>
        </p:txBody>
      </p:sp>
      <p:sp>
        <p:nvSpPr>
          <p:cNvPr id="6" name="Text 3"/>
          <p:cNvSpPr txBox="1"/>
          <p:nvPr/>
        </p:nvSpPr>
        <p:spPr>
          <a:xfrm>
            <a:off x="640080" y="2377440"/>
            <a:ext cx="4937760" cy="731520"/>
          </a:xfrm>
          <a:prstGeom prst="rect">
            <a:avLst/>
          </a:prstGeom>
          <a:noFill/>
          <a:ln/>
        </p:spPr>
        <p:txBody>
          <a:bodyPr wrap="square" lIns="0" tIns="0" rIns="0" bIns="0" rtlCol="0" anchor="t"/>
          <a:lstStyle/>
          <a:p>
            <a:pPr indent="0" marL="0">
              <a:buNone/>
            </a:pPr>
            <a:r>
              <a:rPr lang="en-US" sz="2000" b="1" dirty="0">
                <a:solidFill>
                  <a:schemeClr val="accent4"/>
                </a:solidFill>
              </a:rPr>
              <a:t>직접 간섭</a:t>
            </a:r>
            <a:endParaRPr lang="en-US" sz="1500" dirty="0"/>
          </a:p>
          <a:p>
            <a:pPr indent="0" marL="0">
              <a:buNone/>
            </a:pPr>
            <a:r>
              <a:rPr lang="en-US" sz="1400" dirty="0">
                <a:solidFill>
                  <a:schemeClr val="tx2"/>
                </a:solidFill>
              </a:rPr>
              <a:t>사용자끼리 연결된 서비스 · 네트워크 효과</a:t>
            </a:r>
            <a:endParaRPr lang="en-US" sz="1500" dirty="0"/>
          </a:p>
        </p:txBody>
      </p:sp>
      <p:sp>
        <p:nvSpPr>
          <p:cNvPr id="7" name="Text 4"/>
          <p:cNvSpPr txBox="1"/>
          <p:nvPr/>
        </p:nvSpPr>
        <p:spPr>
          <a:xfrm>
            <a:off x="640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새 공유 기능</a:t>
            </a:r>
            <a:endParaRPr lang="en-US" sz="1500" dirty="0"/>
          </a:p>
        </p:txBody>
      </p:sp>
      <p:sp>
        <p:nvSpPr>
          <p:cNvPr id="8" name="Text 5"/>
          <p:cNvSpPr txBox="1"/>
          <p:nvPr/>
        </p:nvSpPr>
        <p:spPr>
          <a:xfrm>
            <a:off x="868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B 사용자의 공유량 증가</a:t>
            </a:r>
            <a:endParaRPr lang="en-US" sz="1500" dirty="0"/>
          </a:p>
        </p:txBody>
      </p:sp>
      <p:sp>
        <p:nvSpPr>
          <p:cNvPr id="9" name="Text 6"/>
          <p:cNvSpPr txBox="1"/>
          <p:nvPr/>
        </p:nvSpPr>
        <p:spPr>
          <a:xfrm>
            <a:off x="1097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친구 피드 노출 증가</a:t>
            </a:r>
            <a:endParaRPr lang="en-US" sz="1500" dirty="0"/>
          </a:p>
        </p:txBody>
      </p:sp>
      <p:sp>
        <p:nvSpPr>
          <p:cNvPr id="10" name="Text 7"/>
          <p:cNvSpPr txBox="1"/>
          <p:nvPr/>
        </p:nvSpPr>
        <p:spPr>
          <a:xfrm>
            <a:off x="1325880" y="448056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 A 사용자의 행동도 바뀐다</a:t>
            </a:r>
            <a:endParaRPr lang="en-US" sz="1500" dirty="0"/>
          </a:p>
        </p:txBody>
      </p:sp>
      <p:sp>
        <p:nvSpPr>
          <p:cNvPr id="11" name="Text 8"/>
          <p:cNvSpPr txBox="1"/>
          <p:nvPr/>
        </p:nvSpPr>
        <p:spPr>
          <a:xfrm>
            <a:off x="640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SNS, 메신저, 게임</a:t>
            </a:r>
            <a:endParaRPr lang="en-US" sz="1400" dirty="0"/>
          </a:p>
        </p:txBody>
      </p:sp>
      <p:sp>
        <p:nvSpPr>
          <p:cNvPr id="12" name="Shape 9"/>
          <p:cNvSpPr/>
          <p:nvPr/>
        </p:nvSpPr>
        <p:spPr>
          <a:xfrm>
            <a:off x="5989320" y="2423160"/>
            <a:ext cx="0" cy="3200400"/>
          </a:xfrm>
          <a:prstGeom prst="line">
            <a:avLst/>
          </a:prstGeom>
          <a:noFill/>
          <a:ln w="12700">
            <a:solidFill>
              <a:srgbClr val="E3E7F1"/>
            </a:solidFill>
            <a:prstDash val="solid"/>
          </a:ln>
        </p:spPr>
      </p:sp>
      <p:sp>
        <p:nvSpPr>
          <p:cNvPr id="13" name="Text 10"/>
          <p:cNvSpPr txBox="1"/>
          <p:nvPr/>
        </p:nvSpPr>
        <p:spPr>
          <a:xfrm>
            <a:off x="6355080" y="2377440"/>
            <a:ext cx="4937760" cy="731520"/>
          </a:xfrm>
          <a:prstGeom prst="rect">
            <a:avLst/>
          </a:prstGeom>
          <a:noFill/>
          <a:ln/>
        </p:spPr>
        <p:txBody>
          <a:bodyPr wrap="square" lIns="0" tIns="0" rIns="0" bIns="0" rtlCol="0" anchor="t"/>
          <a:lstStyle/>
          <a:p>
            <a:pPr indent="0" marL="0">
              <a:buNone/>
            </a:pPr>
            <a:r>
              <a:rPr lang="en-US" sz="2000" b="1" dirty="0">
                <a:solidFill>
                  <a:schemeClr val="accent5"/>
                </a:solidFill>
              </a:rPr>
              <a:t>간접 간섭</a:t>
            </a:r>
            <a:endParaRPr lang="en-US" sz="1500" dirty="0"/>
          </a:p>
          <a:p>
            <a:pPr indent="0" marL="0">
              <a:buNone/>
            </a:pPr>
            <a:r>
              <a:rPr lang="en-US" sz="1400" dirty="0">
                <a:solidFill>
                  <a:schemeClr val="tx2"/>
                </a:solidFill>
              </a:rPr>
              <a:t>공유 자원·같은 시장을 통해 · 마켓플레이스</a:t>
            </a:r>
            <a:endParaRPr lang="en-US" sz="1500" dirty="0"/>
          </a:p>
        </p:txBody>
      </p:sp>
      <p:sp>
        <p:nvSpPr>
          <p:cNvPr id="14" name="Text 11"/>
          <p:cNvSpPr txBox="1"/>
          <p:nvPr/>
        </p:nvSpPr>
        <p:spPr>
          <a:xfrm>
            <a:off x="6355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저가 매물 자동 일괄 구매</a:t>
            </a:r>
            <a:endParaRPr lang="en-US" sz="1500" dirty="0"/>
          </a:p>
        </p:txBody>
      </p:sp>
      <p:sp>
        <p:nvSpPr>
          <p:cNvPr id="15" name="Text 12"/>
          <p:cNvSpPr txBox="1"/>
          <p:nvPr/>
        </p:nvSpPr>
        <p:spPr>
          <a:xfrm>
            <a:off x="6583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경매장 저가 매물이 빨리 소진</a:t>
            </a:r>
            <a:endParaRPr lang="en-US" sz="1500" dirty="0"/>
          </a:p>
        </p:txBody>
      </p:sp>
      <p:sp>
        <p:nvSpPr>
          <p:cNvPr id="16" name="Text 13"/>
          <p:cNvSpPr txBox="1"/>
          <p:nvPr/>
        </p:nvSpPr>
        <p:spPr>
          <a:xfrm>
            <a:off x="6812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A가 보는 평균 가격 상승</a:t>
            </a:r>
            <a:endParaRPr lang="en-US" sz="1500" dirty="0"/>
          </a:p>
        </p:txBody>
      </p:sp>
      <p:sp>
        <p:nvSpPr>
          <p:cNvPr id="17" name="Text 14"/>
          <p:cNvSpPr txBox="1"/>
          <p:nvPr/>
        </p:nvSpPr>
        <p:spPr>
          <a:xfrm>
            <a:off x="7040880" y="4480560"/>
            <a:ext cx="4572000" cy="365760"/>
          </a:xfrm>
          <a:prstGeom prst="rect">
            <a:avLst/>
          </a:prstGeom>
          <a:noFill/>
          <a:ln/>
        </p:spPr>
        <p:txBody>
          <a:bodyPr wrap="square" lIns="0" tIns="0" rIns="0" bIns="0" rtlCol="0" anchor="t"/>
          <a:lstStyle/>
          <a:p>
            <a:pPr indent="0" marL="0">
              <a:buNone/>
            </a:pPr>
            <a:r>
              <a:rPr lang="en-US" sz="1500" b="1" dirty="0">
                <a:solidFill>
                  <a:schemeClr val="accent5"/>
                </a:solidFill>
              </a:rPr>
              <a:t>→ A는 기능을 안 받았는데 경험이 바뀐다</a:t>
            </a:r>
            <a:endParaRPr lang="en-US" sz="1500" dirty="0"/>
          </a:p>
        </p:txBody>
      </p:sp>
      <p:sp>
        <p:nvSpPr>
          <p:cNvPr id="18" name="Text 15"/>
          <p:cNvSpPr txBox="1"/>
          <p:nvPr/>
        </p:nvSpPr>
        <p:spPr>
          <a:xfrm>
            <a:off x="6355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Airbnb 숙소, Uber 드라이버, 광고 예산, 서버 부하</a:t>
            </a:r>
            <a:endParaRPr lang="en-US" sz="1400" dirty="0"/>
          </a:p>
        </p:txBody>
      </p:sp>
      <p:sp>
        <p:nvSpPr>
          <p:cNvPr id="19" name="Text 16"/>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1.1~1.3 · 메이플 옥션 예시는 위키 원문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간섭의 영향</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간섭이 있으면 실험 결과가 이렇게 흔들린다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대조군 오염</a:t>
            </a:r>
            <a:endParaRPr lang="en-US" sz="1500" dirty="0"/>
          </a:p>
          <a:p>
            <a:pPr indent="0" marL="0">
              <a:buNone/>
            </a:pPr>
            <a:r>
              <a:rPr lang="en-US" sz="1500" dirty="0">
                <a:solidFill>
                  <a:schemeClr val="tx2"/>
                </a:solidFill>
              </a:rPr>
              <a:t>A가 더 이상 '처치 없는 기준선'이 아니다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효과의 과대·과소 추정</a:t>
            </a:r>
            <a:endParaRPr lang="en-US" sz="1500" dirty="0"/>
          </a:p>
          <a:p>
            <a:pPr indent="0" marL="0">
              <a:buNone/>
            </a:pPr>
            <a:r>
              <a:rPr lang="en-US" sz="1500" dirty="0">
                <a:solidFill>
                  <a:schemeClr val="tx2"/>
                </a:solidFill>
              </a:rPr>
              <a:t>내 결과가 다른 사람의 배정에도 좌우된다</a:t>
            </a:r>
            <a:endParaRPr lang="en-US" sz="1500" dirty="0"/>
          </a:p>
        </p:txBody>
      </p:sp>
      <p:sp>
        <p:nvSpPr>
          <p:cNvPr id="9" name="Text 6"/>
          <p:cNvSpPr txBox="1"/>
          <p:nvPr/>
        </p:nvSpPr>
        <p:spPr>
          <a:xfrm>
            <a:off x="64008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ATE의 의미가 흐려진다</a:t>
            </a:r>
            <a:endParaRPr lang="en-US" sz="1500" dirty="0"/>
          </a:p>
          <a:p>
            <a:pPr indent="0" marL="0">
              <a:buNone/>
            </a:pPr>
            <a:r>
              <a:rPr lang="en-US" sz="1500" dirty="0">
                <a:solidFill>
                  <a:schemeClr val="tx2"/>
                </a:solidFill>
              </a:rPr>
              <a:t>Yᵢ(Tᵢ)가 아니라 Yᵢ(T₁, T₂, …, Tₙ)</a:t>
            </a:r>
            <a:endParaRPr lang="en-US" sz="1500" dirty="0"/>
          </a:p>
        </p:txBody>
      </p:sp>
      <p:sp>
        <p:nvSpPr>
          <p:cNvPr id="11" name="Text 8"/>
          <p:cNvSpPr txBox="1"/>
          <p:nvPr/>
        </p:nvSpPr>
        <p:spPr>
          <a:xfrm>
            <a:off x="621792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부분 적용 ≠ 전체 적용</a:t>
            </a:r>
            <a:endParaRPr lang="en-US" sz="1500" dirty="0"/>
          </a:p>
          <a:p>
            <a:pPr indent="0" marL="0">
              <a:buNone/>
            </a:pPr>
            <a:r>
              <a:rPr lang="en-US" sz="1500" dirty="0">
                <a:solidFill>
                  <a:schemeClr val="tx2"/>
                </a:solidFill>
              </a:rPr>
              <a:t>실험에서 잰 효과가 100% 출시 때와 다를 수 있다</a:t>
            </a:r>
            <a:endParaRPr lang="en-US" sz="1500" dirty="0"/>
          </a:p>
        </p:txBody>
      </p:sp>
      <p:sp>
        <p:nvSpPr>
          <p:cNvPr id="13" name="Text 10"/>
          <p:cNvSpPr txBox="1"/>
          <p:nvPr/>
        </p:nvSpPr>
        <p:spPr>
          <a:xfrm>
            <a:off x="640080" y="397764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05</a:t>
            </a:r>
            <a:endParaRPr lang="en-US" sz="3000" dirty="0"/>
          </a:p>
        </p:txBody>
      </p:sp>
      <p:sp>
        <p:nvSpPr>
          <p:cNvPr id="14" name="Text 11"/>
          <p:cNvSpPr txBox="1"/>
          <p:nvPr/>
        </p:nvSpPr>
        <p:spPr>
          <a:xfrm>
            <a:off x="1554480" y="4023360"/>
            <a:ext cx="4480560" cy="914400"/>
          </a:xfrm>
          <a:prstGeom prst="rect">
            <a:avLst/>
          </a:prstGeom>
          <a:noFill/>
          <a:ln/>
        </p:spPr>
        <p:txBody>
          <a:bodyPr wrap="square" lIns="0" tIns="0" rIns="0" bIns="0" rtlCol="0" anchor="t"/>
          <a:lstStyle/>
          <a:p>
            <a:pPr indent="0" marL="0">
              <a:buNone/>
            </a:pPr>
            <a:r>
              <a:rPr lang="en-US" sz="2000" b="1" dirty="0">
                <a:solidFill>
                  <a:schemeClr val="tx1"/>
                </a:solidFill>
              </a:rPr>
              <a:t>유의해도 인과는 아니다</a:t>
            </a:r>
            <a:endParaRPr lang="en-US" sz="1500" dirty="0"/>
          </a:p>
          <a:p>
            <a:pPr indent="0" marL="0">
              <a:buNone/>
            </a:pPr>
            <a:r>
              <a:rPr lang="en-US" sz="1500" dirty="0">
                <a:solidFill>
                  <a:schemeClr val="tx2"/>
                </a:solidFill>
              </a:rPr>
              <a:t>표본을 늘려도 안 고쳐지고, 표준오차·신뢰구간도 부정확해진다</a:t>
            </a:r>
            <a:endParaRPr lang="en-US" sz="1500" dirty="0"/>
          </a:p>
        </p:txBody>
      </p:sp>
      <p:sp>
        <p:nvSpPr>
          <p:cNvPr id="15" name="Text 12"/>
          <p:cNvSpPr txBox="1"/>
          <p:nvPr/>
        </p:nvSpPr>
        <p:spPr>
          <a:xfrm>
            <a:off x="6217920" y="4069080"/>
            <a:ext cx="5349240" cy="10972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"사용자 단위로 나눈 마켓플레이스 실험이라, 이 효과는 전체 출시 효과와 다를 수 있습니다"</a:t>
            </a:r>
            <a:endParaRPr lang="en-US" sz="1500" dirty="0"/>
          </a:p>
        </p:txBody>
      </p:sp>
      <p:sp>
        <p:nvSpPr>
          <p:cNvPr id="16" name="Text 1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 줄이기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간섭을 줄이려면 나누는 단위를 다시 설계한다</a:t>
            </a:r>
            <a:endParaRPr lang="en-US" sz="20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377440"/>
                <a:gridCol w="3200400"/>
                <a:gridCol w="2743200"/>
                <a:gridCol w="2587752"/>
              </a:tblGrid>
              <a:tr h="566928">
                <a:tc>
                  <a:txBody>
                    <a:bodyPr/>
                    <a:lstStyle/>
                    <a:p>
                      <a:pPr indent="0" marL="0">
                        <a:buNone/>
                      </a:pPr>
                      <a:r>
                        <a:rPr lang="en-US" sz="1400" b="1" dirty="0">
                          <a:solidFill>
                            <a:srgbClr val="555C7A"/>
                          </a:solidFill>
                        </a:rPr>
                        <a:t>방법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대가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서로 영향을 주는 사용자를 묶어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친구·동네처럼 연결이 뚜렷할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독립 단위 수 감소 → 검정력 저하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자원 분리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B가 쓰는 자원을 나눈다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광고 예산처럼 나눌 수 있는 자원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마켓플레이스에선 완전히 나누기 어렵다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Geo-based</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지역을 실험 단위로 (지역 = 클러스터)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안 상호작용이 클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수가 표본 → 검정력 저하, 지역 차이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배차·가격처럼 시장이 실시간으로 얽힐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시간대별 수요 차이, 이월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분석 단계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직접 효과와 Spillover 효과를 나눠 추정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설계만으로 다 막지 못할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네트워크 정보와 추가 가정이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클러스터·지역 단위로 나눴다면 분석의 불확실성도 그 단위로 계산합니다 (배정 단위와 분석 단위, Ch3)</a:t>
            </a:r>
            <a:endParaRPr lang="en-US" sz="1500" dirty="0"/>
          </a:p>
        </p:txBody>
      </p:sp>
      <p:sp>
        <p:nvSpPr>
          <p:cNvPr id="7" name="Text 3"/>
          <p:cNvSpPr txBox="1"/>
          <p:nvPr/>
        </p:nvSpPr>
        <p:spPr>
          <a:xfrm>
            <a:off x="640080" y="603504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07편 2.1~2.5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윤리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측정할 수 있는가와 해도 되는가는 다른 질문이다</a:t>
            </a:r>
            <a:endParaRPr lang="en-US" sz="2000" dirty="0"/>
          </a:p>
        </p:txBody>
      </p:sp>
      <p:sp>
        <p:nvSpPr>
          <p:cNvPr id="5" name="Text 2"/>
          <p:cNvSpPr txBox="1"/>
          <p:nvPr/>
        </p:nvSpPr>
        <p:spPr>
          <a:xfrm>
            <a:off x="640080" y="1783080"/>
            <a:ext cx="502920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고려할 것</a:t>
            </a:r>
            <a:endParaRPr lang="en-US" sz="1500" dirty="0"/>
          </a:p>
          <a:p>
            <a:pPr indent="0" marL="0">
              <a:buNone/>
            </a:pPr>
            <a:r>
              <a:rPr lang="en-US" sz="2000" b="1" dirty="0">
                <a:solidFill>
                  <a:schemeClr val="tx1"/>
                </a:solidFill>
              </a:rPr>
              <a:t>사용자 동의와 투명성</a:t>
            </a:r>
            <a:endParaRPr lang="en-US" sz="1500" dirty="0"/>
          </a:p>
          <a:p>
            <a:pPr indent="0" marL="0">
              <a:spcAft>
                <a:spcPts val="1200"/>
              </a:spcAft>
              <a:buNone/>
            </a:pPr>
            <a:r>
              <a:rPr lang="en-US" sz="1500" dirty="0">
                <a:solidFill>
                  <a:schemeClr val="tx2"/>
                </a:solidFill>
              </a:rPr>
              <a:t>서비스 이용 동의 ≠ 실험 참여 동의. 감정 전염 실험(689,003명)</a:t>
            </a:r>
            <a:endParaRPr lang="en-US" sz="1500" dirty="0"/>
          </a:p>
          <a:p>
            <a:pPr indent="0" marL="0">
              <a:buNone/>
            </a:pPr>
            <a:r>
              <a:rPr lang="en-US" sz="2000" b="1" dirty="0">
                <a:solidFill>
                  <a:schemeClr val="tx1"/>
                </a:solidFill>
              </a:rPr>
              <a:t>사용자가 받을 수 있는 피해</a:t>
            </a:r>
            <a:endParaRPr lang="en-US" sz="1500" dirty="0"/>
          </a:p>
          <a:p>
            <a:pPr indent="0" marL="0">
              <a:spcAft>
                <a:spcPts val="1200"/>
              </a:spcAft>
              <a:buNone/>
            </a:pPr>
            <a:r>
              <a:rPr lang="en-US" sz="1500" dirty="0">
                <a:solidFill>
                  <a:schemeClr val="tx2"/>
                </a:solidFill>
              </a:rPr>
              <a:t>지표가 오르는 것만으로 실험이 정당화되지 않는다</a:t>
            </a:r>
            <a:endParaRPr lang="en-US" sz="1500" dirty="0"/>
          </a:p>
          <a:p>
            <a:pPr indent="0" marL="0">
              <a:buNone/>
            </a:pPr>
            <a:r>
              <a:rPr lang="en-US" sz="2000" b="1" dirty="0">
                <a:solidFill>
                  <a:schemeClr val="tx1"/>
                </a:solidFill>
              </a:rPr>
              <a:t>실험 밖으로 퍼지는 영향</a:t>
            </a:r>
            <a:endParaRPr lang="en-US" sz="1500" dirty="0"/>
          </a:p>
          <a:p>
            <a:pPr indent="0" marL="0">
              <a:buNone/>
            </a:pPr>
            <a:r>
              <a:rPr lang="en-US" sz="1500" dirty="0">
                <a:solidFill>
                  <a:schemeClr val="tx2"/>
                </a:solidFill>
              </a:rPr>
              <a:t>간섭은 외부효과이기도 하다. 투표 독려 실험(약 6,100만 명)</a:t>
            </a:r>
            <a:endParaRPr lang="en-US" sz="1500" dirty="0"/>
          </a:p>
        </p:txBody>
      </p:sp>
      <p:sp>
        <p:nvSpPr>
          <p:cNvPr id="6" name="Shape 3"/>
          <p:cNvSpPr/>
          <p:nvPr/>
        </p:nvSpPr>
        <p:spPr>
          <a:xfrm>
            <a:off x="5989320" y="1828800"/>
            <a:ext cx="0" cy="3657600"/>
          </a:xfrm>
          <a:prstGeom prst="line">
            <a:avLst/>
          </a:prstGeom>
          <a:noFill/>
          <a:ln w="12700">
            <a:solidFill>
              <a:srgbClr val="E3E7F1"/>
            </a:solidFill>
            <a:prstDash val="solid"/>
          </a:ln>
        </p:spPr>
      </p:sp>
      <p:sp>
        <p:nvSpPr>
          <p:cNvPr id="7" name="Text 4"/>
          <p:cNvSpPr txBox="1"/>
          <p:nvPr/>
        </p:nvSpPr>
        <p:spPr>
          <a:xfrm>
            <a:off x="6355080" y="1783080"/>
            <a:ext cx="521208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대응</a:t>
            </a:r>
            <a:endParaRPr lang="en-US" sz="1500" dirty="0"/>
          </a:p>
          <a:p>
            <a:pPr indent="0" marL="0">
              <a:buNone/>
            </a:pPr>
            <a:r>
              <a:rPr lang="en-US" sz="2000" b="1" dirty="0">
                <a:solidFill>
                  <a:schemeClr val="accent1"/>
                </a:solidFill>
              </a:rPr>
              <a:t>실험 전 위험성 평가</a:t>
            </a:r>
            <a:endParaRPr lang="en-US" sz="1500" dirty="0"/>
          </a:p>
          <a:p>
            <a:pPr indent="0" marL="0">
              <a:spcAft>
                <a:spcPts val="1200"/>
              </a:spcAft>
              <a:buNone/>
            </a:pPr>
            <a:r>
              <a:rPr lang="en-US" sz="1500" dirty="0">
                <a:solidFill>
                  <a:schemeClr val="tx2"/>
                </a:solidFill>
              </a:rPr>
              <a:t>민감 영역·특정 집단 불이익·확산 가능성 점검, 필요하면 추가 동의나 Opt-out</a:t>
            </a:r>
            <a:endParaRPr lang="en-US" sz="1500" dirty="0"/>
          </a:p>
          <a:p>
            <a:pPr indent="0" marL="0">
              <a:buNone/>
            </a:pPr>
            <a:r>
              <a:rPr lang="en-US" sz="2000" b="1" dirty="0">
                <a:solidFill>
                  <a:schemeClr val="accent1"/>
                </a:solidFill>
              </a:rPr>
              <a:t>Guardrail Metric과 점진적 노출</a:t>
            </a:r>
            <a:endParaRPr lang="en-US" sz="1500" dirty="0"/>
          </a:p>
          <a:p>
            <a:pPr indent="0" marL="0">
              <a:spcAft>
                <a:spcPts val="1200"/>
              </a:spcAft>
              <a:buNone/>
            </a:pPr>
            <a:r>
              <a:rPr lang="en-US" sz="1500" dirty="0">
                <a:solidFill>
                  <a:schemeClr val="tx2"/>
                </a:solidFill>
              </a:rPr>
              <a:t>1%부터 노출하며 부작용을 확인한다</a:t>
            </a:r>
            <a:endParaRPr lang="en-US" sz="1500" dirty="0"/>
          </a:p>
          <a:p>
            <a:pPr indent="0" marL="0">
              <a:buNone/>
            </a:pPr>
            <a:r>
              <a:rPr lang="en-US" sz="2000" b="1" dirty="0">
                <a:solidFill>
                  <a:schemeClr val="accent1"/>
                </a:solidFill>
              </a:rPr>
              <a:t>중단 기준 사전 설정</a:t>
            </a:r>
            <a:endParaRPr lang="en-US" sz="1500" dirty="0"/>
          </a:p>
          <a:p>
            <a:pPr indent="0" marL="0">
              <a:buNone/>
            </a:pPr>
            <a:r>
              <a:rPr lang="en-US" sz="1500" dirty="0">
                <a:solidFill>
                  <a:schemeClr val="tx2"/>
                </a:solidFill>
              </a:rPr>
              <a:t>오류율·신고율이 임계치를 넘으면 유의성을 기다리지 않고 멈춘다</a:t>
            </a:r>
            <a:endParaRPr lang="en-US" sz="1500" dirty="0"/>
          </a:p>
        </p:txBody>
      </p:sp>
      <p:sp>
        <p:nvSpPr>
          <p:cNvPr id="8" name="Text 5"/>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Kramer et al. (2014), PNAS · Bond et al. (2012), Nature · 위키 08편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목적이 다르면 실험 방식도 다르다</a:t>
            </a:r>
            <a:endParaRPr lang="en-US" sz="20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343400"/>
            <a:ext cx="10911535" cy="822960"/>
          </a:xfrm>
          <a:prstGeom prst="rect">
            <a:avLst/>
          </a:prstGeom>
          <a:noFill/>
          <a:ln/>
        </p:spPr>
        <p:txBody>
          <a:bodyPr wrap="square" lIns="0" tIns="0" rIns="0" bIns="0" rtlCol="0" anchor="t"/>
          <a:lstStyle/>
          <a:p>
            <a:pPr indent="0" marL="0">
              <a:spcAft>
                <a:spcPts val="600"/>
              </a:spcAft>
              <a:buNone/>
            </a:pPr>
            <a:r>
              <a:rPr lang="en-US" sz="1500" dirty="0">
                <a:solidFill>
                  <a:schemeClr val="tx2"/>
                </a:solidFill>
              </a:rPr>
              <a:t>밴딧: 이기는 쪽은 빨리 찾지만 효과 크기 추정은 부정확</a:t>
            </a:r>
            <a:endParaRPr lang="en-US" sz="1500" dirty="0"/>
          </a:p>
          <a:p>
            <a:pPr indent="0" marL="0">
              <a:buNone/>
            </a:pPr>
            <a:r>
              <a:rPr lang="en-US" sz="1500" dirty="0">
                <a:solidFill>
                  <a:schemeClr val="tx2"/>
                </a:solidFill>
              </a:rPr>
              <a:t>Cluster · Geo · Switchback → 간섭 줄이기 슬라이드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없이 인과를 추정하는 세 가지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그리고 의사결정으로 닫기</a:t>
            </a:r>
            <a:endParaRPr lang="en-US" sz="2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잘하는 회사들이 오늘 개념을 어떻게 쓰나</a:t>
            </a:r>
            <a:endParaRPr lang="en-US" sz="2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좋아 보이는 것 ≠ 실제로 좋은 것</a:t>
            </a:r>
            <a:endParaRPr lang="en-US" sz="1500" dirty="0"/>
          </a:p>
          <a:p>
            <a:pPr indent="0" marL="0">
              <a:buNone/>
            </a:pPr>
            <a:r>
              <a:rPr lang="en-US" sz="1400" dirty="0">
                <a:solidFill>
                  <a:schemeClr val="tx2"/>
                </a:solidFill>
              </a:rPr>
              <a:t>잭팟 한 번보다 많은 아이디어를 싸게 실험하는 구조</a:t>
            </a:r>
            <a:endParaRPr lang="en-US" sz="1500" dirty="0"/>
          </a:p>
        </p:txBody>
      </p:sp>
      <p:sp>
        <p:nvSpPr>
          <p:cNvPr id="11" name="Text 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11편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조직의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팀마다 OEC는 달라도 같은 장기 목표를 향한다</a:t>
            </a:r>
            <a:endParaRPr lang="en-US" sz="20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766560" cy="914400"/>
        </p:xfrm>
        <a:graphic>
          <a:graphicData uri="http://schemas.openxmlformats.org/drawingml/2006/table">
            <a:tbl>
              <a:tblPr/>
              <a:tblGrid>
                <a:gridCol w="1554480"/>
                <a:gridCol w="2926080"/>
                <a:gridCol w="2286000"/>
              </a:tblGrid>
              <a:tr h="512064">
                <a:tc>
                  <a:txBody>
                    <a:bodyPr/>
                    <a:lstStyle/>
                    <a:p>
                      <a:pPr indent="0" marL="0">
                        <a:buNone/>
                      </a:pPr>
                      <a:r>
                        <a:rPr lang="en-US" sz="1400" b="1" dirty="0">
                          <a:solidFill>
                            <a:srgbClr val="555C7A"/>
                          </a:solidFill>
                        </a:rPr>
                        <a:t>조직·분야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 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이렇게 보나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회사 전체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고객 생애가치(CLV), 장기 구매 유지율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장기적인 사업 가치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검색팀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후 구매율, 검색 성공률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추천팀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추천을 통한 구매·장기 이용</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결제팀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완료율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과정의 마찰을 줄일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배송팀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정시 배송률, 재구매 관련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배송 경험을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18120" y="1737360"/>
            <a:ext cx="3749040" cy="3657600"/>
          </a:xfrm>
          <a:prstGeom prst="rect">
            <a:avLst/>
          </a:prstGeom>
          <a:noFill/>
          <a:ln/>
        </p:spPr>
        <p:txBody>
          <a:bodyPr wrap="square" lIns="0" tIns="0" rIns="0" bIns="0" rtlCol="0" anchor="t"/>
          <a:lstStyle/>
          <a:p>
            <a:pPr indent="0" marL="0">
              <a:buNone/>
            </a:pPr>
            <a:r>
              <a:rPr lang="en-US" sz="2000" b="1" dirty="0">
                <a:solidFill>
                  <a:schemeClr val="accent1"/>
                </a:solidFill>
              </a:rPr>
              <a:t>토스 · 푸시 알림</a:t>
            </a:r>
            <a:endParaRPr lang="en-US" sz="1500" dirty="0"/>
          </a:p>
          <a:p>
            <a:pPr indent="0" marL="0">
              <a:buNone/>
            </a:pPr>
            <a:r>
              <a:rPr lang="en-US" sz="1500" dirty="0">
                <a:solidFill>
                  <a:schemeClr val="tx1"/>
                </a:solidFill>
              </a:rPr>
              <a:t>주 지표: 푸시 CTR</a:t>
            </a:r>
            <a:endParaRPr lang="en-US" sz="1500" dirty="0"/>
          </a:p>
          <a:p>
            <a:pPr indent="0" marL="0">
              <a:spcAft>
                <a:spcPts val="1400"/>
              </a:spcAft>
              <a:buNone/>
            </a:pPr>
            <a:r>
              <a:rPr lang="en-US" sz="1500" dirty="0">
                <a:solidFill>
                  <a:schemeClr val="tx2"/>
                </a:solidFill>
              </a:rPr>
              <a:t>가드레일: 앱 오픈 AU, 서비스별 AU, 매출 하락 방지</a:t>
            </a:r>
            <a:endParaRPr lang="en-US" sz="1500" dirty="0"/>
          </a:p>
          <a:p>
            <a:pPr indent="0" marL="0">
              <a:buNone/>
            </a:pPr>
            <a:r>
              <a:rPr lang="en-US" sz="2000" b="1" dirty="0">
                <a:solidFill>
                  <a:schemeClr val="accent1"/>
                </a:solidFill>
              </a:rPr>
              <a:t>토스뱅크 · 신분증 촬영</a:t>
            </a:r>
            <a:endParaRPr lang="en-US" sz="1500" dirty="0"/>
          </a:p>
          <a:p>
            <a:pPr indent="0" marL="0">
              <a:buNone/>
            </a:pPr>
            <a:r>
              <a:rPr lang="en-US" sz="1500" dirty="0">
                <a:solidFill>
                  <a:schemeClr val="tx1"/>
                </a:solidFill>
              </a:rPr>
              <a:t>촬영 단계 통과율 + 사후 검증 반려율</a:t>
            </a:r>
            <a:endParaRPr lang="en-US" sz="1500" dirty="0"/>
          </a:p>
          <a:p>
            <a:pPr indent="0" marL="0">
              <a:buNone/>
            </a:pPr>
            <a:r>
              <a:rPr lang="en-US" sz="1500" dirty="0">
                <a:solidFill>
                  <a:schemeClr val="tx2"/>
                </a:solidFill>
              </a:rPr>
              <a:t>원활하게 통과하면서 잘못된 신분증은 걸러지는가를 지표 조합으로 측정</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토스 기술 블로그 「진짜 A/B 테스트」, 「토스뱅크가 AI로 보안과 효율도 챙기는 방법」 · 위키 11편 1.1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실험과 제품 개발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작게 반복하는 개발 방식과 잘 맞는다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애자일 (Agile)</a:t>
            </a:r>
            <a:endParaRPr lang="en-US" sz="1500" dirty="0"/>
          </a:p>
          <a:p>
            <a:pPr indent="0" marL="0">
              <a:buNone/>
            </a:pPr>
            <a:r>
              <a:rPr lang="en-US" sz="1500" dirty="0">
                <a:solidFill>
                  <a:schemeClr val="tx2"/>
                </a:solidFill>
              </a:rPr>
              <a:t>제품을 한 번에 완성하지 않고 작은 단위로 개발해 빠르게 반복 개선한다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고객 개발 (Customer Development)</a:t>
            </a:r>
            <a:endParaRPr lang="en-US" sz="1500" dirty="0"/>
          </a:p>
          <a:p>
            <a:pPr indent="0" marL="0">
              <a:buNone/>
            </a:pPr>
            <a:r>
              <a:rPr lang="en-US" sz="1500" dirty="0">
                <a:solidFill>
                  <a:schemeClr val="tx2"/>
                </a:solidFill>
              </a:rPr>
              <a:t>세운 가설이 맞는지 실제 고객을 통해 계속 검증한다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린 스타트업 (Lean Startup)</a:t>
            </a:r>
            <a:endParaRPr lang="en-US" sz="1500" dirty="0"/>
          </a:p>
          <a:p>
            <a:pPr indent="0" marL="0">
              <a:buNone/>
            </a:pPr>
            <a:r>
              <a:rPr lang="en-US" sz="1500" dirty="0">
                <a:solidFill>
                  <a:schemeClr val="tx2"/>
                </a:solidFill>
              </a:rPr>
              <a:t>Build → Measure → Learn을 반복하고, MVP로 큰 투자 전에 핵심 가설을 먼저 검증한다</a:t>
            </a:r>
            <a:endParaRPr lang="en-US" sz="1500" dirty="0"/>
          </a:p>
        </p:txBody>
      </p:sp>
      <p:sp>
        <p:nvSpPr>
          <p:cNvPr id="11" name="Text 8"/>
          <p:cNvSpPr txBox="1"/>
          <p:nvPr/>
        </p:nvSpPr>
        <p:spPr>
          <a:xfrm>
            <a:off x="64008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아이디어</a:t>
            </a:r>
            <a:endParaRPr lang="en-US" sz="2000" dirty="0"/>
          </a:p>
        </p:txBody>
      </p:sp>
      <p:sp>
        <p:nvSpPr>
          <p:cNvPr id="12" name="Shape 9"/>
          <p:cNvSpPr/>
          <p:nvPr/>
        </p:nvSpPr>
        <p:spPr>
          <a:xfrm>
            <a:off x="2331720" y="4800600"/>
            <a:ext cx="457200" cy="0"/>
          </a:xfrm>
          <a:prstGeom prst="line">
            <a:avLst/>
          </a:prstGeom>
          <a:noFill/>
          <a:ln w="19050">
            <a:solidFill>
              <a:srgbClr val="8A90A8"/>
            </a:solidFill>
            <a:prstDash val="solid"/>
            <a:tailEnd type="triangle"/>
          </a:ln>
        </p:spPr>
      </p:sp>
      <p:sp>
        <p:nvSpPr>
          <p:cNvPr id="13" name="Text 10"/>
          <p:cNvSpPr txBox="1"/>
          <p:nvPr/>
        </p:nvSpPr>
        <p:spPr>
          <a:xfrm>
            <a:off x="288036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빠르게 실험</a:t>
            </a:r>
            <a:endParaRPr lang="en-US" sz="2000" dirty="0"/>
          </a:p>
        </p:txBody>
      </p:sp>
      <p:sp>
        <p:nvSpPr>
          <p:cNvPr id="14" name="Shape 11"/>
          <p:cNvSpPr/>
          <p:nvPr/>
        </p:nvSpPr>
        <p:spPr>
          <a:xfrm>
            <a:off x="4572000" y="4800600"/>
            <a:ext cx="457200" cy="0"/>
          </a:xfrm>
          <a:prstGeom prst="line">
            <a:avLst/>
          </a:prstGeom>
          <a:noFill/>
          <a:ln w="19050">
            <a:solidFill>
              <a:srgbClr val="8A90A8"/>
            </a:solidFill>
            <a:prstDash val="solid"/>
            <a:tailEnd type="triangle"/>
          </a:ln>
        </p:spPr>
      </p:sp>
      <p:sp>
        <p:nvSpPr>
          <p:cNvPr id="15" name="Text 12"/>
          <p:cNvSpPr txBox="1"/>
          <p:nvPr/>
        </p:nvSpPr>
        <p:spPr>
          <a:xfrm>
            <a:off x="5120640" y="4572000"/>
            <a:ext cx="1737360" cy="457200"/>
          </a:xfrm>
          <a:prstGeom prst="rect">
            <a:avLst/>
          </a:prstGeom>
          <a:noFill/>
          <a:ln/>
        </p:spPr>
        <p:txBody>
          <a:bodyPr wrap="square" lIns="0" tIns="0" rIns="0" bIns="0" rtlCol="0" anchor="t"/>
          <a:lstStyle/>
          <a:p>
            <a:pPr indent="0" marL="0">
              <a:buNone/>
            </a:pPr>
            <a:r>
              <a:rPr lang="en-US" sz="2000" b="1" dirty="0">
                <a:solidFill>
                  <a:schemeClr val="accent1"/>
                </a:solidFill>
              </a:rPr>
              <a:t>측정</a:t>
            </a:r>
            <a:endParaRPr lang="en-US" sz="2000" dirty="0"/>
          </a:p>
        </p:txBody>
      </p:sp>
      <p:sp>
        <p:nvSpPr>
          <p:cNvPr id="16" name="Shape 13"/>
          <p:cNvSpPr/>
          <p:nvPr/>
        </p:nvSpPr>
        <p:spPr>
          <a:xfrm>
            <a:off x="6812280" y="4800600"/>
            <a:ext cx="457200" cy="0"/>
          </a:xfrm>
          <a:prstGeom prst="line">
            <a:avLst/>
          </a:prstGeom>
          <a:noFill/>
          <a:ln w="19050">
            <a:solidFill>
              <a:srgbClr val="8A90A8"/>
            </a:solidFill>
            <a:prstDash val="solid"/>
            <a:tailEnd type="triangle"/>
          </a:ln>
        </p:spPr>
      </p:sp>
      <p:sp>
        <p:nvSpPr>
          <p:cNvPr id="17" name="Text 14"/>
          <p:cNvSpPr txBox="1"/>
          <p:nvPr/>
        </p:nvSpPr>
        <p:spPr>
          <a:xfrm>
            <a:off x="736092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판단</a:t>
            </a:r>
            <a:endParaRPr lang="en-US" sz="2000" dirty="0"/>
          </a:p>
        </p:txBody>
      </p:sp>
      <p:sp>
        <p:nvSpPr>
          <p:cNvPr id="18" name="Shape 15"/>
          <p:cNvSpPr/>
          <p:nvPr/>
        </p:nvSpPr>
        <p:spPr>
          <a:xfrm>
            <a:off x="9052560" y="4800600"/>
            <a:ext cx="457200" cy="0"/>
          </a:xfrm>
          <a:prstGeom prst="line">
            <a:avLst/>
          </a:prstGeom>
          <a:noFill/>
          <a:ln w="19050">
            <a:solidFill>
              <a:srgbClr val="8A90A8"/>
            </a:solidFill>
            <a:prstDash val="solid"/>
            <a:tailEnd type="triangle"/>
          </a:ln>
        </p:spPr>
      </p:sp>
      <p:sp>
        <p:nvSpPr>
          <p:cNvPr id="19" name="Text 16"/>
          <p:cNvSpPr txBox="1"/>
          <p:nvPr/>
        </p:nvSpPr>
        <p:spPr>
          <a:xfrm>
            <a:off x="960120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다음 실험</a:t>
            </a:r>
            <a:endParaRPr lang="en-US" sz="2000" dirty="0"/>
          </a:p>
        </p:txBody>
      </p:sp>
      <p:sp>
        <p:nvSpPr>
          <p:cNvPr id="20" name="Text 17"/>
          <p:cNvSpPr txBox="1"/>
          <p:nvPr/>
        </p:nvSpPr>
        <p:spPr>
          <a:xfrm>
            <a:off x="640080" y="5212080"/>
            <a:ext cx="10911535" cy="365760"/>
          </a:xfrm>
          <a:prstGeom prst="rect">
            <a:avLst/>
          </a:prstGeom>
          <a:noFill/>
          <a:ln/>
        </p:spPr>
        <p:txBody>
          <a:bodyPr wrap="square" lIns="0" tIns="0" rIns="0" bIns="0" rtlCol="0" anchor="t"/>
          <a:lstStyle/>
          <a:p>
            <a:pPr indent="0" marL="0">
              <a:buNone/>
            </a:pPr>
            <a:r>
              <a:rPr lang="en-US" sz="1500" dirty="0">
                <a:solidFill>
                  <a:schemeClr val="tx2"/>
                </a:solidFill>
              </a:rPr>
              <a:t>A/B 테스트의 자리: 이 반복의 '측정·검증'</a:t>
            </a:r>
            <a:endParaRPr lang="en-US" sz="1500" dirty="0"/>
          </a:p>
        </p:txBody>
      </p:sp>
      <p:sp>
        <p:nvSpPr>
          <p:cNvPr id="21" name="Text 1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11편 1.2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성숙도: Crawl → Walk → Run → Fly</a:t>
            </a:r>
            <a:endParaRPr lang="en-US" sz="20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11편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정리</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이제 우리 조 사례로 직접 설계하고 돌려봅니다</a:t>
            </a:r>
            <a:endParaRPr lang="en-US" sz="2000" dirty="0"/>
          </a:p>
        </p:txBody>
      </p:sp>
      <p:sp>
        <p:nvSpPr>
          <p:cNvPr id="4" name="Text 2"/>
          <p:cNvSpPr txBox="1"/>
          <p:nvPr/>
        </p:nvSpPr>
        <p:spPr>
          <a:xfrm>
            <a:off x="6949440" y="2377440"/>
            <a:ext cx="4754880" cy="27432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복습 퀴즈 1 · 객관식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결과를 보고 가장 먼저 해야 할 일은 무엇일까요?</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2000" dirty="0">
                <a:solidFill>
                  <a:schemeClr val="tx1"/>
                </a:solidFill>
              </a:rPr>
              <a:t>50:50으로 설계한 실험에서 B안 전환율이 +3%p, p = 0.01로 나왔습니다</a:t>
            </a:r>
            <a:endParaRPr lang="en-US" sz="2000" dirty="0"/>
          </a:p>
        </p:txBody>
      </p:sp>
      <p:sp>
        <p:nvSpPr>
          <p:cNvPr id="6" name="Text 3"/>
          <p:cNvSpPr txBox="1"/>
          <p:nvPr/>
        </p:nvSpPr>
        <p:spPr>
          <a:xfrm>
            <a:off x="640080" y="2240280"/>
            <a:ext cx="10911535" cy="685800"/>
          </a:xfrm>
          <a:prstGeom prst="rect">
            <a:avLst/>
          </a:prstGeom>
          <a:noFill/>
          <a:ln/>
        </p:spPr>
        <p:txBody>
          <a:bodyPr wrap="square" lIns="0" tIns="0" rIns="0" bIns="0" rtlCol="0" anchor="t"/>
          <a:lstStyle/>
          <a:p>
            <a:pPr indent="0" marL="0">
              <a:buNone/>
            </a:pPr>
            <a:r>
              <a:rPr lang="en-US" sz="1500" dirty="0">
                <a:solidFill>
                  <a:schemeClr val="tx2"/>
                </a:solidFill>
              </a:rPr>
              <a:t>그런데 실제로 들어온 사용자 수는  </a:t>
            </a:r>
            <a:pPr indent="0" marL="0">
              <a:buNone/>
            </a:pPr>
            <a:r>
              <a:rPr lang="en-US" sz="3000" b="1" dirty="0">
                <a:solidFill>
                  <a:schemeClr val="accent1"/>
                </a:solidFill>
              </a:rPr>
              <a:t>A 50,000명</a:t>
            </a:r>
            <a:pPr indent="0" marL="0">
              <a:buNone/>
            </a:pPr>
            <a:r>
              <a:rPr lang="en-US" sz="3000" dirty="0">
                <a:solidFill>
                  <a:schemeClr val="tx1"/>
                </a:solidFill>
              </a:rPr>
              <a:t>   </a:t>
            </a:r>
            <a:pPr indent="0" marL="0">
              <a:buNone/>
            </a:pPr>
            <a:r>
              <a:rPr lang="en-US" sz="3000" b="1" dirty="0">
                <a:solidFill>
                  <a:schemeClr val="accent3"/>
                </a:solidFill>
              </a:rPr>
              <a:t>B 48,800명</a:t>
            </a:r>
            <a:pPr indent="0" marL="0">
              <a:buNone/>
            </a:pPr>
            <a:r>
              <a:rPr lang="en-US" sz="1500" dirty="0">
                <a:solidFill>
                  <a:schemeClr val="tx2"/>
                </a:solidFill>
              </a:rPr>
              <a:t>  입니다</a:t>
            </a:r>
            <a:endParaRPr lang="en-US" sz="1500" dirty="0"/>
          </a:p>
        </p:txBody>
      </p:sp>
      <p:sp>
        <p:nvSpPr>
          <p:cNvPr id="7" name="Text 4"/>
          <p:cNvSpPr txBox="1"/>
          <p:nvPr/>
        </p:nvSpPr>
        <p:spPr>
          <a:xfrm>
            <a:off x="640080" y="306324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가장 먼저 해야 할 일로 옳은 것을 고르세요.</a:t>
            </a:r>
            <a:endParaRPr lang="en-US" sz="1500" dirty="0"/>
          </a:p>
        </p:txBody>
      </p:sp>
      <p:sp>
        <p:nvSpPr>
          <p:cNvPr id="8" name="Text 5"/>
          <p:cNvSpPr txBox="1"/>
          <p:nvPr/>
        </p:nvSpPr>
        <p:spPr>
          <a:xfrm>
            <a:off x="640080" y="36118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①</a:t>
            </a:r>
            <a:endParaRPr lang="en-US" sz="2000" dirty="0"/>
          </a:p>
        </p:txBody>
      </p:sp>
      <p:sp>
        <p:nvSpPr>
          <p:cNvPr id="9" name="Text 6"/>
          <p:cNvSpPr txBox="1"/>
          <p:nvPr/>
        </p:nvSpPr>
        <p:spPr>
          <a:xfrm>
            <a:off x="1188720" y="3611880"/>
            <a:ext cx="10362895" cy="457200"/>
          </a:xfrm>
          <a:prstGeom prst="rect">
            <a:avLst/>
          </a:prstGeom>
          <a:noFill/>
          <a:ln/>
        </p:spPr>
        <p:txBody>
          <a:bodyPr wrap="square" lIns="0" tIns="0" rIns="0" bIns="0" rtlCol="0" anchor="t"/>
          <a:lstStyle/>
          <a:p>
            <a:pPr indent="0" marL="0">
              <a:buNone/>
            </a:pPr>
            <a:r>
              <a:rPr lang="en-US" sz="2000" dirty="0">
                <a:solidFill>
                  <a:schemeClr val="tx1"/>
                </a:solidFill>
              </a:rPr>
              <a:t>유의하므로 B안을 배포합니다</a:t>
            </a:r>
            <a:endParaRPr lang="en-US" sz="2000" dirty="0"/>
          </a:p>
        </p:txBody>
      </p:sp>
      <p:sp>
        <p:nvSpPr>
          <p:cNvPr id="10" name="Text 7"/>
          <p:cNvSpPr txBox="1"/>
          <p:nvPr/>
        </p:nvSpPr>
        <p:spPr>
          <a:xfrm>
            <a:off x="640080" y="4142232"/>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②</a:t>
            </a:r>
            <a:endParaRPr lang="en-US" sz="2000" dirty="0"/>
          </a:p>
        </p:txBody>
      </p:sp>
      <p:sp>
        <p:nvSpPr>
          <p:cNvPr id="11" name="Text 8"/>
          <p:cNvSpPr txBox="1"/>
          <p:nvPr/>
        </p:nvSpPr>
        <p:spPr>
          <a:xfrm>
            <a:off x="1188720" y="4142232"/>
            <a:ext cx="10362895" cy="457200"/>
          </a:xfrm>
          <a:prstGeom prst="rect">
            <a:avLst/>
          </a:prstGeom>
          <a:noFill/>
          <a:ln/>
        </p:spPr>
        <p:txBody>
          <a:bodyPr wrap="square" lIns="0" tIns="0" rIns="0" bIns="0" rtlCol="0" anchor="t"/>
          <a:lstStyle/>
          <a:p>
            <a:pPr indent="0" marL="0">
              <a:buNone/>
            </a:pPr>
            <a:r>
              <a:rPr lang="en-US" sz="2000" dirty="0">
                <a:solidFill>
                  <a:schemeClr val="tx1"/>
                </a:solidFill>
              </a:rPr>
              <a:t>표본이 충분하니 신뢰구간만 확인하고 배포합니다</a:t>
            </a:r>
            <a:endParaRPr lang="en-US" sz="2000" dirty="0"/>
          </a:p>
        </p:txBody>
      </p:sp>
      <p:sp>
        <p:nvSpPr>
          <p:cNvPr id="12" name="Text 9"/>
          <p:cNvSpPr txBox="1"/>
          <p:nvPr/>
        </p:nvSpPr>
        <p:spPr>
          <a:xfrm>
            <a:off x="640080" y="4672584"/>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③</a:t>
            </a:r>
            <a:endParaRPr lang="en-US" sz="2000" dirty="0"/>
          </a:p>
        </p:txBody>
      </p:sp>
      <p:sp>
        <p:nvSpPr>
          <p:cNvPr id="13" name="Text 10"/>
          <p:cNvSpPr txBox="1"/>
          <p:nvPr/>
        </p:nvSpPr>
        <p:spPr>
          <a:xfrm>
            <a:off x="1188720" y="4672584"/>
            <a:ext cx="10362895" cy="457200"/>
          </a:xfrm>
          <a:prstGeom prst="rect">
            <a:avLst/>
          </a:prstGeom>
          <a:noFill/>
          <a:ln/>
        </p:spPr>
        <p:txBody>
          <a:bodyPr wrap="square" lIns="0" tIns="0" rIns="0" bIns="0" rtlCol="0" anchor="t"/>
          <a:lstStyle/>
          <a:p>
            <a:pPr indent="0" marL="0">
              <a:buNone/>
            </a:pPr>
            <a:r>
              <a:rPr lang="en-US" sz="2000" dirty="0">
                <a:solidFill>
                  <a:schemeClr val="tx1"/>
                </a:solidFill>
              </a:rPr>
              <a:t>결과 해석을 멈추고 배정·로깅 과정에서 원인을 찾습니다</a:t>
            </a:r>
            <a:endParaRPr lang="en-US" sz="2000" dirty="0"/>
          </a:p>
        </p:txBody>
      </p:sp>
      <p:sp>
        <p:nvSpPr>
          <p:cNvPr id="14" name="Text 11"/>
          <p:cNvSpPr txBox="1"/>
          <p:nvPr/>
        </p:nvSpPr>
        <p:spPr>
          <a:xfrm>
            <a:off x="640080" y="5202936"/>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④</a:t>
            </a:r>
            <a:endParaRPr lang="en-US" sz="2000" dirty="0"/>
          </a:p>
        </p:txBody>
      </p:sp>
      <p:sp>
        <p:nvSpPr>
          <p:cNvPr id="15" name="Text 12"/>
          <p:cNvSpPr txBox="1"/>
          <p:nvPr/>
        </p:nvSpPr>
        <p:spPr>
          <a:xfrm>
            <a:off x="1188720" y="5202936"/>
            <a:ext cx="10362895" cy="457200"/>
          </a:xfrm>
          <a:prstGeom prst="rect">
            <a:avLst/>
          </a:prstGeom>
          <a:noFill/>
          <a:ln/>
        </p:spPr>
        <p:txBody>
          <a:bodyPr wrap="square" lIns="0" tIns="0" rIns="0" bIns="0" rtlCol="0" anchor="t"/>
          <a:lstStyle/>
          <a:p>
            <a:pPr indent="0" marL="0">
              <a:buNone/>
            </a:pPr>
            <a:r>
              <a:rPr lang="en-US" sz="2000" dirty="0">
                <a:solidFill>
                  <a:schemeClr val="tx1"/>
                </a:solidFill>
              </a:rPr>
              <a:t>B안의 이탈 사용자를 제외하고 다시 분석합니다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복습 퀴즈 2 · 주관식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기능의 실험을 직접 설계해 보세요</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2000" dirty="0">
                <a:solidFill>
                  <a:schemeClr val="tx1"/>
                </a:solidFill>
              </a:rPr>
              <a:t>중고거래 앱에서 </a:t>
            </a:r>
            <a:pPr indent="0" marL="0">
              <a:buNone/>
            </a:pPr>
            <a:r>
              <a:rPr lang="en-US" sz="2000" b="1" dirty="0">
                <a:solidFill>
                  <a:schemeClr val="accent1"/>
                </a:solidFill>
              </a:rPr>
              <a:t>판매자에게 적정 가격을 추천하는 기능</a:t>
            </a:r>
            <a:pPr indent="0" marL="0">
              <a:buNone/>
            </a:pPr>
            <a:r>
              <a:rPr lang="en-US" sz="2000" dirty="0">
                <a:solidFill>
                  <a:schemeClr val="tx1"/>
                </a:solidFill>
              </a:rPr>
              <a:t>을 실험하려고 합니다</a:t>
            </a:r>
            <a:endParaRPr lang="en-US" sz="2000" dirty="0"/>
          </a:p>
        </p:txBody>
      </p:sp>
      <p:sp>
        <p:nvSpPr>
          <p:cNvPr id="6" name="Text 3"/>
          <p:cNvSpPr txBox="1"/>
          <p:nvPr/>
        </p:nvSpPr>
        <p:spPr>
          <a:xfrm>
            <a:off x="640080" y="228600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아래 세 가지 질문에 답하세요.</a:t>
            </a:r>
            <a:endParaRPr lang="en-US" sz="1500" dirty="0"/>
          </a:p>
        </p:txBody>
      </p:sp>
      <p:sp>
        <p:nvSpPr>
          <p:cNvPr id="7" name="Text 4"/>
          <p:cNvSpPr txBox="1"/>
          <p:nvPr/>
        </p:nvSpPr>
        <p:spPr>
          <a:xfrm>
            <a:off x="640080" y="2926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8" name="Text 5"/>
          <p:cNvSpPr txBox="1"/>
          <p:nvPr/>
        </p:nvSpPr>
        <p:spPr>
          <a:xfrm>
            <a:off x="640080" y="356616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가설</a:t>
            </a:r>
            <a:endParaRPr lang="en-US" sz="1500" dirty="0"/>
          </a:p>
          <a:p>
            <a:pPr indent="0" marL="0">
              <a:buNone/>
            </a:pPr>
            <a:r>
              <a:rPr lang="en-US" sz="1500" dirty="0">
                <a:solidFill>
                  <a:schemeClr val="tx2"/>
                </a:solidFill>
              </a:rPr>
              <a:t>한 문장으로 써 보세요</a:t>
            </a:r>
            <a:endParaRPr lang="en-US" sz="1500" dirty="0"/>
          </a:p>
        </p:txBody>
      </p:sp>
      <p:sp>
        <p:nvSpPr>
          <p:cNvPr id="9" name="Text 6"/>
          <p:cNvSpPr txBox="1"/>
          <p:nvPr/>
        </p:nvSpPr>
        <p:spPr>
          <a:xfrm>
            <a:off x="4343400" y="2926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10" name="Text 7"/>
          <p:cNvSpPr txBox="1"/>
          <p:nvPr/>
        </p:nvSpPr>
        <p:spPr>
          <a:xfrm>
            <a:off x="4343400" y="356616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지표</a:t>
            </a:r>
            <a:endParaRPr lang="en-US" sz="1500" dirty="0"/>
          </a:p>
          <a:p>
            <a:pPr indent="0" marL="0">
              <a:buNone/>
            </a:pPr>
            <a:r>
              <a:rPr lang="en-US" sz="1500" dirty="0">
                <a:solidFill>
                  <a:schemeClr val="tx2"/>
                </a:solidFill>
              </a:rPr>
              <a:t>Primary 지표와 Guardrail 지표를 하나씩 정해 보세요</a:t>
            </a:r>
            <a:endParaRPr lang="en-US" sz="1500" dirty="0"/>
          </a:p>
        </p:txBody>
      </p:sp>
      <p:sp>
        <p:nvSpPr>
          <p:cNvPr id="11" name="Text 8"/>
          <p:cNvSpPr txBox="1"/>
          <p:nvPr/>
        </p:nvSpPr>
        <p:spPr>
          <a:xfrm>
            <a:off x="8046720" y="2926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356616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실험 단위</a:t>
            </a:r>
            <a:endParaRPr lang="en-US" sz="1500" dirty="0"/>
          </a:p>
          <a:p>
            <a:pPr indent="0" marL="0">
              <a:buNone/>
            </a:pPr>
            <a:r>
              <a:rPr lang="en-US" sz="1500" dirty="0">
                <a:solidFill>
                  <a:schemeClr val="tx2"/>
                </a:solidFill>
              </a:rPr>
              <a:t>사용자 단위로 나누면 어떤 문제가 생길 수 있는지, 대안은 무엇인지 써 보세요</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 · 42개 고유 링크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Reference</a:t>
            </a:r>
            <a:endParaRPr lang="en-US" sz="2000" dirty="0"/>
          </a:p>
        </p:txBody>
      </p:sp>
      <p:sp>
        <p:nvSpPr>
          <p:cNvPr id="5" name="Text 2">
            <a:hlinkClick r:id="rId1" tooltip=""/>
          </p:cNvPr>
          <p:cNvSpPr txBox="1"/>
          <p:nvPr/>
        </p:nvSpPr>
        <p:spPr>
          <a:xfrm>
            <a:off x="640080"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Oracle: A/B Testing</a:t>
            </a:r>
            <a:endParaRPr lang="en-US" sz="850" dirty="0"/>
          </a:p>
        </p:txBody>
      </p:sp>
      <p:sp>
        <p:nvSpPr>
          <p:cNvPr id="6" name="Text 3">
            <a:hlinkClick r:id="rId2" tooltip=""/>
          </p:cNvPr>
          <p:cNvSpPr txBox="1"/>
          <p:nvPr/>
        </p:nvSpPr>
        <p:spPr>
          <a:xfrm>
            <a:off x="640080"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Datarian: Experiment Bible</a:t>
            </a:r>
            <a:endParaRPr lang="en-US" sz="850" dirty="0"/>
          </a:p>
        </p:txBody>
      </p:sp>
      <p:sp>
        <p:nvSpPr>
          <p:cNvPr id="7" name="Text 4">
            <a:hlinkClick r:id="rId3" tooltip=""/>
          </p:cNvPr>
          <p:cNvSpPr txBox="1"/>
          <p:nvPr/>
        </p:nvSpPr>
        <p:spPr>
          <a:xfrm>
            <a:off x="640080"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OCE Case Studies</a:t>
            </a:r>
            <a:endParaRPr lang="en-US" sz="850" dirty="0"/>
          </a:p>
        </p:txBody>
      </p:sp>
      <p:sp>
        <p:nvSpPr>
          <p:cNvPr id="8" name="Text 5">
            <a:hlinkClick r:id="rId4" tooltip=""/>
          </p:cNvPr>
          <p:cNvSpPr txBox="1"/>
          <p:nvPr/>
        </p:nvSpPr>
        <p:spPr>
          <a:xfrm>
            <a:off x="640080"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Hypothesis Testing</a:t>
            </a:r>
            <a:endParaRPr lang="en-US" sz="850" dirty="0"/>
          </a:p>
        </p:txBody>
      </p:sp>
      <p:sp>
        <p:nvSpPr>
          <p:cNvPr id="9" name="Text 6">
            <a:hlinkClick r:id="rId5" tooltip=""/>
          </p:cNvPr>
          <p:cNvSpPr txBox="1"/>
          <p:nvPr/>
        </p:nvSpPr>
        <p:spPr>
          <a:xfrm>
            <a:off x="640080"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5" invalidUrl="" action="" tgtFrame="" tooltip="" history="1" highlightClick="0" endSnd="0">
                  <a:extLst>
                    <a:ext uri="{A12FA001-AC4F-418D-AE19-62706E023703}">
                      <ahyp:hlinkClr xmlns:ahyp="http://schemas.microsoft.com/office/drawing/2018/hyperlinkcolor" val="tx"/>
                    </a:ext>
                  </a:extLst>
                </a:hlinkClick>
              </a:rPr>
              <a:t>WikiDocs: A/B Guide</a:t>
            </a:r>
            <a:endParaRPr lang="en-US" sz="850" dirty="0"/>
          </a:p>
        </p:txBody>
      </p:sp>
      <p:sp>
        <p:nvSpPr>
          <p:cNvPr id="10" name="Text 7">
            <a:hlinkClick r:id="rId6" tooltip=""/>
          </p:cNvPr>
          <p:cNvSpPr txBox="1"/>
          <p:nvPr/>
        </p:nvSpPr>
        <p:spPr>
          <a:xfrm>
            <a:off x="640080"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6" invalidUrl="" action="" tgtFrame="" tooltip="" history="1" highlightClick="0" endSnd="0">
                  <a:extLst>
                    <a:ext uri="{A12FA001-AC4F-418D-AE19-62706E023703}">
                      <ahyp:hlinkClr xmlns:ahyp="http://schemas.microsoft.com/office/drawing/2018/hyperlinkcolor" val="tx"/>
                    </a:ext>
                  </a:extLst>
                </a:hlinkClick>
              </a:rPr>
              <a:t>Growth Culture</a:t>
            </a:r>
            <a:endParaRPr lang="en-US" sz="850" dirty="0"/>
          </a:p>
        </p:txBody>
      </p:sp>
      <p:sp>
        <p:nvSpPr>
          <p:cNvPr id="11" name="Text 8">
            <a:hlinkClick r:id="rId7" tooltip=""/>
          </p:cNvPr>
          <p:cNvSpPr txBox="1"/>
          <p:nvPr/>
        </p:nvSpPr>
        <p:spPr>
          <a:xfrm>
            <a:off x="640080"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7" invalidUrl="" action="" tgtFrame="" tooltip="" history="1" highlightClick="0" endSnd="0">
                  <a:extLst>
                    <a:ext uri="{A12FA001-AC4F-418D-AE19-62706E023703}">
                      <ahyp:hlinkClr xmlns:ahyp="http://schemas.microsoft.com/office/drawing/2018/hyperlinkcolor" val="tx"/>
                    </a:ext>
                  </a:extLst>
                </a:hlinkClick>
              </a:rPr>
              <a:t>Problem Definition</a:t>
            </a:r>
            <a:endParaRPr lang="en-US" sz="850" dirty="0"/>
          </a:p>
        </p:txBody>
      </p:sp>
      <p:sp>
        <p:nvSpPr>
          <p:cNvPr id="12" name="Text 9">
            <a:hlinkClick r:id="rId8" tooltip=""/>
          </p:cNvPr>
          <p:cNvSpPr txBox="1"/>
          <p:nvPr/>
        </p:nvSpPr>
        <p:spPr>
          <a:xfrm>
            <a:off x="640080"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8" invalidUrl="" action="" tgtFrame="" tooltip="" history="1" highlightClick="0" endSnd="0">
                  <a:extLst>
                    <a:ext uri="{A12FA001-AC4F-418D-AE19-62706E023703}">
                      <ahyp:hlinkClr xmlns:ahyp="http://schemas.microsoft.com/office/drawing/2018/hyperlinkcolor" val="tx"/>
                    </a:ext>
                  </a:extLst>
                </a:hlinkClick>
              </a:rPr>
              <a:t>Null vs Alternative</a:t>
            </a:r>
            <a:endParaRPr lang="en-US" sz="850" dirty="0"/>
          </a:p>
        </p:txBody>
      </p:sp>
      <p:sp>
        <p:nvSpPr>
          <p:cNvPr id="13" name="Text 10">
            <a:hlinkClick r:id="rId9" tooltip=""/>
          </p:cNvPr>
          <p:cNvSpPr txBox="1"/>
          <p:nvPr/>
        </p:nvSpPr>
        <p:spPr>
          <a:xfrm>
            <a:off x="640080"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9" invalidUrl="" action="" tgtFrame="" tooltip="" history="1" highlightClick="0" endSnd="0">
                  <a:extLst>
                    <a:ext uri="{A12FA001-AC4F-418D-AE19-62706E023703}">
                      <ahyp:hlinkClr xmlns:ahyp="http://schemas.microsoft.com/office/drawing/2018/hyperlinkcolor" val="tx"/>
                    </a:ext>
                  </a:extLst>
                </a:hlinkClick>
              </a:rPr>
              <a:t>One vs Two Tailed</a:t>
            </a:r>
            <a:endParaRPr lang="en-US" sz="850" dirty="0"/>
          </a:p>
        </p:txBody>
      </p:sp>
      <p:sp>
        <p:nvSpPr>
          <p:cNvPr id="14" name="Text 11">
            <a:hlinkClick r:id="rId10" tooltip=""/>
          </p:cNvPr>
          <p:cNvSpPr txBox="1"/>
          <p:nvPr/>
        </p:nvSpPr>
        <p:spPr>
          <a:xfrm>
            <a:off x="640080" y="516636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0" invalidUrl="" action="" tgtFrame="" tooltip="" history="1" highlightClick="0" endSnd="0">
                  <a:extLst>
                    <a:ext uri="{A12FA001-AC4F-418D-AE19-62706E023703}">
                      <ahyp:hlinkClr xmlns:ahyp="http://schemas.microsoft.com/office/drawing/2018/hyperlinkcolor" val="tx"/>
                    </a:ext>
                  </a:extLst>
                </a:hlinkClick>
              </a:rPr>
              <a:t>OEC / KPI / Driver</a:t>
            </a:r>
            <a:endParaRPr lang="en-US" sz="850" dirty="0"/>
          </a:p>
        </p:txBody>
      </p:sp>
      <p:sp>
        <p:nvSpPr>
          <p:cNvPr id="15" name="Text 12">
            <a:hlinkClick r:id="rId11" tooltip=""/>
          </p:cNvPr>
          <p:cNvSpPr txBox="1"/>
          <p:nvPr/>
        </p:nvSpPr>
        <p:spPr>
          <a:xfrm>
            <a:off x="640080" y="555955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1" invalidUrl="" action="" tgtFrame="" tooltip="" history="1" highlightClick="0" endSnd="0">
                  <a:extLst>
                    <a:ext uri="{A12FA001-AC4F-418D-AE19-62706E023703}">
                      <ahyp:hlinkClr xmlns:ahyp="http://schemas.microsoft.com/office/drawing/2018/hyperlinkcolor" val="tx"/>
                    </a:ext>
                  </a:extLst>
                </a:hlinkClick>
              </a:rPr>
              <a:t>Metric Selection</a:t>
            </a:r>
            <a:endParaRPr lang="en-US" sz="850" dirty="0"/>
          </a:p>
        </p:txBody>
      </p:sp>
      <p:sp>
        <p:nvSpPr>
          <p:cNvPr id="16" name="Text 13">
            <a:hlinkClick r:id="rId12" tooltip=""/>
          </p:cNvPr>
          <p:cNvSpPr txBox="1"/>
          <p:nvPr/>
        </p:nvSpPr>
        <p:spPr>
          <a:xfrm>
            <a:off x="3401568"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2" invalidUrl="" action="" tgtFrame="" tooltip="" history="1" highlightClick="0" endSnd="0">
                  <a:extLst>
                    <a:ext uri="{A12FA001-AC4F-418D-AE19-62706E023703}">
                      <ahyp:hlinkClr xmlns:ahyp="http://schemas.microsoft.com/office/drawing/2018/hyperlinkcolor" val="tx"/>
                    </a:ext>
                  </a:extLst>
                </a:hlinkClick>
              </a:rPr>
              <a:t>Ably: Product Metrics</a:t>
            </a:r>
            <a:endParaRPr lang="en-US" sz="850" dirty="0"/>
          </a:p>
        </p:txBody>
      </p:sp>
      <p:sp>
        <p:nvSpPr>
          <p:cNvPr id="17" name="Text 14">
            <a:hlinkClick r:id="rId13" tooltip=""/>
          </p:cNvPr>
          <p:cNvSpPr txBox="1"/>
          <p:nvPr/>
        </p:nvSpPr>
        <p:spPr>
          <a:xfrm>
            <a:off x="3401568"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3" invalidUrl="" action="" tgtFrame="" tooltip="" history="1" highlightClick="0" endSnd="0">
                  <a:extLst>
                    <a:ext uri="{A12FA001-AC4F-418D-AE19-62706E023703}">
                      <ahyp:hlinkClr xmlns:ahyp="http://schemas.microsoft.com/office/drawing/2018/hyperlinkcolor" val="tx"/>
                    </a:ext>
                  </a:extLst>
                </a:hlinkClick>
              </a:rPr>
              <a:t>OEC Design</a:t>
            </a:r>
            <a:endParaRPr lang="en-US" sz="850" dirty="0"/>
          </a:p>
        </p:txBody>
      </p:sp>
      <p:sp>
        <p:nvSpPr>
          <p:cNvPr id="18" name="Text 15">
            <a:hlinkClick r:id="rId14" tooltip=""/>
          </p:cNvPr>
          <p:cNvSpPr txBox="1"/>
          <p:nvPr/>
        </p:nvSpPr>
        <p:spPr>
          <a:xfrm>
            <a:off x="3401568"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4" invalidUrl="" action="" tgtFrame="" tooltip="" history="1" highlightClick="0" endSnd="0">
                  <a:extLst>
                    <a:ext uri="{A12FA001-AC4F-418D-AE19-62706E023703}">
                      <ahyp:hlinkClr xmlns:ahyp="http://schemas.microsoft.com/office/drawing/2018/hyperlinkcolor" val="tx"/>
                    </a:ext>
                  </a:extLst>
                </a:hlinkClick>
              </a:rPr>
              <a:t>A/B Data Quality</a:t>
            </a:r>
            <a:endParaRPr lang="en-US" sz="850" dirty="0"/>
          </a:p>
        </p:txBody>
      </p:sp>
      <p:sp>
        <p:nvSpPr>
          <p:cNvPr id="19" name="Text 16">
            <a:hlinkClick r:id="rId15" tooltip=""/>
          </p:cNvPr>
          <p:cNvSpPr txBox="1"/>
          <p:nvPr/>
        </p:nvSpPr>
        <p:spPr>
          <a:xfrm>
            <a:off x="3401568"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5" invalidUrl="" action="" tgtFrame="" tooltip="" history="1" highlightClick="0" endSnd="0">
                  <a:extLst>
                    <a:ext uri="{A12FA001-AC4F-418D-AE19-62706E023703}">
                      <ahyp:hlinkClr xmlns:ahyp="http://schemas.microsoft.com/office/drawing/2018/hyperlinkcolor" val="tx"/>
                    </a:ext>
                  </a:extLst>
                </a:hlinkClick>
              </a:rPr>
              <a:t>Hackle: User ID</a:t>
            </a:r>
            <a:endParaRPr lang="en-US" sz="850" dirty="0"/>
          </a:p>
        </p:txBody>
      </p:sp>
      <p:sp>
        <p:nvSpPr>
          <p:cNvPr id="20" name="Text 17">
            <a:hlinkClick r:id="rId16" tooltip=""/>
          </p:cNvPr>
          <p:cNvSpPr txBox="1"/>
          <p:nvPr/>
        </p:nvSpPr>
        <p:spPr>
          <a:xfrm>
            <a:off x="3401568"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6" invalidUrl="" action="" tgtFrame="" tooltip="" history="1" highlightClick="0" endSnd="0">
                  <a:extLst>
                    <a:ext uri="{A12FA001-AC4F-418D-AE19-62706E023703}">
                      <ahyp:hlinkClr xmlns:ahyp="http://schemas.microsoft.com/office/drawing/2018/hyperlinkcolor" val="tx"/>
                    </a:ext>
                  </a:extLst>
                </a:hlinkClick>
              </a:rPr>
              <a:t>Conversion Unit</a:t>
            </a:r>
            <a:endParaRPr lang="en-US" sz="850" dirty="0"/>
          </a:p>
        </p:txBody>
      </p:sp>
      <p:sp>
        <p:nvSpPr>
          <p:cNvPr id="21" name="Text 18">
            <a:hlinkClick r:id="rId17" tooltip=""/>
          </p:cNvPr>
          <p:cNvSpPr txBox="1"/>
          <p:nvPr/>
        </p:nvSpPr>
        <p:spPr>
          <a:xfrm>
            <a:off x="3401568"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7" invalidUrl="" action="" tgtFrame="" tooltip="" history="1" highlightClick="0" endSnd="0">
                  <a:extLst>
                    <a:ext uri="{A12FA001-AC4F-418D-AE19-62706E023703}">
                      <ahyp:hlinkClr xmlns:ahyp="http://schemas.microsoft.com/office/drawing/2018/hyperlinkcolor" val="tx"/>
                    </a:ext>
                  </a:extLst>
                </a:hlinkClick>
              </a:rPr>
              <a:t>Randomization Unit</a:t>
            </a:r>
            <a:endParaRPr lang="en-US" sz="850" dirty="0"/>
          </a:p>
        </p:txBody>
      </p:sp>
      <p:sp>
        <p:nvSpPr>
          <p:cNvPr id="22" name="Text 19">
            <a:hlinkClick r:id="rId18" tooltip=""/>
          </p:cNvPr>
          <p:cNvSpPr txBox="1"/>
          <p:nvPr/>
        </p:nvSpPr>
        <p:spPr>
          <a:xfrm>
            <a:off x="3401568"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8" invalidUrl="" action="" tgtFrame="" tooltip="" history="1" highlightClick="0" endSnd="0">
                  <a:extLst>
                    <a:ext uri="{A12FA001-AC4F-418D-AE19-62706E023703}">
                      <ahyp:hlinkClr xmlns:ahyp="http://schemas.microsoft.com/office/drawing/2018/hyperlinkcolor" val="tx"/>
                    </a:ext>
                  </a:extLst>
                </a:hlinkClick>
              </a:rPr>
              <a:t>Sample Proportion</a:t>
            </a:r>
            <a:endParaRPr lang="en-US" sz="850" dirty="0"/>
          </a:p>
        </p:txBody>
      </p:sp>
      <p:sp>
        <p:nvSpPr>
          <p:cNvPr id="23" name="Text 20">
            <a:hlinkClick r:id="rId19" tooltip=""/>
          </p:cNvPr>
          <p:cNvSpPr txBox="1"/>
          <p:nvPr/>
        </p:nvSpPr>
        <p:spPr>
          <a:xfrm>
            <a:off x="3401568"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9" invalidUrl="" action="" tgtFrame="" tooltip="" history="1" highlightClick="0" endSnd="0">
                  <a:extLst>
                    <a:ext uri="{A12FA001-AC4F-418D-AE19-62706E023703}">
                      <ahyp:hlinkClr xmlns:ahyp="http://schemas.microsoft.com/office/drawing/2018/hyperlinkcolor" val="tx"/>
                    </a:ext>
                  </a:extLst>
                </a:hlinkClick>
              </a:rPr>
              <a:t>MDE Guide</a:t>
            </a:r>
            <a:endParaRPr lang="en-US" sz="850" dirty="0"/>
          </a:p>
        </p:txBody>
      </p:sp>
      <p:sp>
        <p:nvSpPr>
          <p:cNvPr id="24" name="Text 21">
            <a:hlinkClick r:id="rId20" tooltip=""/>
          </p:cNvPr>
          <p:cNvSpPr txBox="1"/>
          <p:nvPr/>
        </p:nvSpPr>
        <p:spPr>
          <a:xfrm>
            <a:off x="3401568"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0" invalidUrl="" action="" tgtFrame="" tooltip="" history="1" highlightClick="0" endSnd="0">
                  <a:extLst>
                    <a:ext uri="{A12FA001-AC4F-418D-AE19-62706E023703}">
                      <ahyp:hlinkClr xmlns:ahyp="http://schemas.microsoft.com/office/drawing/2018/hyperlinkcolor" val="tx"/>
                    </a:ext>
                  </a:extLst>
                </a:hlinkClick>
              </a:rPr>
              <a:t>GA: Cookie + Dimension</a:t>
            </a:r>
            <a:endParaRPr lang="en-US" sz="850" dirty="0"/>
          </a:p>
        </p:txBody>
      </p:sp>
      <p:sp>
        <p:nvSpPr>
          <p:cNvPr id="25" name="Text 22">
            <a:hlinkClick r:id="rId21" tooltip=""/>
          </p:cNvPr>
          <p:cNvSpPr txBox="1"/>
          <p:nvPr/>
        </p:nvSpPr>
        <p:spPr>
          <a:xfrm>
            <a:off x="3401568" y="516636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1" invalidUrl="" action="" tgtFrame="" tooltip="" history="1" highlightClick="0" endSnd="0">
                  <a:extLst>
                    <a:ext uri="{A12FA001-AC4F-418D-AE19-62706E023703}">
                      <ahyp:hlinkClr xmlns:ahyp="http://schemas.microsoft.com/office/drawing/2018/hyperlinkcolor" val="tx"/>
                    </a:ext>
                  </a:extLst>
                </a:hlinkClick>
              </a:rPr>
              <a:t>Wanted: A/B Basics</a:t>
            </a:r>
            <a:endParaRPr lang="en-US" sz="850" dirty="0"/>
          </a:p>
        </p:txBody>
      </p:sp>
      <p:sp>
        <p:nvSpPr>
          <p:cNvPr id="26" name="Text 23">
            <a:hlinkClick r:id="rId22" tooltip=""/>
          </p:cNvPr>
          <p:cNvSpPr txBox="1"/>
          <p:nvPr/>
        </p:nvSpPr>
        <p:spPr>
          <a:xfrm>
            <a:off x="3401568" y="555955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2" invalidUrl="" action="" tgtFrame="" tooltip="" history="1" highlightClick="0" endSnd="0">
                  <a:extLst>
                    <a:ext uri="{A12FA001-AC4F-418D-AE19-62706E023703}">
                      <ahyp:hlinkClr xmlns:ahyp="http://schemas.microsoft.com/office/drawing/2018/hyperlinkcolor" val="tx"/>
                    </a:ext>
                  </a:extLst>
                </a:hlinkClick>
              </a:rPr>
              <a:t>Hash Assignment</a:t>
            </a:r>
            <a:endParaRPr lang="en-US" sz="850" dirty="0"/>
          </a:p>
        </p:txBody>
      </p:sp>
      <p:sp>
        <p:nvSpPr>
          <p:cNvPr id="27" name="Text 24">
            <a:hlinkClick r:id="rId23" tooltip=""/>
          </p:cNvPr>
          <p:cNvSpPr txBox="1"/>
          <p:nvPr/>
        </p:nvSpPr>
        <p:spPr>
          <a:xfrm>
            <a:off x="6163056"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3" invalidUrl="" action="" tgtFrame="" tooltip="" history="1" highlightClick="0" endSnd="0">
                  <a:extLst>
                    <a:ext uri="{A12FA001-AC4F-418D-AE19-62706E023703}">
                      <ahyp:hlinkClr xmlns:ahyp="http://schemas.microsoft.com/office/drawing/2018/hyperlinkcolor" val="tx"/>
                    </a:ext>
                  </a:extLst>
                </a:hlinkClick>
              </a:rPr>
              <a:t>Experiment Guide</a:t>
            </a:r>
            <a:endParaRPr lang="en-US" sz="850" dirty="0"/>
          </a:p>
        </p:txBody>
      </p:sp>
      <p:sp>
        <p:nvSpPr>
          <p:cNvPr id="28" name="Text 25">
            <a:hlinkClick r:id="rId24" tooltip=""/>
          </p:cNvPr>
          <p:cNvSpPr txBox="1"/>
          <p:nvPr/>
        </p:nvSpPr>
        <p:spPr>
          <a:xfrm>
            <a:off x="6163056"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4" invalidUrl="" action="" tgtFrame="" tooltip="" history="1" highlightClick="0" endSnd="0">
                  <a:extLst>
                    <a:ext uri="{A12FA001-AC4F-418D-AE19-62706E023703}">
                      <ahyp:hlinkClr xmlns:ahyp="http://schemas.microsoft.com/office/drawing/2018/hyperlinkcolor" val="tx"/>
                    </a:ext>
                  </a:extLst>
                </a:hlinkClick>
              </a:rPr>
              <a:t>SUTVA &amp; Interference</a:t>
            </a:r>
            <a:endParaRPr lang="en-US" sz="850" dirty="0"/>
          </a:p>
        </p:txBody>
      </p:sp>
      <p:sp>
        <p:nvSpPr>
          <p:cNvPr id="29" name="Text 26">
            <a:hlinkClick r:id="rId25" tooltip=""/>
          </p:cNvPr>
          <p:cNvSpPr txBox="1"/>
          <p:nvPr/>
        </p:nvSpPr>
        <p:spPr>
          <a:xfrm>
            <a:off x="6163056"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5" invalidUrl="" action="" tgtFrame="" tooltip="" history="1" highlightClick="0" endSnd="0">
                  <a:extLst>
                    <a:ext uri="{A12FA001-AC4F-418D-AE19-62706E023703}">
                      <ahyp:hlinkClr xmlns:ahyp="http://schemas.microsoft.com/office/drawing/2018/hyperlinkcolor" val="tx"/>
                    </a:ext>
                  </a:extLst>
                </a:hlinkClick>
              </a:rPr>
              <a:t>OCE: Leakage</a:t>
            </a:r>
            <a:endParaRPr lang="en-US" sz="850" dirty="0"/>
          </a:p>
        </p:txBody>
      </p:sp>
      <p:sp>
        <p:nvSpPr>
          <p:cNvPr id="30" name="Text 27">
            <a:hlinkClick r:id="rId26" tooltip=""/>
          </p:cNvPr>
          <p:cNvSpPr txBox="1"/>
          <p:nvPr/>
        </p:nvSpPr>
        <p:spPr>
          <a:xfrm>
            <a:off x="6163056"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6" invalidUrl="" action="" tgtFrame="" tooltip="" history="1" highlightClick="0" endSnd="0">
                  <a:extLst>
                    <a:ext uri="{A12FA001-AC4F-418D-AE19-62706E023703}">
                      <ahyp:hlinkClr xmlns:ahyp="http://schemas.microsoft.com/office/drawing/2018/hyperlinkcolor" val="tx"/>
                    </a:ext>
                  </a:extLst>
                </a:hlinkClick>
              </a:rPr>
              <a:t>Causal Workshop 2022</a:t>
            </a:r>
            <a:endParaRPr lang="en-US" sz="850" dirty="0"/>
          </a:p>
        </p:txBody>
      </p:sp>
      <p:sp>
        <p:nvSpPr>
          <p:cNvPr id="31" name="Text 28">
            <a:hlinkClick r:id="rId27" tooltip=""/>
          </p:cNvPr>
          <p:cNvSpPr txBox="1"/>
          <p:nvPr/>
        </p:nvSpPr>
        <p:spPr>
          <a:xfrm>
            <a:off x="6163056"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7" invalidUrl="" action="" tgtFrame="" tooltip="" history="1" highlightClick="0" endSnd="0">
                  <a:extLst>
                    <a:ext uri="{A12FA001-AC4F-418D-AE19-62706E023703}">
                      <ahyp:hlinkClr xmlns:ahyp="http://schemas.microsoft.com/office/drawing/2018/hyperlinkcolor" val="tx"/>
                    </a:ext>
                  </a:extLst>
                </a:hlinkClick>
              </a:rPr>
              <a:t>Facebook: Contagion</a:t>
            </a:r>
            <a:endParaRPr lang="en-US" sz="850" dirty="0"/>
          </a:p>
        </p:txBody>
      </p:sp>
      <p:sp>
        <p:nvSpPr>
          <p:cNvPr id="32" name="Text 29">
            <a:hlinkClick r:id="rId28" tooltip=""/>
          </p:cNvPr>
          <p:cNvSpPr txBox="1"/>
          <p:nvPr/>
        </p:nvSpPr>
        <p:spPr>
          <a:xfrm>
            <a:off x="6163056"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8" invalidUrl="" action="" tgtFrame="" tooltip="" history="1" highlightClick="0" endSnd="0">
                  <a:extLst>
                    <a:ext uri="{A12FA001-AC4F-418D-AE19-62706E023703}">
                      <ahyp:hlinkClr xmlns:ahyp="http://schemas.microsoft.com/office/drawing/2018/hyperlinkcolor" val="tx"/>
                    </a:ext>
                  </a:extLst>
                </a:hlinkClick>
              </a:rPr>
              <a:t>Contagion: Editorial Note</a:t>
            </a:r>
            <a:endParaRPr lang="en-US" sz="850" dirty="0"/>
          </a:p>
        </p:txBody>
      </p:sp>
      <p:sp>
        <p:nvSpPr>
          <p:cNvPr id="33" name="Text 30">
            <a:hlinkClick r:id="rId29" tooltip=""/>
          </p:cNvPr>
          <p:cNvSpPr txBox="1"/>
          <p:nvPr/>
        </p:nvSpPr>
        <p:spPr>
          <a:xfrm>
            <a:off x="6163056"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9" invalidUrl="" action="" tgtFrame="" tooltip="" history="1" highlightClick="0" endSnd="0">
                  <a:extLst>
                    <a:ext uri="{A12FA001-AC4F-418D-AE19-62706E023703}">
                      <ahyp:hlinkClr xmlns:ahyp="http://schemas.microsoft.com/office/drawing/2018/hyperlinkcolor" val="tx"/>
                    </a:ext>
                  </a:extLst>
                </a:hlinkClick>
              </a:rPr>
              <a:t>61M Social Influence</a:t>
            </a:r>
            <a:endParaRPr lang="en-US" sz="850" dirty="0"/>
          </a:p>
        </p:txBody>
      </p:sp>
      <p:sp>
        <p:nvSpPr>
          <p:cNvPr id="34" name="Text 31">
            <a:hlinkClick r:id="rId30" tooltip=""/>
          </p:cNvPr>
          <p:cNvSpPr txBox="1"/>
          <p:nvPr/>
        </p:nvSpPr>
        <p:spPr>
          <a:xfrm>
            <a:off x="6163056"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0" invalidUrl="" action="" tgtFrame="" tooltip="" history="1" highlightClick="0" endSnd="0">
                  <a:extLst>
                    <a:ext uri="{A12FA001-AC4F-418D-AE19-62706E023703}">
                      <ahyp:hlinkClr xmlns:ahyp="http://schemas.microsoft.com/office/drawing/2018/hyperlinkcolor" val="tx"/>
                    </a:ext>
                  </a:extLst>
                </a:hlinkClick>
              </a:rPr>
              <a:t>TOCE: A/A Test</a:t>
            </a:r>
            <a:endParaRPr lang="en-US" sz="850" dirty="0"/>
          </a:p>
        </p:txBody>
      </p:sp>
      <p:sp>
        <p:nvSpPr>
          <p:cNvPr id="35" name="Text 32">
            <a:hlinkClick r:id="rId31" tooltip=""/>
          </p:cNvPr>
          <p:cNvSpPr txBox="1"/>
          <p:nvPr/>
        </p:nvSpPr>
        <p:spPr>
          <a:xfrm>
            <a:off x="6163056"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1" invalidUrl="" action="" tgtFrame="" tooltip="" history="1" highlightClick="0" endSnd="0">
                  <a:extLst>
                    <a:ext uri="{A12FA001-AC4F-418D-AE19-62706E023703}">
                      <ahyp:hlinkClr xmlns:ahyp="http://schemas.microsoft.com/office/drawing/2018/hyperlinkcolor" val="tx"/>
                    </a:ext>
                  </a:extLst>
                </a:hlinkClick>
              </a:rPr>
              <a:t>TOCE: Ramp-up</a:t>
            </a:r>
            <a:endParaRPr lang="en-US" sz="850" dirty="0"/>
          </a:p>
        </p:txBody>
      </p:sp>
      <p:sp>
        <p:nvSpPr>
          <p:cNvPr id="36" name="Text 33">
            <a:hlinkClick r:id="rId32" tooltip=""/>
          </p:cNvPr>
          <p:cNvSpPr txBox="1"/>
          <p:nvPr/>
        </p:nvSpPr>
        <p:spPr>
          <a:xfrm>
            <a:off x="6163056" y="516636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2" invalidUrl="" action="" tgtFrame="" tooltip="" history="1" highlightClick="0" endSnd="0">
                  <a:extLst>
                    <a:ext uri="{A12FA001-AC4F-418D-AE19-62706E023703}">
                      <ahyp:hlinkClr xmlns:ahyp="http://schemas.microsoft.com/office/drawing/2018/hyperlinkcolor" val="tx"/>
                    </a:ext>
                  </a:extLst>
                </a:hlinkClick>
              </a:rPr>
              <a:t>Unexpected OCE Results</a:t>
            </a:r>
            <a:endParaRPr lang="en-US" sz="850" dirty="0"/>
          </a:p>
        </p:txBody>
      </p:sp>
      <p:sp>
        <p:nvSpPr>
          <p:cNvPr id="37" name="Text 34">
            <a:hlinkClick r:id="rId33" tooltip=""/>
          </p:cNvPr>
          <p:cNvSpPr txBox="1"/>
          <p:nvPr/>
        </p:nvSpPr>
        <p:spPr>
          <a:xfrm>
            <a:off x="6163056" y="555955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3" invalidUrl="" action="" tgtFrame="" tooltip="" history="1" highlightClick="0" endSnd="0">
                  <a:extLst>
                    <a:ext uri="{A12FA001-AC4F-418D-AE19-62706E023703}">
                      <ahyp:hlinkClr xmlns:ahyp="http://schemas.microsoft.com/office/drawing/2018/hyperlinkcolor" val="tx"/>
                    </a:ext>
                  </a:extLst>
                </a:hlinkClick>
              </a:rPr>
              <a:t>CUPED</a:t>
            </a:r>
            <a:endParaRPr lang="en-US" sz="850" dirty="0"/>
          </a:p>
        </p:txBody>
      </p:sp>
      <p:sp>
        <p:nvSpPr>
          <p:cNvPr id="38" name="Text 35">
            <a:hlinkClick r:id="rId34" tooltip=""/>
          </p:cNvPr>
          <p:cNvSpPr txBox="1"/>
          <p:nvPr/>
        </p:nvSpPr>
        <p:spPr>
          <a:xfrm>
            <a:off x="8924544"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4" invalidUrl="" action="" tgtFrame="" tooltip="" history="1" highlightClick="0" endSnd="0">
                  <a:extLst>
                    <a:ext uri="{A12FA001-AC4F-418D-AE19-62706E023703}">
                      <ahyp:hlinkClr xmlns:ahyp="http://schemas.microsoft.com/office/drawing/2018/hyperlinkcolor" val="tx"/>
                    </a:ext>
                  </a:extLst>
                </a:hlinkClick>
              </a:rPr>
              <a:t>ASA: p-values</a:t>
            </a:r>
            <a:endParaRPr lang="en-US" sz="850" dirty="0"/>
          </a:p>
        </p:txBody>
      </p:sp>
      <p:sp>
        <p:nvSpPr>
          <p:cNvPr id="39" name="Text 36">
            <a:hlinkClick r:id="rId35" tooltip=""/>
          </p:cNvPr>
          <p:cNvSpPr txBox="1"/>
          <p:nvPr/>
        </p:nvSpPr>
        <p:spPr>
          <a:xfrm>
            <a:off x="8924544"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5" invalidUrl="" action="" tgtFrame="" tooltip="" history="1" highlightClick="0" endSnd="0">
                  <a:extLst>
                    <a:ext uri="{A12FA001-AC4F-418D-AE19-62706E023703}">
                      <ahyp:hlinkClr xmlns:ahyp="http://schemas.microsoft.com/office/drawing/2018/hyperlinkcolor" val="tx"/>
                    </a:ext>
                  </a:extLst>
                </a:hlinkClick>
              </a:rPr>
              <a:t>Benjamini-Hochberg FDR</a:t>
            </a:r>
            <a:endParaRPr lang="en-US" sz="850" dirty="0"/>
          </a:p>
        </p:txBody>
      </p:sp>
      <p:sp>
        <p:nvSpPr>
          <p:cNvPr id="40" name="Text 37">
            <a:hlinkClick r:id="rId36" tooltip=""/>
          </p:cNvPr>
          <p:cNvSpPr txBox="1"/>
          <p:nvPr/>
        </p:nvSpPr>
        <p:spPr>
          <a:xfrm>
            <a:off x="8924544"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6" invalidUrl="" action="" tgtFrame="" tooltip="" history="1" highlightClick="0" endSnd="0">
                  <a:extLst>
                    <a:ext uri="{A12FA001-AC4F-418D-AE19-62706E023703}">
                      <ahyp:hlinkClr xmlns:ahyp="http://schemas.microsoft.com/office/drawing/2018/hyperlinkcolor" val="tx"/>
                    </a:ext>
                  </a:extLst>
                </a:hlinkClick>
              </a:rPr>
              <a:t>OCE: A/A Materials</a:t>
            </a:r>
            <a:endParaRPr lang="en-US" sz="850" dirty="0"/>
          </a:p>
        </p:txBody>
      </p:sp>
      <p:sp>
        <p:nvSpPr>
          <p:cNvPr id="41" name="Text 38">
            <a:hlinkClick r:id="rId37" tooltip=""/>
          </p:cNvPr>
          <p:cNvSpPr txBox="1"/>
          <p:nvPr/>
        </p:nvSpPr>
        <p:spPr>
          <a:xfrm>
            <a:off x="8924544"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7" invalidUrl="" action="" tgtFrame="" tooltip="" history="1" highlightClick="0" endSnd="0">
                  <a:extLst>
                    <a:ext uri="{A12FA001-AC4F-418D-AE19-62706E023703}">
                      <ahyp:hlinkClr xmlns:ahyp="http://schemas.microsoft.com/office/drawing/2018/hyperlinkcolor" val="tx"/>
                    </a:ext>
                  </a:extLst>
                </a:hlinkClick>
              </a:rPr>
              <a:t>SRM Diagnosis Guide</a:t>
            </a:r>
            <a:endParaRPr lang="en-US" sz="850" dirty="0"/>
          </a:p>
        </p:txBody>
      </p:sp>
      <p:sp>
        <p:nvSpPr>
          <p:cNvPr id="42" name="Text 39">
            <a:hlinkClick r:id="rId38" tooltip=""/>
          </p:cNvPr>
          <p:cNvSpPr txBox="1"/>
          <p:nvPr/>
        </p:nvSpPr>
        <p:spPr>
          <a:xfrm>
            <a:off x="8924544"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8" invalidUrl="" action="" tgtFrame="" tooltip="" history="1" highlightClick="0" endSnd="0">
                  <a:extLst>
                    <a:ext uri="{A12FA001-AC4F-418D-AE19-62706E023703}">
                      <ahyp:hlinkClr xmlns:ahyp="http://schemas.microsoft.com/office/drawing/2018/hyperlinkcolor" val="tx"/>
                    </a:ext>
                  </a:extLst>
                </a:hlinkClick>
              </a:rPr>
              <a:t>SRM Diagnosis Paper</a:t>
            </a:r>
            <a:endParaRPr lang="en-US" sz="850" dirty="0"/>
          </a:p>
        </p:txBody>
      </p:sp>
      <p:sp>
        <p:nvSpPr>
          <p:cNvPr id="43" name="Text 40">
            <a:hlinkClick r:id="rId39" tooltip=""/>
          </p:cNvPr>
          <p:cNvSpPr txBox="1"/>
          <p:nvPr/>
        </p:nvSpPr>
        <p:spPr>
          <a:xfrm>
            <a:off x="8924544"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9" invalidUrl="" action="" tgtFrame="" tooltip="" history="1" highlightClick="0" endSnd="0">
                  <a:extLst>
                    <a:ext uri="{A12FA001-AC4F-418D-AE19-62706E023703}">
                      <ahyp:hlinkClr xmlns:ahyp="http://schemas.microsoft.com/office/drawing/2018/hyperlinkcolor" val="tx"/>
                    </a:ext>
                  </a:extLst>
                </a:hlinkClick>
              </a:rPr>
              <a:t>Always Valid Inference</a:t>
            </a:r>
            <a:endParaRPr lang="en-US" sz="850" dirty="0"/>
          </a:p>
        </p:txBody>
      </p:sp>
      <p:sp>
        <p:nvSpPr>
          <p:cNvPr id="44" name="Text 41">
            <a:hlinkClick r:id="rId40" tooltip=""/>
          </p:cNvPr>
          <p:cNvSpPr txBox="1"/>
          <p:nvPr/>
        </p:nvSpPr>
        <p:spPr>
          <a:xfrm>
            <a:off x="8924544"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0" invalidUrl="" action="" tgtFrame="" tooltip="" history="1" highlightClick="0" endSnd="0">
                  <a:extLst>
                    <a:ext uri="{A12FA001-AC4F-418D-AE19-62706E023703}">
                      <ahyp:hlinkClr xmlns:ahyp="http://schemas.microsoft.com/office/drawing/2018/hyperlinkcolor" val="tx"/>
                    </a:ext>
                  </a:extLst>
                </a:hlinkClick>
              </a:rPr>
              <a:t>Oracle: A/B Pitfalls</a:t>
            </a:r>
            <a:endParaRPr lang="en-US" sz="850" dirty="0"/>
          </a:p>
        </p:txBody>
      </p:sp>
      <p:sp>
        <p:nvSpPr>
          <p:cNvPr id="45" name="Text 42">
            <a:hlinkClick r:id="rId41" tooltip=""/>
          </p:cNvPr>
          <p:cNvSpPr txBox="1"/>
          <p:nvPr/>
        </p:nvSpPr>
        <p:spPr>
          <a:xfrm>
            <a:off x="8924544"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1" invalidUrl="" action="" tgtFrame="" tooltip="" history="1" highlightClick="0" endSnd="0">
                  <a:extLst>
                    <a:ext uri="{A12FA001-AC4F-418D-AE19-62706E023703}">
                      <ahyp:hlinkClr xmlns:ahyp="http://schemas.microsoft.com/office/drawing/2018/hyperlinkcolor" val="tx"/>
                    </a:ext>
                  </a:extLst>
                </a:hlinkClick>
              </a:rPr>
              <a:t>Experiment Platform</a:t>
            </a:r>
            <a:endParaRPr lang="en-US" sz="850" dirty="0"/>
          </a:p>
        </p:txBody>
      </p:sp>
      <p:sp>
        <p:nvSpPr>
          <p:cNvPr id="46" name="Text 43">
            <a:hlinkClick r:id="rId42" tooltip=""/>
          </p:cNvPr>
          <p:cNvSpPr txBox="1"/>
          <p:nvPr/>
        </p:nvSpPr>
        <p:spPr>
          <a:xfrm>
            <a:off x="8924544"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2" invalidUrl="" action="" tgtFrame="" tooltip="" history="1" highlightClick="0" endSnd="0">
                  <a:extLst>
                    <a:ext uri="{A12FA001-AC4F-418D-AE19-62706E023703}">
                      <ahyp:hlinkClr xmlns:ahyp="http://schemas.microsoft.com/office/drawing/2018/hyperlinkcolor" val="tx"/>
                    </a:ext>
                  </a:extLst>
                </a:hlinkClick>
              </a:rPr>
              <a:t>Platform &amp; Culture</a:t>
            </a:r>
            <a:endParaRPr lang="en-US" sz="85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82</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82</Slides>
  <Notes>82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82</vt:i4>
      </vt:variant>
    </vt:vector>
  </HeadingPairs>
  <TitlesOfParts>
    <vt:vector size="8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2026-10-08T02:45:13Z</dcterms:created>
  <dcterms:modified xsi:type="dcterms:W3CDTF">2026-10-08T02:45:13Z</dcterms:modified>
</cp:coreProperties>
</file>