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charts/chart1.xml" ContentType="application/vnd.openxmlformats-officedocument.drawingml.chart+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charts/chart2.xml" ContentType="application/vnd.openxmlformats-officedocument.drawingml.chart+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charts/chart3.xml" ContentType="application/vnd.openxmlformats-officedocument.drawingml.chart+xml"/>
  <Override PartName="/ppt/slideMasters/slideMaster55.xml" ContentType="application/vnd.openxmlformats-officedocument.presentationml.slideMaster+xml"/>
  <Override PartName="/ppt/slides/slide55.xml" ContentType="application/vnd.openxmlformats-officedocument.presentationml.slide+xml"/>
  <Override PartName="/ppt/charts/chart4.xml" ContentType="application/vnd.openxmlformats-officedocument.drawingml.chart+xml"/>
  <Override PartName="/ppt/slideMasters/slideMaster56.xml" ContentType="application/vnd.openxmlformats-officedocument.presentationml.slideMaster+xml"/>
  <Override PartName="/ppt/slides/slide56.xml" ContentType="application/vnd.openxmlformats-officedocument.presentationml.slide+xml"/>
  <Override PartName="/ppt/charts/chart5.xml" ContentType="application/vnd.openxmlformats-officedocument.drawingml.chart+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charts/chart6.xml" ContentType="application/vnd.openxmlformats-officedocument.drawingml.chart+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Lst>
  <p:notesMasterIdLst>
    <p:notesMasterId r:id="rId8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오프닝" id="{9dfdc2a7-a788-f8c1-4bce-b38d0f59d14e}">
          <p14:sldIdLst>
            <p14:sldId id="256"/>
            <p14:sldId id="257"/>
            <p14:sldId id="258"/>
          </p14:sldIdLst>
        </p14:section>
        <p14:section name="Ch1 실험과 인과추론" id="{365427ef-8a3f-0905-b2ed-6a710f5a50d3}">
          <p14:sldIdLst>
            <p14:sldId id="259"/>
            <p14:sldId id="260"/>
            <p14:sldId id="261"/>
            <p14:sldId id="262"/>
            <p14:sldId id="263"/>
            <p14:sldId id="264"/>
            <p14:sldId id="265"/>
            <p14:sldId id="266"/>
            <p14:sldId id="267"/>
            <p14:sldId id="268"/>
          </p14:sldIdLst>
        </p14:section>
        <p14:section name="Ch2 설계 구성요소" id="{afe4e71a-1092-50c8-ae99-67e78c87a899}">
          <p14:sldIdLst>
            <p14:sldId id="269"/>
            <p14:sldId id="270"/>
            <p14:sldId id="271"/>
            <p14:sldId id="272"/>
            <p14:sldId id="273"/>
            <p14:sldId id="274"/>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 id="296"/>
            <p14:sldId id="297"/>
          </p14:sldIdLst>
        </p14:section>
        <p14:section name="Ch3 실행과 분석" id="{60737fa9-d87a-6283-eba2-8c9cf15f0328}">
          <p14:sldIdLst>
            <p14:sldId id="298"/>
            <p14:sldId id="299"/>
            <p14:sldId id="300"/>
            <p14:sldId id="301"/>
            <p14:sldId id="302"/>
            <p14:sldId id="303"/>
            <p14:sldId id="304"/>
            <p14:sldId id="305"/>
            <p14:sldId id="306"/>
            <p14:sldId id="307"/>
            <p14:sldId id="308"/>
            <p14:sldId id="309"/>
            <p14:sldId id="310"/>
            <p14:sldId id="311"/>
            <p14:sldId id="312"/>
          </p14:sldIdLst>
        </p14:section>
        <p14:section name="Ch4 함정과 고급 설계" id="{f4e2e92e-2858-37c5-e998-c44b65bf4dee}">
          <p14:sldIdLst>
            <p14:sldId id="313"/>
            <p14:sldId id="314"/>
            <p14:sldId id="315"/>
            <p14:sldId id="316"/>
            <p14:sldId id="317"/>
            <p14:sldId id="318"/>
            <p14:sldId id="319"/>
            <p14:sldId id="320"/>
            <p14:sldId id="321"/>
            <p14:sldId id="322"/>
            <p14:sldId id="323"/>
            <p14:sldId id="324"/>
          </p14:sldIdLst>
        </p14:section>
        <p14:section name="Ch5 사례와 결정" id="{f4e6effe-1701-e659-33bf-2911e7f88e1b}">
          <p14:sldIdLst>
            <p14:sldId id="325"/>
            <p14:sldId id="326"/>
            <p14:sldId id="327"/>
            <p14:sldId id="328"/>
            <p14:sldId id="329"/>
            <p14:sldId id="330"/>
            <p14:sldId id="331"/>
            <p14:sldId id="332"/>
            <p14:sldId id="333"/>
            <p14:sldId id="334"/>
            <p14:sldId id="335"/>
            <p14:sldId id="336"/>
            <p14:sldId id="33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notesMaster" Target="notesMasters/notesMaster1.xml"/><Relationship Id="rId85" Type="http://schemas.openxmlformats.org/officeDocument/2006/relationships/presProps" Target="presProps.xml"/><Relationship Id="rId86" Type="http://schemas.openxmlformats.org/officeDocument/2006/relationships/viewProps" Target="viewProps.xml"/><Relationship Id="rId87" Type="http://schemas.openxmlformats.org/officeDocument/2006/relationships/theme" Target="theme/theme1.xml"/><Relationship Id="rId8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F3B"/>
                </a:solidFill>
                <a:latin typeface="+mn-lt"/>
              </a:defRPr>
            </a:pPr>
            <a:r>
              <a:rPr sz="1400" b="0" i="0" u="none" strike="noStrike">
                <a:solidFill>
                  <a:srgbClr val="1B1F3B"/>
                </a:solidFill>
                <a:latin typeface="+mn-lt"/>
              </a:rPr>
              <a:t>그룹당 필요 사용자 수 (기준 전환율 10%, α 5%, 검정력 80%)</a:t>
            </a:r>
          </a:p>
        </c:rich>
      </c:tx>
      <c:layout/>
      <c:overlay val="0"/>
    </c:title>
    <c:autoTitleDeleted val="0"/>
    <c:plotArea>
      <c:layout/>
      <c:barChart>
        <c:barDir val="col"/>
        <c:grouping val="clustered"/>
        <c:varyColors val="0"/>
        <c:ser>
          <c:idx val="0"/>
          <c:order val="0"/>
          <c:tx>
            <c:strRef>
              <c:f>Sheet1!$B$1</c:f>
              <c:strCache>
                <c:ptCount val="1"/>
                <c:pt idx="0">
                  <c:v>그룹당 필요 사용자 수</c:v>
                </c:pt>
              </c:strCache>
            </c:strRef>
          </c:tx>
          <c:spPr>
            <a:solidFill>
              <a:srgbClr val="3A5BFF"/>
            </a:solidFill>
            <a:effectLst/>
          </c:spPr>
          <c:invertIfNegative val="0"/>
          <c:dLbls>
            <c:numFmt formatCode="#,##0" sourceLinked="0"/>
            <c:txPr>
              <a:bodyPr/>
              <a:lstStyle/>
              <a:p>
                <a:pPr>
                  <a:defRPr b="0" i="0" strike="noStrike" sz="1200" u="none">
                    <a:solidFill>
                      <a:srgbClr val="1B1F3B"/>
                    </a:solidFill>
                    <a:latin typeface="+mn-lt"/>
                  </a:defRPr>
                </a:pPr>
              </a:p>
            </c:txPr>
            <c:showLegendKey val="0"/>
            <c:showVal val="1"/>
            <c:showCatName val="0"/>
            <c:showSerName val="0"/>
            <c:showPercent val="0"/>
            <c:showBubbleSize val="0"/>
            <c:showLeaderLines val="0"/>
          </c:dLbls>
          <c:cat>
            <c:multiLvlStrRef>
              <c:f>Sheet1!$A$2:$A$5</c:f>
              <c:multiLvlStrCache>
                <c:ptCount val="4"/>
                <c:lvl>
                  <c:pt idx="0">
                    <c:v>MDE 2%</c:v>
                  </c:pt>
                  <c:pt idx="1">
                    <c:v>MDE 5%</c:v>
                  </c:pt>
                  <c:pt idx="2">
                    <c:v>MDE 10%</c:v>
                  </c:pt>
                  <c:pt idx="3">
                    <c:v>MDE 20%</c:v>
                  </c:pt>
                </c:lvl>
              </c:multiLvlStrCache>
            </c:multiLvlStrRef>
          </c:cat>
          <c:val>
            <c:numRef>
              <c:f>Sheet1!$B$2:$B$5</c:f>
              <c:numCache>
                <c:formatCode>General</c:formatCode>
                <c:ptCount val="4"/>
                <c:pt idx="0">
                  <c:v>360000</c:v>
                </c:pt>
                <c:pt idx="1">
                  <c:v>57600</c:v>
                </c:pt>
                <c:pt idx="2">
                  <c:v>14400</c:v>
                </c:pt>
                <c:pt idx="3">
                  <c:v>3600</c:v>
                </c:pt>
              </c:numCache>
            </c:numRef>
          </c:val>
        </c:ser>
        <c:dLbls>
          <c:numFmt formatCode="#,##0" sourceLinked="0"/>
          <c:txPr>
            <a:bodyPr/>
            <a:lstStyle/>
            <a:p>
              <a:pPr>
                <a:defRPr b="0" i="0" strike="noStrike" sz="1200" u="none">
                  <a:solidFill>
                    <a:srgbClr val="1B1F3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55C7A"/>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3E7F1"/>
              </a:solidFill>
              <a:prstDash val="solid"/>
              <a:round/>
            </a:ln>
          </c:spPr>
        </c:majorGridlines>
        <c:numFmt formatCode="#,##0" sourceLinked="0"/>
        <c:majorTickMark val="out"/>
        <c:minorTickMark val="none"/>
        <c:tickLblPos val="nextTo"/>
        <c:spPr>
          <a:ln w="12700" cap="flat">
            <a:noFill/>
            <a:prstDash val="solid"/>
            <a:round/>
          </a:ln>
        </c:spPr>
        <c:txPr>
          <a:bodyPr/>
          <a:lstStyle/>
          <a:p>
            <a:pPr>
              <a:defRPr sz="1200" b="0" i="0" u="none" strike="noStrike">
                <a:solidFill>
                  <a:srgbClr val="555C7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F3B"/>
                </a:solidFill>
                <a:latin typeface="+mn-lt"/>
              </a:defRPr>
            </a:pPr>
            <a:r>
              <a:rPr sz="1400" b="0" i="0" u="none" strike="noStrike">
                <a:solidFill>
                  <a:srgbClr val="1B1F3B"/>
                </a:solidFill>
                <a:latin typeface="+mn-lt"/>
              </a:rPr>
              <a:t>일별 상대 효과(%) · 교육용 예시 수치</a:t>
            </a:r>
          </a:p>
        </c:rich>
      </c:tx>
      <c:layout/>
      <c:overlay val="0"/>
    </c:title>
    <c:autoTitleDeleted val="0"/>
    <c:plotArea>
      <c:layout/>
      <c:lineChart>
        <c:varyColors val="0"/>
        <c:ser>
          <c:idx val="0"/>
          <c:order val="0"/>
          <c:tx>
            <c:strRef>
              <c:f>Sheet1!$B$1</c:f>
              <c:strCache>
                <c:ptCount val="1"/>
                <c:pt idx="0">
                  <c:v>일별 효과(%)</c:v>
                </c:pt>
              </c:strCache>
            </c:strRef>
          </c:tx>
          <c:spPr>
            <a:solidFill>
              <a:srgbClr val="3A5BFF"/>
            </a:solidFill>
            <a:ln w="31750" cap="flat">
              <a:solidFill>
                <a:srgbClr val="3A5BFF"/>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6"/>
            <c:spPr>
              <a:solidFill>
                <a:srgbClr val="3A5BFF"/>
              </a:solidFill>
              <a:ln w="9525" cap="flat">
                <a:solidFill>
                  <a:srgbClr val="3A5BFF"/>
                </a:solidFill>
                <a:prstDash val="solid"/>
                <a:round/>
              </a:ln>
              <a:effectLst/>
            </c:spPr>
          </c:marker>
          <c:cat>
            <c:multiLvlStrRef>
              <c:f>Sheet1!$A$2:$A$15</c:f>
              <c:multiLvlStrCache>
                <c:ptCount val="14"/>
                <c:lvl>
                  <c:pt idx="0">
                    <c:v>1일</c:v>
                  </c:pt>
                  <c:pt idx="1">
                    <c:v>2일</c:v>
                  </c:pt>
                  <c:pt idx="2">
                    <c:v>3일</c:v>
                  </c:pt>
                  <c:pt idx="3">
                    <c:v>4일</c:v>
                  </c:pt>
                  <c:pt idx="4">
                    <c:v>5일</c:v>
                  </c:pt>
                  <c:pt idx="5">
                    <c:v>6일</c:v>
                  </c:pt>
                  <c:pt idx="6">
                    <c:v>7일</c:v>
                  </c:pt>
                  <c:pt idx="7">
                    <c:v>8일</c:v>
                  </c:pt>
                  <c:pt idx="8">
                    <c:v>9일</c:v>
                  </c:pt>
                  <c:pt idx="9">
                    <c:v>10일</c:v>
                  </c:pt>
                  <c:pt idx="10">
                    <c:v>11일</c:v>
                  </c:pt>
                  <c:pt idx="11">
                    <c:v>12일</c:v>
                  </c:pt>
                  <c:pt idx="12">
                    <c:v>13일</c:v>
                  </c:pt>
                  <c:pt idx="13">
                    <c:v>14일</c:v>
                  </c:pt>
                </c:lvl>
              </c:multiLvlStrCache>
            </c:multiLvlStrRef>
          </c:cat>
          <c:val>
            <c:numRef>
              <c:f>Sheet1!$B$2:$B$15</c:f>
              <c:numCache>
                <c:formatCode>General</c:formatCode>
                <c:ptCount val="14"/>
                <c:pt idx="0">
                  <c:v>6</c:v>
                </c:pt>
                <c:pt idx="1">
                  <c:v>5.2</c:v>
                </c:pt>
                <c:pt idx="2">
                  <c:v>4.4</c:v>
                </c:pt>
                <c:pt idx="3">
                  <c:v>3.8</c:v>
                </c:pt>
                <c:pt idx="4">
                  <c:v>3.3</c:v>
                </c:pt>
                <c:pt idx="5">
                  <c:v>2.1</c:v>
                </c:pt>
                <c:pt idx="6">
                  <c:v>2.4</c:v>
                </c:pt>
                <c:pt idx="7">
                  <c:v>2.6</c:v>
                </c:pt>
                <c:pt idx="8">
                  <c:v>2.3</c:v>
                </c:pt>
                <c:pt idx="9">
                  <c:v>2.1</c:v>
                </c:pt>
                <c:pt idx="10">
                  <c:v>2</c:v>
                </c:pt>
                <c:pt idx="11">
                  <c:v>1.9</c:v>
                </c:pt>
                <c:pt idx="12">
                  <c:v>1.3</c:v>
                </c:pt>
                <c:pt idx="13">
                  <c:v>1.6</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55C7A"/>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E3E7F1"/>
              </a:solidFill>
              <a:prstDash val="solid"/>
              <a:round/>
            </a:ln>
          </c:spPr>
        </c:majorGridlines>
        <c:numFmt formatCode="0.0" sourceLinked="0"/>
        <c:majorTickMark val="out"/>
        <c:minorTickMark val="none"/>
        <c:tickLblPos val="nextTo"/>
        <c:spPr>
          <a:ln w="12700" cap="flat">
            <a:noFill/>
            <a:prstDash val="solid"/>
            <a:round/>
          </a:ln>
        </c:spPr>
        <c:txPr>
          <a:bodyPr/>
          <a:lstStyle/>
          <a:p>
            <a:pPr>
              <a:defRPr sz="1200" b="0" i="0" u="none" strike="noStrike">
                <a:solidFill>
                  <a:srgbClr val="555C7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F3B"/>
                </a:solidFill>
                <a:latin typeface="+mn-lt"/>
              </a:defRPr>
            </a:pPr>
            <a:r>
              <a:rPr sz="1400" b="0" i="0" u="none" strike="noStrike">
                <a:solidFill>
                  <a:srgbClr val="1B1F3B"/>
                </a:solidFill>
                <a:latin typeface="+mn-lt"/>
              </a:rPr>
              <a:t>효과가 전혀 없을 때, 지표 수별 '하나 이상 유의' 확률(%)</a:t>
            </a:r>
          </a:p>
        </c:rich>
      </c:tx>
      <c:layout/>
      <c:overlay val="0"/>
    </c:title>
    <c:autoTitleDeleted val="0"/>
    <c:plotArea>
      <c:layout/>
      <c:lineChart>
        <c:varyColors val="0"/>
        <c:ser>
          <c:idx val="0"/>
          <c:order val="0"/>
          <c:tx>
            <c:strRef>
              <c:f>Sheet1!$B$1</c:f>
              <c:strCache>
                <c:ptCount val="1"/>
                <c:pt idx="0">
                  <c:v>거짓 양성이 하나 이상 나올 확률(%)</c:v>
                </c:pt>
              </c:strCache>
            </c:strRef>
          </c:tx>
          <c:spPr>
            <a:solidFill>
              <a:srgbClr val="D93B41"/>
            </a:solidFill>
            <a:ln w="31750" cap="flat">
              <a:solidFill>
                <a:srgbClr val="D93B41"/>
              </a:solidFill>
              <a:prstDash val="solid"/>
              <a:round/>
            </a:ln>
            <a:effectLst/>
          </c:spPr>
          <c:invertIfNegative val="0"/>
          <c:dLbls>
            <c:numFmt formatCode="0.0" sourceLinked="0"/>
            <c:txPr>
              <a:bodyPr/>
              <a:lstStyle/>
              <a:p>
                <a:pPr>
                  <a:defRPr b="0" i="0" strike="noStrike" sz="1200" u="none">
                    <a:solidFill>
                      <a:srgbClr val="1B1F3B"/>
                    </a:solidFill>
                    <a:latin typeface="+mn-lt"/>
                  </a:defRPr>
                </a:pPr>
              </a:p>
            </c:txPr>
            <c:dLblPos val="t"/>
            <c:showLegendKey val="0"/>
            <c:showVal val="1"/>
            <c:showCatName val="0"/>
            <c:showSerName val="0"/>
            <c:showPercent val="0"/>
            <c:showBubbleSize val="0"/>
            <c:showLeaderLines val="0"/>
          </c:dLbls>
          <c:marker>
            <c:symbol val="circle"/>
            <c:size val="7"/>
            <c:spPr>
              <a:solidFill>
                <a:srgbClr val="D93B41"/>
              </a:solidFill>
              <a:ln w="9525" cap="flat">
                <a:solidFill>
                  <a:srgbClr val="D93B41"/>
                </a:solidFill>
                <a:prstDash val="solid"/>
                <a:round/>
              </a:ln>
              <a:effectLst/>
            </c:spPr>
          </c:marker>
          <c:cat>
            <c:multiLvlStrRef>
              <c:f>Sheet1!$A$2:$A$7</c:f>
              <c:multiLvlStrCache>
                <c:ptCount val="6"/>
                <c:lvl>
                  <c:pt idx="0">
                    <c:v>1개</c:v>
                  </c:pt>
                  <c:pt idx="1">
                    <c:v>2개</c:v>
                  </c:pt>
                  <c:pt idx="2">
                    <c:v>3개</c:v>
                  </c:pt>
                  <c:pt idx="3">
                    <c:v>5개</c:v>
                  </c:pt>
                  <c:pt idx="4">
                    <c:v>10개</c:v>
                  </c:pt>
                  <c:pt idx="5">
                    <c:v>20개</c:v>
                  </c:pt>
                </c:lvl>
              </c:multiLvlStrCache>
            </c:multiLvlStrRef>
          </c:cat>
          <c:val>
            <c:numRef>
              <c:f>Sheet1!$B$2:$B$7</c:f>
              <c:numCache>
                <c:formatCode>General</c:formatCode>
                <c:ptCount val="6"/>
                <c:pt idx="0">
                  <c:v>5</c:v>
                </c:pt>
                <c:pt idx="1">
                  <c:v>9.8</c:v>
                </c:pt>
                <c:pt idx="2">
                  <c:v>14.3</c:v>
                </c:pt>
                <c:pt idx="3">
                  <c:v>22.6</c:v>
                </c:pt>
                <c:pt idx="4">
                  <c:v>40.1</c:v>
                </c:pt>
                <c:pt idx="5">
                  <c:v>64.2</c:v>
                </c:pt>
              </c:numCache>
            </c:numRef>
          </c:val>
          <c:smooth val="0"/>
        </c:ser>
        <c:dLbls>
          <c:numFmt formatCode="0.0" sourceLinked="0"/>
          <c:txPr>
            <a:bodyPr/>
            <a:lstStyle/>
            <a:p>
              <a:pPr>
                <a:defRPr b="0" i="0" strike="noStrike" sz="1200" u="none">
                  <a:solidFill>
                    <a:srgbClr val="1B1F3B"/>
                  </a:solidFill>
                  <a:latin typeface="+mn-lt"/>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55C7A"/>
                </a:solidFill>
                <a:latin typeface="+mn-lt"/>
              </a:defRPr>
            </a:pPr>
            <a:endParaRPr lang="en-US"/>
          </a:p>
        </c:txPr>
        <c:crossAx val="2094734552"/>
        <c:crosses val="autoZero"/>
        <c:auto val="1"/>
        <c:lblAlgn val="ctr"/>
        <c:noMultiLvlLbl val="1"/>
      </c:catAx>
      <c:valAx>
        <c:axId val="2094734552"/>
        <c:scaling>
          <c:orientation val="minMax"/>
          <c:max val="80"/>
          <c:min val="0"/>
        </c:scaling>
        <c:delete val="0"/>
        <c:axPos val="l"/>
        <c:majorGridlines>
          <c:spPr>
            <a:ln w="9525" cap="flat">
              <a:solidFill>
                <a:srgbClr val="E3E7F1"/>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555C7A"/>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F3B"/>
                </a:solidFill>
                <a:latin typeface="+mn-lt"/>
              </a:defRPr>
            </a:pPr>
            <a:r>
              <a:rPr sz="1400" b="0" i="0" u="none" strike="noStrike">
                <a:solidFill>
                  <a:srgbClr val="1B1F3B"/>
                </a:solidFill>
                <a:latin typeface="+mn-lt"/>
              </a:rPr>
              <a:t>A/A 실험에서 '유의'로 끝난 비율(%) · 누적</a:t>
            </a:r>
          </a:p>
        </c:rich>
      </c:tx>
      <c:layout/>
      <c:overlay val="0"/>
    </c:title>
    <c:autoTitleDeleted val="0"/>
    <c:plotArea>
      <c:layout/>
      <c:lineChart>
        <c:varyColors val="0"/>
        <c:ser>
          <c:idx val="0"/>
          <c:order val="0"/>
          <c:tx>
            <c:strRef>
              <c:f>Sheet1!$B$1</c:f>
              <c:strCache>
                <c:ptCount val="1"/>
                <c:pt idx="0">
                  <c:v>매일 확인하고 유의하면 멈춤</c:v>
                </c:pt>
              </c:strCache>
            </c:strRef>
          </c:tx>
          <c:spPr>
            <a:solidFill>
              <a:srgbClr val="D93B41"/>
            </a:solidFill>
            <a:ln w="31750" cap="flat">
              <a:solidFill>
                <a:srgbClr val="D93B41"/>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D93B41"/>
              </a:solidFill>
              <a:ln w="9525" cap="flat">
                <a:solidFill>
                  <a:srgbClr val="D93B41"/>
                </a:solidFill>
                <a:prstDash val="solid"/>
                <a:round/>
              </a:ln>
              <a:effectLst/>
            </c:spPr>
          </c:marker>
          <c:cat>
            <c:multiLvlStrRef>
              <c:f>Sheet1!$A$2:$A$15</c:f>
              <c:multiLvlStrCache>
                <c:ptCount val="14"/>
                <c:lvl>
                  <c:pt idx="0">
                    <c:v>1일</c:v>
                  </c:pt>
                  <c:pt idx="1">
                    <c:v>2일</c:v>
                  </c:pt>
                  <c:pt idx="2">
                    <c:v>3일</c:v>
                  </c:pt>
                  <c:pt idx="3">
                    <c:v>4일</c:v>
                  </c:pt>
                  <c:pt idx="4">
                    <c:v>5일</c:v>
                  </c:pt>
                  <c:pt idx="5">
                    <c:v>6일</c:v>
                  </c:pt>
                  <c:pt idx="6">
                    <c:v>7일</c:v>
                  </c:pt>
                  <c:pt idx="7">
                    <c:v>8일</c:v>
                  </c:pt>
                  <c:pt idx="8">
                    <c:v>9일</c:v>
                  </c:pt>
                  <c:pt idx="9">
                    <c:v>10일</c:v>
                  </c:pt>
                  <c:pt idx="10">
                    <c:v>11일</c:v>
                  </c:pt>
                  <c:pt idx="11">
                    <c:v>12일</c:v>
                  </c:pt>
                  <c:pt idx="12">
                    <c:v>13일</c:v>
                  </c:pt>
                  <c:pt idx="13">
                    <c:v>14일</c:v>
                  </c:pt>
                </c:lvl>
              </c:multiLvlStrCache>
            </c:multiLvlStrRef>
          </c:cat>
          <c:val>
            <c:numRef>
              <c:f>Sheet1!$B$2:$B$15</c:f>
              <c:numCache>
                <c:formatCode>General</c:formatCode>
                <c:ptCount val="14"/>
                <c:pt idx="0">
                  <c:v>4.5</c:v>
                </c:pt>
                <c:pt idx="1">
                  <c:v>8</c:v>
                </c:pt>
                <c:pt idx="2">
                  <c:v>10.4</c:v>
                </c:pt>
                <c:pt idx="3">
                  <c:v>12.5</c:v>
                </c:pt>
                <c:pt idx="4">
                  <c:v>13.7</c:v>
                </c:pt>
                <c:pt idx="5">
                  <c:v>15.2</c:v>
                </c:pt>
                <c:pt idx="6">
                  <c:v>16.3</c:v>
                </c:pt>
                <c:pt idx="7">
                  <c:v>17.3</c:v>
                </c:pt>
                <c:pt idx="8">
                  <c:v>18.1</c:v>
                </c:pt>
                <c:pt idx="9">
                  <c:v>18.9</c:v>
                </c:pt>
                <c:pt idx="10">
                  <c:v>19.4</c:v>
                </c:pt>
                <c:pt idx="11">
                  <c:v>20.1</c:v>
                </c:pt>
                <c:pt idx="12">
                  <c:v>20.9</c:v>
                </c:pt>
                <c:pt idx="13">
                  <c:v>21.5</c:v>
                </c:pt>
              </c:numCache>
            </c:numRef>
          </c:val>
          <c:smooth val="0"/>
        </c:ser>
        <c:ser>
          <c:idx val="1"/>
          <c:order val="1"/>
          <c:tx>
            <c:strRef>
              <c:f>Sheet1!$C$1</c:f>
              <c:strCache>
                <c:ptCount val="1"/>
                <c:pt idx="0">
                  <c:v>마지막 날 한 번만 확인</c:v>
                </c:pt>
              </c:strCache>
            </c:strRef>
          </c:tx>
          <c:spPr>
            <a:solidFill>
              <a:srgbClr val="8A90A8"/>
            </a:solidFill>
            <a:ln w="31750" cap="flat">
              <a:solidFill>
                <a:srgbClr val="8A90A8"/>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8A90A8"/>
              </a:solidFill>
              <a:ln w="9525" cap="flat">
                <a:solidFill>
                  <a:srgbClr val="8A90A8"/>
                </a:solidFill>
                <a:prstDash val="solid"/>
                <a:round/>
              </a:ln>
              <a:effectLst/>
            </c:spPr>
          </c:marker>
          <c:cat>
            <c:multiLvlStrRef>
              <c:f>Sheet1!$A$2:$A$15</c:f>
              <c:multiLvlStrCache>
                <c:ptCount val="14"/>
                <c:lvl>
                  <c:pt idx="0">
                    <c:v>1일</c:v>
                  </c:pt>
                  <c:pt idx="1">
                    <c:v>2일</c:v>
                  </c:pt>
                  <c:pt idx="2">
                    <c:v>3일</c:v>
                  </c:pt>
                  <c:pt idx="3">
                    <c:v>4일</c:v>
                  </c:pt>
                  <c:pt idx="4">
                    <c:v>5일</c:v>
                  </c:pt>
                  <c:pt idx="5">
                    <c:v>6일</c:v>
                  </c:pt>
                  <c:pt idx="6">
                    <c:v>7일</c:v>
                  </c:pt>
                  <c:pt idx="7">
                    <c:v>8일</c:v>
                  </c:pt>
                  <c:pt idx="8">
                    <c:v>9일</c:v>
                  </c:pt>
                  <c:pt idx="9">
                    <c:v>10일</c:v>
                  </c:pt>
                  <c:pt idx="10">
                    <c:v>11일</c:v>
                  </c:pt>
                  <c:pt idx="11">
                    <c:v>12일</c:v>
                  </c:pt>
                  <c:pt idx="12">
                    <c:v>13일</c:v>
                  </c:pt>
                  <c:pt idx="13">
                    <c:v>14일</c:v>
                  </c:pt>
                </c:lvl>
              </c:multiLvlStrCache>
            </c:multiLvlStrRef>
          </c:cat>
          <c:val>
            <c:numRef>
              <c:f>Sheet1!$C$2:$C$15</c:f>
              <c:numCache>
                <c:formatCode>General</c:formatCode>
                <c:ptCount val="14"/>
                <c:pt idx="0">
                  <c:v>5.2</c:v>
                </c:pt>
                <c:pt idx="1">
                  <c:v>5.2</c:v>
                </c:pt>
                <c:pt idx="2">
                  <c:v>5.2</c:v>
                </c:pt>
                <c:pt idx="3">
                  <c:v>5.2</c:v>
                </c:pt>
                <c:pt idx="4">
                  <c:v>5.2</c:v>
                </c:pt>
                <c:pt idx="5">
                  <c:v>5.2</c:v>
                </c:pt>
                <c:pt idx="6">
                  <c:v>5.2</c:v>
                </c:pt>
                <c:pt idx="7">
                  <c:v>5.2</c:v>
                </c:pt>
                <c:pt idx="8">
                  <c:v>5.2</c:v>
                </c:pt>
                <c:pt idx="9">
                  <c:v>5.2</c:v>
                </c:pt>
                <c:pt idx="10">
                  <c:v>5.2</c:v>
                </c:pt>
                <c:pt idx="11">
                  <c:v>5.2</c:v>
                </c:pt>
                <c:pt idx="12">
                  <c:v>5.2</c:v>
                </c:pt>
                <c:pt idx="13">
                  <c:v>5.2</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55C7A"/>
                </a:solidFill>
                <a:latin typeface="+mn-lt"/>
              </a:defRPr>
            </a:pPr>
            <a:endParaRPr lang="en-US"/>
          </a:p>
        </c:txPr>
        <c:crossAx val="2094734552"/>
        <c:crosses val="autoZero"/>
        <c:auto val="1"/>
        <c:lblAlgn val="ctr"/>
        <c:noMultiLvlLbl val="1"/>
      </c:catAx>
      <c:valAx>
        <c:axId val="2094734552"/>
        <c:scaling>
          <c:orientation val="minMax"/>
          <c:max val="25"/>
          <c:min val="0"/>
        </c:scaling>
        <c:delete val="0"/>
        <c:axPos val="l"/>
        <c:majorGridlines>
          <c:spPr>
            <a:ln w="9525" cap="flat">
              <a:solidFill>
                <a:srgbClr val="E3E7F1"/>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555C7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55C7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F3B"/>
                </a:solidFill>
                <a:latin typeface="+mn-lt"/>
              </a:defRPr>
            </a:pPr>
            <a:r>
              <a:rPr sz="1400" b="0" i="0" u="none" strike="noStrike">
                <a:solidFill>
                  <a:srgbClr val="1B1F3B"/>
                </a:solidFill>
                <a:latin typeface="+mn-lt"/>
              </a:rPr>
              <a:t>주차별 상대 효과(%) · 교육용 예시 곡선</a:t>
            </a:r>
          </a:p>
        </c:rich>
      </c:tx>
      <c:layout/>
      <c:overlay val="0"/>
    </c:title>
    <c:autoTitleDeleted val="0"/>
    <c:plotArea>
      <c:layout/>
      <c:lineChart>
        <c:varyColors val="0"/>
        <c:ser>
          <c:idx val="0"/>
          <c:order val="0"/>
          <c:tx>
            <c:strRef>
              <c:f>Sheet1!$B$1</c:f>
              <c:strCache>
                <c:ptCount val="1"/>
                <c:pt idx="0">
                  <c:v>신규성 효과: 새로워서 눌러본다</c:v>
                </c:pt>
              </c:strCache>
            </c:strRef>
          </c:tx>
          <c:spPr>
            <a:solidFill>
              <a:srgbClr val="3A5BFF"/>
            </a:solidFill>
            <a:ln w="31750" cap="flat">
              <a:solidFill>
                <a:srgbClr val="3A5BFF"/>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6"/>
            <c:spPr>
              <a:solidFill>
                <a:srgbClr val="3A5BFF"/>
              </a:solidFill>
              <a:ln w="9525" cap="flat">
                <a:solidFill>
                  <a:srgbClr val="3A5BFF"/>
                </a:solidFill>
                <a:prstDash val="solid"/>
                <a:round/>
              </a:ln>
              <a:effectLst/>
            </c:spPr>
          </c:marker>
          <c:cat>
            <c:multiLvlStrRef>
              <c:f>Sheet1!$A$2:$A$7</c:f>
              <c:multiLvlStrCache>
                <c:ptCount val="6"/>
                <c:lvl>
                  <c:pt idx="0">
                    <c:v>1주</c:v>
                  </c:pt>
                  <c:pt idx="1">
                    <c:v>2주</c:v>
                  </c:pt>
                  <c:pt idx="2">
                    <c:v>3주</c:v>
                  </c:pt>
                  <c:pt idx="3">
                    <c:v>4주</c:v>
                  </c:pt>
                  <c:pt idx="4">
                    <c:v>5주</c:v>
                  </c:pt>
                  <c:pt idx="5">
                    <c:v>6주</c:v>
                  </c:pt>
                </c:lvl>
              </c:multiLvlStrCache>
            </c:multiLvlStrRef>
          </c:cat>
          <c:val>
            <c:numRef>
              <c:f>Sheet1!$B$2:$B$7</c:f>
              <c:numCache>
                <c:formatCode>General</c:formatCode>
                <c:ptCount val="6"/>
                <c:pt idx="0">
                  <c:v>4</c:v>
                </c:pt>
                <c:pt idx="1">
                  <c:v>2.4</c:v>
                </c:pt>
                <c:pt idx="2">
                  <c:v>1.6</c:v>
                </c:pt>
                <c:pt idx="3">
                  <c:v>1.2</c:v>
                </c:pt>
                <c:pt idx="4">
                  <c:v>1</c:v>
                </c:pt>
                <c:pt idx="5">
                  <c:v>1</c:v>
                </c:pt>
              </c:numCache>
            </c:numRef>
          </c:val>
          <c:smooth val="0"/>
        </c:ser>
        <c:ser>
          <c:idx val="1"/>
          <c:order val="1"/>
          <c:tx>
            <c:strRef>
              <c:f>Sheet1!$C$1</c:f>
              <c:strCache>
                <c:ptCount val="1"/>
                <c:pt idx="0">
                  <c:v>초두 효과: 낯설어서 불편하다</c:v>
                </c:pt>
              </c:strCache>
            </c:strRef>
          </c:tx>
          <c:spPr>
            <a:solidFill>
              <a:srgbClr val="B87700"/>
            </a:solidFill>
            <a:ln w="31750" cap="flat">
              <a:solidFill>
                <a:srgbClr val="B87700"/>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circle"/>
            <c:size val="6"/>
            <c:spPr>
              <a:solidFill>
                <a:srgbClr val="B87700"/>
              </a:solidFill>
              <a:ln w="9525" cap="flat">
                <a:solidFill>
                  <a:srgbClr val="B87700"/>
                </a:solidFill>
                <a:prstDash val="solid"/>
                <a:round/>
              </a:ln>
              <a:effectLst/>
            </c:spPr>
          </c:marker>
          <c:cat>
            <c:multiLvlStrRef>
              <c:f>Sheet1!$A$2:$A$7</c:f>
              <c:multiLvlStrCache>
                <c:ptCount val="6"/>
                <c:lvl>
                  <c:pt idx="0">
                    <c:v>1주</c:v>
                  </c:pt>
                  <c:pt idx="1">
                    <c:v>2주</c:v>
                  </c:pt>
                  <c:pt idx="2">
                    <c:v>3주</c:v>
                  </c:pt>
                  <c:pt idx="3">
                    <c:v>4주</c:v>
                  </c:pt>
                  <c:pt idx="4">
                    <c:v>5주</c:v>
                  </c:pt>
                  <c:pt idx="5">
                    <c:v>6주</c:v>
                  </c:pt>
                </c:lvl>
              </c:multiLvlStrCache>
            </c:multiLvlStrRef>
          </c:cat>
          <c:val>
            <c:numRef>
              <c:f>Sheet1!$C$2:$C$7</c:f>
              <c:numCache>
                <c:formatCode>General</c:formatCode>
                <c:ptCount val="6"/>
                <c:pt idx="0">
                  <c:v>-2</c:v>
                </c:pt>
                <c:pt idx="1">
                  <c:v>-0.6</c:v>
                </c:pt>
                <c:pt idx="2">
                  <c:v>0.4</c:v>
                </c:pt>
                <c:pt idx="3">
                  <c:v>0.9</c:v>
                </c:pt>
                <c:pt idx="4">
                  <c:v>1.1</c:v>
                </c:pt>
                <c:pt idx="5">
                  <c:v>1.2</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55C7A"/>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3E7F1"/>
              </a:solidFill>
              <a:prstDash val="solid"/>
              <a:round/>
            </a:ln>
          </c:spPr>
        </c:majorGridlines>
        <c:numFmt formatCode="0.0" sourceLinked="0"/>
        <c:majorTickMark val="out"/>
        <c:minorTickMark val="none"/>
        <c:tickLblPos val="nextTo"/>
        <c:spPr>
          <a:ln w="12700" cap="flat">
            <a:noFill/>
            <a:prstDash val="solid"/>
            <a:round/>
          </a:ln>
        </c:spPr>
        <c:txPr>
          <a:bodyPr/>
          <a:lstStyle/>
          <a:p>
            <a:pPr>
              <a:defRPr sz="1200" b="0" i="0" u="none" strike="noStrike">
                <a:solidFill>
                  <a:srgbClr val="555C7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55C7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B1F3B"/>
                </a:solidFill>
                <a:latin typeface="+mn-lt"/>
              </a:defRPr>
            </a:pPr>
            <a:r>
              <a:rPr sz="1400" b="0" i="0" u="none" strike="noStrike">
                <a:solidFill>
                  <a:srgbClr val="1B1F3B"/>
                </a:solidFill>
                <a:latin typeface="+mn-lt"/>
              </a:rPr>
              <a:t>DID: 4월 정책 도입 전후 주문 수 · 교육용 예시</a:t>
            </a:r>
          </a:p>
        </c:rich>
      </c:tx>
      <c:layout/>
      <c:overlay val="0"/>
    </c:title>
    <c:autoTitleDeleted val="0"/>
    <c:plotArea>
      <c:layout/>
      <c:lineChart>
        <c:varyColors val="0"/>
        <c:ser>
          <c:idx val="0"/>
          <c:order val="0"/>
          <c:tx>
            <c:strRef>
              <c:f>Sheet1!$B$1</c:f>
              <c:strCache>
                <c:ptCount val="1"/>
                <c:pt idx="0">
                  <c:v>처치 지역</c:v>
                </c:pt>
              </c:strCache>
            </c:strRef>
          </c:tx>
          <c:spPr>
            <a:solidFill>
              <a:srgbClr val="3A5BFF"/>
            </a:solidFill>
            <a:ln w="31750" cap="flat">
              <a:solidFill>
                <a:srgbClr val="3A5BFF"/>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3A5BFF"/>
              </a:solidFill>
              <a:ln w="9525" cap="flat">
                <a:solidFill>
                  <a:srgbClr val="3A5BFF"/>
                </a:solidFill>
                <a:prstDash val="solid"/>
                <a:round/>
              </a:ln>
              <a:effectLst/>
            </c:spPr>
          </c:marker>
          <c:cat>
            <c:multiLvlStrRef>
              <c:f>Sheet1!$A$2:$A$7</c:f>
              <c:multiLvlStrCache>
                <c:ptCount val="6"/>
                <c:lvl>
                  <c:pt idx="0">
                    <c:v>1월</c:v>
                  </c:pt>
                  <c:pt idx="1">
                    <c:v>2월</c:v>
                  </c:pt>
                  <c:pt idx="2">
                    <c:v>3월</c:v>
                  </c:pt>
                  <c:pt idx="3">
                    <c:v>4월</c:v>
                  </c:pt>
                  <c:pt idx="4">
                    <c:v>5월</c:v>
                  </c:pt>
                  <c:pt idx="5">
                    <c:v>6월</c:v>
                  </c:pt>
                </c:lvl>
              </c:multiLvlStrCache>
            </c:multiLvlStrRef>
          </c:cat>
          <c:val>
            <c:numRef>
              <c:f>Sheet1!$B$2:$B$7</c:f>
              <c:numCache>
                <c:formatCode>General</c:formatCode>
                <c:ptCount val="6"/>
                <c:pt idx="0">
                  <c:v>10</c:v>
                </c:pt>
                <c:pt idx="1">
                  <c:v>10.5</c:v>
                </c:pt>
                <c:pt idx="2">
                  <c:v>11</c:v>
                </c:pt>
                <c:pt idx="3">
                  <c:v>13</c:v>
                </c:pt>
                <c:pt idx="4">
                  <c:v>13.6</c:v>
                </c:pt>
                <c:pt idx="5">
                  <c:v>14.1</c:v>
                </c:pt>
              </c:numCache>
            </c:numRef>
          </c:val>
          <c:smooth val="0"/>
        </c:ser>
        <c:ser>
          <c:idx val="1"/>
          <c:order val="1"/>
          <c:tx>
            <c:strRef>
              <c:f>Sheet1!$C$1</c:f>
              <c:strCache>
                <c:ptCount val="1"/>
                <c:pt idx="0">
                  <c:v>비교 지역</c:v>
                </c:pt>
              </c:strCache>
            </c:strRef>
          </c:tx>
          <c:spPr>
            <a:solidFill>
              <a:srgbClr val="8A90A8"/>
            </a:solidFill>
            <a:ln w="31750" cap="flat">
              <a:solidFill>
                <a:srgbClr val="8A90A8"/>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8A90A8"/>
              </a:solidFill>
              <a:ln w="9525" cap="flat">
                <a:solidFill>
                  <a:srgbClr val="8A90A8"/>
                </a:solidFill>
                <a:prstDash val="solid"/>
                <a:round/>
              </a:ln>
              <a:effectLst/>
            </c:spPr>
          </c:marker>
          <c:cat>
            <c:multiLvlStrRef>
              <c:f>Sheet1!$A$2:$A$7</c:f>
              <c:multiLvlStrCache>
                <c:ptCount val="6"/>
                <c:lvl>
                  <c:pt idx="0">
                    <c:v>1월</c:v>
                  </c:pt>
                  <c:pt idx="1">
                    <c:v>2월</c:v>
                  </c:pt>
                  <c:pt idx="2">
                    <c:v>3월</c:v>
                  </c:pt>
                  <c:pt idx="3">
                    <c:v>4월</c:v>
                  </c:pt>
                  <c:pt idx="4">
                    <c:v>5월</c:v>
                  </c:pt>
                  <c:pt idx="5">
                    <c:v>6월</c:v>
                  </c:pt>
                </c:lvl>
              </c:multiLvlStrCache>
            </c:multiLvlStrRef>
          </c:cat>
          <c:val>
            <c:numRef>
              <c:f>Sheet1!$C$2:$C$7</c:f>
              <c:numCache>
                <c:formatCode>General</c:formatCode>
                <c:ptCount val="6"/>
                <c:pt idx="0">
                  <c:v>8</c:v>
                </c:pt>
                <c:pt idx="1">
                  <c:v>8.5</c:v>
                </c:pt>
                <c:pt idx="2">
                  <c:v>9</c:v>
                </c:pt>
                <c:pt idx="3">
                  <c:v>9.4</c:v>
                </c:pt>
                <c:pt idx="4">
                  <c:v>9.9</c:v>
                </c:pt>
                <c:pt idx="5">
                  <c:v>10.3</c:v>
                </c:pt>
              </c:numCache>
            </c:numRef>
          </c:val>
          <c:smooth val="0"/>
        </c:ser>
        <c:ser>
          <c:idx val="2"/>
          <c:order val="2"/>
          <c:tx>
            <c:strRef>
              <c:f>Sheet1!$D$1</c:f>
              <c:strCache>
                <c:ptCount val="1"/>
                <c:pt idx="0">
                  <c:v>처치가 없었다면 (반사실)</c:v>
                </c:pt>
              </c:strCache>
            </c:strRef>
          </c:tx>
          <c:spPr>
            <a:solidFill>
              <a:srgbClr val="C9D3FF"/>
            </a:solidFill>
            <a:ln w="31750" cap="flat">
              <a:solidFill>
                <a:srgbClr val="C9D3FF"/>
              </a:solidFill>
              <a:prstDash val="solid"/>
              <a:round/>
            </a:ln>
            <a:effectLst/>
          </c:spPr>
          <c:invertIfNegative val="0"/>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c:symbol val="none"/>
            <c:size val="6"/>
            <c:spPr>
              <a:solidFill>
                <a:srgbClr val="C9D3FF"/>
              </a:solidFill>
              <a:ln w="9525" cap="flat">
                <a:solidFill>
                  <a:srgbClr val="C9D3FF"/>
                </a:solidFill>
                <a:prstDash val="solid"/>
                <a:round/>
              </a:ln>
              <a:effectLst/>
            </c:spPr>
          </c:marker>
          <c:cat>
            <c:multiLvlStrRef>
              <c:f>Sheet1!$A$2:$A$7</c:f>
              <c:multiLvlStrCache>
                <c:ptCount val="6"/>
                <c:lvl>
                  <c:pt idx="0">
                    <c:v>1월</c:v>
                  </c:pt>
                  <c:pt idx="1">
                    <c:v>2월</c:v>
                  </c:pt>
                  <c:pt idx="2">
                    <c:v>3월</c:v>
                  </c:pt>
                  <c:pt idx="3">
                    <c:v>4월</c:v>
                  </c:pt>
                  <c:pt idx="4">
                    <c:v>5월</c:v>
                  </c:pt>
                  <c:pt idx="5">
                    <c:v>6월</c:v>
                  </c:pt>
                </c:lvl>
              </c:multiLvlStrCache>
            </c:multiLvlStrRef>
          </c:cat>
          <c:val>
            <c:numRef>
              <c:f>Sheet1!$D$2:$D$7</c:f>
              <c:numCache>
                <c:formatCode>General</c:formatCode>
                <c:ptCount val="6"/>
                <c:pt idx="0">
                  <c:v>10</c:v>
                </c:pt>
                <c:pt idx="1">
                  <c:v>10.5</c:v>
                </c:pt>
                <c:pt idx="2">
                  <c:v>11</c:v>
                </c:pt>
                <c:pt idx="3">
                  <c:v>11.4</c:v>
                </c:pt>
                <c:pt idx="4">
                  <c:v>11.9</c:v>
                </c:pt>
                <c:pt idx="5">
                  <c:v>12.3</c:v>
                </c:pt>
              </c:numCache>
            </c:numRef>
          </c:val>
          <c:smooth val="0"/>
        </c:ser>
        <c:dLbls>
          <c:numFmt formatCode="#,##0" sourceLinked="0"/>
          <c:txPr>
            <a:bodyPr/>
            <a:lstStyle/>
            <a:p>
              <a:pPr>
                <a:defRPr b="0" i="0" strike="noStrike" sz="1200" u="none">
                  <a:solidFill>
                    <a:srgbClr val="000000"/>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55C7A"/>
                </a:solidFill>
                <a:latin typeface="+mn-lt"/>
              </a:defRPr>
            </a:pPr>
            <a:endParaRPr lang="en-US"/>
          </a:p>
        </c:txPr>
        <c:crossAx val="2094734552"/>
        <c:crosses val="autoZero"/>
        <c:auto val="1"/>
        <c:lblAlgn val="ctr"/>
        <c:noMultiLvlLbl val="1"/>
      </c:catAx>
      <c:valAx>
        <c:axId val="2094734552"/>
        <c:scaling>
          <c:orientation val="minMax"/>
          <c:min val="6"/>
        </c:scaling>
        <c:delete val="0"/>
        <c:axPos val="l"/>
        <c:majorGridlines>
          <c:spPr>
            <a:ln w="9525" cap="flat">
              <a:solidFill>
                <a:srgbClr val="E3E7F1"/>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555C7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55C7A"/>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오늘은 통계 수업이 아니라 실험을 설계하고 해석해서 배포 여부를 결정하는 세션입니다. 오른쪽 점 하나하나가 사용자이고, 파란 점과 청록 점은 무작위로 나뉜 두 그룹입니다. 이 점 모티프가 계속 나옵니다.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한 줄 목표를 먼저 공유합니다. DA 트랙 전체 흐름에서 이 세션은 마지막 '검증' 단계입니다. 그로스 세션에서 세운 개선 가설을 여기서 실험으로 검증합니다.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Ch4의 함정은 개념만 소개하고, 직접 겪어보는 것은 뒤의 함정·해석·공유 세션에서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청중에게 먼저 물어봅니다. '전환율이 올랐으니 성공 아닌가요?' 오른쪽 목록은 같은 기간에 동시에 일어날 수 있는 일들입니다. 전후 비교는 이것들과 배포 효과를 분리하지 못합니다. 수치는 교육용 예시입니다.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Kohavi 책과 위키 01편의 넷플릭스 이탈률 예시입니다. 새 기능 사용자의 이탈률이 절반이어도, 원래 충성도 높은 사용자가 새 기능도 더 많이 썼을 수 있습니다. 충성도처럼 두 변수를 동시에 움직이는 것이 교란 변수입니다.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각 사용자에게는 기능을 받았을 때의 결과 Y(1)과 안 받았을 때의 결과 Y(0)이 모두 있지만, 우리는 하나만 관측합니다. 그래서 개인의 효과는 알 수 없고, 집단의 평균 효과를 추정합니다. 랜덤 배정이 이를 가능하게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왼쪽은 전체 사용자입니다. 진한 점은 충성 사용자, 연한 점은 일반 사용자입니다. 동전 던지기로 나누면 충성도처럼 우리가 측정하지 못한 특성도 두 그룹에 비슷하게 퍼집니다. 그래서 두 그룹의 차이를 처치 효과와 우연으로만 설명할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위키 01편 1장. 2012년 Bing 직원이 광고 제목 아래 문장을 제목에 합쳐 길게 보여주자고 제안했지만 우선순위가 낮아 6개월 넘게 미뤄졌습니다. A/B 테스트 결과 매출이 약 12% 늘었고, 사용자 경험(사용자당 세션 수, 이용량, 관련성)은 나빠지지 않았습니다. 위키 11편: Microsoft에서 실험한 아이디어 중 지표를 개선한 것은 약 3분의 1뿐이었습니다. 출처: Kohavi &amp; Thomke, HBR 2017.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위키 01편 2장. 온라인 통제 실험은 A/B, A/B/n, 분할 테스트, 버킷 테스트, 플라이트 등으로도 불립니다. 대조군은 기준점이자, 실험군에서 버그가 나면 모든 사용자를 되돌릴 수 있는 안전한 기본 버전입니다.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위키 01편 3장의 기본 단계입니다. 사용자를 무작위로 서로 다른 변형군에 배정한 뒤 행동을 측정해 지표 차이를 비교합니다. 50:50은 가장 단순한 예이고 다른 비율도 가능합니다. 각 단계 아래에 오늘 어느 장에서 다루는지 표시했습니다.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위키 01편 7장. 내적 타당성은 인과관계의 신뢰성, 외적 타당성은 결과의 일반화 가능성입니다. 둘 중 하나가 항상 더 중요한 건 아닙니다. 처음 효과를 검증하거나 알고리즘 효과를 정밀하게 잴 때는 내적 타당성이 우선이고, 전체 출시·여러 국가 출시·장기 전략 결정에서는 외적 타당성이 중요해집니다. 실험을 엄격하게 통제할수록 내적 타당성은 좋아지지만 현실과 멀어질 수 있어서, 단계적으로 확보합니다.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 테스트가 만능은 아닙니다. 짧게 짚고 Ch4의 대안 설계로 연결합니다.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위키 02편 1.1. '매출이 떨어졌다'는 관찰된 현상일 뿐 어디를 바꿔야 할지 알려주지 않습니다. 구체적인 사용자 행동과 지표, 구간, 집단까지 좁혀야 A/B 테스트로 '무엇을 바꿨을 때 이 지표가 얼마나 달라졌나'를 비교할 수 있습니다. 숙소 예약 서비스 예시입니다.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위키 02편 1.1~1.2. 문제 하나에 해결책은 여러 개일 수 있으니 솔루션 가설을 여러 개 만들어 봅니다. 다만 실험 처치는 그중 비교 가능한 변화 하나로 정합니다. 할인율, 버튼 색, 추천 영역을 동시에 바꾸면 전환율이 올라도 무엇 때문인지 알 수 없습니다.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위키 02편 1.3. 가설에는 무엇을 바꾸는지, 왜 그 지표가 움직이는지, 어느 방향으로 변하는지가 들어갑니다. 가능하면 의미 있는 변화 크기(MDE)까지 적습니다. Treatment와 지표 사이에 논리적 연결이 있어야 합니다. 버튼 색을 바꾸면서 회사 전체 매출을 주요 결과로 잡으면 효과를 보기 어렵습니다. 인용: "실험은 지식에 도달하는 가장 덜 오만한 방법이다" (아이작 아시모프).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위키 02편 1.6. 문장 틀을 채웠다고 모두 좋은 가설은 아닙니다. 구체적이고, 측정할 수 있고, 검증과 반증이 가능해야 합니다. 반증 가능하다는 건 '맞다'뿐 아니라 '틀렸다'는 결과도 나올 수 있다는 뜻입니다.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위키 02편 1.4~1.5. 제품 가설은 '이 변화를 적용하면 어떤 결과가 나타날까'에 답하고, 통계적 가설은 '관찰된 차이가 우연이라 보기 어려울 만큼 큰가'에 답합니다. 효과가 없다는 가정부터 하는 이유는, 귀무가설을 임시로 참이라고 두고 그 아래에서 관측 데이터가 얼마나 드문지를 재기 위해서입니다.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위키 02편 1.5. 실험 전에 '증가만 본다'고 정했다면 Z &gt; 1.645일 때만 유의합니다. 그런데 결과를 보고 방향을 고르면 Z &gt; 1.645든 Z &lt; -1.645든 유의하다고 선언하게 되어 실제로는 양쪽 5%씩, 10%의 확률로 잘못된 성공을 선언합니다. 단측 옹호(Analytics-Toolkit)와 양측 기본(Statsig) 의견이 갈리지만, 둘 다 결과를 보기 전에 정해야 한다는 전제는 같습니다.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우월성 검정에서 '유의한 차이 없음'은 '같다'는 증거가 아닙니다. 표본이 작아도 차이 없음이 나옵니다. 발송량을 줄이거나 비용·속도를 개선하는 실험처럼 이 지표는 지키기만 하면 되는 경우, 허용할 손실(마진)을 실험 전에 정하고 신뢰구간 하한이 마진보다 위에 있는지 확인합니다. 그림은 교육용 예시입니다.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위키 03편. 지표는 OEC(전체 평가 기준), Primary(가설의 핵심 효과), Secondary·Driver(왜 움직였나), Guardrail(부작용은 없나)로 나눕니다. 결과도 이 순서로 읽습니다. 예시는 위키의 개인화 추천 실험입니다. 인용: "측정할 수 없으면 개선할 수 없다" (피터 드러커).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위키 03편 2.1. 단기 지표(CTR, 체류 시간, 페이지뷰)의 개선이 장기 성공과 항상 같은 방향은 아닙니다. 가격을 올리면 단기 수익은 쉽게 오르지만 장기적으로 이탈로 이어질 수 있습니다. 장기 가치와 연결될 것 같은 단기 지표를 후보로 삼되, '연결될 것 같다'와 '실제로 연결된다'는 다르므로 리서치·상관 분석·실험으로 검증합니다.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위키 03편 2.1.2. NSM은 그로스 쪽, OEC는 온라인 실험 쪽에서 나온 용어라 'NSM → OEC' 같은 공식 위계는 없습니다. 다만 좋은 OEC는 장기 목표와 연결되어야 하므로 자연스럽게 노스스타와 방향이 맞습니다. 그로스 세션과 이어지는 지점입니다.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위키 03편 2.2. Primary는 Treatment에 가까울수록 민감하지만 사용자 가치와 멀어지고(추천 CTR), 멀수록 중요하지만 실험 기간 안에 안 움직입니다(LTV). 그 사이에서 고르고, '전환율'이라고만 하지 말고 분자·분모·집계 단위·기간까지 정합니다. 표의 정의 값은 예시입니다.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위키 03편 2.3. 구매전환율이 10.0%에서 10.8%로 올랐다면 효과가 있다는 건 알지만 왜인지는 모릅니다. Secondary는 또 무엇이 변했는지, 그중 Driver는 Primary를 움직인 경로를 보여줍니다. 단, Driver는 메커니즘을 진단하는 지표일 뿐 중간 단계의 인과를 증명하지는 않습니다. Secondary를 너무 많이 보면 다중검정 문제가 생기므로 가설의 메커니즘에 따라 미리 고릅니다.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처치가 비율 지표의 분모를 바꾸면, 분자가 그대로여도 비율이 오릅니다. 예시는 반응 낮은 추천 노출을 줄인 실험(교육용 가상 수치)입니다. CTR은 12%에서 15.3%로 올랐지만 클릭 수는 오히려 줄었습니다. 분자와 분모를 사용자 단위로 따로 보고(인당 클릭, 인당 노출), 분석 단위가 배정 단위와 다르면 Delta Method로 분산을 계산합니다.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위키 03편 2.4. 모든 지표를 가드레일로 두는 게 아니라, 이번 Treatment가 부작용을 낼 만한 핵심 영역을 고릅니다. 실험이 제대로 돌았는지 보는 신뢰성 가드레일(SRM, 로그 누락)은 Ch3·Ch4에서 다룹니다.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위키 03편 2.5. 찰스 굿하트(LSE)가 제시한 개념입니다. 지표 자체가 나쁘다는 뜻이 아니라, 우리가 재는 지표는 대부분 진짜 원하는 가치를 대신 재는 proxy라는 점입니다. '무조건 CTR을 최대화하자'가 목표가 되면 CTR은 좋아져도 CTR이 대변하던 사용자 가치는 나빠질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위키 03편 2.6. 결과를 본 뒤 지표를 고르면 우연히 좋아 보이는 결과를 성공으로 해석할 위험이 있습니다. Secondary에서 흥미로운 결과가 나와도 Primary를 바꾸지 않습니다. 판단 규칙과 trade-off도 미리 정해야 일관된 결정을 할 수 있습니다. 사후에 발견한 패턴은 탐색적 결과로 구분합니다.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랜덤 배정은 두 그룹을 서로 비슷하게 만들지만, 실험에 들어온 사람 전체가 실제 출시 대상을 대표하는지는 별개의 문제입니다. 이것이 Ch1의 외적 타당성과 이어집니다.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위키 04편. Experimental Unit은 처치를 독립적으로 받는 단위, Randomization Unit은 무작위 배정이 일어나는 단위이고 온라인 실험에서는 보통 같습니다. 세션 단위를 쓸지는 '이 변화를 본 사용자가 다음 방문에서 행동이 달라질까(이월 효과)'로 판단합니다. 페이지·요청 단위는 응답 속도처럼 요청 하나의 성능을 볼 때 쓰고, 지표도 같은 단위로 두며, 같은 사용자 관측끼리 닮아 있어 독립으로 계산하면 불확실성이 과소평가됩니다. Microsoft 실험 대부분은 사용자 단위입니다.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위키 04편 3.2·3.7. 같은 사용자를 실험 내내 같은 그룹에 두는 것을 Sticky Assignment라고 합니다. 서비스가 알아볼 수 있는 건 계정·기기·쿠키 같은 식별자뿐이라, 쿠키를 지우거나 기기를 바꾸거나 로그인 전후로 식별자가 바뀌면 같은 사람이 두 그룹에 걸칠 수 있습니다. 식별자는 개인에게 연결되므로 보안에도 신경 써야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위키 04편 3.3. 세션 단위는 같은 사람이 오늘 오고 내일 또 와도 서비스 입장에서 '처음 보는 사람'처럼 보이는 환경에서 유용합니다. 단위 수가 빨리 늘지만, 자주 오는 사용자의 세션이 더 많이 반영되어 결론이 '평균적인 사용자'가 아니라 '평균적인 세션'에 대한 것이 됩니다. B를 본 다음 세션에 A를 보고 구매하면 A의 성과로 집계되는 이월 효과도 주의합니다.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배정된 전원을 비교하는 ITT(Intent-to-Treat)는 안전하지만, 처치를 볼 수 없는 사람까지 섞여 효과가 희석됩니다. 트리거 분석은 변경이 실제로 영향을 줄 수 있는 조건을 충족한 사람만 비교하는데, 대조군에서도 '실험군이었다면 노출됐을' 사람을 같은 기준으로 골라야 합니다(counterfactual logging). 실험군의 노출자와 미노출자를 비교하면 선택 편향입니다. 위키 04편 3.5: 배정(Assignment)과 노출(Exposure)을 구분해 기록합니다. 수치는 교육용 예시입니다.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α는 효과가 없는데 있다고 판단해 배포하는 위험, β는 효과가 있는데 놓치는 위험입니다. 관례적으로 α 5%, 검정력(1-β) 80%를 씁니다. 실무에서는 '헛배포'와 '놓친 기회'로 번역하면 이해가 빠릅니다.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표본 크기는 유의수준, 검정력, MDE, 지표의 분산으로 정해집니다. α 5%, 검정력 80%일 때 그룹당 n ≈ 16σ²/δ²라는 어림식이 있습니다(Lehr의 규칙, Kohavi 책 17장). 기준 전환율 10%에서 상대 MDE별 그룹당 필요 사용자 수를 계산한 값입니다. 하루 유입이 그룹당 5천 명이면 MDE 5%는 약 12일이 걸립니다.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위키 05편 4.1. α와 Power는 마지막 검정 때 쓰는 숫자가 아니라 실험 전에 필요한 표본 수를 정하는 입력값입니다. 0.05와 80%는 절대적인 정답이 아니라 관행입니다. 헛배포(False Positive) 비용이 크면 α를 더 엄격하게, 기회를 놓치기(False Negative) 싫으면 Power를 높이되, 둘 다 표본과 기간이 늘어나는 대가가 있습니다. 예: 하루 실험 대상 10,000명, 필요한 표본 140,000명이면 약 14일.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위키 05편 4.2. MDE는 감지할 수 있는 가장 작은 효과가 아니라, 주어진 α와 Power에서 일정한 확률로 잡도록 설계한 최소 효과 크기입니다. MDE보다 작은 효과도 유의하게 나올 수는 있습니다. 구현 비용을 정당화하려면 5%는 올라야 하는데 0.5%까지 잡도록 설계하면 표본과 시간을 낭비하고(Overpowered), 50%로 잡으면 20~30%의 의미 있는 개선도 놓칩니다(Underpowered). 기간부터 정하고 MDE를 역으로 맞추지 말고, 의미 있는 효과부터 정합니다. 표본 크기는 Baseline·분산, MDE, α, Power로 정해지며, Baseline의 영향은 지표 형태에 따라 다릅니다.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실무 실험 플랫폼은 대부분 해싱 배정을 씁니다. 사용자 ID와 실험별 salt를 해시해 버킷을 정하면, 같은 사용자는 항상 같은 그룹에 들어가고(지속성), 실험마다 salt가 달라 실험끼리 배정이 엮이지 않습니다. 층화는 표본이 작을 때 중요한 특성(플랫폼, 신규 여부)의 균형을 맞추는 방법입니다.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위키 05편 4.3. 두 그룹의 조건이 같다면 같은 전체 표본에서 50:50이 비교 효율이 가장 좋습니다. 장애 위험이 있는 기능은 90:10처럼 일부에게 먼저 노출할 수 있지만, 실험군 표본이 천천히 쌓여 같은 검정력에 더 많은 트래픽이나 시간이 필요합니다. 비대칭 배정은 통계적 효율보다 위험 관리, 비용, 트래픽 제약 때문에 선택합니다. 좋은 배정의 핵심은 사용자 수를 맞추는 것이 아니라 처치 여부와 사용자 특성이 체계적으로 연결되지 않게 하는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SUTVA(Stable Unit Treatment Value Assumption)는 한 사용자의 결과가 다른 사용자의 배정에 영향을 받지 않는다는 가정입니다. 양면 시장, 메신저, 배달처럼 사용자가 서로 엮인 서비스에서 자주 깨집니다. 해결책은 Ch4의 클러스터 랜덤화와 스위치백입니다.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램프업은 위험 관리입니다. 1%에서 버그·크래시를 잡고, 5%에서 가드레일을 확인한 뒤, 50%에서 본 실험을 합니다. Feature Flag가 있으면 단계 전환과 롤백이 코드 배포 없이 가능합니다. 위키 09편 1.2: 비율은 정해진 표준이 아니고, 초기 단계에서는 Primary의 유의성보다 오류율·로딩·로깅·Guardrail을 먼저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A와 B에 똑같은 경험을 보여주는 테스트입니다. 차이가 없어야 정상이지만, α 5%이면 100번 중 약 5번은 우연히 유의하게 나옵니다. 그보다 훨씬 자주 유의하면 배정이나 분산 계산에 문제가 있다는 신호입니다. A/A에서 구한 분산은 표본 크기 계산에도 씁니다. 위키 09편 1.1: A/A의 핵심은 차이가 없어야 한다가 아니라, 차이가 없는 상황에서 시스템이 차이를 만들어내지 않는지 확인하는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일별 효과 추이 예시입니다(교육용 가상 수치). 첫 며칠은 새로워서 눌러보는 신기효과로 과대평가되고, 주말과 주중 사용자가 달라 요일 패턴도 있습니다. 완전한 주 단위로, 최소 1~2주 돌립니다.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수식은 공통 3주차에서 다뤘으니 여기서는 '언제 무엇을 쓰나'만 봅니다. 대부분의 A/B 테스트 지표는 비율 아니면 평균입니다. 표본이 크면 z-test와 t-test는 사실상 같은 결과를 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위키 04편 3.6. 사용자 1,000명을 배정했는데 세션이 10,000개 생겼다고 독립 정보가 10,000개인 것은 아닙니다. 같은 사용자의 세션은 구매 성향·방문 습관을 공유합니다. 이를 무시하면 불확실성이 작게 추정되어 효과가 없는데도 유의해질 수 있습니다. Microsoft 연구자 시뮬레이션에서는 사용자 단위로 배정하고 페이지 수준 데이터를 단순 공식으로 분석했을 때 명목상 95% 신뢰구간이 참값을 포함한 비율이 약 47%, 74%까지 떨어진 조건이 있었습니다. 특정 시뮬레이션 조건의 결과이므로 숫자보다 '추론 자체가 왜곡된다'는 점을 강조합니다.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p-value는 '효과가 없다고 가정했을 때 이만큼 이상 극단적인 차이를 볼 확률'입니다. B가 좋을 확률도, 효과의 크기도 아닙니다. p가 크다고 효과가 없다는 것이 증명되지도 않습니다. 표본이 부족했을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실험의 결제 전환율 차이와 95% 신뢰구간입니다(교육용 예시). A는 0을 넘으므로 효과가 있지만 작을 수도 있습니다. B는 0을 포함하고 구간이 좁아 효과가 있어도 작습니다. C는 구간이 너무 넓어 아직 판단할 수 없습니다. 같은 '유의하지 않음'이라도 B와 C의 의미는 다릅니다.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표본이 크면 아주 작은 차이도 유의해집니다. 기준 전환율 10%, 그룹당 500만 명이면 0.12%p 차이도 p &lt; 0.05가 됩니다. 그래서 '유의한가'와 '배포할 만큼 큰가'를 따로 봅니다. 실질적 의미의 기준은 실험 전에 MDE로 정해 둡니다.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CUPED는 실험 전 같은 사용자의 지표(예: 지난 4주 주문 수)로 실험 중 지표의 설명 가능한 변동을 빼는 방법입니다. Microsoft가 제안했습니다. Deng et al.(2013)은 Bing 실험에서 분산을 약 50% 줄여, 같은 검정력을 절반의 사용자나 기간으로 얻을 수 있었다고 보고했습니다.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위키 09편 1.5. CUPED는 효과의 중심값을 키우지 않고 신뢰구간만 좁힙니다(예: +1.0%p [-0.4, +2.4] → 약 +1.0%p [+0.2, +1.8], 교육용 예시). 공변량은 반드시 실험 전에 측정한 값이어야 하고, 실험 후 행동을 쓰면 처치가 그 값 자체를 바꿨을 수 있어 인과효과가 왜곡됩니다.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효과가 전혀 없어도 지표를 m개 독립적으로 보면 하나 이상 '유의'가 나올 확률은 1 - 0.95^m입니다. 20개면 64%입니다. 가장 좋은 처방은 Primary 지표를 실험 전에 하나로 정하는 것이고, 여러 개를 봐야 하면 Bonferroni나 Benjamini-Hochberg로 보정합니다.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직접 돌린 A/A 시뮬레이션입니다. 효과가 전혀 없는 실험 4,000개를 14일 동안 돌리며 매일 검정하고, 한 번이라도 유의하면 멈춘다고 가정했습니다. 그룹당 하루 1,000명, 전환율 10%, 시드 고정. 마지막 날 한 번만 보면 거짓 양성은 약 5%지만, 매일 보면 약 21.5%까지 늘어납니다.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신규성 효과는 새로워서 눌러보다가 시간이 지나면 사라지는 현상, 초두(학습) 효과는 익숙한 걸 바꿔서 처음엔 불편하다가 적응하면 회복되는 현상입니다. 그래프는 교육용 예시 곡선입니다. 처방은 기간 확보, 신규 사용자만 따로 보기, 일자별 효과 추이 확인입니다.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위키 04편 3.5. 사용자 단위 실험에서 반복 노출은 설계 의도이지만 효과가 처음부터 끝까지 같다는 보장은 없습니다. 노출 횟수는 실험 시작 후 사용자 행동으로 정해지는 값이라, 5회 노출자와 1회 노출자를 비교하면 처치 효과가 아니라 사용자 성향 차이를 보게 됩니다. 반면 실험 시작 후 경과 일수는 두 그룹에 똑같이 적용되므로 랜덤 비교가 유지됩니다.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여기서는 이름과 증상, 처방만 연결합니다. 실제로 겪어보는 것은 뒤의 함정·해석·공유 세션과 실습 앱의 함정 연구소에서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Peeking 문제의 처방입니다. Sequential Testing은 중간 확인을 전제로 기준을 설계해, 언제 멈춰도 1종 오류율이 α를 넘지 않게 합니다. Always-Valid p-value(mSPRT)는 Optimizely 등 실험 플랫폼이 쓰는 방식입니다. 대가로 같은 표본에서 검정력이 조금 낮아집니다.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교육용 예시입니다. B는 데스크톱과 모바일 모두에서 A보다 전환율이 높지만, 전환율이 낮은 모바일 비중이 B에 80%로 쏠려 전체로는 낮아집니다. 실험에서 두 그룹의 트래픽 구성이 이렇게 다르다는 것 자체가 배정 문제나 램프업 중 비율 변경의 신호입니다.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50:50으로 설계했는데 A 50,000명, B 48,800명이 들어왔다면 차이는 1.2%뿐이지만 카이제곱 검정 p ≈ 0.0001로 우연이라 보기 어렵습니다. SRM이 있으면 결과를 해석하지 말고 원인부터 찾습니다. 우리 실습 앱의 Readout도 SRM을 맨 먼저 보여줍니다. 위키 10편 2장: SRM 검정은 왜 문제가 생겼는지까지 알려주지 않는 경고등이고, 빠진 사용자가 무작위가 아니면 Selection Bias가 생깁니다.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가지를 짧게 짚습니다. 생존 편향은 '남아 있는 사용자 중' 같은 지표에서 자주 생기고, 계측 효과는 B에만 로깅이 바뀌었을 때 생깁니다.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위키 06편 1.1~1.3. SUTVA는 한 사용자가 받은 처치가 다른 사용자의 결과에 영향을 주지 않는다는 가정이고, 이것이 깨지는 현상이 간섭입니다. 실무에서는 Spillover, Leakage라고도 부릅니다. 직접 간섭은 사용자끼리 연결된 서비스(SNS, 메신저, 게임)에서, 간접 간섭은 한정된 자원이나 같은 시장을 공유할 때(메이플 옥션의 매물, Airbnb 숙소, Uber 드라이버, 광고 예산, 서버) 생깁니다.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위키 06편 1.4. 간섭이 생기면 A와 B가 완전히 분리된 집단으로 기능하지 못합니다. 대조군이 더 이상 처치 없는 기준선이 아니고, 한 사람의 결과가 자기 배정뿐 아니라 다른 사람들의 배정에도 좌우됩니다. 그래서 몇 %에게 적용했느냐에 따라 효과가 달라지고, 실험에서 잰 효과가 전체 출시 효과와 다를 수 있습니다. 이 문제는 표본을 늘려도 해결되지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위키 07편. 핵심은 서로 영향을 주는 사용자나 자원이 A와 B 사이에 섞이지 않게 실험 단위를 다시 설계하는 것입니다. 묶어서 나눌수록 간섭은 줄지만 독립 단위 수가 줄어 검정력이 떨어집니다. 설계로 다 막지 못하면 분석 단계에서 직접 효과와 Spillover 효과를 나눠 추정합니다 (Network-based Causal Inference, IV 등은 심화 주제).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위키 08편. 통계적으로 타당한 실험도 사용자에게 주는 영향을 따져야 합니다. Facebook 감정 전염 실험(2014, PNAS)은 사용자 689,003명의 뉴스피드 감정 노출을 줄였고, 충분한 사전 동의와 제외 기회가 있었는지 논란이 되어 PNAS가 편집자 우려를 표명했습니다. Facebook 투표 독려 실험(2012, Nature)은 약 6,100만 명에게 메시지를 노출했고 친구와 친구의 친구에게까지 효과가 퍼졌다고 보고했습니다. 간섭은 통계 문제이면서 외부효과의 문제입니다.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짧게 소개만 합니다. 밴딧은 탐색(아직 모르는 쪽도 시도)과 활용(지금 좋은 쪽에 몰아주기)의 균형 문제입니다. 인터리빙은 랭킹을 비교할 때 씁니다. 간섭에 대응하는 Cluster·Geo·Switchback은 앞 장에서 다뤘습니다.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실험을 못 할 때 쓰는 준실험(quasi-experiment) 방법입니다. DID는 처치 전 두 집단의 추세가 평행했다는 가정이 핵심입니다. 그래프는 교육용 예시입니다. 점선은 처치가 없었다면 처치 지역이 따랐을 추세(반사실)입니다.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각 회사 사례는 오늘 다룬 개념과 연결해서 소개합니다. 세부 수치는 원문(기술 블로그, 논문)에서 확인하고 인용하세요. 한국 사례는 실습에서 직접 다룹니다.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위키 11편 1장 (Kohavi 책). 데이터 기반 의사결정은 A/B 테스트뿐 아니라 조사, 유지보수 비용 추정 같은 여러 데이터로 판단한다는 뜻입니다. 토스는 실험·분석 플랫폼 TUBA를 SQL을 몰라도 쓸 수 있게 만들었고, Microsoft ExP도 같은 맥락입니다. "거의 모든 것이 실패한다" (댄 매킨리).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위키 11편 1.1. 좋은 OEC는 단기간에 측정 가능하고, 실험 변화에 민감하며, 회사가 원하는 장기 목표를 예측해야 합니다. 토스 푸시 실험은 푸시 CTR을 주 지표로, 앱 오픈 AU·서비스별 AU·매출 하락 방지를 가드레일로 두었습니다. 토스뱅크 신분증 촬영은 촬영 단계 통과율과 사후 검증 반려율이라는 지표 조합으로 '원활하게 통과하면서 잘못된 신분증은 걸러지는가'를 측정했습니다.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위키 11편 1.2. 온라인 서비스는 무작위 배정, 행동 측정, 기능 배포가 비교적 쉬워 실험 환경을 만들기 좋습니다. 작은 시도를 반복하며 제품을 개선하는 방식들 안에서 A/B 테스트는 측정하고 검증하는 역할을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위키 11편 3.1 (Kohavi 책). 핵심은 실험 횟수가 아니라 측정할 수 있는가 → 믿을 수 있게 실험하는가 → 대규모로 반복할 수 있는가 → 실험이 기본 의사결정 방식인가입니다. 빈도는 대략적인 기준(rough rule of thumb)일 뿐 절대적인 경계가 아닙니다. Walk 단계의 계측 검증, A/A, SRM은 Ch3·Ch4에서 다룬 내용입니다.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Flag는 코드 배포와 기능 노출을 분리해 램프업과 즉시 롤백을 가능하게 합니다. 실험 플랫폼은 배정·로깅·분석을 자동화해 실험 한 번의 비용을 낮춥니다. 민주화는 누구나 실험할 수 있게 하되, 가드레일과 리뷰로 품질을 지키는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결과를 읽는 순서입니다. 데이터 품질(SRM, 가드레일) → 신뢰구간 → 결정. 실습 앱의 Readout도 같은 순서로 보여줍니다. 핵심은 '유의하지 않음'을 두 가지로 나누는 것입니다. 구간이 좁으면 효과가 없다고 판단하고 접고, 넓으면 표본이 부족했던 것이니 재실험합니다.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배포는 통계만으로 정하지 않습니다. 효과는 점추정이 아니라 구간의 하한까지 보고, 구현·유지 비용과 리스크를 함께 놓고 판단합니다. 예: +0.8%p [0.1, 1.5]면 하한 +0.1%p일 때도 유지 비용을 넘는지 묻습니다.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세 가지만 기억하면 됩니다. 실습에서는 조마다 실제 기업 사례 하나를 골라, 같은 가상 모집단 위에서 제출한 설계대로 실험을 시뮬레이션합니다.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정답과 해설은 위키 12편에 있습니다. 1~2분 생각할 시간을 주고 손을 들어 답을 고르게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모범 답안과 채점 포인트는 위키 12편에 있습니다. 조별로 5분 정도 토의하고 한두 조가 발표합니다.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docs/ab-testing 01~11편의 Reference 링크를 URL 기준으로 중복 제거했습니다.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rgbClr val="1B1F3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011680"/>
            <a:ext cx="6949440" cy="1737360"/>
          </a:xfrm>
          <a:prstGeom prst="rect">
            <a:avLst/>
          </a:prstGeom>
          <a:noFill/>
          <a:ln/>
        </p:spPr>
        <p:txBody>
          <a:bodyPr wrap="square" rtlCol="0"/>
          <a:lstStyle>
            <a:lvl1pPr algn="l" indent="0" marL="0">
              <a:buNone/>
              <a:defRPr lang="en-US" sz="4400" b="1" dirty="0">
                <a:solidFill>
                  <a:srgbClr val="FFFFFF"/>
                </a:solidFill>
              </a:defRPr>
            </a:lvl1pPr>
          </a:lstStyle>
          <a:p>
            <a:pPr algn="l" indent="0" marL="0">
              <a:buNone/>
            </a:pPr>
            <a:endParaRPr lang="en-US" sz="4400" dirty="0"/>
          </a:p>
        </p:txBody>
      </p:sp>
      <p:sp>
        <p:nvSpPr>
          <p:cNvPr id="3" name="Text 0"/>
          <p:cNvSpPr/>
          <p:nvPr>
            <p:ph idx="101" type="body" hasCustomPrompt="1"/>
          </p:nvPr>
        </p:nvSpPr>
        <p:spPr>
          <a:xfrm>
            <a:off x="640080" y="3977640"/>
            <a:ext cx="6583680" cy="1097280"/>
          </a:xfrm>
          <a:prstGeom prst="rect">
            <a:avLst/>
          </a:prstGeom>
          <a:noFill/>
          <a:ln/>
        </p:spPr>
        <p:txBody>
          <a:bodyPr wrap="square" rtlCol="0"/>
          <a:lstStyle>
            <a:lvl1pPr algn="l" indent="0" marL="0">
              <a:buNone/>
              <a:defRPr lang="en-US" sz="2000" dirty="0">
                <a:solidFill>
                  <a:srgbClr val="AEB3CC"/>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1B1F3B"/>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1371600"/>
            <a:ext cx="3657600" cy="1463040"/>
          </a:xfrm>
          <a:prstGeom prst="rect">
            <a:avLst/>
          </a:prstGeom>
          <a:noFill/>
          <a:ln/>
        </p:spPr>
        <p:txBody>
          <a:bodyPr wrap="square" rtlCol="0"/>
          <a:lstStyle>
            <a:lvl1pPr algn="l" indent="0" marL="0">
              <a:buNone/>
              <a:defRPr lang="en-US" sz="9600" b="1" dirty="0">
                <a:solidFill>
                  <a:srgbClr val="7B93FF"/>
                </a:solidFill>
              </a:defRPr>
            </a:lvl1pPr>
          </a:lstStyle>
          <a:p>
            <a:pPr algn="l" indent="0" marL="0">
              <a:buNone/>
            </a:pPr>
            <a:endParaRPr lang="en-US" sz="9600" dirty="0"/>
          </a:p>
        </p:txBody>
      </p:sp>
      <p:sp>
        <p:nvSpPr>
          <p:cNvPr id="3" name="Text 0"/>
          <p:cNvSpPr/>
          <p:nvPr>
            <p:ph idx="101" type="title" hasCustomPrompt="1"/>
          </p:nvPr>
        </p:nvSpPr>
        <p:spPr>
          <a:xfrm>
            <a:off x="640080" y="3017520"/>
            <a:ext cx="10058400" cy="91440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4" name="Text 0"/>
          <p:cNvSpPr/>
          <p:nvPr>
            <p:ph idx="102" type="body" hasCustomPrompt="1"/>
          </p:nvPr>
        </p:nvSpPr>
        <p:spPr>
          <a:xfrm>
            <a:off x="640080" y="4069080"/>
            <a:ext cx="10058400" cy="731520"/>
          </a:xfrm>
          <a:prstGeom prst="rect">
            <a:avLst/>
          </a:prstGeom>
          <a:noFill/>
          <a:ln/>
        </p:spPr>
        <p:txBody>
          <a:bodyPr wrap="square" rtlCol="0"/>
          <a:lstStyle>
            <a:lvl1pPr algn="l" indent="0" marL="0">
              <a:buNone/>
              <a:defRPr lang="en-US" sz="2000" dirty="0">
                <a:solidFill>
                  <a:srgbClr val="AEB3CC"/>
                </a:solidFill>
              </a:defRPr>
            </a:lvl1pPr>
          </a:lstStyle>
          <a:p>
            <a:pPr algn="l" indent="0" marL="0">
              <a:buNone/>
            </a:pPr>
            <a:endParaRPr lang="en-US" sz="2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rtlCol="0"/>
          <a:lstStyle>
            <a:lvl1pPr algn="l" indent="0" marL="0">
              <a:buNone/>
              <a:defRPr lang="en-US" sz="1500" b="1" dirty="0">
                <a:solidFill>
                  <a:srgbClr val="3A5BFF"/>
                </a:solidFill>
              </a:defRPr>
            </a:lvl1pPr>
          </a:lstStyle>
          <a:p>
            <a:pPr algn="l" indent="0" marL="0">
              <a:buNone/>
            </a:pP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rtlCol="0"/>
          <a:lstStyle>
            <a:lvl1pPr algn="l" indent="0" marL="0">
              <a:buNone/>
              <a:defRPr lang="en-US" sz="2000" b="1" dirty="0">
                <a:solidFill>
                  <a:srgbClr val="1B1F3B"/>
                </a:solidFill>
              </a:defRPr>
            </a:lvl1pPr>
          </a:lstStyle>
          <a:p>
            <a:pPr algn="l" indent="0" marL="0">
              <a:buNone/>
            </a:pPr>
            <a:endParaRPr lang="en-US" sz="2000" dirty="0"/>
          </a:p>
        </p:txBody>
      </p:sp>
      <p:sp>
        <p:nvSpPr>
          <p:cNvPr id="4" name="Text 0"/>
          <p:cNvSpPr/>
          <p:nvPr/>
        </p:nvSpPr>
        <p:spPr>
          <a:xfrm>
            <a:off x="640080" y="6355080"/>
            <a:ext cx="5486400" cy="274320"/>
          </a:xfrm>
          <a:prstGeom prst="rect">
            <a:avLst/>
          </a:prstGeom>
          <a:noFill/>
          <a:ln/>
        </p:spPr>
        <p:txBody>
          <a:bodyPr wrap="square" lIns="0" tIns="0" rIns="0" bIns="0" rtlCol="0" anchor="ctr"/>
          <a:lstStyle/>
          <a:p>
            <a:pPr indent="0" marL="0">
              <a:buNone/>
            </a:pPr>
            <a:r>
              <a:rPr lang="en-US" sz="1000" dirty="0">
                <a:solidFill>
                  <a:srgbClr val="8A90A8"/>
                </a:solidFill>
              </a:rPr>
              <a:t>A/B 테스트 설계 및 실습 · 이론 파트</a:t>
            </a:r>
            <a:endParaRPr lang="en-US" sz="10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4.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4.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hyperlink" Target="https://www.oracle.com/kr/cx/marketing/what-is-ab-testing/" TargetMode="External"/><Relationship Id="rId2" Type="http://schemas.openxmlformats.org/officeDocument/2006/relationships/hyperlink" Target="https://datarian.io/blog/experiment-bible-for-product-growth-1" TargetMode="External"/><Relationship Id="rId3" Type="http://schemas.openxmlformats.org/officeDocument/2006/relationships/hyperlink" Target="https://mjrecord.tistory.com/39" TargetMode="External"/><Relationship Id="rId4" Type="http://schemas.openxmlformats.org/officeDocument/2006/relationships/hyperlink" Target="https://datarian.io/blog/ab-test-statistics-part-7-logic-of-hypothesis-testing" TargetMode="External"/><Relationship Id="rId5" Type="http://schemas.openxmlformats.org/officeDocument/2006/relationships/hyperlink" Target="https://wikidocs.net/book/9534" TargetMode="External"/><Relationship Id="rId6" Type="http://schemas.openxmlformats.org/officeDocument/2006/relationships/hyperlink" Target="https://brunch.co.kr/@2sin1/13" TargetMode="External"/><Relationship Id="rId7" Type="http://schemas.openxmlformats.org/officeDocument/2006/relationships/hyperlink" Target="https://ljyljy0813.tistory.com/31" TargetMode="External"/><Relationship Id="rId8" Type="http://schemas.openxmlformats.org/officeDocument/2006/relationships/hyperlink" Target="https://code-lab.tistory.com/entry/AB-%ED%85%8C%EC%8A%A4%ED%8A%B8%EC%97%90%EC%84%9C-%EA%B7%80%EB%AC%B4%EA%B0%80%EC%84%A4%EA%B3%BC-%EB%8C%80%EB%A6%BD%EA%B0%80%EC%84%A4-%EC%9D%B4%ED%95%B4%ED%95%98%EA%B8%B0-%EC%89%AC%EC%9A%B4-%EC%84%A4%EB%AA%85" TargetMode="External"/><Relationship Id="rId9" Type="http://schemas.openxmlformats.org/officeDocument/2006/relationships/hyperlink" Target="https://www.invespcro.com/blog/one-tailed-vs-two-tailed-a-b-testing-everything-you-possibly-need-to-know/#elementor-toc__heading-anchor-0" TargetMode="External"/><Relationship Id="rId10" Type="http://schemas.openxmlformats.org/officeDocument/2006/relationships/hyperlink" Target="https://playinpap.github.io/summary-of-indicator-concepts-explained-by-bread/#metric-%EC%9D%B4%EB%9E%80" TargetMode="External"/><Relationship Id="rId11" Type="http://schemas.openxmlformats.org/officeDocument/2006/relationships/hyperlink" Target="https://medium.com/alexandersyoon/%EC%A7%80%ED%91%9C%EC%84%A0%EC%A0%95-%EC%9E%90%EB%A6%AC%EC%97%90%EC%84%9C-%ED%95%B4%EC%95%BC%ED%95%98%EB%8A%94-5%EA%B0%80%EC%A7%80-%EC%A7%88%EB%AC%B8%EB%93%A4-data-analyst-%EC%9D%98-%EC%BB%A8%EC%84%A4%ED%8C%85-f7012d61a572" TargetMode="External"/><Relationship Id="rId12" Type="http://schemas.openxmlformats.org/officeDocument/2006/relationships/hyperlink" Target="https://ably.team/news/Z6xdlBIAAFGbReza" TargetMode="External"/><Relationship Id="rId13" Type="http://schemas.openxmlformats.org/officeDocument/2006/relationships/hyperlink" Target="https://mjrecord.tistory.com/42" TargetMode="External"/><Relationship Id="rId14" Type="http://schemas.openxmlformats.org/officeDocument/2006/relationships/hyperlink" Target="https://playinpap.github.io/data-quality-for-ab-testing/" TargetMode="External"/><Relationship Id="rId15" Type="http://schemas.openxmlformats.org/officeDocument/2006/relationships/hyperlink" Target="https://blog.hackle.io/post/conquering-abtest-4" TargetMode="External"/><Relationship Id="rId16" Type="http://schemas.openxmlformats.org/officeDocument/2006/relationships/hyperlink" Target="https://wikidocs.net/198646" TargetMode="External"/><Relationship Id="rId17" Type="http://schemas.openxmlformats.org/officeDocument/2006/relationships/hyperlink" Target="https://okpy.net/blog/choosing-unit-of-randomization" TargetMode="External"/><Relationship Id="rId18" Type="http://schemas.openxmlformats.org/officeDocument/2006/relationships/hyperlink" Target="https://datarian.io/blog/ab-test-statistics-part-4-sample-proportion" TargetMode="External"/><Relationship Id="rId19" Type="http://schemas.openxmlformats.org/officeDocument/2006/relationships/hyperlink" Target="https://playinpap.github.io/abtest-setting-mde" TargetMode="External"/><Relationship Id="rId20" Type="http://schemas.openxmlformats.org/officeDocument/2006/relationships/hyperlink" Target="https://medium.com/daangn/%EA%B5%AC%EA%B8%80-%EC%95%A0%EB%84%90%EB%A6%AC%ED%8B%B1%EC%8A%A4-a-b-%ED%85%8C%EC%8A%A4%ED%8A%B8-%ED%95%98%EA%B8%B0-%EC%BF%A0%ED%82%A4-demension-%ED%99%9C%EC%9A%A9-6f994e1247e8" TargetMode="External"/><Relationship Id="rId21" Type="http://schemas.openxmlformats.org/officeDocument/2006/relationships/hyperlink" Target="https://medium.com/wantedjobs/a-b%ED%85%8C%EC%8A%A4%ED%8A%B8-%EA%B8%B0%EC%B4%88-what-why-how-6f571ddc19fc" TargetMode="External"/><Relationship Id="rId22" Type="http://schemas.openxmlformats.org/officeDocument/2006/relationships/hyperlink" Target="https://mojito.mx/docs/example-hash-function-split-test-assignment/" TargetMode="External"/><Relationship Id="rId23" Type="http://schemas.openxmlformats.org/officeDocument/2006/relationships/hyperlink" Target="https://experimentguide.com/" TargetMode="External"/><Relationship Id="rId24" Type="http://schemas.openxmlformats.org/officeDocument/2006/relationships/hyperlink" Target="https://jong-min.org/blog/2025/exp-network-interference/" TargetMode="External"/><Relationship Id="rId25" Type="http://schemas.openxmlformats.org/officeDocument/2006/relationships/hyperlink" Target="https://github.com/CausalInferenceLab/OCE-Materials/blob/main/%EB%B0%9C%ED%91%9C%20%EC%9E%90%EB%A3%8C/20240528_%EC%8B%A4%ED%97%98%EA%B0%84%EC%9D%98%20%EB%88%84%EC%B6%9C%20%EB%B0%8F%20%EA%B0%84%EC%84%AD.pdf" TargetMode="External"/><Relationship Id="rId26" Type="http://schemas.openxmlformats.org/officeDocument/2006/relationships/hyperlink" Target="https://www.slideshare.net/slideshow/causal-inference-workshop-2022-applications-of-causal-inference-in-product-analytics/267698546" TargetMode="External"/><Relationship Id="rId27" Type="http://schemas.openxmlformats.org/officeDocument/2006/relationships/hyperlink" Target="https://www.pnas.org/doi/full/10.1073/pnas.1320040111" TargetMode="External"/><Relationship Id="rId28" Type="http://schemas.openxmlformats.org/officeDocument/2006/relationships/hyperlink" Target="https://pmc.ncbi.nlm.nih.gov/articles/PMC4115552" TargetMode="External"/><Relationship Id="rId29" Type="http://schemas.openxmlformats.org/officeDocument/2006/relationships/hyperlink" Target="https://www.nature.com/articles/nature11421" TargetMode="External"/><Relationship Id="rId30" Type="http://schemas.openxmlformats.org/officeDocument/2006/relationships/hyperlink" Target="https://www.cambridge.org/core/books/abs/trustworthy-online-controlled-experiments/aa-test/D0779D2FB153D36DD4C624BA207E41C2" TargetMode="External"/><Relationship Id="rId31" Type="http://schemas.openxmlformats.org/officeDocument/2006/relationships/hyperlink" Target="https://www.cambridge.org/core/books/abs/trustworthy-online-controlled-experiments/ramping-experiment-exposure-trading-off-speed-quality-and-risk/1C177E1AAEDAFBF79840AFDFE15E7F5D" TargetMode="External"/><Relationship Id="rId32" Type="http://schemas.openxmlformats.org/officeDocument/2006/relationships/hyperlink" Target="https://www.kdd.org/exploration_files/v12-02-8-UR-Kohavi.pdf" TargetMode="External"/><Relationship Id="rId33" Type="http://schemas.openxmlformats.org/officeDocument/2006/relationships/hyperlink" Target="https://exp-platform.com/cuped/" TargetMode="External"/><Relationship Id="rId34" Type="http://schemas.openxmlformats.org/officeDocument/2006/relationships/hyperlink" Target="https://www.stat.berkeley.edu/~aldous/Real_World/ASA_statement.pdf" TargetMode="External"/><Relationship Id="rId35" Type="http://schemas.openxmlformats.org/officeDocument/2006/relationships/hyperlink" Target="https://academic.oup.com/jrsssb/article/57/1/289/7035855" TargetMode="External"/><Relationship Id="rId36" Type="http://schemas.openxmlformats.org/officeDocument/2006/relationships/hyperlink" Target="https://github.com/CausalInferenceLab/OCE-Materials/blob/main/%EB%B0%9C%ED%91%9C%20%EC%9E%90%EB%A3%8C/20240507_A%3AA%20%ED%85%8C%EC%8A%A4%ED%8A%B8.pdf" TargetMode="External"/><Relationship Id="rId37" Type="http://schemas.openxmlformats.org/officeDocument/2006/relationships/hyperlink" Target="https://www.microsoft.com/en-us/research/articles/diagnosing-sample-ratio-mismatch-in-a-b-testing/" TargetMode="External"/><Relationship Id="rId38" Type="http://schemas.openxmlformats.org/officeDocument/2006/relationships/hyperlink" Target="https://www.microsoft.com/en-us/research/publication/diagnosing-sample-ratio-mismatch-in-online-controlled-experiments-a-taxonomy-and-rules-of-thumb-for-practitioners/" TargetMode="External"/><Relationship Id="rId39" Type="http://schemas.openxmlformats.org/officeDocument/2006/relationships/hyperlink" Target="https://arxiv.org/abs/1512.04922" TargetMode="External"/><Relationship Id="rId40" Type="http://schemas.openxmlformats.org/officeDocument/2006/relationships/hyperlink" Target="https://blogs.oracle.com/marketingcloud/ab-testing-pitfalls-how-marketers-can-avoid-costly-mistakes" TargetMode="External"/><Relationship Id="rId41" Type="http://schemas.openxmlformats.org/officeDocument/2006/relationships/hyperlink" Target="https://mjrecord.tistory.com/40" TargetMode="External"/><Relationship Id="rId42" Type="http://schemas.openxmlformats.org/officeDocument/2006/relationships/hyperlink" Target="https://walkingfox.tistory.com/205" TargetMode="External"/><Relationship Id="rId43" Type="http://schemas.openxmlformats.org/officeDocument/2006/relationships/slideLayout" Target="../slideLayouts/slideLayout4.xml"/><Relationship Id="rId44" Type="http://schemas.openxmlformats.org/officeDocument/2006/relationships/notesSlide" Target="../notesSlides/notesSlide8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2011680"/>
            <a:ext cx="6949440" cy="1737360"/>
          </a:xfrm>
          <a:prstGeom prst="rect">
            <a:avLst/>
          </a:prstGeom>
          <a:noFill/>
          <a:ln/>
        </p:spPr>
        <p:txBody>
          <a:bodyPr wrap="square" lIns="0" tIns="0" rIns="0" bIns="0" rtlCol="0" anchor="b"/>
          <a:lstStyle/>
          <a:p>
            <a:pPr algn="l" indent="0" marL="0">
              <a:buNone/>
            </a:pPr>
            <a:r>
              <a:rPr lang="en-US" sz="4400" b="1" dirty="0">
                <a:solidFill>
                  <a:srgbClr val="FFFFFF"/>
                </a:solidFill>
              </a:rPr>
              <a:t>A/B 테스트</a:t>
            </a:r>
            <a:endParaRPr lang="en-US" sz="4400" dirty="0"/>
          </a:p>
          <a:p>
            <a:pPr algn="l" indent="0" marL="0">
              <a:buNone/>
            </a:pPr>
            <a:r>
              <a:rPr lang="en-US" sz="4400" b="1" dirty="0">
                <a:solidFill>
                  <a:srgbClr val="FFFFFF"/>
                </a:solidFill>
              </a:rPr>
              <a:t>설계 및 실습</a:t>
            </a:r>
            <a:endParaRPr lang="en-US" sz="4400" dirty="0"/>
          </a:p>
        </p:txBody>
      </p:sp>
      <p:sp>
        <p:nvSpPr>
          <p:cNvPr id="3" name="Text 0"/>
          <p:cNvSpPr/>
          <p:nvPr>
            <p:ph idx="101" type="body" hasCustomPrompt="1"/>
          </p:nvPr>
        </p:nvSpPr>
        <p:spPr>
          <a:xfrm>
            <a:off x="640080" y="3977640"/>
            <a:ext cx="6583680" cy="1097280"/>
          </a:xfrm>
          <a:prstGeom prst="rect">
            <a:avLst/>
          </a:prstGeom>
          <a:noFill/>
          <a:ln/>
        </p:spPr>
        <p:txBody>
          <a:bodyPr wrap="square" lIns="0" tIns="0" rIns="0" bIns="0" rtlCol="0" anchor="t"/>
          <a:lstStyle/>
          <a:p>
            <a:pPr algn="l" indent="0" marL="0">
              <a:buNone/>
            </a:pPr>
            <a:r>
              <a:rPr lang="en-US" sz="2000" dirty="0">
                <a:solidFill>
                  <a:srgbClr val="AEB3CC"/>
                </a:solidFill>
              </a:rPr>
              <a:t>개선 아이디어를 검증 가능한 실험으로, 결과를 배포 결정으로</a:t>
            </a:r>
            <a:endParaRPr lang="en-US" sz="2000" dirty="0"/>
          </a:p>
        </p:txBody>
      </p:sp>
      <p:sp>
        <p:nvSpPr>
          <p:cNvPr id="4" name="Text 2"/>
          <p:cNvSpPr txBox="1"/>
          <p:nvPr/>
        </p:nvSpPr>
        <p:spPr>
          <a:xfrm>
            <a:off x="640080" y="4398264"/>
            <a:ext cx="4572000" cy="338328"/>
          </a:xfrm>
          <a:prstGeom prst="rect">
            <a:avLst/>
          </a:prstGeom>
          <a:noFill/>
          <a:ln/>
        </p:spPr>
        <p:txBody>
          <a:bodyPr wrap="square" lIns="0" tIns="0" rIns="0" bIns="0" rtlCol="0" anchor="t"/>
          <a:lstStyle/>
          <a:p>
            <a:pPr indent="0" marL="0">
              <a:buNone/>
            </a:pPr>
            <a:r>
              <a:rPr lang="en-US" sz="1500" dirty="0">
                <a:solidFill>
                  <a:srgbClr val="FFFFFF"/>
                </a:solidFill>
              </a:rPr>
              <a:t>발표자: 25기 이정연, 25기 이유민</a:t>
            </a:r>
            <a:endParaRPr lang="en-US" sz="1500" dirty="0"/>
          </a:p>
        </p:txBody>
      </p:sp>
      <p:sp>
        <p:nvSpPr>
          <p:cNvPr id="5" name="Shape 3"/>
          <p:cNvSpPr/>
          <p:nvPr/>
        </p:nvSpPr>
        <p:spPr>
          <a:xfrm>
            <a:off x="8138160" y="1280160"/>
            <a:ext cx="128016" cy="128016"/>
          </a:xfrm>
          <a:prstGeom prst="ellipse">
            <a:avLst/>
          </a:prstGeom>
          <a:solidFill>
            <a:srgbClr val="7B93FF"/>
          </a:solidFill>
          <a:ln w="12700">
            <a:solidFill>
              <a:srgbClr val="7B93FF"/>
            </a:solidFill>
            <a:prstDash val="solid"/>
          </a:ln>
        </p:spPr>
      </p:sp>
      <p:sp>
        <p:nvSpPr>
          <p:cNvPr id="6" name="Shape 4"/>
          <p:cNvSpPr/>
          <p:nvPr/>
        </p:nvSpPr>
        <p:spPr>
          <a:xfrm>
            <a:off x="8467344" y="1280160"/>
            <a:ext cx="128016" cy="128016"/>
          </a:xfrm>
          <a:prstGeom prst="ellipse">
            <a:avLst/>
          </a:prstGeom>
          <a:solidFill>
            <a:srgbClr val="7B93FF"/>
          </a:solidFill>
          <a:ln w="12700">
            <a:solidFill>
              <a:srgbClr val="7B93FF"/>
            </a:solidFill>
            <a:prstDash val="solid"/>
          </a:ln>
        </p:spPr>
      </p:sp>
      <p:sp>
        <p:nvSpPr>
          <p:cNvPr id="7" name="Shape 5"/>
          <p:cNvSpPr/>
          <p:nvPr/>
        </p:nvSpPr>
        <p:spPr>
          <a:xfrm>
            <a:off x="8796528" y="1280160"/>
            <a:ext cx="128016" cy="128016"/>
          </a:xfrm>
          <a:prstGeom prst="ellipse">
            <a:avLst/>
          </a:prstGeom>
          <a:solidFill>
            <a:srgbClr val="4FC7C7"/>
          </a:solidFill>
          <a:ln w="12700">
            <a:solidFill>
              <a:srgbClr val="4FC7C7"/>
            </a:solidFill>
            <a:prstDash val="solid"/>
          </a:ln>
        </p:spPr>
      </p:sp>
      <p:sp>
        <p:nvSpPr>
          <p:cNvPr id="8" name="Shape 6"/>
          <p:cNvSpPr/>
          <p:nvPr/>
        </p:nvSpPr>
        <p:spPr>
          <a:xfrm>
            <a:off x="9125712" y="1280160"/>
            <a:ext cx="128016" cy="128016"/>
          </a:xfrm>
          <a:prstGeom prst="ellipse">
            <a:avLst/>
          </a:prstGeom>
          <a:solidFill>
            <a:srgbClr val="7B93FF"/>
          </a:solidFill>
          <a:ln w="12700">
            <a:solidFill>
              <a:srgbClr val="7B93FF"/>
            </a:solidFill>
            <a:prstDash val="solid"/>
          </a:ln>
        </p:spPr>
      </p:sp>
      <p:sp>
        <p:nvSpPr>
          <p:cNvPr id="9" name="Shape 7"/>
          <p:cNvSpPr/>
          <p:nvPr/>
        </p:nvSpPr>
        <p:spPr>
          <a:xfrm>
            <a:off x="9454896" y="1280160"/>
            <a:ext cx="128016" cy="128016"/>
          </a:xfrm>
          <a:prstGeom prst="ellipse">
            <a:avLst/>
          </a:prstGeom>
          <a:solidFill>
            <a:srgbClr val="7B93FF"/>
          </a:solidFill>
          <a:ln w="12700">
            <a:solidFill>
              <a:srgbClr val="7B93FF"/>
            </a:solidFill>
            <a:prstDash val="solid"/>
          </a:ln>
        </p:spPr>
      </p:sp>
      <p:sp>
        <p:nvSpPr>
          <p:cNvPr id="10" name="Shape 8"/>
          <p:cNvSpPr/>
          <p:nvPr/>
        </p:nvSpPr>
        <p:spPr>
          <a:xfrm>
            <a:off x="9784080" y="1280160"/>
            <a:ext cx="128016" cy="128016"/>
          </a:xfrm>
          <a:prstGeom prst="ellipse">
            <a:avLst/>
          </a:prstGeom>
          <a:solidFill>
            <a:srgbClr val="7B93FF"/>
          </a:solidFill>
          <a:ln w="12700">
            <a:solidFill>
              <a:srgbClr val="7B93FF"/>
            </a:solidFill>
            <a:prstDash val="solid"/>
          </a:ln>
        </p:spPr>
      </p:sp>
      <p:sp>
        <p:nvSpPr>
          <p:cNvPr id="11" name="Shape 9"/>
          <p:cNvSpPr/>
          <p:nvPr/>
        </p:nvSpPr>
        <p:spPr>
          <a:xfrm>
            <a:off x="10113264" y="1280160"/>
            <a:ext cx="128016" cy="128016"/>
          </a:xfrm>
          <a:prstGeom prst="ellipse">
            <a:avLst/>
          </a:prstGeom>
          <a:solidFill>
            <a:srgbClr val="7B93FF"/>
          </a:solidFill>
          <a:ln w="12700">
            <a:solidFill>
              <a:srgbClr val="7B93FF"/>
            </a:solidFill>
            <a:prstDash val="solid"/>
          </a:ln>
        </p:spPr>
      </p:sp>
      <p:sp>
        <p:nvSpPr>
          <p:cNvPr id="12" name="Shape 10"/>
          <p:cNvSpPr/>
          <p:nvPr/>
        </p:nvSpPr>
        <p:spPr>
          <a:xfrm>
            <a:off x="10442448" y="1280160"/>
            <a:ext cx="128016" cy="128016"/>
          </a:xfrm>
          <a:prstGeom prst="ellipse">
            <a:avLst/>
          </a:prstGeom>
          <a:solidFill>
            <a:srgbClr val="7B93FF"/>
          </a:solidFill>
          <a:ln w="12700">
            <a:solidFill>
              <a:srgbClr val="7B93FF"/>
            </a:solidFill>
            <a:prstDash val="solid"/>
          </a:ln>
        </p:spPr>
      </p:sp>
      <p:sp>
        <p:nvSpPr>
          <p:cNvPr id="13" name="Shape 11"/>
          <p:cNvSpPr/>
          <p:nvPr/>
        </p:nvSpPr>
        <p:spPr>
          <a:xfrm>
            <a:off x="10771632" y="1280160"/>
            <a:ext cx="128016" cy="128016"/>
          </a:xfrm>
          <a:prstGeom prst="ellipse">
            <a:avLst/>
          </a:prstGeom>
          <a:solidFill>
            <a:srgbClr val="4FC7C7"/>
          </a:solidFill>
          <a:ln w="12700">
            <a:solidFill>
              <a:srgbClr val="4FC7C7"/>
            </a:solidFill>
            <a:prstDash val="solid"/>
          </a:ln>
        </p:spPr>
      </p:sp>
      <p:sp>
        <p:nvSpPr>
          <p:cNvPr id="14" name="Shape 12"/>
          <p:cNvSpPr/>
          <p:nvPr/>
        </p:nvSpPr>
        <p:spPr>
          <a:xfrm>
            <a:off x="11100816" y="1280160"/>
            <a:ext cx="128016" cy="128016"/>
          </a:xfrm>
          <a:prstGeom prst="ellipse">
            <a:avLst/>
          </a:prstGeom>
          <a:solidFill>
            <a:srgbClr val="4FC7C7"/>
          </a:solidFill>
          <a:ln w="12700">
            <a:solidFill>
              <a:srgbClr val="4FC7C7"/>
            </a:solidFill>
            <a:prstDash val="solid"/>
          </a:ln>
        </p:spPr>
      </p:sp>
      <p:sp>
        <p:nvSpPr>
          <p:cNvPr id="15" name="Shape 13"/>
          <p:cNvSpPr/>
          <p:nvPr/>
        </p:nvSpPr>
        <p:spPr>
          <a:xfrm>
            <a:off x="8138160" y="1609344"/>
            <a:ext cx="128016" cy="128016"/>
          </a:xfrm>
          <a:prstGeom prst="ellipse">
            <a:avLst/>
          </a:prstGeom>
          <a:solidFill>
            <a:srgbClr val="4FC7C7"/>
          </a:solidFill>
          <a:ln w="12700">
            <a:solidFill>
              <a:srgbClr val="4FC7C7"/>
            </a:solidFill>
            <a:prstDash val="solid"/>
          </a:ln>
        </p:spPr>
      </p:sp>
      <p:sp>
        <p:nvSpPr>
          <p:cNvPr id="16" name="Shape 14"/>
          <p:cNvSpPr/>
          <p:nvPr/>
        </p:nvSpPr>
        <p:spPr>
          <a:xfrm>
            <a:off x="8467344" y="1609344"/>
            <a:ext cx="128016" cy="128016"/>
          </a:xfrm>
          <a:prstGeom prst="ellipse">
            <a:avLst/>
          </a:prstGeom>
          <a:solidFill>
            <a:srgbClr val="7B93FF"/>
          </a:solidFill>
          <a:ln w="12700">
            <a:solidFill>
              <a:srgbClr val="7B93FF"/>
            </a:solidFill>
            <a:prstDash val="solid"/>
          </a:ln>
        </p:spPr>
      </p:sp>
      <p:sp>
        <p:nvSpPr>
          <p:cNvPr id="17" name="Shape 15"/>
          <p:cNvSpPr/>
          <p:nvPr/>
        </p:nvSpPr>
        <p:spPr>
          <a:xfrm>
            <a:off x="8796528" y="1609344"/>
            <a:ext cx="128016" cy="128016"/>
          </a:xfrm>
          <a:prstGeom prst="ellipse">
            <a:avLst/>
          </a:prstGeom>
          <a:solidFill>
            <a:srgbClr val="4FC7C7"/>
          </a:solidFill>
          <a:ln w="12700">
            <a:solidFill>
              <a:srgbClr val="4FC7C7"/>
            </a:solidFill>
            <a:prstDash val="solid"/>
          </a:ln>
        </p:spPr>
      </p:sp>
      <p:sp>
        <p:nvSpPr>
          <p:cNvPr id="18" name="Shape 16"/>
          <p:cNvSpPr/>
          <p:nvPr/>
        </p:nvSpPr>
        <p:spPr>
          <a:xfrm>
            <a:off x="9125712" y="1609344"/>
            <a:ext cx="128016" cy="128016"/>
          </a:xfrm>
          <a:prstGeom prst="ellipse">
            <a:avLst/>
          </a:prstGeom>
          <a:solidFill>
            <a:srgbClr val="4FC7C7"/>
          </a:solidFill>
          <a:ln w="12700">
            <a:solidFill>
              <a:srgbClr val="4FC7C7"/>
            </a:solidFill>
            <a:prstDash val="solid"/>
          </a:ln>
        </p:spPr>
      </p:sp>
      <p:sp>
        <p:nvSpPr>
          <p:cNvPr id="19" name="Shape 17"/>
          <p:cNvSpPr/>
          <p:nvPr/>
        </p:nvSpPr>
        <p:spPr>
          <a:xfrm>
            <a:off x="9454896" y="1609344"/>
            <a:ext cx="128016" cy="128016"/>
          </a:xfrm>
          <a:prstGeom prst="ellipse">
            <a:avLst/>
          </a:prstGeom>
          <a:solidFill>
            <a:srgbClr val="4FC7C7"/>
          </a:solidFill>
          <a:ln w="12700">
            <a:solidFill>
              <a:srgbClr val="4FC7C7"/>
            </a:solidFill>
            <a:prstDash val="solid"/>
          </a:ln>
        </p:spPr>
      </p:sp>
      <p:sp>
        <p:nvSpPr>
          <p:cNvPr id="20" name="Shape 18"/>
          <p:cNvSpPr/>
          <p:nvPr/>
        </p:nvSpPr>
        <p:spPr>
          <a:xfrm>
            <a:off x="9784080" y="1609344"/>
            <a:ext cx="128016" cy="128016"/>
          </a:xfrm>
          <a:prstGeom prst="ellipse">
            <a:avLst/>
          </a:prstGeom>
          <a:solidFill>
            <a:srgbClr val="7B93FF"/>
          </a:solidFill>
          <a:ln w="12700">
            <a:solidFill>
              <a:srgbClr val="7B93FF"/>
            </a:solidFill>
            <a:prstDash val="solid"/>
          </a:ln>
        </p:spPr>
      </p:sp>
      <p:sp>
        <p:nvSpPr>
          <p:cNvPr id="21" name="Shape 19"/>
          <p:cNvSpPr/>
          <p:nvPr/>
        </p:nvSpPr>
        <p:spPr>
          <a:xfrm>
            <a:off x="10113264" y="1609344"/>
            <a:ext cx="128016" cy="128016"/>
          </a:xfrm>
          <a:prstGeom prst="ellipse">
            <a:avLst/>
          </a:prstGeom>
          <a:solidFill>
            <a:srgbClr val="7B93FF"/>
          </a:solidFill>
          <a:ln w="12700">
            <a:solidFill>
              <a:srgbClr val="7B93FF"/>
            </a:solidFill>
            <a:prstDash val="solid"/>
          </a:ln>
        </p:spPr>
      </p:sp>
      <p:sp>
        <p:nvSpPr>
          <p:cNvPr id="22" name="Shape 20"/>
          <p:cNvSpPr/>
          <p:nvPr/>
        </p:nvSpPr>
        <p:spPr>
          <a:xfrm>
            <a:off x="10442448" y="1609344"/>
            <a:ext cx="128016" cy="128016"/>
          </a:xfrm>
          <a:prstGeom prst="ellipse">
            <a:avLst/>
          </a:prstGeom>
          <a:solidFill>
            <a:srgbClr val="4FC7C7"/>
          </a:solidFill>
          <a:ln w="12700">
            <a:solidFill>
              <a:srgbClr val="4FC7C7"/>
            </a:solidFill>
            <a:prstDash val="solid"/>
          </a:ln>
        </p:spPr>
      </p:sp>
      <p:sp>
        <p:nvSpPr>
          <p:cNvPr id="23" name="Shape 21"/>
          <p:cNvSpPr/>
          <p:nvPr/>
        </p:nvSpPr>
        <p:spPr>
          <a:xfrm>
            <a:off x="10771632" y="1609344"/>
            <a:ext cx="128016" cy="128016"/>
          </a:xfrm>
          <a:prstGeom prst="ellipse">
            <a:avLst/>
          </a:prstGeom>
          <a:solidFill>
            <a:srgbClr val="4FC7C7"/>
          </a:solidFill>
          <a:ln w="12700">
            <a:solidFill>
              <a:srgbClr val="4FC7C7"/>
            </a:solidFill>
            <a:prstDash val="solid"/>
          </a:ln>
        </p:spPr>
      </p:sp>
      <p:sp>
        <p:nvSpPr>
          <p:cNvPr id="24" name="Shape 22"/>
          <p:cNvSpPr/>
          <p:nvPr/>
        </p:nvSpPr>
        <p:spPr>
          <a:xfrm>
            <a:off x="11100816" y="1609344"/>
            <a:ext cx="128016" cy="128016"/>
          </a:xfrm>
          <a:prstGeom prst="ellipse">
            <a:avLst/>
          </a:prstGeom>
          <a:solidFill>
            <a:srgbClr val="4FC7C7"/>
          </a:solidFill>
          <a:ln w="12700">
            <a:solidFill>
              <a:srgbClr val="4FC7C7"/>
            </a:solidFill>
            <a:prstDash val="solid"/>
          </a:ln>
        </p:spPr>
      </p:sp>
      <p:sp>
        <p:nvSpPr>
          <p:cNvPr id="25" name="Shape 23"/>
          <p:cNvSpPr/>
          <p:nvPr/>
        </p:nvSpPr>
        <p:spPr>
          <a:xfrm>
            <a:off x="8138160" y="1938528"/>
            <a:ext cx="128016" cy="128016"/>
          </a:xfrm>
          <a:prstGeom prst="ellipse">
            <a:avLst/>
          </a:prstGeom>
          <a:solidFill>
            <a:srgbClr val="4FC7C7"/>
          </a:solidFill>
          <a:ln w="12700">
            <a:solidFill>
              <a:srgbClr val="4FC7C7"/>
            </a:solidFill>
            <a:prstDash val="solid"/>
          </a:ln>
        </p:spPr>
      </p:sp>
      <p:sp>
        <p:nvSpPr>
          <p:cNvPr id="26" name="Shape 24"/>
          <p:cNvSpPr/>
          <p:nvPr/>
        </p:nvSpPr>
        <p:spPr>
          <a:xfrm>
            <a:off x="8467344" y="1938528"/>
            <a:ext cx="128016" cy="128016"/>
          </a:xfrm>
          <a:prstGeom prst="ellipse">
            <a:avLst/>
          </a:prstGeom>
          <a:solidFill>
            <a:srgbClr val="7B93FF"/>
          </a:solidFill>
          <a:ln w="12700">
            <a:solidFill>
              <a:srgbClr val="7B93FF"/>
            </a:solidFill>
            <a:prstDash val="solid"/>
          </a:ln>
        </p:spPr>
      </p:sp>
      <p:sp>
        <p:nvSpPr>
          <p:cNvPr id="27" name="Shape 25"/>
          <p:cNvSpPr/>
          <p:nvPr/>
        </p:nvSpPr>
        <p:spPr>
          <a:xfrm>
            <a:off x="8796528" y="1938528"/>
            <a:ext cx="128016" cy="128016"/>
          </a:xfrm>
          <a:prstGeom prst="ellipse">
            <a:avLst/>
          </a:prstGeom>
          <a:solidFill>
            <a:srgbClr val="4FC7C7"/>
          </a:solidFill>
          <a:ln w="12700">
            <a:solidFill>
              <a:srgbClr val="4FC7C7"/>
            </a:solidFill>
            <a:prstDash val="solid"/>
          </a:ln>
        </p:spPr>
      </p:sp>
      <p:sp>
        <p:nvSpPr>
          <p:cNvPr id="28" name="Shape 26"/>
          <p:cNvSpPr/>
          <p:nvPr/>
        </p:nvSpPr>
        <p:spPr>
          <a:xfrm>
            <a:off x="9125712" y="1938528"/>
            <a:ext cx="128016" cy="128016"/>
          </a:xfrm>
          <a:prstGeom prst="ellipse">
            <a:avLst/>
          </a:prstGeom>
          <a:solidFill>
            <a:srgbClr val="7B93FF"/>
          </a:solidFill>
          <a:ln w="12700">
            <a:solidFill>
              <a:srgbClr val="7B93FF"/>
            </a:solidFill>
            <a:prstDash val="solid"/>
          </a:ln>
        </p:spPr>
      </p:sp>
      <p:sp>
        <p:nvSpPr>
          <p:cNvPr id="29" name="Shape 27"/>
          <p:cNvSpPr/>
          <p:nvPr/>
        </p:nvSpPr>
        <p:spPr>
          <a:xfrm>
            <a:off x="9454896" y="1938528"/>
            <a:ext cx="128016" cy="128016"/>
          </a:xfrm>
          <a:prstGeom prst="ellipse">
            <a:avLst/>
          </a:prstGeom>
          <a:solidFill>
            <a:srgbClr val="4FC7C7"/>
          </a:solidFill>
          <a:ln w="12700">
            <a:solidFill>
              <a:srgbClr val="4FC7C7"/>
            </a:solidFill>
            <a:prstDash val="solid"/>
          </a:ln>
        </p:spPr>
      </p:sp>
      <p:sp>
        <p:nvSpPr>
          <p:cNvPr id="30" name="Shape 28"/>
          <p:cNvSpPr/>
          <p:nvPr/>
        </p:nvSpPr>
        <p:spPr>
          <a:xfrm>
            <a:off x="9784080" y="1938528"/>
            <a:ext cx="128016" cy="128016"/>
          </a:xfrm>
          <a:prstGeom prst="ellipse">
            <a:avLst/>
          </a:prstGeom>
          <a:solidFill>
            <a:srgbClr val="4FC7C7"/>
          </a:solidFill>
          <a:ln w="12700">
            <a:solidFill>
              <a:srgbClr val="4FC7C7"/>
            </a:solidFill>
            <a:prstDash val="solid"/>
          </a:ln>
        </p:spPr>
      </p:sp>
      <p:sp>
        <p:nvSpPr>
          <p:cNvPr id="31" name="Shape 29"/>
          <p:cNvSpPr/>
          <p:nvPr/>
        </p:nvSpPr>
        <p:spPr>
          <a:xfrm>
            <a:off x="10113264" y="1938528"/>
            <a:ext cx="128016" cy="128016"/>
          </a:xfrm>
          <a:prstGeom prst="ellipse">
            <a:avLst/>
          </a:prstGeom>
          <a:solidFill>
            <a:srgbClr val="7B93FF"/>
          </a:solidFill>
          <a:ln w="12700">
            <a:solidFill>
              <a:srgbClr val="7B93FF"/>
            </a:solidFill>
            <a:prstDash val="solid"/>
          </a:ln>
        </p:spPr>
      </p:sp>
      <p:sp>
        <p:nvSpPr>
          <p:cNvPr id="32" name="Shape 30"/>
          <p:cNvSpPr/>
          <p:nvPr/>
        </p:nvSpPr>
        <p:spPr>
          <a:xfrm>
            <a:off x="10442448" y="1938528"/>
            <a:ext cx="128016" cy="128016"/>
          </a:xfrm>
          <a:prstGeom prst="ellipse">
            <a:avLst/>
          </a:prstGeom>
          <a:solidFill>
            <a:srgbClr val="4FC7C7"/>
          </a:solidFill>
          <a:ln w="12700">
            <a:solidFill>
              <a:srgbClr val="4FC7C7"/>
            </a:solidFill>
            <a:prstDash val="solid"/>
          </a:ln>
        </p:spPr>
      </p:sp>
      <p:sp>
        <p:nvSpPr>
          <p:cNvPr id="33" name="Shape 31"/>
          <p:cNvSpPr/>
          <p:nvPr/>
        </p:nvSpPr>
        <p:spPr>
          <a:xfrm>
            <a:off x="10771632" y="1938528"/>
            <a:ext cx="128016" cy="128016"/>
          </a:xfrm>
          <a:prstGeom prst="ellipse">
            <a:avLst/>
          </a:prstGeom>
          <a:solidFill>
            <a:srgbClr val="7B93FF"/>
          </a:solidFill>
          <a:ln w="12700">
            <a:solidFill>
              <a:srgbClr val="7B93FF"/>
            </a:solidFill>
            <a:prstDash val="solid"/>
          </a:ln>
        </p:spPr>
      </p:sp>
      <p:sp>
        <p:nvSpPr>
          <p:cNvPr id="34" name="Shape 32"/>
          <p:cNvSpPr/>
          <p:nvPr/>
        </p:nvSpPr>
        <p:spPr>
          <a:xfrm>
            <a:off x="11100816" y="1938528"/>
            <a:ext cx="128016" cy="128016"/>
          </a:xfrm>
          <a:prstGeom prst="ellipse">
            <a:avLst/>
          </a:prstGeom>
          <a:solidFill>
            <a:srgbClr val="7B93FF"/>
          </a:solidFill>
          <a:ln w="12700">
            <a:solidFill>
              <a:srgbClr val="7B93FF"/>
            </a:solidFill>
            <a:prstDash val="solid"/>
          </a:ln>
        </p:spPr>
      </p:sp>
      <p:sp>
        <p:nvSpPr>
          <p:cNvPr id="35" name="Shape 33"/>
          <p:cNvSpPr/>
          <p:nvPr/>
        </p:nvSpPr>
        <p:spPr>
          <a:xfrm>
            <a:off x="8138160" y="2267712"/>
            <a:ext cx="128016" cy="128016"/>
          </a:xfrm>
          <a:prstGeom prst="ellipse">
            <a:avLst/>
          </a:prstGeom>
          <a:solidFill>
            <a:srgbClr val="7B93FF"/>
          </a:solidFill>
          <a:ln w="12700">
            <a:solidFill>
              <a:srgbClr val="7B93FF"/>
            </a:solidFill>
            <a:prstDash val="solid"/>
          </a:ln>
        </p:spPr>
      </p:sp>
      <p:sp>
        <p:nvSpPr>
          <p:cNvPr id="36" name="Shape 34"/>
          <p:cNvSpPr/>
          <p:nvPr/>
        </p:nvSpPr>
        <p:spPr>
          <a:xfrm>
            <a:off x="8467344" y="2267712"/>
            <a:ext cx="128016" cy="128016"/>
          </a:xfrm>
          <a:prstGeom prst="ellipse">
            <a:avLst/>
          </a:prstGeom>
          <a:solidFill>
            <a:srgbClr val="4FC7C7"/>
          </a:solidFill>
          <a:ln w="12700">
            <a:solidFill>
              <a:srgbClr val="4FC7C7"/>
            </a:solidFill>
            <a:prstDash val="solid"/>
          </a:ln>
        </p:spPr>
      </p:sp>
      <p:sp>
        <p:nvSpPr>
          <p:cNvPr id="37" name="Shape 35"/>
          <p:cNvSpPr/>
          <p:nvPr/>
        </p:nvSpPr>
        <p:spPr>
          <a:xfrm>
            <a:off x="8796528" y="2267712"/>
            <a:ext cx="128016" cy="128016"/>
          </a:xfrm>
          <a:prstGeom prst="ellipse">
            <a:avLst/>
          </a:prstGeom>
          <a:solidFill>
            <a:srgbClr val="4FC7C7"/>
          </a:solidFill>
          <a:ln w="12700">
            <a:solidFill>
              <a:srgbClr val="4FC7C7"/>
            </a:solidFill>
            <a:prstDash val="solid"/>
          </a:ln>
        </p:spPr>
      </p:sp>
      <p:sp>
        <p:nvSpPr>
          <p:cNvPr id="38" name="Shape 36"/>
          <p:cNvSpPr/>
          <p:nvPr/>
        </p:nvSpPr>
        <p:spPr>
          <a:xfrm>
            <a:off x="9125712" y="2267712"/>
            <a:ext cx="128016" cy="128016"/>
          </a:xfrm>
          <a:prstGeom prst="ellipse">
            <a:avLst/>
          </a:prstGeom>
          <a:solidFill>
            <a:srgbClr val="4FC7C7"/>
          </a:solidFill>
          <a:ln w="12700">
            <a:solidFill>
              <a:srgbClr val="4FC7C7"/>
            </a:solidFill>
            <a:prstDash val="solid"/>
          </a:ln>
        </p:spPr>
      </p:sp>
      <p:sp>
        <p:nvSpPr>
          <p:cNvPr id="39" name="Shape 37"/>
          <p:cNvSpPr/>
          <p:nvPr/>
        </p:nvSpPr>
        <p:spPr>
          <a:xfrm>
            <a:off x="9454896" y="2267712"/>
            <a:ext cx="128016" cy="128016"/>
          </a:xfrm>
          <a:prstGeom prst="ellipse">
            <a:avLst/>
          </a:prstGeom>
          <a:solidFill>
            <a:srgbClr val="4FC7C7"/>
          </a:solidFill>
          <a:ln w="12700">
            <a:solidFill>
              <a:srgbClr val="4FC7C7"/>
            </a:solidFill>
            <a:prstDash val="solid"/>
          </a:ln>
        </p:spPr>
      </p:sp>
      <p:sp>
        <p:nvSpPr>
          <p:cNvPr id="40" name="Shape 38"/>
          <p:cNvSpPr/>
          <p:nvPr/>
        </p:nvSpPr>
        <p:spPr>
          <a:xfrm>
            <a:off x="9784080" y="2267712"/>
            <a:ext cx="128016" cy="128016"/>
          </a:xfrm>
          <a:prstGeom prst="ellipse">
            <a:avLst/>
          </a:prstGeom>
          <a:solidFill>
            <a:srgbClr val="7B93FF"/>
          </a:solidFill>
          <a:ln w="12700">
            <a:solidFill>
              <a:srgbClr val="7B93FF"/>
            </a:solidFill>
            <a:prstDash val="solid"/>
          </a:ln>
        </p:spPr>
      </p:sp>
      <p:sp>
        <p:nvSpPr>
          <p:cNvPr id="41" name="Shape 39"/>
          <p:cNvSpPr/>
          <p:nvPr/>
        </p:nvSpPr>
        <p:spPr>
          <a:xfrm>
            <a:off x="10113264" y="2267712"/>
            <a:ext cx="128016" cy="128016"/>
          </a:xfrm>
          <a:prstGeom prst="ellipse">
            <a:avLst/>
          </a:prstGeom>
          <a:solidFill>
            <a:srgbClr val="4FC7C7"/>
          </a:solidFill>
          <a:ln w="12700">
            <a:solidFill>
              <a:srgbClr val="4FC7C7"/>
            </a:solidFill>
            <a:prstDash val="solid"/>
          </a:ln>
        </p:spPr>
      </p:sp>
      <p:sp>
        <p:nvSpPr>
          <p:cNvPr id="42" name="Shape 40"/>
          <p:cNvSpPr/>
          <p:nvPr/>
        </p:nvSpPr>
        <p:spPr>
          <a:xfrm>
            <a:off x="10442448" y="2267712"/>
            <a:ext cx="128016" cy="128016"/>
          </a:xfrm>
          <a:prstGeom prst="ellipse">
            <a:avLst/>
          </a:prstGeom>
          <a:solidFill>
            <a:srgbClr val="4FC7C7"/>
          </a:solidFill>
          <a:ln w="12700">
            <a:solidFill>
              <a:srgbClr val="4FC7C7"/>
            </a:solidFill>
            <a:prstDash val="solid"/>
          </a:ln>
        </p:spPr>
      </p:sp>
      <p:sp>
        <p:nvSpPr>
          <p:cNvPr id="43" name="Shape 41"/>
          <p:cNvSpPr/>
          <p:nvPr/>
        </p:nvSpPr>
        <p:spPr>
          <a:xfrm>
            <a:off x="10771632" y="2267712"/>
            <a:ext cx="128016" cy="128016"/>
          </a:xfrm>
          <a:prstGeom prst="ellipse">
            <a:avLst/>
          </a:prstGeom>
          <a:solidFill>
            <a:srgbClr val="4FC7C7"/>
          </a:solidFill>
          <a:ln w="12700">
            <a:solidFill>
              <a:srgbClr val="4FC7C7"/>
            </a:solidFill>
            <a:prstDash val="solid"/>
          </a:ln>
        </p:spPr>
      </p:sp>
      <p:sp>
        <p:nvSpPr>
          <p:cNvPr id="44" name="Shape 42"/>
          <p:cNvSpPr/>
          <p:nvPr/>
        </p:nvSpPr>
        <p:spPr>
          <a:xfrm>
            <a:off x="11100816" y="2267712"/>
            <a:ext cx="128016" cy="128016"/>
          </a:xfrm>
          <a:prstGeom prst="ellipse">
            <a:avLst/>
          </a:prstGeom>
          <a:solidFill>
            <a:srgbClr val="4FC7C7"/>
          </a:solidFill>
          <a:ln w="12700">
            <a:solidFill>
              <a:srgbClr val="4FC7C7"/>
            </a:solidFill>
            <a:prstDash val="solid"/>
          </a:ln>
        </p:spPr>
      </p:sp>
      <p:sp>
        <p:nvSpPr>
          <p:cNvPr id="45" name="Shape 43"/>
          <p:cNvSpPr/>
          <p:nvPr/>
        </p:nvSpPr>
        <p:spPr>
          <a:xfrm>
            <a:off x="8138160" y="2596896"/>
            <a:ext cx="128016" cy="128016"/>
          </a:xfrm>
          <a:prstGeom prst="ellipse">
            <a:avLst/>
          </a:prstGeom>
          <a:solidFill>
            <a:srgbClr val="4FC7C7"/>
          </a:solidFill>
          <a:ln w="12700">
            <a:solidFill>
              <a:srgbClr val="4FC7C7"/>
            </a:solidFill>
            <a:prstDash val="solid"/>
          </a:ln>
        </p:spPr>
      </p:sp>
      <p:sp>
        <p:nvSpPr>
          <p:cNvPr id="46" name="Shape 44"/>
          <p:cNvSpPr/>
          <p:nvPr/>
        </p:nvSpPr>
        <p:spPr>
          <a:xfrm>
            <a:off x="8467344" y="2596896"/>
            <a:ext cx="128016" cy="128016"/>
          </a:xfrm>
          <a:prstGeom prst="ellipse">
            <a:avLst/>
          </a:prstGeom>
          <a:solidFill>
            <a:srgbClr val="7B93FF"/>
          </a:solidFill>
          <a:ln w="12700">
            <a:solidFill>
              <a:srgbClr val="7B93FF"/>
            </a:solidFill>
            <a:prstDash val="solid"/>
          </a:ln>
        </p:spPr>
      </p:sp>
      <p:sp>
        <p:nvSpPr>
          <p:cNvPr id="47" name="Shape 45"/>
          <p:cNvSpPr/>
          <p:nvPr/>
        </p:nvSpPr>
        <p:spPr>
          <a:xfrm>
            <a:off x="8796528" y="2596896"/>
            <a:ext cx="128016" cy="128016"/>
          </a:xfrm>
          <a:prstGeom prst="ellipse">
            <a:avLst/>
          </a:prstGeom>
          <a:solidFill>
            <a:srgbClr val="7B93FF"/>
          </a:solidFill>
          <a:ln w="12700">
            <a:solidFill>
              <a:srgbClr val="7B93FF"/>
            </a:solidFill>
            <a:prstDash val="solid"/>
          </a:ln>
        </p:spPr>
      </p:sp>
      <p:sp>
        <p:nvSpPr>
          <p:cNvPr id="48" name="Shape 46"/>
          <p:cNvSpPr/>
          <p:nvPr/>
        </p:nvSpPr>
        <p:spPr>
          <a:xfrm>
            <a:off x="9125712" y="2596896"/>
            <a:ext cx="128016" cy="128016"/>
          </a:xfrm>
          <a:prstGeom prst="ellipse">
            <a:avLst/>
          </a:prstGeom>
          <a:solidFill>
            <a:srgbClr val="7B93FF"/>
          </a:solidFill>
          <a:ln w="12700">
            <a:solidFill>
              <a:srgbClr val="7B93FF"/>
            </a:solidFill>
            <a:prstDash val="solid"/>
          </a:ln>
        </p:spPr>
      </p:sp>
      <p:sp>
        <p:nvSpPr>
          <p:cNvPr id="49" name="Shape 47"/>
          <p:cNvSpPr/>
          <p:nvPr/>
        </p:nvSpPr>
        <p:spPr>
          <a:xfrm>
            <a:off x="9454896" y="2596896"/>
            <a:ext cx="128016" cy="128016"/>
          </a:xfrm>
          <a:prstGeom prst="ellipse">
            <a:avLst/>
          </a:prstGeom>
          <a:solidFill>
            <a:srgbClr val="7B93FF"/>
          </a:solidFill>
          <a:ln w="12700">
            <a:solidFill>
              <a:srgbClr val="7B93FF"/>
            </a:solidFill>
            <a:prstDash val="solid"/>
          </a:ln>
        </p:spPr>
      </p:sp>
      <p:sp>
        <p:nvSpPr>
          <p:cNvPr id="50" name="Shape 48"/>
          <p:cNvSpPr/>
          <p:nvPr/>
        </p:nvSpPr>
        <p:spPr>
          <a:xfrm>
            <a:off x="9784080" y="2596896"/>
            <a:ext cx="128016" cy="128016"/>
          </a:xfrm>
          <a:prstGeom prst="ellipse">
            <a:avLst/>
          </a:prstGeom>
          <a:solidFill>
            <a:srgbClr val="7B93FF"/>
          </a:solidFill>
          <a:ln w="12700">
            <a:solidFill>
              <a:srgbClr val="7B93FF"/>
            </a:solidFill>
            <a:prstDash val="solid"/>
          </a:ln>
        </p:spPr>
      </p:sp>
      <p:sp>
        <p:nvSpPr>
          <p:cNvPr id="51" name="Shape 49"/>
          <p:cNvSpPr/>
          <p:nvPr/>
        </p:nvSpPr>
        <p:spPr>
          <a:xfrm>
            <a:off x="10113264" y="2596896"/>
            <a:ext cx="128016" cy="128016"/>
          </a:xfrm>
          <a:prstGeom prst="ellipse">
            <a:avLst/>
          </a:prstGeom>
          <a:solidFill>
            <a:srgbClr val="4FC7C7"/>
          </a:solidFill>
          <a:ln w="12700">
            <a:solidFill>
              <a:srgbClr val="4FC7C7"/>
            </a:solidFill>
            <a:prstDash val="solid"/>
          </a:ln>
        </p:spPr>
      </p:sp>
      <p:sp>
        <p:nvSpPr>
          <p:cNvPr id="52" name="Shape 50"/>
          <p:cNvSpPr/>
          <p:nvPr/>
        </p:nvSpPr>
        <p:spPr>
          <a:xfrm>
            <a:off x="10442448" y="2596896"/>
            <a:ext cx="128016" cy="128016"/>
          </a:xfrm>
          <a:prstGeom prst="ellipse">
            <a:avLst/>
          </a:prstGeom>
          <a:solidFill>
            <a:srgbClr val="4FC7C7"/>
          </a:solidFill>
          <a:ln w="12700">
            <a:solidFill>
              <a:srgbClr val="4FC7C7"/>
            </a:solidFill>
            <a:prstDash val="solid"/>
          </a:ln>
        </p:spPr>
      </p:sp>
      <p:sp>
        <p:nvSpPr>
          <p:cNvPr id="53" name="Shape 51"/>
          <p:cNvSpPr/>
          <p:nvPr/>
        </p:nvSpPr>
        <p:spPr>
          <a:xfrm>
            <a:off x="10771632" y="2596896"/>
            <a:ext cx="128016" cy="128016"/>
          </a:xfrm>
          <a:prstGeom prst="ellipse">
            <a:avLst/>
          </a:prstGeom>
          <a:solidFill>
            <a:srgbClr val="4FC7C7"/>
          </a:solidFill>
          <a:ln w="12700">
            <a:solidFill>
              <a:srgbClr val="4FC7C7"/>
            </a:solidFill>
            <a:prstDash val="solid"/>
          </a:ln>
        </p:spPr>
      </p:sp>
      <p:sp>
        <p:nvSpPr>
          <p:cNvPr id="54" name="Shape 52"/>
          <p:cNvSpPr/>
          <p:nvPr/>
        </p:nvSpPr>
        <p:spPr>
          <a:xfrm>
            <a:off x="11100816" y="2596896"/>
            <a:ext cx="128016" cy="128016"/>
          </a:xfrm>
          <a:prstGeom prst="ellipse">
            <a:avLst/>
          </a:prstGeom>
          <a:solidFill>
            <a:srgbClr val="7B93FF"/>
          </a:solidFill>
          <a:ln w="12700">
            <a:solidFill>
              <a:srgbClr val="7B93FF"/>
            </a:solidFill>
            <a:prstDash val="solid"/>
          </a:ln>
        </p:spPr>
      </p:sp>
      <p:sp>
        <p:nvSpPr>
          <p:cNvPr id="55" name="Shape 53"/>
          <p:cNvSpPr/>
          <p:nvPr/>
        </p:nvSpPr>
        <p:spPr>
          <a:xfrm>
            <a:off x="8138160" y="2926080"/>
            <a:ext cx="128016" cy="128016"/>
          </a:xfrm>
          <a:prstGeom prst="ellipse">
            <a:avLst/>
          </a:prstGeom>
          <a:solidFill>
            <a:srgbClr val="7B93FF"/>
          </a:solidFill>
          <a:ln w="12700">
            <a:solidFill>
              <a:srgbClr val="7B93FF"/>
            </a:solidFill>
            <a:prstDash val="solid"/>
          </a:ln>
        </p:spPr>
      </p:sp>
      <p:sp>
        <p:nvSpPr>
          <p:cNvPr id="56" name="Shape 54"/>
          <p:cNvSpPr/>
          <p:nvPr/>
        </p:nvSpPr>
        <p:spPr>
          <a:xfrm>
            <a:off x="8467344" y="2926080"/>
            <a:ext cx="128016" cy="128016"/>
          </a:xfrm>
          <a:prstGeom prst="ellipse">
            <a:avLst/>
          </a:prstGeom>
          <a:solidFill>
            <a:srgbClr val="7B93FF"/>
          </a:solidFill>
          <a:ln w="12700">
            <a:solidFill>
              <a:srgbClr val="7B93FF"/>
            </a:solidFill>
            <a:prstDash val="solid"/>
          </a:ln>
        </p:spPr>
      </p:sp>
      <p:sp>
        <p:nvSpPr>
          <p:cNvPr id="57" name="Shape 55"/>
          <p:cNvSpPr/>
          <p:nvPr/>
        </p:nvSpPr>
        <p:spPr>
          <a:xfrm>
            <a:off x="8796528" y="2926080"/>
            <a:ext cx="128016" cy="128016"/>
          </a:xfrm>
          <a:prstGeom prst="ellipse">
            <a:avLst/>
          </a:prstGeom>
          <a:solidFill>
            <a:srgbClr val="7B93FF"/>
          </a:solidFill>
          <a:ln w="12700">
            <a:solidFill>
              <a:srgbClr val="7B93FF"/>
            </a:solidFill>
            <a:prstDash val="solid"/>
          </a:ln>
        </p:spPr>
      </p:sp>
      <p:sp>
        <p:nvSpPr>
          <p:cNvPr id="58" name="Shape 56"/>
          <p:cNvSpPr/>
          <p:nvPr/>
        </p:nvSpPr>
        <p:spPr>
          <a:xfrm>
            <a:off x="9125712" y="2926080"/>
            <a:ext cx="128016" cy="128016"/>
          </a:xfrm>
          <a:prstGeom prst="ellipse">
            <a:avLst/>
          </a:prstGeom>
          <a:solidFill>
            <a:srgbClr val="7B93FF"/>
          </a:solidFill>
          <a:ln w="12700">
            <a:solidFill>
              <a:srgbClr val="7B93FF"/>
            </a:solidFill>
            <a:prstDash val="solid"/>
          </a:ln>
        </p:spPr>
      </p:sp>
      <p:sp>
        <p:nvSpPr>
          <p:cNvPr id="59" name="Shape 57"/>
          <p:cNvSpPr/>
          <p:nvPr/>
        </p:nvSpPr>
        <p:spPr>
          <a:xfrm>
            <a:off x="9454896" y="2926080"/>
            <a:ext cx="128016" cy="128016"/>
          </a:xfrm>
          <a:prstGeom prst="ellipse">
            <a:avLst/>
          </a:prstGeom>
          <a:solidFill>
            <a:srgbClr val="7B93FF"/>
          </a:solidFill>
          <a:ln w="12700">
            <a:solidFill>
              <a:srgbClr val="7B93FF"/>
            </a:solidFill>
            <a:prstDash val="solid"/>
          </a:ln>
        </p:spPr>
      </p:sp>
      <p:sp>
        <p:nvSpPr>
          <p:cNvPr id="60" name="Shape 58"/>
          <p:cNvSpPr/>
          <p:nvPr/>
        </p:nvSpPr>
        <p:spPr>
          <a:xfrm>
            <a:off x="9784080" y="2926080"/>
            <a:ext cx="128016" cy="128016"/>
          </a:xfrm>
          <a:prstGeom prst="ellipse">
            <a:avLst/>
          </a:prstGeom>
          <a:solidFill>
            <a:srgbClr val="4FC7C7"/>
          </a:solidFill>
          <a:ln w="12700">
            <a:solidFill>
              <a:srgbClr val="4FC7C7"/>
            </a:solidFill>
            <a:prstDash val="solid"/>
          </a:ln>
        </p:spPr>
      </p:sp>
      <p:sp>
        <p:nvSpPr>
          <p:cNvPr id="61" name="Shape 59"/>
          <p:cNvSpPr/>
          <p:nvPr/>
        </p:nvSpPr>
        <p:spPr>
          <a:xfrm>
            <a:off x="10113264" y="2926080"/>
            <a:ext cx="128016" cy="128016"/>
          </a:xfrm>
          <a:prstGeom prst="ellipse">
            <a:avLst/>
          </a:prstGeom>
          <a:solidFill>
            <a:srgbClr val="4FC7C7"/>
          </a:solidFill>
          <a:ln w="12700">
            <a:solidFill>
              <a:srgbClr val="4FC7C7"/>
            </a:solidFill>
            <a:prstDash val="solid"/>
          </a:ln>
        </p:spPr>
      </p:sp>
      <p:sp>
        <p:nvSpPr>
          <p:cNvPr id="62" name="Shape 60"/>
          <p:cNvSpPr/>
          <p:nvPr/>
        </p:nvSpPr>
        <p:spPr>
          <a:xfrm>
            <a:off x="10442448" y="2926080"/>
            <a:ext cx="128016" cy="128016"/>
          </a:xfrm>
          <a:prstGeom prst="ellipse">
            <a:avLst/>
          </a:prstGeom>
          <a:solidFill>
            <a:srgbClr val="7B93FF"/>
          </a:solidFill>
          <a:ln w="12700">
            <a:solidFill>
              <a:srgbClr val="7B93FF"/>
            </a:solidFill>
            <a:prstDash val="solid"/>
          </a:ln>
        </p:spPr>
      </p:sp>
      <p:sp>
        <p:nvSpPr>
          <p:cNvPr id="63" name="Shape 61"/>
          <p:cNvSpPr/>
          <p:nvPr/>
        </p:nvSpPr>
        <p:spPr>
          <a:xfrm>
            <a:off x="10771632" y="2926080"/>
            <a:ext cx="128016" cy="128016"/>
          </a:xfrm>
          <a:prstGeom prst="ellipse">
            <a:avLst/>
          </a:prstGeom>
          <a:solidFill>
            <a:srgbClr val="4FC7C7"/>
          </a:solidFill>
          <a:ln w="12700">
            <a:solidFill>
              <a:srgbClr val="4FC7C7"/>
            </a:solidFill>
            <a:prstDash val="solid"/>
          </a:ln>
        </p:spPr>
      </p:sp>
      <p:sp>
        <p:nvSpPr>
          <p:cNvPr id="64" name="Shape 62"/>
          <p:cNvSpPr/>
          <p:nvPr/>
        </p:nvSpPr>
        <p:spPr>
          <a:xfrm>
            <a:off x="11100816" y="2926080"/>
            <a:ext cx="128016" cy="128016"/>
          </a:xfrm>
          <a:prstGeom prst="ellipse">
            <a:avLst/>
          </a:prstGeom>
          <a:solidFill>
            <a:srgbClr val="4FC7C7"/>
          </a:solidFill>
          <a:ln w="12700">
            <a:solidFill>
              <a:srgbClr val="4FC7C7"/>
            </a:solidFill>
            <a:prstDash val="solid"/>
          </a:ln>
        </p:spPr>
      </p:sp>
      <p:sp>
        <p:nvSpPr>
          <p:cNvPr id="65" name="Shape 63"/>
          <p:cNvSpPr/>
          <p:nvPr/>
        </p:nvSpPr>
        <p:spPr>
          <a:xfrm>
            <a:off x="8138160" y="3255264"/>
            <a:ext cx="128016" cy="128016"/>
          </a:xfrm>
          <a:prstGeom prst="ellipse">
            <a:avLst/>
          </a:prstGeom>
          <a:solidFill>
            <a:srgbClr val="7B93FF"/>
          </a:solidFill>
          <a:ln w="12700">
            <a:solidFill>
              <a:srgbClr val="7B93FF"/>
            </a:solidFill>
            <a:prstDash val="solid"/>
          </a:ln>
        </p:spPr>
      </p:sp>
      <p:sp>
        <p:nvSpPr>
          <p:cNvPr id="66" name="Shape 64"/>
          <p:cNvSpPr/>
          <p:nvPr/>
        </p:nvSpPr>
        <p:spPr>
          <a:xfrm>
            <a:off x="8467344" y="3255264"/>
            <a:ext cx="128016" cy="128016"/>
          </a:xfrm>
          <a:prstGeom prst="ellipse">
            <a:avLst/>
          </a:prstGeom>
          <a:solidFill>
            <a:srgbClr val="7B93FF"/>
          </a:solidFill>
          <a:ln w="12700">
            <a:solidFill>
              <a:srgbClr val="7B93FF"/>
            </a:solidFill>
            <a:prstDash val="solid"/>
          </a:ln>
        </p:spPr>
      </p:sp>
      <p:sp>
        <p:nvSpPr>
          <p:cNvPr id="67" name="Shape 65"/>
          <p:cNvSpPr/>
          <p:nvPr/>
        </p:nvSpPr>
        <p:spPr>
          <a:xfrm>
            <a:off x="8796528" y="3255264"/>
            <a:ext cx="128016" cy="128016"/>
          </a:xfrm>
          <a:prstGeom prst="ellipse">
            <a:avLst/>
          </a:prstGeom>
          <a:solidFill>
            <a:srgbClr val="7B93FF"/>
          </a:solidFill>
          <a:ln w="12700">
            <a:solidFill>
              <a:srgbClr val="7B93FF"/>
            </a:solidFill>
            <a:prstDash val="solid"/>
          </a:ln>
        </p:spPr>
      </p:sp>
      <p:sp>
        <p:nvSpPr>
          <p:cNvPr id="68" name="Shape 66"/>
          <p:cNvSpPr/>
          <p:nvPr/>
        </p:nvSpPr>
        <p:spPr>
          <a:xfrm>
            <a:off x="9125712" y="3255264"/>
            <a:ext cx="128016" cy="128016"/>
          </a:xfrm>
          <a:prstGeom prst="ellipse">
            <a:avLst/>
          </a:prstGeom>
          <a:solidFill>
            <a:srgbClr val="4FC7C7"/>
          </a:solidFill>
          <a:ln w="12700">
            <a:solidFill>
              <a:srgbClr val="4FC7C7"/>
            </a:solidFill>
            <a:prstDash val="solid"/>
          </a:ln>
        </p:spPr>
      </p:sp>
      <p:sp>
        <p:nvSpPr>
          <p:cNvPr id="69" name="Shape 67"/>
          <p:cNvSpPr/>
          <p:nvPr/>
        </p:nvSpPr>
        <p:spPr>
          <a:xfrm>
            <a:off x="9454896" y="3255264"/>
            <a:ext cx="128016" cy="128016"/>
          </a:xfrm>
          <a:prstGeom prst="ellipse">
            <a:avLst/>
          </a:prstGeom>
          <a:solidFill>
            <a:srgbClr val="7B93FF"/>
          </a:solidFill>
          <a:ln w="12700">
            <a:solidFill>
              <a:srgbClr val="7B93FF"/>
            </a:solidFill>
            <a:prstDash val="solid"/>
          </a:ln>
        </p:spPr>
      </p:sp>
      <p:sp>
        <p:nvSpPr>
          <p:cNvPr id="70" name="Shape 68"/>
          <p:cNvSpPr/>
          <p:nvPr/>
        </p:nvSpPr>
        <p:spPr>
          <a:xfrm>
            <a:off x="9784080" y="3255264"/>
            <a:ext cx="128016" cy="128016"/>
          </a:xfrm>
          <a:prstGeom prst="ellipse">
            <a:avLst/>
          </a:prstGeom>
          <a:solidFill>
            <a:srgbClr val="4FC7C7"/>
          </a:solidFill>
          <a:ln w="12700">
            <a:solidFill>
              <a:srgbClr val="4FC7C7"/>
            </a:solidFill>
            <a:prstDash val="solid"/>
          </a:ln>
        </p:spPr>
      </p:sp>
      <p:sp>
        <p:nvSpPr>
          <p:cNvPr id="71" name="Shape 69"/>
          <p:cNvSpPr/>
          <p:nvPr/>
        </p:nvSpPr>
        <p:spPr>
          <a:xfrm>
            <a:off x="10113264" y="3255264"/>
            <a:ext cx="128016" cy="128016"/>
          </a:xfrm>
          <a:prstGeom prst="ellipse">
            <a:avLst/>
          </a:prstGeom>
          <a:solidFill>
            <a:srgbClr val="4FC7C7"/>
          </a:solidFill>
          <a:ln w="12700">
            <a:solidFill>
              <a:srgbClr val="4FC7C7"/>
            </a:solidFill>
            <a:prstDash val="solid"/>
          </a:ln>
        </p:spPr>
      </p:sp>
      <p:sp>
        <p:nvSpPr>
          <p:cNvPr id="72" name="Shape 70"/>
          <p:cNvSpPr/>
          <p:nvPr/>
        </p:nvSpPr>
        <p:spPr>
          <a:xfrm>
            <a:off x="10442448" y="3255264"/>
            <a:ext cx="128016" cy="128016"/>
          </a:xfrm>
          <a:prstGeom prst="ellipse">
            <a:avLst/>
          </a:prstGeom>
          <a:solidFill>
            <a:srgbClr val="7B93FF"/>
          </a:solidFill>
          <a:ln w="12700">
            <a:solidFill>
              <a:srgbClr val="7B93FF"/>
            </a:solidFill>
            <a:prstDash val="solid"/>
          </a:ln>
        </p:spPr>
      </p:sp>
      <p:sp>
        <p:nvSpPr>
          <p:cNvPr id="73" name="Shape 71"/>
          <p:cNvSpPr/>
          <p:nvPr/>
        </p:nvSpPr>
        <p:spPr>
          <a:xfrm>
            <a:off x="10771632" y="3255264"/>
            <a:ext cx="128016" cy="128016"/>
          </a:xfrm>
          <a:prstGeom prst="ellipse">
            <a:avLst/>
          </a:prstGeom>
          <a:solidFill>
            <a:srgbClr val="4FC7C7"/>
          </a:solidFill>
          <a:ln w="12700">
            <a:solidFill>
              <a:srgbClr val="4FC7C7"/>
            </a:solidFill>
            <a:prstDash val="solid"/>
          </a:ln>
        </p:spPr>
      </p:sp>
      <p:sp>
        <p:nvSpPr>
          <p:cNvPr id="74" name="Shape 72"/>
          <p:cNvSpPr/>
          <p:nvPr/>
        </p:nvSpPr>
        <p:spPr>
          <a:xfrm>
            <a:off x="11100816" y="3255264"/>
            <a:ext cx="128016" cy="128016"/>
          </a:xfrm>
          <a:prstGeom prst="ellipse">
            <a:avLst/>
          </a:prstGeom>
          <a:solidFill>
            <a:srgbClr val="7B93FF"/>
          </a:solidFill>
          <a:ln w="12700">
            <a:solidFill>
              <a:srgbClr val="7B93FF"/>
            </a:solidFill>
            <a:prstDash val="solid"/>
          </a:ln>
        </p:spPr>
      </p:sp>
      <p:sp>
        <p:nvSpPr>
          <p:cNvPr id="75" name="Shape 73"/>
          <p:cNvSpPr/>
          <p:nvPr/>
        </p:nvSpPr>
        <p:spPr>
          <a:xfrm>
            <a:off x="8138160" y="3584448"/>
            <a:ext cx="128016" cy="128016"/>
          </a:xfrm>
          <a:prstGeom prst="ellipse">
            <a:avLst/>
          </a:prstGeom>
          <a:solidFill>
            <a:srgbClr val="7B93FF"/>
          </a:solidFill>
          <a:ln w="12700">
            <a:solidFill>
              <a:srgbClr val="7B93FF"/>
            </a:solidFill>
            <a:prstDash val="solid"/>
          </a:ln>
        </p:spPr>
      </p:sp>
      <p:sp>
        <p:nvSpPr>
          <p:cNvPr id="76" name="Shape 74"/>
          <p:cNvSpPr/>
          <p:nvPr/>
        </p:nvSpPr>
        <p:spPr>
          <a:xfrm>
            <a:off x="8467344" y="3584448"/>
            <a:ext cx="128016" cy="128016"/>
          </a:xfrm>
          <a:prstGeom prst="ellipse">
            <a:avLst/>
          </a:prstGeom>
          <a:solidFill>
            <a:srgbClr val="4FC7C7"/>
          </a:solidFill>
          <a:ln w="12700">
            <a:solidFill>
              <a:srgbClr val="4FC7C7"/>
            </a:solidFill>
            <a:prstDash val="solid"/>
          </a:ln>
        </p:spPr>
      </p:sp>
      <p:sp>
        <p:nvSpPr>
          <p:cNvPr id="77" name="Shape 75"/>
          <p:cNvSpPr/>
          <p:nvPr/>
        </p:nvSpPr>
        <p:spPr>
          <a:xfrm>
            <a:off x="8796528" y="3584448"/>
            <a:ext cx="128016" cy="128016"/>
          </a:xfrm>
          <a:prstGeom prst="ellipse">
            <a:avLst/>
          </a:prstGeom>
          <a:solidFill>
            <a:srgbClr val="7B93FF"/>
          </a:solidFill>
          <a:ln w="12700">
            <a:solidFill>
              <a:srgbClr val="7B93FF"/>
            </a:solidFill>
            <a:prstDash val="solid"/>
          </a:ln>
        </p:spPr>
      </p:sp>
      <p:sp>
        <p:nvSpPr>
          <p:cNvPr id="78" name="Shape 76"/>
          <p:cNvSpPr/>
          <p:nvPr/>
        </p:nvSpPr>
        <p:spPr>
          <a:xfrm>
            <a:off x="9125712" y="3584448"/>
            <a:ext cx="128016" cy="128016"/>
          </a:xfrm>
          <a:prstGeom prst="ellipse">
            <a:avLst/>
          </a:prstGeom>
          <a:solidFill>
            <a:srgbClr val="7B93FF"/>
          </a:solidFill>
          <a:ln w="12700">
            <a:solidFill>
              <a:srgbClr val="7B93FF"/>
            </a:solidFill>
            <a:prstDash val="solid"/>
          </a:ln>
        </p:spPr>
      </p:sp>
      <p:sp>
        <p:nvSpPr>
          <p:cNvPr id="79" name="Shape 77"/>
          <p:cNvSpPr/>
          <p:nvPr/>
        </p:nvSpPr>
        <p:spPr>
          <a:xfrm>
            <a:off x="9454896" y="3584448"/>
            <a:ext cx="128016" cy="128016"/>
          </a:xfrm>
          <a:prstGeom prst="ellipse">
            <a:avLst/>
          </a:prstGeom>
          <a:solidFill>
            <a:srgbClr val="4FC7C7"/>
          </a:solidFill>
          <a:ln w="12700">
            <a:solidFill>
              <a:srgbClr val="4FC7C7"/>
            </a:solidFill>
            <a:prstDash val="solid"/>
          </a:ln>
        </p:spPr>
      </p:sp>
      <p:sp>
        <p:nvSpPr>
          <p:cNvPr id="80" name="Shape 78"/>
          <p:cNvSpPr/>
          <p:nvPr/>
        </p:nvSpPr>
        <p:spPr>
          <a:xfrm>
            <a:off x="9784080" y="3584448"/>
            <a:ext cx="128016" cy="128016"/>
          </a:xfrm>
          <a:prstGeom prst="ellipse">
            <a:avLst/>
          </a:prstGeom>
          <a:solidFill>
            <a:srgbClr val="4FC7C7"/>
          </a:solidFill>
          <a:ln w="12700">
            <a:solidFill>
              <a:srgbClr val="4FC7C7"/>
            </a:solidFill>
            <a:prstDash val="solid"/>
          </a:ln>
        </p:spPr>
      </p:sp>
      <p:sp>
        <p:nvSpPr>
          <p:cNvPr id="81" name="Shape 79"/>
          <p:cNvSpPr/>
          <p:nvPr/>
        </p:nvSpPr>
        <p:spPr>
          <a:xfrm>
            <a:off x="10113264" y="3584448"/>
            <a:ext cx="128016" cy="128016"/>
          </a:xfrm>
          <a:prstGeom prst="ellipse">
            <a:avLst/>
          </a:prstGeom>
          <a:solidFill>
            <a:srgbClr val="7B93FF"/>
          </a:solidFill>
          <a:ln w="12700">
            <a:solidFill>
              <a:srgbClr val="7B93FF"/>
            </a:solidFill>
            <a:prstDash val="solid"/>
          </a:ln>
        </p:spPr>
      </p:sp>
      <p:sp>
        <p:nvSpPr>
          <p:cNvPr id="82" name="Shape 80"/>
          <p:cNvSpPr/>
          <p:nvPr/>
        </p:nvSpPr>
        <p:spPr>
          <a:xfrm>
            <a:off x="10442448" y="3584448"/>
            <a:ext cx="128016" cy="128016"/>
          </a:xfrm>
          <a:prstGeom prst="ellipse">
            <a:avLst/>
          </a:prstGeom>
          <a:solidFill>
            <a:srgbClr val="7B93FF"/>
          </a:solidFill>
          <a:ln w="12700">
            <a:solidFill>
              <a:srgbClr val="7B93FF"/>
            </a:solidFill>
            <a:prstDash val="solid"/>
          </a:ln>
        </p:spPr>
      </p:sp>
      <p:sp>
        <p:nvSpPr>
          <p:cNvPr id="83" name="Shape 81"/>
          <p:cNvSpPr/>
          <p:nvPr/>
        </p:nvSpPr>
        <p:spPr>
          <a:xfrm>
            <a:off x="10771632" y="3584448"/>
            <a:ext cx="128016" cy="128016"/>
          </a:xfrm>
          <a:prstGeom prst="ellipse">
            <a:avLst/>
          </a:prstGeom>
          <a:solidFill>
            <a:srgbClr val="7B93FF"/>
          </a:solidFill>
          <a:ln w="12700">
            <a:solidFill>
              <a:srgbClr val="7B93FF"/>
            </a:solidFill>
            <a:prstDash val="solid"/>
          </a:ln>
        </p:spPr>
      </p:sp>
      <p:sp>
        <p:nvSpPr>
          <p:cNvPr id="84" name="Shape 82"/>
          <p:cNvSpPr/>
          <p:nvPr/>
        </p:nvSpPr>
        <p:spPr>
          <a:xfrm>
            <a:off x="11100816" y="3584448"/>
            <a:ext cx="128016" cy="128016"/>
          </a:xfrm>
          <a:prstGeom prst="ellipse">
            <a:avLst/>
          </a:prstGeom>
          <a:solidFill>
            <a:srgbClr val="4FC7C7"/>
          </a:solidFill>
          <a:ln w="12700">
            <a:solidFill>
              <a:srgbClr val="4FC7C7"/>
            </a:solidFill>
            <a:prstDash val="solid"/>
          </a:ln>
        </p:spPr>
      </p:sp>
      <p:sp>
        <p:nvSpPr>
          <p:cNvPr id="85" name="Shape 83"/>
          <p:cNvSpPr/>
          <p:nvPr/>
        </p:nvSpPr>
        <p:spPr>
          <a:xfrm>
            <a:off x="8138160" y="3913632"/>
            <a:ext cx="128016" cy="128016"/>
          </a:xfrm>
          <a:prstGeom prst="ellipse">
            <a:avLst/>
          </a:prstGeom>
          <a:solidFill>
            <a:srgbClr val="4FC7C7"/>
          </a:solidFill>
          <a:ln w="12700">
            <a:solidFill>
              <a:srgbClr val="4FC7C7"/>
            </a:solidFill>
            <a:prstDash val="solid"/>
          </a:ln>
        </p:spPr>
      </p:sp>
      <p:sp>
        <p:nvSpPr>
          <p:cNvPr id="86" name="Shape 84"/>
          <p:cNvSpPr/>
          <p:nvPr/>
        </p:nvSpPr>
        <p:spPr>
          <a:xfrm>
            <a:off x="8467344" y="3913632"/>
            <a:ext cx="128016" cy="128016"/>
          </a:xfrm>
          <a:prstGeom prst="ellipse">
            <a:avLst/>
          </a:prstGeom>
          <a:solidFill>
            <a:srgbClr val="4FC7C7"/>
          </a:solidFill>
          <a:ln w="12700">
            <a:solidFill>
              <a:srgbClr val="4FC7C7"/>
            </a:solidFill>
            <a:prstDash val="solid"/>
          </a:ln>
        </p:spPr>
      </p:sp>
      <p:sp>
        <p:nvSpPr>
          <p:cNvPr id="87" name="Shape 85"/>
          <p:cNvSpPr/>
          <p:nvPr/>
        </p:nvSpPr>
        <p:spPr>
          <a:xfrm>
            <a:off x="8796528" y="3913632"/>
            <a:ext cx="128016" cy="128016"/>
          </a:xfrm>
          <a:prstGeom prst="ellipse">
            <a:avLst/>
          </a:prstGeom>
          <a:solidFill>
            <a:srgbClr val="4FC7C7"/>
          </a:solidFill>
          <a:ln w="12700">
            <a:solidFill>
              <a:srgbClr val="4FC7C7"/>
            </a:solidFill>
            <a:prstDash val="solid"/>
          </a:ln>
        </p:spPr>
      </p:sp>
      <p:sp>
        <p:nvSpPr>
          <p:cNvPr id="88" name="Shape 86"/>
          <p:cNvSpPr/>
          <p:nvPr/>
        </p:nvSpPr>
        <p:spPr>
          <a:xfrm>
            <a:off x="9125712" y="3913632"/>
            <a:ext cx="128016" cy="128016"/>
          </a:xfrm>
          <a:prstGeom prst="ellipse">
            <a:avLst/>
          </a:prstGeom>
          <a:solidFill>
            <a:srgbClr val="4FC7C7"/>
          </a:solidFill>
          <a:ln w="12700">
            <a:solidFill>
              <a:srgbClr val="4FC7C7"/>
            </a:solidFill>
            <a:prstDash val="solid"/>
          </a:ln>
        </p:spPr>
      </p:sp>
      <p:sp>
        <p:nvSpPr>
          <p:cNvPr id="89" name="Shape 87"/>
          <p:cNvSpPr/>
          <p:nvPr/>
        </p:nvSpPr>
        <p:spPr>
          <a:xfrm>
            <a:off x="9454896" y="3913632"/>
            <a:ext cx="128016" cy="128016"/>
          </a:xfrm>
          <a:prstGeom prst="ellipse">
            <a:avLst/>
          </a:prstGeom>
          <a:solidFill>
            <a:srgbClr val="7B93FF"/>
          </a:solidFill>
          <a:ln w="12700">
            <a:solidFill>
              <a:srgbClr val="7B93FF"/>
            </a:solidFill>
            <a:prstDash val="solid"/>
          </a:ln>
        </p:spPr>
      </p:sp>
      <p:sp>
        <p:nvSpPr>
          <p:cNvPr id="90" name="Shape 88"/>
          <p:cNvSpPr/>
          <p:nvPr/>
        </p:nvSpPr>
        <p:spPr>
          <a:xfrm>
            <a:off x="9784080" y="3913632"/>
            <a:ext cx="128016" cy="128016"/>
          </a:xfrm>
          <a:prstGeom prst="ellipse">
            <a:avLst/>
          </a:prstGeom>
          <a:solidFill>
            <a:srgbClr val="7B93FF"/>
          </a:solidFill>
          <a:ln w="12700">
            <a:solidFill>
              <a:srgbClr val="7B93FF"/>
            </a:solidFill>
            <a:prstDash val="solid"/>
          </a:ln>
        </p:spPr>
      </p:sp>
      <p:sp>
        <p:nvSpPr>
          <p:cNvPr id="91" name="Shape 89"/>
          <p:cNvSpPr/>
          <p:nvPr/>
        </p:nvSpPr>
        <p:spPr>
          <a:xfrm>
            <a:off x="10113264" y="3913632"/>
            <a:ext cx="128016" cy="128016"/>
          </a:xfrm>
          <a:prstGeom prst="ellipse">
            <a:avLst/>
          </a:prstGeom>
          <a:solidFill>
            <a:srgbClr val="7B93FF"/>
          </a:solidFill>
          <a:ln w="12700">
            <a:solidFill>
              <a:srgbClr val="7B93FF"/>
            </a:solidFill>
            <a:prstDash val="solid"/>
          </a:ln>
        </p:spPr>
      </p:sp>
      <p:sp>
        <p:nvSpPr>
          <p:cNvPr id="92" name="Shape 90"/>
          <p:cNvSpPr/>
          <p:nvPr/>
        </p:nvSpPr>
        <p:spPr>
          <a:xfrm>
            <a:off x="10442448" y="3913632"/>
            <a:ext cx="128016" cy="128016"/>
          </a:xfrm>
          <a:prstGeom prst="ellipse">
            <a:avLst/>
          </a:prstGeom>
          <a:solidFill>
            <a:srgbClr val="4FC7C7"/>
          </a:solidFill>
          <a:ln w="12700">
            <a:solidFill>
              <a:srgbClr val="4FC7C7"/>
            </a:solidFill>
            <a:prstDash val="solid"/>
          </a:ln>
        </p:spPr>
      </p:sp>
      <p:sp>
        <p:nvSpPr>
          <p:cNvPr id="93" name="Shape 91"/>
          <p:cNvSpPr/>
          <p:nvPr/>
        </p:nvSpPr>
        <p:spPr>
          <a:xfrm>
            <a:off x="10771632" y="3913632"/>
            <a:ext cx="128016" cy="128016"/>
          </a:xfrm>
          <a:prstGeom prst="ellipse">
            <a:avLst/>
          </a:prstGeom>
          <a:solidFill>
            <a:srgbClr val="4FC7C7"/>
          </a:solidFill>
          <a:ln w="12700">
            <a:solidFill>
              <a:srgbClr val="4FC7C7"/>
            </a:solidFill>
            <a:prstDash val="solid"/>
          </a:ln>
        </p:spPr>
      </p:sp>
      <p:sp>
        <p:nvSpPr>
          <p:cNvPr id="94" name="Shape 92"/>
          <p:cNvSpPr/>
          <p:nvPr/>
        </p:nvSpPr>
        <p:spPr>
          <a:xfrm>
            <a:off x="11100816" y="3913632"/>
            <a:ext cx="128016" cy="128016"/>
          </a:xfrm>
          <a:prstGeom prst="ellipse">
            <a:avLst/>
          </a:prstGeom>
          <a:solidFill>
            <a:srgbClr val="4FC7C7"/>
          </a:solidFill>
          <a:ln w="12700">
            <a:solidFill>
              <a:srgbClr val="4FC7C7"/>
            </a:solidFill>
            <a:prstDash val="solid"/>
          </a:ln>
        </p:spPr>
      </p:sp>
      <p:sp>
        <p:nvSpPr>
          <p:cNvPr id="95" name="Shape 93"/>
          <p:cNvSpPr/>
          <p:nvPr/>
        </p:nvSpPr>
        <p:spPr>
          <a:xfrm>
            <a:off x="8138160" y="4242816"/>
            <a:ext cx="128016" cy="128016"/>
          </a:xfrm>
          <a:prstGeom prst="ellipse">
            <a:avLst/>
          </a:prstGeom>
          <a:solidFill>
            <a:srgbClr val="7B93FF"/>
          </a:solidFill>
          <a:ln w="12700">
            <a:solidFill>
              <a:srgbClr val="7B93FF"/>
            </a:solidFill>
            <a:prstDash val="solid"/>
          </a:ln>
        </p:spPr>
      </p:sp>
      <p:sp>
        <p:nvSpPr>
          <p:cNvPr id="96" name="Shape 94"/>
          <p:cNvSpPr/>
          <p:nvPr/>
        </p:nvSpPr>
        <p:spPr>
          <a:xfrm>
            <a:off x="8467344" y="4242816"/>
            <a:ext cx="128016" cy="128016"/>
          </a:xfrm>
          <a:prstGeom prst="ellipse">
            <a:avLst/>
          </a:prstGeom>
          <a:solidFill>
            <a:srgbClr val="4FC7C7"/>
          </a:solidFill>
          <a:ln w="12700">
            <a:solidFill>
              <a:srgbClr val="4FC7C7"/>
            </a:solidFill>
            <a:prstDash val="solid"/>
          </a:ln>
        </p:spPr>
      </p:sp>
      <p:sp>
        <p:nvSpPr>
          <p:cNvPr id="97" name="Shape 95"/>
          <p:cNvSpPr/>
          <p:nvPr/>
        </p:nvSpPr>
        <p:spPr>
          <a:xfrm>
            <a:off x="8796528" y="4242816"/>
            <a:ext cx="128016" cy="128016"/>
          </a:xfrm>
          <a:prstGeom prst="ellipse">
            <a:avLst/>
          </a:prstGeom>
          <a:solidFill>
            <a:srgbClr val="7B93FF"/>
          </a:solidFill>
          <a:ln w="12700">
            <a:solidFill>
              <a:srgbClr val="7B93FF"/>
            </a:solidFill>
            <a:prstDash val="solid"/>
          </a:ln>
        </p:spPr>
      </p:sp>
      <p:sp>
        <p:nvSpPr>
          <p:cNvPr id="98" name="Shape 96"/>
          <p:cNvSpPr/>
          <p:nvPr/>
        </p:nvSpPr>
        <p:spPr>
          <a:xfrm>
            <a:off x="9125712" y="4242816"/>
            <a:ext cx="128016" cy="128016"/>
          </a:xfrm>
          <a:prstGeom prst="ellipse">
            <a:avLst/>
          </a:prstGeom>
          <a:solidFill>
            <a:srgbClr val="7B93FF"/>
          </a:solidFill>
          <a:ln w="12700">
            <a:solidFill>
              <a:srgbClr val="7B93FF"/>
            </a:solidFill>
            <a:prstDash val="solid"/>
          </a:ln>
        </p:spPr>
      </p:sp>
      <p:sp>
        <p:nvSpPr>
          <p:cNvPr id="99" name="Shape 97"/>
          <p:cNvSpPr/>
          <p:nvPr/>
        </p:nvSpPr>
        <p:spPr>
          <a:xfrm>
            <a:off x="9454896" y="4242816"/>
            <a:ext cx="128016" cy="128016"/>
          </a:xfrm>
          <a:prstGeom prst="ellipse">
            <a:avLst/>
          </a:prstGeom>
          <a:solidFill>
            <a:srgbClr val="7B93FF"/>
          </a:solidFill>
          <a:ln w="12700">
            <a:solidFill>
              <a:srgbClr val="7B93FF"/>
            </a:solidFill>
            <a:prstDash val="solid"/>
          </a:ln>
        </p:spPr>
      </p:sp>
      <p:sp>
        <p:nvSpPr>
          <p:cNvPr id="100" name="Shape 98"/>
          <p:cNvSpPr/>
          <p:nvPr/>
        </p:nvSpPr>
        <p:spPr>
          <a:xfrm>
            <a:off x="9784080" y="4242816"/>
            <a:ext cx="128016" cy="128016"/>
          </a:xfrm>
          <a:prstGeom prst="ellipse">
            <a:avLst/>
          </a:prstGeom>
          <a:solidFill>
            <a:srgbClr val="4FC7C7"/>
          </a:solidFill>
          <a:ln w="12700">
            <a:solidFill>
              <a:srgbClr val="4FC7C7"/>
            </a:solidFill>
            <a:prstDash val="solid"/>
          </a:ln>
        </p:spPr>
      </p:sp>
      <p:sp>
        <p:nvSpPr>
          <p:cNvPr id="101" name="Shape 99"/>
          <p:cNvSpPr/>
          <p:nvPr/>
        </p:nvSpPr>
        <p:spPr>
          <a:xfrm>
            <a:off x="10113264" y="4242816"/>
            <a:ext cx="128016" cy="128016"/>
          </a:xfrm>
          <a:prstGeom prst="ellipse">
            <a:avLst/>
          </a:prstGeom>
          <a:solidFill>
            <a:srgbClr val="4FC7C7"/>
          </a:solidFill>
          <a:ln w="12700">
            <a:solidFill>
              <a:srgbClr val="4FC7C7"/>
            </a:solidFill>
            <a:prstDash val="solid"/>
          </a:ln>
        </p:spPr>
      </p:sp>
      <p:sp>
        <p:nvSpPr>
          <p:cNvPr id="102" name="Shape 100"/>
          <p:cNvSpPr/>
          <p:nvPr/>
        </p:nvSpPr>
        <p:spPr>
          <a:xfrm>
            <a:off x="10442448" y="4242816"/>
            <a:ext cx="128016" cy="128016"/>
          </a:xfrm>
          <a:prstGeom prst="ellipse">
            <a:avLst/>
          </a:prstGeom>
          <a:solidFill>
            <a:srgbClr val="4FC7C7"/>
          </a:solidFill>
          <a:ln w="12700">
            <a:solidFill>
              <a:srgbClr val="4FC7C7"/>
            </a:solidFill>
            <a:prstDash val="solid"/>
          </a:ln>
        </p:spPr>
      </p:sp>
      <p:sp>
        <p:nvSpPr>
          <p:cNvPr id="103" name="Shape 101"/>
          <p:cNvSpPr/>
          <p:nvPr/>
        </p:nvSpPr>
        <p:spPr>
          <a:xfrm>
            <a:off x="10771632" y="4242816"/>
            <a:ext cx="128016" cy="128016"/>
          </a:xfrm>
          <a:prstGeom prst="ellipse">
            <a:avLst/>
          </a:prstGeom>
          <a:solidFill>
            <a:srgbClr val="7B93FF"/>
          </a:solidFill>
          <a:ln w="12700">
            <a:solidFill>
              <a:srgbClr val="7B93FF"/>
            </a:solidFill>
            <a:prstDash val="solid"/>
          </a:ln>
        </p:spPr>
      </p:sp>
      <p:sp>
        <p:nvSpPr>
          <p:cNvPr id="104" name="Shape 102"/>
          <p:cNvSpPr/>
          <p:nvPr/>
        </p:nvSpPr>
        <p:spPr>
          <a:xfrm>
            <a:off x="11100816" y="4242816"/>
            <a:ext cx="128016" cy="128016"/>
          </a:xfrm>
          <a:prstGeom prst="ellipse">
            <a:avLst/>
          </a:prstGeom>
          <a:solidFill>
            <a:srgbClr val="7B93FF"/>
          </a:solidFill>
          <a:ln w="12700">
            <a:solidFill>
              <a:srgbClr val="7B93FF"/>
            </a:solidFill>
            <a:prstDash val="solid"/>
          </a:ln>
        </p:spPr>
      </p:sp>
      <p:sp>
        <p:nvSpPr>
          <p:cNvPr id="105" name="Shape 103"/>
          <p:cNvSpPr/>
          <p:nvPr/>
        </p:nvSpPr>
        <p:spPr>
          <a:xfrm>
            <a:off x="8138160" y="4572000"/>
            <a:ext cx="128016" cy="128016"/>
          </a:xfrm>
          <a:prstGeom prst="ellipse">
            <a:avLst/>
          </a:prstGeom>
          <a:solidFill>
            <a:srgbClr val="7B93FF"/>
          </a:solidFill>
          <a:ln w="12700">
            <a:solidFill>
              <a:srgbClr val="7B93FF"/>
            </a:solidFill>
            <a:prstDash val="solid"/>
          </a:ln>
        </p:spPr>
      </p:sp>
      <p:sp>
        <p:nvSpPr>
          <p:cNvPr id="106" name="Shape 104"/>
          <p:cNvSpPr/>
          <p:nvPr/>
        </p:nvSpPr>
        <p:spPr>
          <a:xfrm>
            <a:off x="8467344" y="4572000"/>
            <a:ext cx="128016" cy="128016"/>
          </a:xfrm>
          <a:prstGeom prst="ellipse">
            <a:avLst/>
          </a:prstGeom>
          <a:solidFill>
            <a:srgbClr val="7B93FF"/>
          </a:solidFill>
          <a:ln w="12700">
            <a:solidFill>
              <a:srgbClr val="7B93FF"/>
            </a:solidFill>
            <a:prstDash val="solid"/>
          </a:ln>
        </p:spPr>
      </p:sp>
      <p:sp>
        <p:nvSpPr>
          <p:cNvPr id="107" name="Shape 105"/>
          <p:cNvSpPr/>
          <p:nvPr/>
        </p:nvSpPr>
        <p:spPr>
          <a:xfrm>
            <a:off x="8796528" y="4572000"/>
            <a:ext cx="128016" cy="128016"/>
          </a:xfrm>
          <a:prstGeom prst="ellipse">
            <a:avLst/>
          </a:prstGeom>
          <a:solidFill>
            <a:srgbClr val="4FC7C7"/>
          </a:solidFill>
          <a:ln w="12700">
            <a:solidFill>
              <a:srgbClr val="4FC7C7"/>
            </a:solidFill>
            <a:prstDash val="solid"/>
          </a:ln>
        </p:spPr>
      </p:sp>
      <p:sp>
        <p:nvSpPr>
          <p:cNvPr id="108" name="Shape 106"/>
          <p:cNvSpPr/>
          <p:nvPr/>
        </p:nvSpPr>
        <p:spPr>
          <a:xfrm>
            <a:off x="9125712" y="4572000"/>
            <a:ext cx="128016" cy="128016"/>
          </a:xfrm>
          <a:prstGeom prst="ellipse">
            <a:avLst/>
          </a:prstGeom>
          <a:solidFill>
            <a:srgbClr val="4FC7C7"/>
          </a:solidFill>
          <a:ln w="12700">
            <a:solidFill>
              <a:srgbClr val="4FC7C7"/>
            </a:solidFill>
            <a:prstDash val="solid"/>
          </a:ln>
        </p:spPr>
      </p:sp>
      <p:sp>
        <p:nvSpPr>
          <p:cNvPr id="109" name="Shape 107"/>
          <p:cNvSpPr/>
          <p:nvPr/>
        </p:nvSpPr>
        <p:spPr>
          <a:xfrm>
            <a:off x="9454896" y="4572000"/>
            <a:ext cx="128016" cy="128016"/>
          </a:xfrm>
          <a:prstGeom prst="ellipse">
            <a:avLst/>
          </a:prstGeom>
          <a:solidFill>
            <a:srgbClr val="7B93FF"/>
          </a:solidFill>
          <a:ln w="12700">
            <a:solidFill>
              <a:srgbClr val="7B93FF"/>
            </a:solidFill>
            <a:prstDash val="solid"/>
          </a:ln>
        </p:spPr>
      </p:sp>
      <p:sp>
        <p:nvSpPr>
          <p:cNvPr id="110" name="Shape 108"/>
          <p:cNvSpPr/>
          <p:nvPr/>
        </p:nvSpPr>
        <p:spPr>
          <a:xfrm>
            <a:off x="9784080" y="4572000"/>
            <a:ext cx="128016" cy="128016"/>
          </a:xfrm>
          <a:prstGeom prst="ellipse">
            <a:avLst/>
          </a:prstGeom>
          <a:solidFill>
            <a:srgbClr val="7B93FF"/>
          </a:solidFill>
          <a:ln w="12700">
            <a:solidFill>
              <a:srgbClr val="7B93FF"/>
            </a:solidFill>
            <a:prstDash val="solid"/>
          </a:ln>
        </p:spPr>
      </p:sp>
      <p:sp>
        <p:nvSpPr>
          <p:cNvPr id="111" name="Shape 109"/>
          <p:cNvSpPr/>
          <p:nvPr/>
        </p:nvSpPr>
        <p:spPr>
          <a:xfrm>
            <a:off x="10113264" y="4572000"/>
            <a:ext cx="128016" cy="128016"/>
          </a:xfrm>
          <a:prstGeom prst="ellipse">
            <a:avLst/>
          </a:prstGeom>
          <a:solidFill>
            <a:srgbClr val="4FC7C7"/>
          </a:solidFill>
          <a:ln w="12700">
            <a:solidFill>
              <a:srgbClr val="4FC7C7"/>
            </a:solidFill>
            <a:prstDash val="solid"/>
          </a:ln>
        </p:spPr>
      </p:sp>
      <p:sp>
        <p:nvSpPr>
          <p:cNvPr id="112" name="Shape 110"/>
          <p:cNvSpPr/>
          <p:nvPr/>
        </p:nvSpPr>
        <p:spPr>
          <a:xfrm>
            <a:off x="10442448" y="4572000"/>
            <a:ext cx="128016" cy="128016"/>
          </a:xfrm>
          <a:prstGeom prst="ellipse">
            <a:avLst/>
          </a:prstGeom>
          <a:solidFill>
            <a:srgbClr val="7B93FF"/>
          </a:solidFill>
          <a:ln w="12700">
            <a:solidFill>
              <a:srgbClr val="7B93FF"/>
            </a:solidFill>
            <a:prstDash val="solid"/>
          </a:ln>
        </p:spPr>
      </p:sp>
      <p:sp>
        <p:nvSpPr>
          <p:cNvPr id="113" name="Shape 111"/>
          <p:cNvSpPr/>
          <p:nvPr/>
        </p:nvSpPr>
        <p:spPr>
          <a:xfrm>
            <a:off x="10771632" y="4572000"/>
            <a:ext cx="128016" cy="128016"/>
          </a:xfrm>
          <a:prstGeom prst="ellipse">
            <a:avLst/>
          </a:prstGeom>
          <a:solidFill>
            <a:srgbClr val="7B93FF"/>
          </a:solidFill>
          <a:ln w="12700">
            <a:solidFill>
              <a:srgbClr val="7B93FF"/>
            </a:solidFill>
            <a:prstDash val="solid"/>
          </a:ln>
        </p:spPr>
      </p:sp>
      <p:sp>
        <p:nvSpPr>
          <p:cNvPr id="114" name="Shape 112"/>
          <p:cNvSpPr/>
          <p:nvPr/>
        </p:nvSpPr>
        <p:spPr>
          <a:xfrm>
            <a:off x="11100816" y="4572000"/>
            <a:ext cx="128016" cy="128016"/>
          </a:xfrm>
          <a:prstGeom prst="ellipse">
            <a:avLst/>
          </a:prstGeom>
          <a:solidFill>
            <a:srgbClr val="7B93FF"/>
          </a:solidFill>
          <a:ln w="12700">
            <a:solidFill>
              <a:srgbClr val="7B93FF"/>
            </a:solidFill>
            <a:prstDash val="solid"/>
          </a:ln>
        </p:spPr>
      </p:sp>
      <p:sp>
        <p:nvSpPr>
          <p:cNvPr id="115" name="Shape 113"/>
          <p:cNvSpPr/>
          <p:nvPr/>
        </p:nvSpPr>
        <p:spPr>
          <a:xfrm>
            <a:off x="8138160" y="4901184"/>
            <a:ext cx="128016" cy="128016"/>
          </a:xfrm>
          <a:prstGeom prst="ellipse">
            <a:avLst/>
          </a:prstGeom>
          <a:solidFill>
            <a:srgbClr val="4FC7C7"/>
          </a:solidFill>
          <a:ln w="12700">
            <a:solidFill>
              <a:srgbClr val="4FC7C7"/>
            </a:solidFill>
            <a:prstDash val="solid"/>
          </a:ln>
        </p:spPr>
      </p:sp>
      <p:sp>
        <p:nvSpPr>
          <p:cNvPr id="116" name="Shape 114"/>
          <p:cNvSpPr/>
          <p:nvPr/>
        </p:nvSpPr>
        <p:spPr>
          <a:xfrm>
            <a:off x="8467344" y="4901184"/>
            <a:ext cx="128016" cy="128016"/>
          </a:xfrm>
          <a:prstGeom prst="ellipse">
            <a:avLst/>
          </a:prstGeom>
          <a:solidFill>
            <a:srgbClr val="7B93FF"/>
          </a:solidFill>
          <a:ln w="12700">
            <a:solidFill>
              <a:srgbClr val="7B93FF"/>
            </a:solidFill>
            <a:prstDash val="solid"/>
          </a:ln>
        </p:spPr>
      </p:sp>
      <p:sp>
        <p:nvSpPr>
          <p:cNvPr id="117" name="Shape 115"/>
          <p:cNvSpPr/>
          <p:nvPr/>
        </p:nvSpPr>
        <p:spPr>
          <a:xfrm>
            <a:off x="8796528" y="4901184"/>
            <a:ext cx="128016" cy="128016"/>
          </a:xfrm>
          <a:prstGeom prst="ellipse">
            <a:avLst/>
          </a:prstGeom>
          <a:solidFill>
            <a:srgbClr val="7B93FF"/>
          </a:solidFill>
          <a:ln w="12700">
            <a:solidFill>
              <a:srgbClr val="7B93FF"/>
            </a:solidFill>
            <a:prstDash val="solid"/>
          </a:ln>
        </p:spPr>
      </p:sp>
      <p:sp>
        <p:nvSpPr>
          <p:cNvPr id="118" name="Shape 116"/>
          <p:cNvSpPr/>
          <p:nvPr/>
        </p:nvSpPr>
        <p:spPr>
          <a:xfrm>
            <a:off x="9125712" y="4901184"/>
            <a:ext cx="128016" cy="128016"/>
          </a:xfrm>
          <a:prstGeom prst="ellipse">
            <a:avLst/>
          </a:prstGeom>
          <a:solidFill>
            <a:srgbClr val="7B93FF"/>
          </a:solidFill>
          <a:ln w="12700">
            <a:solidFill>
              <a:srgbClr val="7B93FF"/>
            </a:solidFill>
            <a:prstDash val="solid"/>
          </a:ln>
        </p:spPr>
      </p:sp>
      <p:sp>
        <p:nvSpPr>
          <p:cNvPr id="119" name="Shape 117"/>
          <p:cNvSpPr/>
          <p:nvPr/>
        </p:nvSpPr>
        <p:spPr>
          <a:xfrm>
            <a:off x="9454896" y="4901184"/>
            <a:ext cx="128016" cy="128016"/>
          </a:xfrm>
          <a:prstGeom prst="ellipse">
            <a:avLst/>
          </a:prstGeom>
          <a:solidFill>
            <a:srgbClr val="4FC7C7"/>
          </a:solidFill>
          <a:ln w="12700">
            <a:solidFill>
              <a:srgbClr val="4FC7C7"/>
            </a:solidFill>
            <a:prstDash val="solid"/>
          </a:ln>
        </p:spPr>
      </p:sp>
      <p:sp>
        <p:nvSpPr>
          <p:cNvPr id="120" name="Shape 118"/>
          <p:cNvSpPr/>
          <p:nvPr/>
        </p:nvSpPr>
        <p:spPr>
          <a:xfrm>
            <a:off x="9784080" y="4901184"/>
            <a:ext cx="128016" cy="128016"/>
          </a:xfrm>
          <a:prstGeom prst="ellipse">
            <a:avLst/>
          </a:prstGeom>
          <a:solidFill>
            <a:srgbClr val="4FC7C7"/>
          </a:solidFill>
          <a:ln w="12700">
            <a:solidFill>
              <a:srgbClr val="4FC7C7"/>
            </a:solidFill>
            <a:prstDash val="solid"/>
          </a:ln>
        </p:spPr>
      </p:sp>
      <p:sp>
        <p:nvSpPr>
          <p:cNvPr id="121" name="Shape 119"/>
          <p:cNvSpPr/>
          <p:nvPr/>
        </p:nvSpPr>
        <p:spPr>
          <a:xfrm>
            <a:off x="10113264" y="4901184"/>
            <a:ext cx="128016" cy="128016"/>
          </a:xfrm>
          <a:prstGeom prst="ellipse">
            <a:avLst/>
          </a:prstGeom>
          <a:solidFill>
            <a:srgbClr val="4FC7C7"/>
          </a:solidFill>
          <a:ln w="12700">
            <a:solidFill>
              <a:srgbClr val="4FC7C7"/>
            </a:solidFill>
            <a:prstDash val="solid"/>
          </a:ln>
        </p:spPr>
      </p:sp>
      <p:sp>
        <p:nvSpPr>
          <p:cNvPr id="122" name="Shape 120"/>
          <p:cNvSpPr/>
          <p:nvPr/>
        </p:nvSpPr>
        <p:spPr>
          <a:xfrm>
            <a:off x="10442448" y="4901184"/>
            <a:ext cx="128016" cy="128016"/>
          </a:xfrm>
          <a:prstGeom prst="ellipse">
            <a:avLst/>
          </a:prstGeom>
          <a:solidFill>
            <a:srgbClr val="4FC7C7"/>
          </a:solidFill>
          <a:ln w="12700">
            <a:solidFill>
              <a:srgbClr val="4FC7C7"/>
            </a:solidFill>
            <a:prstDash val="solid"/>
          </a:ln>
        </p:spPr>
      </p:sp>
      <p:sp>
        <p:nvSpPr>
          <p:cNvPr id="123" name="Shape 121"/>
          <p:cNvSpPr/>
          <p:nvPr/>
        </p:nvSpPr>
        <p:spPr>
          <a:xfrm>
            <a:off x="10771632" y="4901184"/>
            <a:ext cx="128016" cy="128016"/>
          </a:xfrm>
          <a:prstGeom prst="ellipse">
            <a:avLst/>
          </a:prstGeom>
          <a:solidFill>
            <a:srgbClr val="7B93FF"/>
          </a:solidFill>
          <a:ln w="12700">
            <a:solidFill>
              <a:srgbClr val="7B93FF"/>
            </a:solidFill>
            <a:prstDash val="solid"/>
          </a:ln>
        </p:spPr>
      </p:sp>
      <p:sp>
        <p:nvSpPr>
          <p:cNvPr id="124" name="Shape 122"/>
          <p:cNvSpPr/>
          <p:nvPr/>
        </p:nvSpPr>
        <p:spPr>
          <a:xfrm>
            <a:off x="11100816" y="4901184"/>
            <a:ext cx="128016" cy="128016"/>
          </a:xfrm>
          <a:prstGeom prst="ellipse">
            <a:avLst/>
          </a:prstGeom>
          <a:solidFill>
            <a:srgbClr val="7B93FF"/>
          </a:solidFill>
          <a:ln w="12700">
            <a:solidFill>
              <a:srgbClr val="7B93FF"/>
            </a:solidFill>
            <a:prstDash val="solid"/>
          </a:ln>
        </p:spPr>
      </p:sp>
      <p:sp>
        <p:nvSpPr>
          <p:cNvPr id="125" name="Shape 123"/>
          <p:cNvSpPr/>
          <p:nvPr/>
        </p:nvSpPr>
        <p:spPr>
          <a:xfrm>
            <a:off x="8138160" y="5230368"/>
            <a:ext cx="128016" cy="128016"/>
          </a:xfrm>
          <a:prstGeom prst="ellipse">
            <a:avLst/>
          </a:prstGeom>
          <a:solidFill>
            <a:srgbClr val="7B93FF"/>
          </a:solidFill>
          <a:ln w="12700">
            <a:solidFill>
              <a:srgbClr val="7B93FF"/>
            </a:solidFill>
            <a:prstDash val="solid"/>
          </a:ln>
        </p:spPr>
      </p:sp>
      <p:sp>
        <p:nvSpPr>
          <p:cNvPr id="126" name="Shape 124"/>
          <p:cNvSpPr/>
          <p:nvPr/>
        </p:nvSpPr>
        <p:spPr>
          <a:xfrm>
            <a:off x="8467344" y="5230368"/>
            <a:ext cx="128016" cy="128016"/>
          </a:xfrm>
          <a:prstGeom prst="ellipse">
            <a:avLst/>
          </a:prstGeom>
          <a:solidFill>
            <a:srgbClr val="4FC7C7"/>
          </a:solidFill>
          <a:ln w="12700">
            <a:solidFill>
              <a:srgbClr val="4FC7C7"/>
            </a:solidFill>
            <a:prstDash val="solid"/>
          </a:ln>
        </p:spPr>
      </p:sp>
      <p:sp>
        <p:nvSpPr>
          <p:cNvPr id="127" name="Shape 125"/>
          <p:cNvSpPr/>
          <p:nvPr/>
        </p:nvSpPr>
        <p:spPr>
          <a:xfrm>
            <a:off x="8796528" y="5230368"/>
            <a:ext cx="128016" cy="128016"/>
          </a:xfrm>
          <a:prstGeom prst="ellipse">
            <a:avLst/>
          </a:prstGeom>
          <a:solidFill>
            <a:srgbClr val="7B93FF"/>
          </a:solidFill>
          <a:ln w="12700">
            <a:solidFill>
              <a:srgbClr val="7B93FF"/>
            </a:solidFill>
            <a:prstDash val="solid"/>
          </a:ln>
        </p:spPr>
      </p:sp>
      <p:sp>
        <p:nvSpPr>
          <p:cNvPr id="128" name="Shape 126"/>
          <p:cNvSpPr/>
          <p:nvPr/>
        </p:nvSpPr>
        <p:spPr>
          <a:xfrm>
            <a:off x="9125712" y="5230368"/>
            <a:ext cx="128016" cy="128016"/>
          </a:xfrm>
          <a:prstGeom prst="ellipse">
            <a:avLst/>
          </a:prstGeom>
          <a:solidFill>
            <a:srgbClr val="4FC7C7"/>
          </a:solidFill>
          <a:ln w="12700">
            <a:solidFill>
              <a:srgbClr val="4FC7C7"/>
            </a:solidFill>
            <a:prstDash val="solid"/>
          </a:ln>
        </p:spPr>
      </p:sp>
      <p:sp>
        <p:nvSpPr>
          <p:cNvPr id="129" name="Shape 127"/>
          <p:cNvSpPr/>
          <p:nvPr/>
        </p:nvSpPr>
        <p:spPr>
          <a:xfrm>
            <a:off x="9454896" y="5230368"/>
            <a:ext cx="128016" cy="128016"/>
          </a:xfrm>
          <a:prstGeom prst="ellipse">
            <a:avLst/>
          </a:prstGeom>
          <a:solidFill>
            <a:srgbClr val="4FC7C7"/>
          </a:solidFill>
          <a:ln w="12700">
            <a:solidFill>
              <a:srgbClr val="4FC7C7"/>
            </a:solidFill>
            <a:prstDash val="solid"/>
          </a:ln>
        </p:spPr>
      </p:sp>
      <p:sp>
        <p:nvSpPr>
          <p:cNvPr id="130" name="Shape 128"/>
          <p:cNvSpPr/>
          <p:nvPr/>
        </p:nvSpPr>
        <p:spPr>
          <a:xfrm>
            <a:off x="9784080" y="5230368"/>
            <a:ext cx="128016" cy="128016"/>
          </a:xfrm>
          <a:prstGeom prst="ellipse">
            <a:avLst/>
          </a:prstGeom>
          <a:solidFill>
            <a:srgbClr val="4FC7C7"/>
          </a:solidFill>
          <a:ln w="12700">
            <a:solidFill>
              <a:srgbClr val="4FC7C7"/>
            </a:solidFill>
            <a:prstDash val="solid"/>
          </a:ln>
        </p:spPr>
      </p:sp>
      <p:sp>
        <p:nvSpPr>
          <p:cNvPr id="131" name="Shape 129"/>
          <p:cNvSpPr/>
          <p:nvPr/>
        </p:nvSpPr>
        <p:spPr>
          <a:xfrm>
            <a:off x="10113264" y="5230368"/>
            <a:ext cx="128016" cy="128016"/>
          </a:xfrm>
          <a:prstGeom prst="ellipse">
            <a:avLst/>
          </a:prstGeom>
          <a:solidFill>
            <a:srgbClr val="4FC7C7"/>
          </a:solidFill>
          <a:ln w="12700">
            <a:solidFill>
              <a:srgbClr val="4FC7C7"/>
            </a:solidFill>
            <a:prstDash val="solid"/>
          </a:ln>
        </p:spPr>
      </p:sp>
      <p:sp>
        <p:nvSpPr>
          <p:cNvPr id="132" name="Shape 130"/>
          <p:cNvSpPr/>
          <p:nvPr/>
        </p:nvSpPr>
        <p:spPr>
          <a:xfrm>
            <a:off x="10442448" y="5230368"/>
            <a:ext cx="128016" cy="128016"/>
          </a:xfrm>
          <a:prstGeom prst="ellipse">
            <a:avLst/>
          </a:prstGeom>
          <a:solidFill>
            <a:srgbClr val="7B93FF"/>
          </a:solidFill>
          <a:ln w="12700">
            <a:solidFill>
              <a:srgbClr val="7B93FF"/>
            </a:solidFill>
            <a:prstDash val="solid"/>
          </a:ln>
        </p:spPr>
      </p:sp>
      <p:sp>
        <p:nvSpPr>
          <p:cNvPr id="133" name="Shape 131"/>
          <p:cNvSpPr/>
          <p:nvPr/>
        </p:nvSpPr>
        <p:spPr>
          <a:xfrm>
            <a:off x="10771632" y="5230368"/>
            <a:ext cx="128016" cy="128016"/>
          </a:xfrm>
          <a:prstGeom prst="ellipse">
            <a:avLst/>
          </a:prstGeom>
          <a:solidFill>
            <a:srgbClr val="7B93FF"/>
          </a:solidFill>
          <a:ln w="12700">
            <a:solidFill>
              <a:srgbClr val="7B93FF"/>
            </a:solidFill>
            <a:prstDash val="solid"/>
          </a:ln>
        </p:spPr>
      </p:sp>
      <p:sp>
        <p:nvSpPr>
          <p:cNvPr id="134" name="Shape 132"/>
          <p:cNvSpPr/>
          <p:nvPr/>
        </p:nvSpPr>
        <p:spPr>
          <a:xfrm>
            <a:off x="11100816" y="5230368"/>
            <a:ext cx="128016" cy="128016"/>
          </a:xfrm>
          <a:prstGeom prst="ellipse">
            <a:avLst/>
          </a:prstGeom>
          <a:solidFill>
            <a:srgbClr val="4FC7C7"/>
          </a:solidFill>
          <a:ln w="12700">
            <a:solidFill>
              <a:srgbClr val="4FC7C7"/>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오프닝</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오늘의 목표</a:t>
            </a:r>
            <a:endParaRPr lang="en-US" sz="2000" dirty="0"/>
          </a:p>
        </p:txBody>
      </p:sp>
      <p:sp>
        <p:nvSpPr>
          <p:cNvPr id="5" name="Text 2"/>
          <p:cNvSpPr txBox="1"/>
          <p:nvPr/>
        </p:nvSpPr>
        <p:spPr>
          <a:xfrm>
            <a:off x="640080" y="1828800"/>
            <a:ext cx="10911535" cy="1463040"/>
          </a:xfrm>
          <a:prstGeom prst="rect">
            <a:avLst/>
          </a:prstGeom>
          <a:noFill/>
          <a:ln/>
        </p:spPr>
        <p:txBody>
          <a:bodyPr wrap="square" lIns="0" tIns="0" rIns="0" bIns="0" rtlCol="0" anchor="t"/>
          <a:lstStyle/>
          <a:p>
            <a:pPr indent="0" marL="0">
              <a:lnSpc>
                <a:spcPct val="115000"/>
              </a:lnSpc>
              <a:buNone/>
            </a:pPr>
            <a:r>
              <a:rPr lang="en-US" sz="3000" dirty="0">
                <a:solidFill>
                  <a:schemeClr val="tx1"/>
                </a:solidFill>
              </a:rPr>
              <a:t>개선 아이디어를 </a:t>
            </a:r>
            <a:pPr indent="0" marL="0">
              <a:lnSpc>
                <a:spcPct val="115000"/>
              </a:lnSpc>
              <a:buNone/>
            </a:pPr>
            <a:r>
              <a:rPr lang="en-US" sz="3000" b="1" dirty="0">
                <a:solidFill>
                  <a:schemeClr val="accent1"/>
                </a:solidFill>
              </a:rPr>
              <a:t>검증 가능한 실험</a:t>
            </a:r>
            <a:pPr indent="0" marL="0">
              <a:lnSpc>
                <a:spcPct val="115000"/>
              </a:lnSpc>
              <a:buNone/>
            </a:pPr>
            <a:r>
              <a:rPr lang="en-US" sz="3000" dirty="0">
                <a:solidFill>
                  <a:schemeClr val="tx1"/>
                </a:solidFill>
              </a:rPr>
              <a:t>으로 설계하고,</a:t>
            </a:r>
            <a:endParaRPr lang="en-US" sz="3000" dirty="0"/>
          </a:p>
          <a:p>
            <a:pPr indent="0" marL="0">
              <a:lnSpc>
                <a:spcPct val="115000"/>
              </a:lnSpc>
              <a:buNone/>
            </a:pPr>
            <a:r>
              <a:rPr lang="en-US" sz="3000" dirty="0">
                <a:solidFill>
                  <a:schemeClr val="tx1"/>
                </a:solidFill>
              </a:rPr>
              <a:t>결과를 근거로 </a:t>
            </a:r>
            <a:endParaRPr lang="en-US" sz="3000" dirty="0"/>
          </a:p>
          <a:p>
            <a:pPr indent="0" marL="0">
              <a:lnSpc>
                <a:spcPct val="115000"/>
              </a:lnSpc>
              <a:buNone/>
            </a:pPr>
            <a:r>
              <a:rPr lang="en-US" sz="3000" b="1" dirty="0">
                <a:solidFill>
                  <a:schemeClr val="accent1"/>
                </a:solidFill>
              </a:rPr>
              <a:t>배포한다 / 안 한다</a:t>
            </a:r>
            <a:pPr indent="0" marL="0">
              <a:lnSpc>
                <a:spcPct val="115000"/>
              </a:lnSpc>
              <a:buNone/>
            </a:pPr>
            <a:r>
              <a:rPr lang="en-US" sz="3000" dirty="0">
                <a:solidFill>
                  <a:schemeClr val="tx1"/>
                </a:solidFill>
              </a:rPr>
              <a:t>를 판단할 수 있다</a:t>
            </a:r>
            <a:endParaRPr lang="en-US" sz="3000" dirty="0"/>
          </a:p>
        </p:txBody>
      </p:sp>
      <p:sp>
        <p:nvSpPr>
          <p:cNvPr id="6" name="Text 3"/>
          <p:cNvSpPr txBox="1"/>
          <p:nvPr/>
        </p:nvSpPr>
        <p:spPr>
          <a:xfrm>
            <a:off x="640080" y="4206240"/>
            <a:ext cx="2514600" cy="914400"/>
          </a:xfrm>
          <a:prstGeom prst="rect">
            <a:avLst/>
          </a:prstGeom>
          <a:noFill/>
          <a:ln/>
        </p:spPr>
        <p:txBody>
          <a:bodyPr wrap="square" lIns="0" tIns="0" rIns="0" bIns="0" rtlCol="0" anchor="t"/>
          <a:lstStyle/>
          <a:p>
            <a:pPr indent="0" marL="0">
              <a:buNone/>
            </a:pPr>
            <a:r>
              <a:rPr lang="en-US" sz="2000" b="1" dirty="0">
                <a:solidFill>
                  <a:schemeClr val="tx1"/>
                </a:solidFill>
              </a:rPr>
              <a:t>SQL</a:t>
            </a:r>
            <a:endParaRPr lang="en-US" sz="1500" dirty="0"/>
          </a:p>
          <a:p>
            <a:pPr indent="0" marL="0">
              <a:buNone/>
            </a:pPr>
            <a:r>
              <a:rPr lang="en-US" sz="1500" dirty="0">
                <a:solidFill>
                  <a:schemeClr val="tx2"/>
                </a:solidFill>
              </a:rPr>
              <a:t>뽑고</a:t>
            </a:r>
            <a:endParaRPr lang="en-US" sz="1500" dirty="0"/>
          </a:p>
        </p:txBody>
      </p:sp>
      <p:sp>
        <p:nvSpPr>
          <p:cNvPr id="7" name="Shape 4"/>
          <p:cNvSpPr/>
          <p:nvPr/>
        </p:nvSpPr>
        <p:spPr>
          <a:xfrm>
            <a:off x="2651760" y="4434840"/>
            <a:ext cx="548640" cy="0"/>
          </a:xfrm>
          <a:prstGeom prst="line">
            <a:avLst/>
          </a:prstGeom>
          <a:noFill/>
          <a:ln w="19050">
            <a:solidFill>
              <a:srgbClr val="8A90A8"/>
            </a:solidFill>
            <a:prstDash val="solid"/>
            <a:tailEnd type="triangle"/>
          </a:ln>
        </p:spPr>
      </p:sp>
      <p:sp>
        <p:nvSpPr>
          <p:cNvPr id="8" name="Text 5"/>
          <p:cNvSpPr txBox="1"/>
          <p:nvPr/>
        </p:nvSpPr>
        <p:spPr>
          <a:xfrm>
            <a:off x="3474720" y="4206240"/>
            <a:ext cx="2514600" cy="914400"/>
          </a:xfrm>
          <a:prstGeom prst="rect">
            <a:avLst/>
          </a:prstGeom>
          <a:noFill/>
          <a:ln/>
        </p:spPr>
        <p:txBody>
          <a:bodyPr wrap="square" lIns="0" tIns="0" rIns="0" bIns="0" rtlCol="0" anchor="t"/>
          <a:lstStyle/>
          <a:p>
            <a:pPr indent="0" marL="0">
              <a:buNone/>
            </a:pPr>
            <a:r>
              <a:rPr lang="en-US" sz="2000" b="1" dirty="0">
                <a:solidFill>
                  <a:schemeClr val="tx1"/>
                </a:solidFill>
              </a:rPr>
              <a:t>시각화</a:t>
            </a:r>
            <a:endParaRPr lang="en-US" sz="1500" dirty="0"/>
          </a:p>
          <a:p>
            <a:pPr indent="0" marL="0">
              <a:buNone/>
            </a:pPr>
            <a:r>
              <a:rPr lang="en-US" sz="1500" dirty="0">
                <a:solidFill>
                  <a:schemeClr val="tx2"/>
                </a:solidFill>
              </a:rPr>
              <a:t>보고</a:t>
            </a:r>
            <a:endParaRPr lang="en-US" sz="1500" dirty="0"/>
          </a:p>
        </p:txBody>
      </p:sp>
      <p:sp>
        <p:nvSpPr>
          <p:cNvPr id="9" name="Shape 6"/>
          <p:cNvSpPr/>
          <p:nvPr/>
        </p:nvSpPr>
        <p:spPr>
          <a:xfrm>
            <a:off x="5486400" y="4434840"/>
            <a:ext cx="548640" cy="0"/>
          </a:xfrm>
          <a:prstGeom prst="line">
            <a:avLst/>
          </a:prstGeom>
          <a:noFill/>
          <a:ln w="19050">
            <a:solidFill>
              <a:srgbClr val="8A90A8"/>
            </a:solidFill>
            <a:prstDash val="solid"/>
            <a:tailEnd type="triangle"/>
          </a:ln>
        </p:spPr>
      </p:sp>
      <p:sp>
        <p:nvSpPr>
          <p:cNvPr id="10" name="Text 7"/>
          <p:cNvSpPr txBox="1"/>
          <p:nvPr/>
        </p:nvSpPr>
        <p:spPr>
          <a:xfrm>
            <a:off x="6309360" y="4206240"/>
            <a:ext cx="2514600" cy="914400"/>
          </a:xfrm>
          <a:prstGeom prst="rect">
            <a:avLst/>
          </a:prstGeom>
          <a:noFill/>
          <a:ln/>
        </p:spPr>
        <p:txBody>
          <a:bodyPr wrap="square" lIns="0" tIns="0" rIns="0" bIns="0" rtlCol="0" anchor="t"/>
          <a:lstStyle/>
          <a:p>
            <a:pPr indent="0" marL="0">
              <a:buNone/>
            </a:pPr>
            <a:r>
              <a:rPr lang="en-US" sz="2000" b="1" dirty="0">
                <a:solidFill>
                  <a:schemeClr val="tx1"/>
                </a:solidFill>
              </a:rPr>
              <a:t>그로스</a:t>
            </a:r>
            <a:endParaRPr lang="en-US" sz="1500" dirty="0"/>
          </a:p>
          <a:p>
            <a:pPr indent="0" marL="0">
              <a:buNone/>
            </a:pPr>
            <a:r>
              <a:rPr lang="en-US" sz="1500" dirty="0">
                <a:solidFill>
                  <a:schemeClr val="tx2"/>
                </a:solidFill>
              </a:rPr>
              <a:t>진단하고</a:t>
            </a:r>
            <a:endParaRPr lang="en-US" sz="1500" dirty="0"/>
          </a:p>
        </p:txBody>
      </p:sp>
      <p:sp>
        <p:nvSpPr>
          <p:cNvPr id="11" name="Shape 8"/>
          <p:cNvSpPr/>
          <p:nvPr/>
        </p:nvSpPr>
        <p:spPr>
          <a:xfrm>
            <a:off x="8321040" y="4434840"/>
            <a:ext cx="548640" cy="0"/>
          </a:xfrm>
          <a:prstGeom prst="line">
            <a:avLst/>
          </a:prstGeom>
          <a:noFill/>
          <a:ln w="19050">
            <a:solidFill>
              <a:srgbClr val="8A90A8"/>
            </a:solidFill>
            <a:prstDash val="solid"/>
            <a:tailEnd type="triangle"/>
          </a:ln>
        </p:spPr>
      </p:sp>
      <p:sp>
        <p:nvSpPr>
          <p:cNvPr id="12" name="Text 9"/>
          <p:cNvSpPr txBox="1"/>
          <p:nvPr/>
        </p:nvSpPr>
        <p:spPr>
          <a:xfrm>
            <a:off x="9144000" y="4206240"/>
            <a:ext cx="2514600" cy="914400"/>
          </a:xfrm>
          <a:prstGeom prst="rect">
            <a:avLst/>
          </a:prstGeom>
          <a:noFill/>
          <a:ln/>
        </p:spPr>
        <p:txBody>
          <a:bodyPr wrap="square" lIns="0" tIns="0" rIns="0" bIns="0" rtlCol="0" anchor="t"/>
          <a:lstStyle/>
          <a:p>
            <a:pPr indent="0" marL="0">
              <a:buNone/>
            </a:pPr>
            <a:r>
              <a:rPr lang="en-US" sz="2000" b="1" dirty="0">
                <a:solidFill>
                  <a:schemeClr val="accent1"/>
                </a:solidFill>
              </a:rPr>
              <a:t>A/B 테스트</a:t>
            </a:r>
            <a:endParaRPr lang="en-US" sz="1500" dirty="0"/>
          </a:p>
          <a:p>
            <a:pPr indent="0" marL="0">
              <a:buNone/>
            </a:pPr>
            <a:r>
              <a:rPr lang="en-US" sz="1500" dirty="0">
                <a:solidFill>
                  <a:schemeClr val="tx2"/>
                </a:solidFill>
              </a:rPr>
              <a:t>검증한다</a:t>
            </a:r>
            <a:endParaRPr lang="en-US" sz="15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오프닝</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목차</a:t>
            </a:r>
            <a:endParaRPr lang="en-US" sz="2000" dirty="0"/>
          </a:p>
        </p:txBody>
      </p:sp>
      <p:sp>
        <p:nvSpPr>
          <p:cNvPr id="5" name="Text 2"/>
          <p:cNvSpPr txBox="1"/>
          <p:nvPr/>
        </p:nvSpPr>
        <p:spPr>
          <a:xfrm>
            <a:off x="640080" y="2103120"/>
            <a:ext cx="2094525" cy="822960"/>
          </a:xfrm>
          <a:prstGeom prst="rect">
            <a:avLst/>
          </a:prstGeom>
          <a:noFill/>
          <a:ln/>
        </p:spPr>
        <p:txBody>
          <a:bodyPr wrap="square" lIns="0" tIns="0" rIns="0" bIns="0" rtlCol="0" anchor="t"/>
          <a:lstStyle/>
          <a:p>
            <a:pPr indent="0" marL="0">
              <a:buNone/>
            </a:pPr>
            <a:r>
              <a:rPr lang="en-US" sz="1400" b="1" dirty="0">
                <a:solidFill>
                  <a:schemeClr val="accent1"/>
                </a:solidFill>
              </a:rPr>
              <a:t>Ch1</a:t>
            </a:r>
            <a:endParaRPr lang="en-US" sz="1500" dirty="0"/>
          </a:p>
          <a:p>
            <a:pPr indent="0" marL="0">
              <a:buNone/>
            </a:pPr>
            <a:r>
              <a:rPr lang="en-US" sz="1500" b="1" dirty="0">
                <a:solidFill>
                  <a:schemeClr val="tx1"/>
                </a:solidFill>
              </a:rPr>
              <a:t>실험과 인과추론</a:t>
            </a:r>
            <a:endParaRPr lang="en-US" sz="1500" dirty="0"/>
          </a:p>
        </p:txBody>
      </p:sp>
      <p:sp>
        <p:nvSpPr>
          <p:cNvPr id="6" name="Shape 3"/>
          <p:cNvSpPr/>
          <p:nvPr/>
        </p:nvSpPr>
        <p:spPr>
          <a:xfrm>
            <a:off x="640080" y="3154680"/>
            <a:ext cx="2094525" cy="0"/>
          </a:xfrm>
          <a:prstGeom prst="line">
            <a:avLst/>
          </a:prstGeom>
          <a:noFill/>
          <a:ln w="76200">
            <a:solidFill>
              <a:srgbClr val="3A5BFF"/>
            </a:solidFill>
            <a:prstDash val="solid"/>
          </a:ln>
        </p:spPr>
      </p:sp>
      <p:sp>
        <p:nvSpPr>
          <p:cNvPr id="7" name="Text 4"/>
          <p:cNvSpPr txBox="1"/>
          <p:nvPr/>
        </p:nvSpPr>
        <p:spPr>
          <a:xfrm>
            <a:off x="2844333" y="2103120"/>
            <a:ext cx="2094525" cy="822960"/>
          </a:xfrm>
          <a:prstGeom prst="rect">
            <a:avLst/>
          </a:prstGeom>
          <a:noFill/>
          <a:ln/>
        </p:spPr>
        <p:txBody>
          <a:bodyPr wrap="square" lIns="0" tIns="0" rIns="0" bIns="0" rtlCol="0" anchor="t"/>
          <a:lstStyle/>
          <a:p>
            <a:pPr indent="0" marL="0">
              <a:buNone/>
            </a:pPr>
            <a:r>
              <a:rPr lang="en-US" sz="1400" b="1" dirty="0">
                <a:solidFill>
                  <a:schemeClr val="accent1"/>
                </a:solidFill>
              </a:rPr>
              <a:t>Ch2</a:t>
            </a:r>
            <a:endParaRPr lang="en-US" sz="1500" dirty="0"/>
          </a:p>
          <a:p>
            <a:pPr indent="0" marL="0">
              <a:buNone/>
            </a:pPr>
            <a:r>
              <a:rPr lang="en-US" sz="1500" b="1" dirty="0">
                <a:solidFill>
                  <a:schemeClr val="tx1"/>
                </a:solidFill>
              </a:rPr>
              <a:t>설계의 핵심 구성요소</a:t>
            </a:r>
            <a:endParaRPr lang="en-US" sz="1500" dirty="0"/>
          </a:p>
        </p:txBody>
      </p:sp>
      <p:sp>
        <p:nvSpPr>
          <p:cNvPr id="8" name="Shape 5"/>
          <p:cNvSpPr/>
          <p:nvPr/>
        </p:nvSpPr>
        <p:spPr>
          <a:xfrm>
            <a:off x="2844333" y="3154680"/>
            <a:ext cx="2094525" cy="0"/>
          </a:xfrm>
          <a:prstGeom prst="line">
            <a:avLst/>
          </a:prstGeom>
          <a:noFill/>
          <a:ln w="76200">
            <a:solidFill>
              <a:srgbClr val="3A5BFF"/>
            </a:solidFill>
            <a:prstDash val="solid"/>
          </a:ln>
        </p:spPr>
      </p:sp>
      <p:sp>
        <p:nvSpPr>
          <p:cNvPr id="9" name="Text 6"/>
          <p:cNvSpPr txBox="1"/>
          <p:nvPr/>
        </p:nvSpPr>
        <p:spPr>
          <a:xfrm>
            <a:off x="5048585" y="2103120"/>
            <a:ext cx="2094525" cy="822960"/>
          </a:xfrm>
          <a:prstGeom prst="rect">
            <a:avLst/>
          </a:prstGeom>
          <a:noFill/>
          <a:ln/>
        </p:spPr>
        <p:txBody>
          <a:bodyPr wrap="square" lIns="0" tIns="0" rIns="0" bIns="0" rtlCol="0" anchor="t"/>
          <a:lstStyle/>
          <a:p>
            <a:pPr indent="0" marL="0">
              <a:buNone/>
            </a:pPr>
            <a:r>
              <a:rPr lang="en-US" sz="1400" b="1" dirty="0">
                <a:solidFill>
                  <a:schemeClr val="accent1"/>
                </a:solidFill>
              </a:rPr>
              <a:t>Ch3</a:t>
            </a:r>
            <a:endParaRPr lang="en-US" sz="1500" dirty="0"/>
          </a:p>
          <a:p>
            <a:pPr indent="0" marL="0">
              <a:buNone/>
            </a:pPr>
            <a:r>
              <a:rPr lang="en-US" sz="1500" b="1" dirty="0">
                <a:solidFill>
                  <a:schemeClr val="tx1"/>
                </a:solidFill>
              </a:rPr>
              <a:t>실행과 통계 분석</a:t>
            </a:r>
            <a:endParaRPr lang="en-US" sz="1500" dirty="0"/>
          </a:p>
        </p:txBody>
      </p:sp>
      <p:sp>
        <p:nvSpPr>
          <p:cNvPr id="10" name="Shape 7"/>
          <p:cNvSpPr/>
          <p:nvPr/>
        </p:nvSpPr>
        <p:spPr>
          <a:xfrm>
            <a:off x="5048585" y="3154680"/>
            <a:ext cx="2094525" cy="0"/>
          </a:xfrm>
          <a:prstGeom prst="line">
            <a:avLst/>
          </a:prstGeom>
          <a:noFill/>
          <a:ln w="76200">
            <a:solidFill>
              <a:srgbClr val="3A5BFF"/>
            </a:solidFill>
            <a:prstDash val="solid"/>
          </a:ln>
        </p:spPr>
      </p:sp>
      <p:sp>
        <p:nvSpPr>
          <p:cNvPr id="11" name="Text 8"/>
          <p:cNvSpPr txBox="1"/>
          <p:nvPr/>
        </p:nvSpPr>
        <p:spPr>
          <a:xfrm>
            <a:off x="7252838" y="2103120"/>
            <a:ext cx="2094525" cy="822960"/>
          </a:xfrm>
          <a:prstGeom prst="rect">
            <a:avLst/>
          </a:prstGeom>
          <a:noFill/>
          <a:ln/>
        </p:spPr>
        <p:txBody>
          <a:bodyPr wrap="square" lIns="0" tIns="0" rIns="0" bIns="0" rtlCol="0" anchor="t"/>
          <a:lstStyle/>
          <a:p>
            <a:pPr indent="0" marL="0">
              <a:buNone/>
            </a:pPr>
            <a:r>
              <a:rPr lang="en-US" sz="1400" b="1" dirty="0">
                <a:solidFill>
                  <a:schemeClr val="accent1"/>
                </a:solidFill>
              </a:rPr>
              <a:t>Ch4</a:t>
            </a:r>
            <a:endParaRPr lang="en-US" sz="1500" dirty="0"/>
          </a:p>
          <a:p>
            <a:pPr indent="0" marL="0">
              <a:buNone/>
            </a:pPr>
            <a:r>
              <a:rPr lang="en-US" sz="1500" b="1" dirty="0">
                <a:solidFill>
                  <a:schemeClr val="tx1"/>
                </a:solidFill>
              </a:rPr>
              <a:t>실무 함정과 고급 설계</a:t>
            </a:r>
            <a:endParaRPr lang="en-US" sz="1500" dirty="0"/>
          </a:p>
        </p:txBody>
      </p:sp>
      <p:sp>
        <p:nvSpPr>
          <p:cNvPr id="12" name="Shape 9"/>
          <p:cNvSpPr/>
          <p:nvPr/>
        </p:nvSpPr>
        <p:spPr>
          <a:xfrm>
            <a:off x="7252838" y="3154680"/>
            <a:ext cx="2094525" cy="0"/>
          </a:xfrm>
          <a:prstGeom prst="line">
            <a:avLst/>
          </a:prstGeom>
          <a:noFill/>
          <a:ln w="76200">
            <a:solidFill>
              <a:srgbClr val="3A5BFF"/>
            </a:solidFill>
            <a:prstDash val="solid"/>
          </a:ln>
        </p:spPr>
      </p:sp>
      <p:sp>
        <p:nvSpPr>
          <p:cNvPr id="13" name="Text 10"/>
          <p:cNvSpPr txBox="1"/>
          <p:nvPr/>
        </p:nvSpPr>
        <p:spPr>
          <a:xfrm>
            <a:off x="9457091" y="2103120"/>
            <a:ext cx="2094525" cy="822960"/>
          </a:xfrm>
          <a:prstGeom prst="rect">
            <a:avLst/>
          </a:prstGeom>
          <a:noFill/>
          <a:ln/>
        </p:spPr>
        <p:txBody>
          <a:bodyPr wrap="square" lIns="0" tIns="0" rIns="0" bIns="0" rtlCol="0" anchor="t"/>
          <a:lstStyle/>
          <a:p>
            <a:pPr indent="0" marL="0">
              <a:buNone/>
            </a:pPr>
            <a:r>
              <a:rPr lang="en-US" sz="1400" b="1" dirty="0">
                <a:solidFill>
                  <a:schemeClr val="accent1"/>
                </a:solidFill>
              </a:rPr>
              <a:t>Ch5</a:t>
            </a:r>
            <a:endParaRPr lang="en-US" sz="1500" dirty="0"/>
          </a:p>
          <a:p>
            <a:pPr indent="0" marL="0">
              <a:buNone/>
            </a:pPr>
            <a:r>
              <a:rPr lang="en-US" sz="1500" b="1" dirty="0">
                <a:solidFill>
                  <a:schemeClr val="tx1"/>
                </a:solidFill>
              </a:rPr>
              <a:t>사례·문화·의사결정</a:t>
            </a:r>
            <a:endParaRPr lang="en-US" sz="1500" dirty="0"/>
          </a:p>
        </p:txBody>
      </p:sp>
      <p:sp>
        <p:nvSpPr>
          <p:cNvPr id="14" name="Shape 11"/>
          <p:cNvSpPr/>
          <p:nvPr/>
        </p:nvSpPr>
        <p:spPr>
          <a:xfrm>
            <a:off x="9457091" y="3154680"/>
            <a:ext cx="2094525" cy="0"/>
          </a:xfrm>
          <a:prstGeom prst="line">
            <a:avLst/>
          </a:prstGeom>
          <a:noFill/>
          <a:ln w="76200">
            <a:solidFill>
              <a:srgbClr val="3A5BFF"/>
            </a:solidFill>
            <a:prstDash val="solid"/>
          </a:ln>
        </p:spPr>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40080" y="1371600"/>
            <a:ext cx="3657600" cy="1463040"/>
          </a:xfrm>
          <a:prstGeom prst="rect">
            <a:avLst/>
          </a:prstGeom>
          <a:noFill/>
          <a:ln/>
        </p:spPr>
        <p:txBody>
          <a:bodyPr wrap="square" lIns="0" tIns="0" rIns="0" bIns="0" rtlCol="0" anchor="b"/>
          <a:lstStyle/>
          <a:p>
            <a:pPr algn="l" indent="0" marL="0">
              <a:buNone/>
            </a:pPr>
            <a:r>
              <a:rPr lang="en-US" sz="9600" b="1" dirty="0">
                <a:solidFill>
                  <a:srgbClr val="7B93FF"/>
                </a:solidFill>
              </a:rPr>
              <a:t>01</a:t>
            </a:r>
            <a:endParaRPr lang="en-US" sz="9600" dirty="0"/>
          </a:p>
        </p:txBody>
      </p:sp>
      <p:sp>
        <p:nvSpPr>
          <p:cNvPr id="3" name="Text 0"/>
          <p:cNvSpPr/>
          <p:nvPr>
            <p:ph idx="101" type="title" hasCustomPrompt="1"/>
          </p:nvPr>
        </p:nvSpPr>
        <p:spPr>
          <a:xfrm>
            <a:off x="640080" y="3017520"/>
            <a:ext cx="10058400" cy="914400"/>
          </a:xfrm>
          <a:prstGeom prst="rect">
            <a:avLst/>
          </a:prstGeom>
          <a:noFill/>
          <a:ln/>
        </p:spPr>
        <p:txBody>
          <a:bodyPr wrap="square" lIns="0" tIns="0" rIns="0" bIns="0" rtlCol="0" anchor="t"/>
          <a:lstStyle/>
          <a:p>
            <a:pPr algn="l" indent="0" marL="0">
              <a:buNone/>
            </a:pPr>
            <a:r>
              <a:rPr lang="en-US" sz="4000" b="1" dirty="0">
                <a:solidFill>
                  <a:srgbClr val="FFFFFF"/>
                </a:solidFill>
              </a:rPr>
              <a:t>실험 설계의 기초와 인과추론</a:t>
            </a:r>
            <a:endParaRPr lang="en-US" sz="4000" dirty="0"/>
          </a:p>
        </p:txBody>
      </p:sp>
      <p:sp>
        <p:nvSpPr>
          <p:cNvPr id="4" name="Text 0"/>
          <p:cNvSpPr/>
          <p:nvPr>
            <p:ph idx="102" type="body" hasCustomPrompt="1"/>
          </p:nvPr>
        </p:nvSpPr>
        <p:spPr>
          <a:xfrm>
            <a:off x="640080" y="4069080"/>
            <a:ext cx="10058400" cy="731520"/>
          </a:xfrm>
          <a:prstGeom prst="rect">
            <a:avLst/>
          </a:prstGeom>
          <a:noFill/>
          <a:ln/>
        </p:spPr>
        <p:txBody>
          <a:bodyPr wrap="square" lIns="0" tIns="0" rIns="0" bIns="0" rtlCol="0" anchor="t"/>
          <a:lstStyle/>
          <a:p>
            <a:pPr algn="l" indent="0" marL="0">
              <a:buNone/>
            </a:pPr>
            <a:r>
              <a:rPr lang="en-US" sz="2000" dirty="0">
                <a:solidFill>
                  <a:srgbClr val="AEB3CC"/>
                </a:solidFill>
              </a:rPr>
              <a:t>왜 '배포하고 보기'로는 부족한가</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Ch1 · 오프닝 질문</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그냥 배포하고 보면 안 되나?</a:t>
            </a:r>
            <a:endParaRPr lang="en-US" sz="2000" dirty="0"/>
          </a:p>
        </p:txBody>
      </p:sp>
      <p:sp>
        <p:nvSpPr>
          <p:cNvPr id="5" name="Text 2"/>
          <p:cNvSpPr txBox="1"/>
          <p:nvPr/>
        </p:nvSpPr>
        <p:spPr>
          <a:xfrm>
            <a:off x="640080" y="1920240"/>
            <a:ext cx="5669280" cy="1188720"/>
          </a:xfrm>
          <a:prstGeom prst="rect">
            <a:avLst/>
          </a:prstGeom>
          <a:noFill/>
          <a:ln/>
        </p:spPr>
        <p:txBody>
          <a:bodyPr wrap="square" lIns="0" tIns="0" rIns="0" bIns="0" rtlCol="0" anchor="t"/>
          <a:lstStyle/>
          <a:p>
            <a:pPr indent="0" marL="0">
              <a:buNone/>
            </a:pPr>
            <a:r>
              <a:rPr lang="en-US" sz="5400" b="1" dirty="0">
                <a:solidFill>
                  <a:schemeClr val="accent1"/>
                </a:solidFill>
              </a:rPr>
              <a:t>3.0% → 3.4%</a:t>
            </a:r>
            <a:endParaRPr lang="en-US" sz="5400" dirty="0"/>
          </a:p>
        </p:txBody>
      </p:sp>
      <p:sp>
        <p:nvSpPr>
          <p:cNvPr id="6" name="Text 3"/>
          <p:cNvSpPr txBox="1"/>
          <p:nvPr/>
        </p:nvSpPr>
        <p:spPr>
          <a:xfrm>
            <a:off x="640080" y="3200400"/>
            <a:ext cx="5486400" cy="731520"/>
          </a:xfrm>
          <a:prstGeom prst="rect">
            <a:avLst/>
          </a:prstGeom>
          <a:noFill/>
          <a:ln/>
        </p:spPr>
        <p:txBody>
          <a:bodyPr wrap="square" lIns="0" tIns="0" rIns="0" bIns="0" rtlCol="0" anchor="t"/>
          <a:lstStyle/>
          <a:p>
            <a:pPr indent="0" marL="0">
              <a:buNone/>
            </a:pPr>
            <a:r>
              <a:rPr lang="en-US" sz="1500" dirty="0">
                <a:solidFill>
                  <a:schemeClr val="tx2"/>
                </a:solidFill>
              </a:rPr>
              <a:t>새 장바구니 화면 배포 전 2주 vs 배포 후 2주</a:t>
            </a:r>
            <a:endParaRPr lang="en-US" sz="1500" dirty="0"/>
          </a:p>
          <a:p>
            <a:pPr indent="0" marL="0">
              <a:buNone/>
            </a:pPr>
            <a:r>
              <a:rPr lang="en-US" sz="1500" dirty="0">
                <a:solidFill>
                  <a:schemeClr val="tx2"/>
                </a:solidFill>
              </a:rPr>
              <a:t>결제 전환율</a:t>
            </a:r>
            <a:endParaRPr lang="en-US" sz="1500" dirty="0"/>
          </a:p>
        </p:txBody>
      </p:sp>
      <p:sp>
        <p:nvSpPr>
          <p:cNvPr id="7" name="Text 4"/>
          <p:cNvSpPr txBox="1"/>
          <p:nvPr/>
        </p:nvSpPr>
        <p:spPr>
          <a:xfrm>
            <a:off x="640080" y="4206240"/>
            <a:ext cx="5486400" cy="548640"/>
          </a:xfrm>
          <a:prstGeom prst="rect">
            <a:avLst/>
          </a:prstGeom>
          <a:noFill/>
          <a:ln/>
        </p:spPr>
        <p:txBody>
          <a:bodyPr wrap="square" lIns="0" tIns="0" rIns="0" bIns="0" rtlCol="0" anchor="t"/>
          <a:lstStyle/>
          <a:p>
            <a:pPr indent="0" marL="0">
              <a:buNone/>
            </a:pPr>
            <a:r>
              <a:rPr lang="en-US" sz="2000" b="1" dirty="0">
                <a:solidFill>
                  <a:schemeClr val="tx1"/>
                </a:solidFill>
              </a:rPr>
              <a:t>성공일까요?</a:t>
            </a:r>
            <a:endParaRPr lang="en-US" sz="2000" dirty="0"/>
          </a:p>
        </p:txBody>
      </p:sp>
      <p:sp>
        <p:nvSpPr>
          <p:cNvPr id="8" name="Text 5"/>
          <p:cNvSpPr txBox="1"/>
          <p:nvPr/>
        </p:nvSpPr>
        <p:spPr>
          <a:xfrm>
            <a:off x="6766560" y="1965960"/>
            <a:ext cx="4754880" cy="2377440"/>
          </a:xfrm>
          <a:prstGeom prst="rect">
            <a:avLst/>
          </a:prstGeom>
          <a:noFill/>
          <a:ln/>
        </p:spPr>
        <p:txBody>
          <a:bodyPr wrap="square" lIns="0" tIns="0" rIns="0" bIns="0" rtlCol="0" anchor="t"/>
          <a:lstStyle/>
          <a:p>
            <a:pPr indent="0" marL="0">
              <a:spcAft>
                <a:spcPts val="800"/>
              </a:spcAft>
              <a:buNone/>
            </a:pPr>
            <a:r>
              <a:rPr lang="en-US" sz="2000" b="1" dirty="0">
                <a:solidFill>
                  <a:schemeClr val="tx1"/>
                </a:solidFill>
              </a:rPr>
              <a:t>같은 2주 동안 일어난 일</a:t>
            </a:r>
            <a:endParaRPr lang="en-US" sz="1500" dirty="0"/>
          </a:p>
          <a:p>
            <a:pPr marL="342900" indent="-342900">
              <a:spcAft>
                <a:spcPts val="800"/>
              </a:spcAft>
              <a:buSzPct val="100000"/>
              <a:buChar char="•"/>
            </a:pPr>
            <a:r>
              <a:rPr lang="en-US" sz="1500" dirty="0">
                <a:solidFill>
                  <a:schemeClr val="tx1"/>
                </a:solidFill>
              </a:rPr>
              <a:t>배포 다음 날 시작한 할인 프로모션</a:t>
            </a:r>
            <a:endParaRPr lang="en-US" sz="1500" dirty="0"/>
          </a:p>
          <a:p>
            <a:pPr marL="342900" indent="-342900">
              <a:spcAft>
                <a:spcPts val="800"/>
              </a:spcAft>
              <a:buSzPct val="100000"/>
              <a:buChar char="•"/>
            </a:pPr>
            <a:r>
              <a:rPr lang="en-US" sz="1500" dirty="0">
                <a:solidFill>
                  <a:schemeClr val="tx1"/>
                </a:solidFill>
              </a:rPr>
              <a:t>월급날과 연휴가 낀 시즌</a:t>
            </a:r>
            <a:endParaRPr lang="en-US" sz="1500" dirty="0"/>
          </a:p>
          <a:p>
            <a:pPr marL="342900" indent="-342900">
              <a:spcAft>
                <a:spcPts val="800"/>
              </a:spcAft>
              <a:buSzPct val="100000"/>
              <a:buChar char="•"/>
            </a:pPr>
            <a:r>
              <a:rPr lang="en-US" sz="1500" dirty="0">
                <a:solidFill>
                  <a:schemeClr val="tx1"/>
                </a:solidFill>
              </a:rPr>
              <a:t>광고 채널 변경으로 달라진 유입 구성</a:t>
            </a:r>
            <a:endParaRPr lang="en-US" sz="1500" dirty="0"/>
          </a:p>
          <a:p>
            <a:pPr marL="342900" indent="-342900">
              <a:spcAft>
                <a:spcPts val="800"/>
              </a:spcAft>
              <a:buSzPct val="100000"/>
              <a:buChar char="•"/>
            </a:pPr>
            <a:r>
              <a:rPr lang="en-US" sz="1500" dirty="0">
                <a:solidFill>
                  <a:schemeClr val="tx1"/>
                </a:solidFill>
              </a:rPr>
              <a:t>원래 있던 일별 변동</a:t>
            </a:r>
            <a:endParaRPr lang="en-US" sz="1500" dirty="0"/>
          </a:p>
        </p:txBody>
      </p:sp>
      <p:sp>
        <p:nvSpPr>
          <p:cNvPr id="9" name="Text 6"/>
          <p:cNvSpPr txBox="1"/>
          <p:nvPr/>
        </p:nvSpPr>
        <p:spPr>
          <a:xfrm>
            <a:off x="6766560" y="4572000"/>
            <a:ext cx="4754880" cy="731520"/>
          </a:xfrm>
          <a:prstGeom prst="rect">
            <a:avLst/>
          </a:prstGeom>
          <a:noFill/>
          <a:ln/>
        </p:spPr>
        <p:txBody>
          <a:bodyPr wrap="square" lIns="0" tIns="0" rIns="0" bIns="0" rtlCol="0" anchor="t"/>
          <a:lstStyle/>
          <a:p>
            <a:pPr indent="0" marL="0">
              <a:buNone/>
            </a:pPr>
            <a:r>
              <a:rPr lang="en-US" sz="2000" dirty="0">
                <a:solidFill>
                  <a:schemeClr val="tx1"/>
                </a:solidFill>
              </a:rPr>
              <a:t>전후 비교로는 </a:t>
            </a:r>
            <a:pPr indent="0" marL="0">
              <a:buNone/>
            </a:pPr>
            <a:r>
              <a:rPr lang="en-US" sz="2000" b="1" dirty="0">
                <a:solidFill>
                  <a:schemeClr val="accent4"/>
                </a:solidFill>
              </a:rPr>
              <a:t>무엇 때문에</a:t>
            </a:r>
            <a:pPr indent="0" marL="0">
              <a:buNone/>
            </a:pPr>
            <a:r>
              <a:rPr lang="en-US" sz="2000" dirty="0">
                <a:solidFill>
                  <a:schemeClr val="tx1"/>
                </a:solidFill>
              </a:rPr>
              <a:t> 올랐는지 가를 수 없다</a:t>
            </a:r>
            <a:endParaRPr lang="en-US" sz="20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Ch1 · 상관관계 vs 인과관계</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새 기능을 쓰는 사람이 덜 떠난다면, 기능 덕분일까?</a:t>
            </a:r>
            <a:endParaRPr lang="en-US" sz="2000" dirty="0"/>
          </a:p>
        </p:txBody>
      </p:sp>
      <p:sp>
        <p:nvSpPr>
          <p:cNvPr id="5" name="Shape 2"/>
          <p:cNvSpPr/>
          <p:nvPr/>
        </p:nvSpPr>
        <p:spPr>
          <a:xfrm>
            <a:off x="3749040" y="2039112"/>
            <a:ext cx="201168" cy="201168"/>
          </a:xfrm>
          <a:prstGeom prst="ellipse">
            <a:avLst/>
          </a:prstGeom>
          <a:solidFill>
            <a:srgbClr val="B87700"/>
          </a:solidFill>
          <a:ln w="12700">
            <a:solidFill>
              <a:srgbClr val="B87700"/>
            </a:solidFill>
            <a:prstDash val="solid"/>
          </a:ln>
        </p:spPr>
      </p:sp>
      <p:sp>
        <p:nvSpPr>
          <p:cNvPr id="6" name="Text 3"/>
          <p:cNvSpPr txBox="1"/>
          <p:nvPr/>
        </p:nvSpPr>
        <p:spPr>
          <a:xfrm>
            <a:off x="4069080" y="1965960"/>
            <a:ext cx="2377440" cy="731520"/>
          </a:xfrm>
          <a:prstGeom prst="rect">
            <a:avLst/>
          </a:prstGeom>
          <a:noFill/>
          <a:ln/>
        </p:spPr>
        <p:txBody>
          <a:bodyPr wrap="square" lIns="0" tIns="0" rIns="0" bIns="0" rtlCol="0" anchor="t"/>
          <a:lstStyle/>
          <a:p>
            <a:pPr indent="0" marL="0">
              <a:buNone/>
            </a:pPr>
            <a:r>
              <a:rPr lang="en-US" sz="2000" b="1" dirty="0">
                <a:solidFill>
                  <a:schemeClr val="tx1"/>
                </a:solidFill>
              </a:rPr>
              <a:t>충성도</a:t>
            </a:r>
            <a:endParaRPr lang="en-US" sz="1500" dirty="0"/>
          </a:p>
          <a:p>
            <a:pPr indent="0" marL="0">
              <a:buNone/>
            </a:pPr>
            <a:r>
              <a:rPr lang="en-US" sz="1400" dirty="0">
                <a:solidFill>
                  <a:schemeClr val="tx2"/>
                </a:solidFill>
              </a:rPr>
              <a:t>관측하기 어려움</a:t>
            </a:r>
            <a:endParaRPr lang="en-US" sz="1500" dirty="0"/>
          </a:p>
        </p:txBody>
      </p:sp>
      <p:sp>
        <p:nvSpPr>
          <p:cNvPr id="7" name="Shape 4"/>
          <p:cNvSpPr/>
          <p:nvPr/>
        </p:nvSpPr>
        <p:spPr>
          <a:xfrm>
            <a:off x="1097280" y="4279392"/>
            <a:ext cx="201168" cy="201168"/>
          </a:xfrm>
          <a:prstGeom prst="ellipse">
            <a:avLst/>
          </a:prstGeom>
          <a:solidFill>
            <a:srgbClr val="3A5BFF"/>
          </a:solidFill>
          <a:ln w="12700">
            <a:solidFill>
              <a:srgbClr val="3A5BFF"/>
            </a:solidFill>
            <a:prstDash val="solid"/>
          </a:ln>
        </p:spPr>
      </p:sp>
      <p:sp>
        <p:nvSpPr>
          <p:cNvPr id="8" name="Text 5"/>
          <p:cNvSpPr txBox="1"/>
          <p:nvPr/>
        </p:nvSpPr>
        <p:spPr>
          <a:xfrm>
            <a:off x="1417320" y="4206240"/>
            <a:ext cx="2194560" cy="457200"/>
          </a:xfrm>
          <a:prstGeom prst="rect">
            <a:avLst/>
          </a:prstGeom>
          <a:noFill/>
          <a:ln/>
        </p:spPr>
        <p:txBody>
          <a:bodyPr wrap="square" lIns="0" tIns="0" rIns="0" bIns="0" rtlCol="0" anchor="t"/>
          <a:lstStyle/>
          <a:p>
            <a:pPr indent="0" marL="0">
              <a:buNone/>
            </a:pPr>
            <a:r>
              <a:rPr lang="en-US" sz="2000" b="1" dirty="0">
                <a:solidFill>
                  <a:schemeClr val="tx1"/>
                </a:solidFill>
              </a:rPr>
              <a:t>새 기능 사용</a:t>
            </a:r>
            <a:endParaRPr lang="en-US" sz="2000" dirty="0"/>
          </a:p>
        </p:txBody>
      </p:sp>
      <p:sp>
        <p:nvSpPr>
          <p:cNvPr id="9" name="Shape 6"/>
          <p:cNvSpPr/>
          <p:nvPr/>
        </p:nvSpPr>
        <p:spPr>
          <a:xfrm>
            <a:off x="6400800" y="4279392"/>
            <a:ext cx="201168" cy="201168"/>
          </a:xfrm>
          <a:prstGeom prst="ellipse">
            <a:avLst/>
          </a:prstGeom>
          <a:solidFill>
            <a:srgbClr val="0E9C9C"/>
          </a:solidFill>
          <a:ln w="12700">
            <a:solidFill>
              <a:srgbClr val="0E9C9C"/>
            </a:solidFill>
            <a:prstDash val="solid"/>
          </a:ln>
        </p:spPr>
      </p:sp>
      <p:sp>
        <p:nvSpPr>
          <p:cNvPr id="10" name="Text 7"/>
          <p:cNvSpPr txBox="1"/>
          <p:nvPr/>
        </p:nvSpPr>
        <p:spPr>
          <a:xfrm>
            <a:off x="6720840" y="4206240"/>
            <a:ext cx="2194560" cy="457200"/>
          </a:xfrm>
          <a:prstGeom prst="rect">
            <a:avLst/>
          </a:prstGeom>
          <a:noFill/>
          <a:ln/>
        </p:spPr>
        <p:txBody>
          <a:bodyPr wrap="square" lIns="0" tIns="0" rIns="0" bIns="0" rtlCol="0" anchor="t"/>
          <a:lstStyle/>
          <a:p>
            <a:pPr indent="0" marL="0">
              <a:buNone/>
            </a:pPr>
            <a:r>
              <a:rPr lang="en-US" sz="2000" b="1" dirty="0">
                <a:solidFill>
                  <a:schemeClr val="tx1"/>
                </a:solidFill>
              </a:rPr>
              <a:t>이탈률 낮음</a:t>
            </a:r>
            <a:endParaRPr lang="en-US" sz="2000" dirty="0"/>
          </a:p>
        </p:txBody>
      </p:sp>
      <p:sp>
        <p:nvSpPr>
          <p:cNvPr id="11" name="Shape 8"/>
          <p:cNvSpPr/>
          <p:nvPr/>
        </p:nvSpPr>
        <p:spPr>
          <a:xfrm flipH="1">
            <a:off x="1737360" y="2743200"/>
            <a:ext cx="1828800" cy="1280160"/>
          </a:xfrm>
          <a:prstGeom prst="line">
            <a:avLst/>
          </a:prstGeom>
          <a:noFill/>
          <a:ln w="25400">
            <a:solidFill>
              <a:srgbClr val="B87700"/>
            </a:solidFill>
            <a:prstDash val="solid"/>
            <a:tailEnd type="triangle"/>
          </a:ln>
        </p:spPr>
      </p:sp>
      <p:sp>
        <p:nvSpPr>
          <p:cNvPr id="12" name="Shape 9"/>
          <p:cNvSpPr/>
          <p:nvPr/>
        </p:nvSpPr>
        <p:spPr>
          <a:xfrm>
            <a:off x="4572000" y="2743200"/>
            <a:ext cx="1920240" cy="1280160"/>
          </a:xfrm>
          <a:prstGeom prst="line">
            <a:avLst/>
          </a:prstGeom>
          <a:noFill/>
          <a:ln w="25400">
            <a:solidFill>
              <a:srgbClr val="B87700"/>
            </a:solidFill>
            <a:prstDash val="solid"/>
            <a:tailEnd type="triangle"/>
          </a:ln>
        </p:spPr>
      </p:sp>
      <p:sp>
        <p:nvSpPr>
          <p:cNvPr id="13" name="Shape 10"/>
          <p:cNvSpPr/>
          <p:nvPr/>
        </p:nvSpPr>
        <p:spPr>
          <a:xfrm>
            <a:off x="3017520" y="4315968"/>
            <a:ext cx="3200400" cy="0"/>
          </a:xfrm>
          <a:prstGeom prst="line">
            <a:avLst/>
          </a:prstGeom>
          <a:noFill/>
          <a:ln w="25400">
            <a:solidFill>
              <a:srgbClr val="8A90A8"/>
            </a:solidFill>
            <a:prstDash val="dash"/>
            <a:tailEnd type="triangle"/>
          </a:ln>
        </p:spPr>
      </p:sp>
      <p:sp>
        <p:nvSpPr>
          <p:cNvPr id="14" name="Text 11"/>
          <p:cNvSpPr txBox="1"/>
          <p:nvPr/>
        </p:nvSpPr>
        <p:spPr>
          <a:xfrm>
            <a:off x="4434840" y="4434840"/>
            <a:ext cx="457200" cy="457200"/>
          </a:xfrm>
          <a:prstGeom prst="rect">
            <a:avLst/>
          </a:prstGeom>
          <a:noFill/>
          <a:ln/>
        </p:spPr>
        <p:txBody>
          <a:bodyPr wrap="square" lIns="0" tIns="0" rIns="0" bIns="0" rtlCol="0" anchor="t"/>
          <a:lstStyle/>
          <a:p>
            <a:pPr algn="ctr" indent="0" marL="0">
              <a:buNone/>
            </a:pPr>
            <a:r>
              <a:rPr lang="en-US" sz="2000" b="1" dirty="0">
                <a:solidFill>
                  <a:schemeClr val="accent6"/>
                </a:solidFill>
              </a:rPr>
              <a:t>?</a:t>
            </a:r>
            <a:endParaRPr lang="en-US" sz="2000" dirty="0"/>
          </a:p>
        </p:txBody>
      </p:sp>
      <p:sp>
        <p:nvSpPr>
          <p:cNvPr id="15" name="Text 12"/>
          <p:cNvSpPr txBox="1"/>
          <p:nvPr/>
        </p:nvSpPr>
        <p:spPr>
          <a:xfrm>
            <a:off x="8229600" y="1920240"/>
            <a:ext cx="3291840" cy="3840480"/>
          </a:xfrm>
          <a:prstGeom prst="rect">
            <a:avLst/>
          </a:prstGeom>
          <a:noFill/>
          <a:ln/>
        </p:spPr>
        <p:txBody>
          <a:bodyPr wrap="square" lIns="0" tIns="0" rIns="0" bIns="0" rtlCol="0" anchor="t"/>
          <a:lstStyle/>
          <a:p>
            <a:pPr indent="0" marL="0">
              <a:buNone/>
            </a:pPr>
            <a:r>
              <a:rPr lang="en-US" sz="2000" b="1" dirty="0">
                <a:solidFill>
                  <a:schemeClr val="accent5"/>
                </a:solidFill>
              </a:rPr>
              <a:t>Confounding</a:t>
            </a:r>
            <a:endParaRPr lang="en-US" sz="1500" dirty="0"/>
          </a:p>
          <a:p>
            <a:pPr indent="0" marL="0">
              <a:spcAft>
                <a:spcPts val="1400"/>
              </a:spcAft>
              <a:buNone/>
            </a:pPr>
            <a:r>
              <a:rPr lang="en-US" sz="1500" dirty="0">
                <a:solidFill>
                  <a:schemeClr val="tx2"/>
                </a:solidFill>
              </a:rPr>
              <a:t>두 변수를 동시에 움직이는 제3의 변수</a:t>
            </a:r>
            <a:endParaRPr lang="en-US" sz="1500" dirty="0"/>
          </a:p>
          <a:p>
            <a:pPr indent="0" marL="0">
              <a:buNone/>
            </a:pPr>
            <a:r>
              <a:rPr lang="en-US" sz="2000" b="1" dirty="0">
                <a:solidFill>
                  <a:schemeClr val="accent5"/>
                </a:solidFill>
              </a:rPr>
              <a:t>Selection Bias</a:t>
            </a:r>
            <a:endParaRPr lang="en-US" sz="1500" dirty="0"/>
          </a:p>
          <a:p>
            <a:pPr indent="0" marL="0">
              <a:spcAft>
                <a:spcPts val="1400"/>
              </a:spcAft>
              <a:buNone/>
            </a:pPr>
            <a:r>
              <a:rPr lang="en-US" sz="1500" dirty="0">
                <a:solidFill>
                  <a:schemeClr val="tx2"/>
                </a:solidFill>
              </a:rPr>
              <a:t>처치를 스스로 고른 사람은 처음부터 다르다</a:t>
            </a:r>
            <a:endParaRPr lang="en-US" sz="1500" dirty="0"/>
          </a:p>
          <a:p>
            <a:pPr indent="0" marL="0">
              <a:buNone/>
            </a:pPr>
            <a:r>
              <a:rPr lang="en-US" sz="2000" b="1" dirty="0">
                <a:solidFill>
                  <a:schemeClr val="tx1"/>
                </a:solidFill>
              </a:rPr>
              <a:t>확인할 수 있는 것</a:t>
            </a:r>
            <a:endParaRPr lang="en-US" sz="1500" dirty="0"/>
          </a:p>
          <a:p>
            <a:pPr indent="0" marL="0">
              <a:buNone/>
            </a:pPr>
            <a:r>
              <a:rPr lang="en-US" sz="1500" dirty="0">
                <a:solidFill>
                  <a:schemeClr val="tx2"/>
                </a:solidFill>
              </a:rPr>
              <a:t>새 기능 사용 ↔ 낮은 이탈률 (상관)</a:t>
            </a:r>
            <a:endParaRPr lang="en-US" sz="1500" dirty="0"/>
          </a:p>
          <a:p>
            <a:pPr indent="0" marL="0">
              <a:buNone/>
            </a:pPr>
            <a:r>
              <a:rPr lang="en-US" sz="1500" dirty="0">
                <a:solidFill>
                  <a:schemeClr val="tx2"/>
                </a:solidFill>
              </a:rPr>
              <a:t>새 기능 사용 → 이탈률 감소 (인과)는 무작위 실험으로만</a:t>
            </a:r>
            <a:endParaRPr lang="en-US" sz="1500" dirty="0"/>
          </a:p>
        </p:txBody>
      </p:sp>
      <p:sp>
        <p:nvSpPr>
          <p:cNvPr id="16" name="Text 13"/>
          <p:cNvSpPr txBox="1"/>
          <p:nvPr/>
        </p:nvSpPr>
        <p:spPr>
          <a:xfrm>
            <a:off x="640080" y="5989320"/>
            <a:ext cx="10911535" cy="274320"/>
          </a:xfrm>
          <a:prstGeom prst="rect">
            <a:avLst/>
          </a:prstGeom>
          <a:noFill/>
          <a:ln/>
        </p:spPr>
        <p:txBody>
          <a:bodyPr wrap="square" lIns="0" tIns="0" rIns="0" bIns="0" rtlCol="0" anchor="t"/>
          <a:lstStyle/>
          <a:p>
            <a:pPr indent="0" marL="0">
              <a:buNone/>
            </a:pPr>
            <a:r>
              <a:rPr lang="en-US" sz="1100" dirty="0">
                <a:solidFill>
                  <a:schemeClr val="accent6"/>
                </a:solidFill>
              </a:rPr>
              <a:t>출처: Kohavi, Tang, Xu (2020) 예시를 각색 · 위키 01편 5장</a:t>
            </a:r>
            <a:endParaRPr lang="en-US" sz="11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Ch1 · Potential Outcomes Framework</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한 사람에게서 두 결과를 동시에 볼 수는 없다</a:t>
            </a:r>
            <a:endParaRPr lang="en-US" sz="2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1828800"/>
          <a:ext cx="6766560" cy="914400"/>
        </p:xfrm>
        <a:graphic>
          <a:graphicData uri="http://schemas.openxmlformats.org/drawingml/2006/table">
            <a:tbl>
              <a:tblPr/>
              <a:tblGrid>
                <a:gridCol w="1280160"/>
                <a:gridCol w="2011680"/>
                <a:gridCol w="2103120"/>
                <a:gridCol w="1371600"/>
              </a:tblGrid>
              <a:tr h="457200">
                <a:tc>
                  <a:txBody>
                    <a:bodyPr/>
                    <a:lstStyle/>
                    <a:p>
                      <a:pPr indent="0" marL="0">
                        <a:buNone/>
                      </a:pPr>
                      <a:r>
                        <a:rPr lang="en-US" sz="1400" b="1" dirty="0">
                          <a:solidFill>
                            <a:srgbClr val="555C7A"/>
                          </a:solidFill>
                        </a:rPr>
                        <a:t>사용자</a:t>
                      </a:r>
                      <a:endParaRPr lang="en-US" sz="14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400" b="1" dirty="0">
                          <a:solidFill>
                            <a:srgbClr val="555C7A"/>
                          </a:solidFill>
                        </a:rPr>
                        <a:t>Y(1) 새 화면을 봤다면</a:t>
                      </a:r>
                      <a:endParaRPr lang="en-US" sz="14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400" b="1" dirty="0">
                          <a:solidFill>
                            <a:srgbClr val="555C7A"/>
                          </a:solidFill>
                        </a:rPr>
                        <a:t>Y(0) 기존 화면을 봤다면</a:t>
                      </a:r>
                      <a:endParaRPr lang="en-US" sz="14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400" b="1" dirty="0">
                          <a:solidFill>
                            <a:srgbClr val="555C7A"/>
                          </a:solidFill>
                        </a:rPr>
                        <a:t>개인 효과</a:t>
                      </a:r>
                      <a:endParaRPr lang="en-US" sz="14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r>
              <a:tr h="457200">
                <a:tc>
                  <a:txBody>
                    <a:bodyPr/>
                    <a:lstStyle/>
                    <a:p>
                      <a:pPr indent="0" marL="0">
                        <a:buNone/>
                      </a:pPr>
                      <a:r>
                        <a:rPr lang="en-US" sz="1500" dirty="0">
                          <a:solidFill>
                            <a:srgbClr val="1B1F3B"/>
                          </a:solidFill>
                        </a:rPr>
                        <a:t>유저 1</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구매</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b="1" dirty="0">
                          <a:solidFill>
                            <a:srgbClr val="8A90A8"/>
                          </a:solidFill>
                        </a:rPr>
                        <a:t>?</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b="1" dirty="0">
                          <a:solidFill>
                            <a:srgbClr val="8A90A8"/>
                          </a:solidFill>
                        </a:rPr>
                        <a:t>?</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457200">
                <a:tc>
                  <a:txBody>
                    <a:bodyPr/>
                    <a:lstStyle/>
                    <a:p>
                      <a:pPr indent="0" marL="0">
                        <a:buNone/>
                      </a:pPr>
                      <a:r>
                        <a:rPr lang="en-US" sz="1500" dirty="0">
                          <a:solidFill>
                            <a:srgbClr val="1B1F3B"/>
                          </a:solidFill>
                        </a:rPr>
                        <a:t>유저 2</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b="1" dirty="0">
                          <a:solidFill>
                            <a:srgbClr val="8A90A8"/>
                          </a:solidFill>
                        </a:rPr>
                        <a:t>?</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구매 안 함</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b="1" dirty="0">
                          <a:solidFill>
                            <a:srgbClr val="8A90A8"/>
                          </a:solidFill>
                        </a:rPr>
                        <a:t>?</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457200">
                <a:tc>
                  <a:txBody>
                    <a:bodyPr/>
                    <a:lstStyle/>
                    <a:p>
                      <a:pPr indent="0" marL="0">
                        <a:buNone/>
                      </a:pPr>
                      <a:r>
                        <a:rPr lang="en-US" sz="1500" dirty="0">
                          <a:solidFill>
                            <a:srgbClr val="1B1F3B"/>
                          </a:solidFill>
                        </a:rPr>
                        <a:t>유저 3</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구매 안 함</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b="1" dirty="0">
                          <a:solidFill>
                            <a:srgbClr val="8A90A8"/>
                          </a:solidFill>
                        </a:rPr>
                        <a:t>?</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b="1" dirty="0">
                          <a:solidFill>
                            <a:srgbClr val="8A90A8"/>
                          </a:solidFill>
                        </a:rPr>
                        <a:t>?</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457200">
                <a:tc>
                  <a:txBody>
                    <a:bodyPr/>
                    <a:lstStyle/>
                    <a:p>
                      <a:pPr indent="0" marL="0">
                        <a:buNone/>
                      </a:pPr>
                      <a:r>
                        <a:rPr lang="en-US" sz="1500" dirty="0">
                          <a:solidFill>
                            <a:srgbClr val="1B1F3B"/>
                          </a:solidFill>
                        </a:rPr>
                        <a:t>유저 4</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b="1" dirty="0">
                          <a:solidFill>
                            <a:srgbClr val="8A90A8"/>
                          </a:solidFill>
                        </a:rPr>
                        <a:t>?</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구매</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b="1" dirty="0">
                          <a:solidFill>
                            <a:srgbClr val="8A90A8"/>
                          </a:solidFill>
                        </a:rPr>
                        <a:t>?</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bl>
          </a:graphicData>
        </a:graphic>
      </p:graphicFrame>
      <p:sp>
        <p:nvSpPr>
          <p:cNvPr id="6" name="Text 2"/>
          <p:cNvSpPr txBox="1"/>
          <p:nvPr/>
        </p:nvSpPr>
        <p:spPr>
          <a:xfrm>
            <a:off x="7863840" y="1828800"/>
            <a:ext cx="3657600" cy="1828800"/>
          </a:xfrm>
          <a:prstGeom prst="rect">
            <a:avLst/>
          </a:prstGeom>
          <a:noFill/>
          <a:ln/>
        </p:spPr>
        <p:txBody>
          <a:bodyPr wrap="square" lIns="0" tIns="0" rIns="0" bIns="0" rtlCol="0" anchor="t"/>
          <a:lstStyle/>
          <a:p>
            <a:pPr indent="0" marL="0">
              <a:buNone/>
            </a:pPr>
            <a:r>
              <a:rPr lang="en-US" sz="2000" b="1" dirty="0">
                <a:solidFill>
                  <a:schemeClr val="tx1"/>
                </a:solidFill>
              </a:rPr>
              <a:t>관측하지 못한 칸이 반드시 생긴다</a:t>
            </a:r>
            <a:endParaRPr lang="en-US" sz="1500" dirty="0"/>
          </a:p>
          <a:p>
            <a:pPr indent="0" marL="0">
              <a:buNone/>
            </a:pPr>
            <a:r>
              <a:rPr lang="en-US" sz="1500" dirty="0">
                <a:solidFill>
                  <a:schemeClr val="tx2"/>
                </a:solidFill>
              </a:rPr>
              <a:t>인과추론의 근본 문제 (Fundamental Problem of Causal Inference) → 개인 대신 집단 평균을 비교</a:t>
            </a:r>
            <a:endParaRPr lang="en-US" sz="1500" dirty="0"/>
          </a:p>
        </p:txBody>
      </p:sp>
      <p:sp>
        <p:nvSpPr>
          <p:cNvPr id="7" name="Text 3"/>
          <p:cNvSpPr txBox="1"/>
          <p:nvPr/>
        </p:nvSpPr>
        <p:spPr>
          <a:xfrm>
            <a:off x="7863840" y="3840480"/>
            <a:ext cx="3657600" cy="548640"/>
          </a:xfrm>
          <a:prstGeom prst="rect">
            <a:avLst/>
          </a:prstGeom>
          <a:noFill/>
          <a:ln/>
        </p:spPr>
        <p:txBody>
          <a:bodyPr wrap="square" lIns="0" tIns="0" rIns="0" bIns="0" rtlCol="0" anchor="t"/>
          <a:lstStyle/>
          <a:p>
            <a:pPr indent="0" marL="0">
              <a:buNone/>
            </a:pPr>
            <a:r>
              <a:rPr lang="en-US" sz="2000" b="1" dirty="0">
                <a:solidFill>
                  <a:schemeClr val="accent1"/>
                </a:solidFill>
              </a:rPr>
              <a:t>ATE = E[Y(1)] - E[Y(0)]</a:t>
            </a:r>
            <a:endParaRPr lang="en-US" sz="2000" dirty="0"/>
          </a:p>
        </p:txBody>
      </p:sp>
      <p:sp>
        <p:nvSpPr>
          <p:cNvPr id="8" name="Text 4"/>
          <p:cNvSpPr txBox="1"/>
          <p:nvPr/>
        </p:nvSpPr>
        <p:spPr>
          <a:xfrm>
            <a:off x="7863840" y="4480560"/>
            <a:ext cx="3657600" cy="822960"/>
          </a:xfrm>
          <a:prstGeom prst="rect">
            <a:avLst/>
          </a:prstGeom>
          <a:noFill/>
          <a:ln/>
        </p:spPr>
        <p:txBody>
          <a:bodyPr wrap="square" lIns="0" tIns="0" rIns="0" bIns="0" rtlCol="0" anchor="t"/>
          <a:lstStyle/>
          <a:p>
            <a:pPr indent="0" marL="0">
              <a:buNone/>
            </a:pPr>
            <a:r>
              <a:rPr lang="en-US" sz="1500" dirty="0">
                <a:solidFill>
                  <a:schemeClr val="tx2"/>
                </a:solidFill>
              </a:rPr>
              <a:t>랜덤 배정 → 두 그룹 평균 차이가 ATE의 편향 없는 추정치</a:t>
            </a:r>
            <a:endParaRPr lang="en-US" sz="15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Ch1 · 무작위 통제 실험(RCT)</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랜덤 배정은 보이지 않는 차이까지 고르게 나눈다</a:t>
            </a:r>
            <a:endParaRPr lang="en-US" sz="2000" dirty="0"/>
          </a:p>
        </p:txBody>
      </p:sp>
      <p:sp>
        <p:nvSpPr>
          <p:cNvPr id="5" name="Shape 2"/>
          <p:cNvSpPr/>
          <p:nvPr/>
        </p:nvSpPr>
        <p:spPr>
          <a:xfrm>
            <a:off x="640080" y="2011680"/>
            <a:ext cx="155448" cy="155448"/>
          </a:xfrm>
          <a:prstGeom prst="ellipse">
            <a:avLst/>
          </a:prstGeom>
          <a:solidFill>
            <a:srgbClr val="1B1F3B"/>
          </a:solidFill>
          <a:ln w="12700">
            <a:solidFill>
              <a:srgbClr val="1B1F3B"/>
            </a:solidFill>
            <a:prstDash val="solid"/>
          </a:ln>
        </p:spPr>
      </p:sp>
      <p:sp>
        <p:nvSpPr>
          <p:cNvPr id="6" name="Shape 3"/>
          <p:cNvSpPr/>
          <p:nvPr/>
        </p:nvSpPr>
        <p:spPr>
          <a:xfrm>
            <a:off x="950976" y="2011680"/>
            <a:ext cx="155448" cy="155448"/>
          </a:xfrm>
          <a:prstGeom prst="ellipse">
            <a:avLst/>
          </a:prstGeom>
          <a:solidFill>
            <a:srgbClr val="C3C7D6"/>
          </a:solidFill>
          <a:ln w="12700">
            <a:solidFill>
              <a:srgbClr val="C3C7D6"/>
            </a:solidFill>
            <a:prstDash val="solid"/>
          </a:ln>
        </p:spPr>
      </p:sp>
      <p:sp>
        <p:nvSpPr>
          <p:cNvPr id="7" name="Shape 4"/>
          <p:cNvSpPr/>
          <p:nvPr/>
        </p:nvSpPr>
        <p:spPr>
          <a:xfrm>
            <a:off x="1261872" y="2011680"/>
            <a:ext cx="155448" cy="155448"/>
          </a:xfrm>
          <a:prstGeom prst="ellipse">
            <a:avLst/>
          </a:prstGeom>
          <a:solidFill>
            <a:srgbClr val="1B1F3B"/>
          </a:solidFill>
          <a:ln w="12700">
            <a:solidFill>
              <a:srgbClr val="1B1F3B"/>
            </a:solidFill>
            <a:prstDash val="solid"/>
          </a:ln>
        </p:spPr>
      </p:sp>
      <p:sp>
        <p:nvSpPr>
          <p:cNvPr id="8" name="Shape 5"/>
          <p:cNvSpPr/>
          <p:nvPr/>
        </p:nvSpPr>
        <p:spPr>
          <a:xfrm>
            <a:off x="1572768" y="2011680"/>
            <a:ext cx="155448" cy="155448"/>
          </a:xfrm>
          <a:prstGeom prst="ellipse">
            <a:avLst/>
          </a:prstGeom>
          <a:solidFill>
            <a:srgbClr val="1B1F3B"/>
          </a:solidFill>
          <a:ln w="12700">
            <a:solidFill>
              <a:srgbClr val="1B1F3B"/>
            </a:solidFill>
            <a:prstDash val="solid"/>
          </a:ln>
        </p:spPr>
      </p:sp>
      <p:sp>
        <p:nvSpPr>
          <p:cNvPr id="9" name="Shape 6"/>
          <p:cNvSpPr/>
          <p:nvPr/>
        </p:nvSpPr>
        <p:spPr>
          <a:xfrm>
            <a:off x="1883664" y="2011680"/>
            <a:ext cx="155448" cy="155448"/>
          </a:xfrm>
          <a:prstGeom prst="ellipse">
            <a:avLst/>
          </a:prstGeom>
          <a:solidFill>
            <a:srgbClr val="1B1F3B"/>
          </a:solidFill>
          <a:ln w="12700">
            <a:solidFill>
              <a:srgbClr val="1B1F3B"/>
            </a:solidFill>
            <a:prstDash val="solid"/>
          </a:ln>
        </p:spPr>
      </p:sp>
      <p:sp>
        <p:nvSpPr>
          <p:cNvPr id="10" name="Shape 7"/>
          <p:cNvSpPr/>
          <p:nvPr/>
        </p:nvSpPr>
        <p:spPr>
          <a:xfrm>
            <a:off x="2194560" y="2011680"/>
            <a:ext cx="155448" cy="155448"/>
          </a:xfrm>
          <a:prstGeom prst="ellipse">
            <a:avLst/>
          </a:prstGeom>
          <a:solidFill>
            <a:srgbClr val="C3C7D6"/>
          </a:solidFill>
          <a:ln w="12700">
            <a:solidFill>
              <a:srgbClr val="C3C7D6"/>
            </a:solidFill>
            <a:prstDash val="solid"/>
          </a:ln>
        </p:spPr>
      </p:sp>
      <p:sp>
        <p:nvSpPr>
          <p:cNvPr id="11" name="Shape 8"/>
          <p:cNvSpPr/>
          <p:nvPr/>
        </p:nvSpPr>
        <p:spPr>
          <a:xfrm>
            <a:off x="2505456" y="2011680"/>
            <a:ext cx="155448" cy="155448"/>
          </a:xfrm>
          <a:prstGeom prst="ellipse">
            <a:avLst/>
          </a:prstGeom>
          <a:solidFill>
            <a:srgbClr val="C3C7D6"/>
          </a:solidFill>
          <a:ln w="12700">
            <a:solidFill>
              <a:srgbClr val="C3C7D6"/>
            </a:solidFill>
            <a:prstDash val="solid"/>
          </a:ln>
        </p:spPr>
      </p:sp>
      <p:sp>
        <p:nvSpPr>
          <p:cNvPr id="12" name="Shape 9"/>
          <p:cNvSpPr/>
          <p:nvPr/>
        </p:nvSpPr>
        <p:spPr>
          <a:xfrm>
            <a:off x="2816352" y="2011680"/>
            <a:ext cx="155448" cy="155448"/>
          </a:xfrm>
          <a:prstGeom prst="ellipse">
            <a:avLst/>
          </a:prstGeom>
          <a:solidFill>
            <a:srgbClr val="C3C7D6"/>
          </a:solidFill>
          <a:ln w="12700">
            <a:solidFill>
              <a:srgbClr val="C3C7D6"/>
            </a:solidFill>
            <a:prstDash val="solid"/>
          </a:ln>
        </p:spPr>
      </p:sp>
      <p:sp>
        <p:nvSpPr>
          <p:cNvPr id="13" name="Shape 10"/>
          <p:cNvSpPr/>
          <p:nvPr/>
        </p:nvSpPr>
        <p:spPr>
          <a:xfrm>
            <a:off x="640080" y="2322576"/>
            <a:ext cx="155448" cy="155448"/>
          </a:xfrm>
          <a:prstGeom prst="ellipse">
            <a:avLst/>
          </a:prstGeom>
          <a:solidFill>
            <a:srgbClr val="C3C7D6"/>
          </a:solidFill>
          <a:ln w="12700">
            <a:solidFill>
              <a:srgbClr val="C3C7D6"/>
            </a:solidFill>
            <a:prstDash val="solid"/>
          </a:ln>
        </p:spPr>
      </p:sp>
      <p:sp>
        <p:nvSpPr>
          <p:cNvPr id="14" name="Shape 11"/>
          <p:cNvSpPr/>
          <p:nvPr/>
        </p:nvSpPr>
        <p:spPr>
          <a:xfrm>
            <a:off x="950976" y="2322576"/>
            <a:ext cx="155448" cy="155448"/>
          </a:xfrm>
          <a:prstGeom prst="ellipse">
            <a:avLst/>
          </a:prstGeom>
          <a:solidFill>
            <a:srgbClr val="C3C7D6"/>
          </a:solidFill>
          <a:ln w="12700">
            <a:solidFill>
              <a:srgbClr val="C3C7D6"/>
            </a:solidFill>
            <a:prstDash val="solid"/>
          </a:ln>
        </p:spPr>
      </p:sp>
      <p:sp>
        <p:nvSpPr>
          <p:cNvPr id="15" name="Shape 12"/>
          <p:cNvSpPr/>
          <p:nvPr/>
        </p:nvSpPr>
        <p:spPr>
          <a:xfrm>
            <a:off x="1261872" y="2322576"/>
            <a:ext cx="155448" cy="155448"/>
          </a:xfrm>
          <a:prstGeom prst="ellipse">
            <a:avLst/>
          </a:prstGeom>
          <a:solidFill>
            <a:srgbClr val="1B1F3B"/>
          </a:solidFill>
          <a:ln w="12700">
            <a:solidFill>
              <a:srgbClr val="1B1F3B"/>
            </a:solidFill>
            <a:prstDash val="solid"/>
          </a:ln>
        </p:spPr>
      </p:sp>
      <p:sp>
        <p:nvSpPr>
          <p:cNvPr id="16" name="Shape 13"/>
          <p:cNvSpPr/>
          <p:nvPr/>
        </p:nvSpPr>
        <p:spPr>
          <a:xfrm>
            <a:off x="1572768" y="2322576"/>
            <a:ext cx="155448" cy="155448"/>
          </a:xfrm>
          <a:prstGeom prst="ellipse">
            <a:avLst/>
          </a:prstGeom>
          <a:solidFill>
            <a:srgbClr val="1B1F3B"/>
          </a:solidFill>
          <a:ln w="12700">
            <a:solidFill>
              <a:srgbClr val="1B1F3B"/>
            </a:solidFill>
            <a:prstDash val="solid"/>
          </a:ln>
        </p:spPr>
      </p:sp>
      <p:sp>
        <p:nvSpPr>
          <p:cNvPr id="17" name="Shape 14"/>
          <p:cNvSpPr/>
          <p:nvPr/>
        </p:nvSpPr>
        <p:spPr>
          <a:xfrm>
            <a:off x="1883664" y="2322576"/>
            <a:ext cx="155448" cy="155448"/>
          </a:xfrm>
          <a:prstGeom prst="ellipse">
            <a:avLst/>
          </a:prstGeom>
          <a:solidFill>
            <a:srgbClr val="C3C7D6"/>
          </a:solidFill>
          <a:ln w="12700">
            <a:solidFill>
              <a:srgbClr val="C3C7D6"/>
            </a:solidFill>
            <a:prstDash val="solid"/>
          </a:ln>
        </p:spPr>
      </p:sp>
      <p:sp>
        <p:nvSpPr>
          <p:cNvPr id="18" name="Shape 15"/>
          <p:cNvSpPr/>
          <p:nvPr/>
        </p:nvSpPr>
        <p:spPr>
          <a:xfrm>
            <a:off x="2194560" y="2322576"/>
            <a:ext cx="155448" cy="155448"/>
          </a:xfrm>
          <a:prstGeom prst="ellipse">
            <a:avLst/>
          </a:prstGeom>
          <a:solidFill>
            <a:srgbClr val="1B1F3B"/>
          </a:solidFill>
          <a:ln w="12700">
            <a:solidFill>
              <a:srgbClr val="1B1F3B"/>
            </a:solidFill>
            <a:prstDash val="solid"/>
          </a:ln>
        </p:spPr>
      </p:sp>
      <p:sp>
        <p:nvSpPr>
          <p:cNvPr id="19" name="Shape 16"/>
          <p:cNvSpPr/>
          <p:nvPr/>
        </p:nvSpPr>
        <p:spPr>
          <a:xfrm>
            <a:off x="2505456" y="2322576"/>
            <a:ext cx="155448" cy="155448"/>
          </a:xfrm>
          <a:prstGeom prst="ellipse">
            <a:avLst/>
          </a:prstGeom>
          <a:solidFill>
            <a:srgbClr val="1B1F3B"/>
          </a:solidFill>
          <a:ln w="12700">
            <a:solidFill>
              <a:srgbClr val="1B1F3B"/>
            </a:solidFill>
            <a:prstDash val="solid"/>
          </a:ln>
        </p:spPr>
      </p:sp>
      <p:sp>
        <p:nvSpPr>
          <p:cNvPr id="20" name="Shape 17"/>
          <p:cNvSpPr/>
          <p:nvPr/>
        </p:nvSpPr>
        <p:spPr>
          <a:xfrm>
            <a:off x="2816352" y="2322576"/>
            <a:ext cx="155448" cy="155448"/>
          </a:xfrm>
          <a:prstGeom prst="ellipse">
            <a:avLst/>
          </a:prstGeom>
          <a:solidFill>
            <a:srgbClr val="C3C7D6"/>
          </a:solidFill>
          <a:ln w="12700">
            <a:solidFill>
              <a:srgbClr val="C3C7D6"/>
            </a:solidFill>
            <a:prstDash val="solid"/>
          </a:ln>
        </p:spPr>
      </p:sp>
      <p:sp>
        <p:nvSpPr>
          <p:cNvPr id="21" name="Shape 18"/>
          <p:cNvSpPr/>
          <p:nvPr/>
        </p:nvSpPr>
        <p:spPr>
          <a:xfrm>
            <a:off x="640080" y="2633472"/>
            <a:ext cx="155448" cy="155448"/>
          </a:xfrm>
          <a:prstGeom prst="ellipse">
            <a:avLst/>
          </a:prstGeom>
          <a:solidFill>
            <a:srgbClr val="1B1F3B"/>
          </a:solidFill>
          <a:ln w="12700">
            <a:solidFill>
              <a:srgbClr val="1B1F3B"/>
            </a:solidFill>
            <a:prstDash val="solid"/>
          </a:ln>
        </p:spPr>
      </p:sp>
      <p:sp>
        <p:nvSpPr>
          <p:cNvPr id="22" name="Shape 19"/>
          <p:cNvSpPr/>
          <p:nvPr/>
        </p:nvSpPr>
        <p:spPr>
          <a:xfrm>
            <a:off x="950976" y="2633472"/>
            <a:ext cx="155448" cy="155448"/>
          </a:xfrm>
          <a:prstGeom prst="ellipse">
            <a:avLst/>
          </a:prstGeom>
          <a:solidFill>
            <a:srgbClr val="C3C7D6"/>
          </a:solidFill>
          <a:ln w="12700">
            <a:solidFill>
              <a:srgbClr val="C3C7D6"/>
            </a:solidFill>
            <a:prstDash val="solid"/>
          </a:ln>
        </p:spPr>
      </p:sp>
      <p:sp>
        <p:nvSpPr>
          <p:cNvPr id="23" name="Shape 20"/>
          <p:cNvSpPr/>
          <p:nvPr/>
        </p:nvSpPr>
        <p:spPr>
          <a:xfrm>
            <a:off x="1261872" y="2633472"/>
            <a:ext cx="155448" cy="155448"/>
          </a:xfrm>
          <a:prstGeom prst="ellipse">
            <a:avLst/>
          </a:prstGeom>
          <a:solidFill>
            <a:srgbClr val="C3C7D6"/>
          </a:solidFill>
          <a:ln w="12700">
            <a:solidFill>
              <a:srgbClr val="C3C7D6"/>
            </a:solidFill>
            <a:prstDash val="solid"/>
          </a:ln>
        </p:spPr>
      </p:sp>
      <p:sp>
        <p:nvSpPr>
          <p:cNvPr id="24" name="Shape 21"/>
          <p:cNvSpPr/>
          <p:nvPr/>
        </p:nvSpPr>
        <p:spPr>
          <a:xfrm>
            <a:off x="1572768" y="2633472"/>
            <a:ext cx="155448" cy="155448"/>
          </a:xfrm>
          <a:prstGeom prst="ellipse">
            <a:avLst/>
          </a:prstGeom>
          <a:solidFill>
            <a:srgbClr val="1B1F3B"/>
          </a:solidFill>
          <a:ln w="12700">
            <a:solidFill>
              <a:srgbClr val="1B1F3B"/>
            </a:solidFill>
            <a:prstDash val="solid"/>
          </a:ln>
        </p:spPr>
      </p:sp>
      <p:sp>
        <p:nvSpPr>
          <p:cNvPr id="25" name="Shape 22"/>
          <p:cNvSpPr/>
          <p:nvPr/>
        </p:nvSpPr>
        <p:spPr>
          <a:xfrm>
            <a:off x="1883664" y="2633472"/>
            <a:ext cx="155448" cy="155448"/>
          </a:xfrm>
          <a:prstGeom prst="ellipse">
            <a:avLst/>
          </a:prstGeom>
          <a:solidFill>
            <a:srgbClr val="1B1F3B"/>
          </a:solidFill>
          <a:ln w="12700">
            <a:solidFill>
              <a:srgbClr val="1B1F3B"/>
            </a:solidFill>
            <a:prstDash val="solid"/>
          </a:ln>
        </p:spPr>
      </p:sp>
      <p:sp>
        <p:nvSpPr>
          <p:cNvPr id="26" name="Shape 23"/>
          <p:cNvSpPr/>
          <p:nvPr/>
        </p:nvSpPr>
        <p:spPr>
          <a:xfrm>
            <a:off x="2194560" y="2633472"/>
            <a:ext cx="155448" cy="155448"/>
          </a:xfrm>
          <a:prstGeom prst="ellipse">
            <a:avLst/>
          </a:prstGeom>
          <a:solidFill>
            <a:srgbClr val="C3C7D6"/>
          </a:solidFill>
          <a:ln w="12700">
            <a:solidFill>
              <a:srgbClr val="C3C7D6"/>
            </a:solidFill>
            <a:prstDash val="solid"/>
          </a:ln>
        </p:spPr>
      </p:sp>
      <p:sp>
        <p:nvSpPr>
          <p:cNvPr id="27" name="Shape 24"/>
          <p:cNvSpPr/>
          <p:nvPr/>
        </p:nvSpPr>
        <p:spPr>
          <a:xfrm>
            <a:off x="2505456" y="2633472"/>
            <a:ext cx="155448" cy="155448"/>
          </a:xfrm>
          <a:prstGeom prst="ellipse">
            <a:avLst/>
          </a:prstGeom>
          <a:solidFill>
            <a:srgbClr val="1B1F3B"/>
          </a:solidFill>
          <a:ln w="12700">
            <a:solidFill>
              <a:srgbClr val="1B1F3B"/>
            </a:solidFill>
            <a:prstDash val="solid"/>
          </a:ln>
        </p:spPr>
      </p:sp>
      <p:sp>
        <p:nvSpPr>
          <p:cNvPr id="28" name="Shape 25"/>
          <p:cNvSpPr/>
          <p:nvPr/>
        </p:nvSpPr>
        <p:spPr>
          <a:xfrm>
            <a:off x="2816352" y="2633472"/>
            <a:ext cx="155448" cy="155448"/>
          </a:xfrm>
          <a:prstGeom prst="ellipse">
            <a:avLst/>
          </a:prstGeom>
          <a:solidFill>
            <a:srgbClr val="C3C7D6"/>
          </a:solidFill>
          <a:ln w="12700">
            <a:solidFill>
              <a:srgbClr val="C3C7D6"/>
            </a:solidFill>
            <a:prstDash val="solid"/>
          </a:ln>
        </p:spPr>
      </p:sp>
      <p:sp>
        <p:nvSpPr>
          <p:cNvPr id="29" name="Shape 26"/>
          <p:cNvSpPr/>
          <p:nvPr/>
        </p:nvSpPr>
        <p:spPr>
          <a:xfrm>
            <a:off x="640080" y="2944368"/>
            <a:ext cx="155448" cy="155448"/>
          </a:xfrm>
          <a:prstGeom prst="ellipse">
            <a:avLst/>
          </a:prstGeom>
          <a:solidFill>
            <a:srgbClr val="1B1F3B"/>
          </a:solidFill>
          <a:ln w="12700">
            <a:solidFill>
              <a:srgbClr val="1B1F3B"/>
            </a:solidFill>
            <a:prstDash val="solid"/>
          </a:ln>
        </p:spPr>
      </p:sp>
      <p:sp>
        <p:nvSpPr>
          <p:cNvPr id="30" name="Shape 27"/>
          <p:cNvSpPr/>
          <p:nvPr/>
        </p:nvSpPr>
        <p:spPr>
          <a:xfrm>
            <a:off x="950976" y="2944368"/>
            <a:ext cx="155448" cy="155448"/>
          </a:xfrm>
          <a:prstGeom prst="ellipse">
            <a:avLst/>
          </a:prstGeom>
          <a:solidFill>
            <a:srgbClr val="C3C7D6"/>
          </a:solidFill>
          <a:ln w="12700">
            <a:solidFill>
              <a:srgbClr val="C3C7D6"/>
            </a:solidFill>
            <a:prstDash val="solid"/>
          </a:ln>
        </p:spPr>
      </p:sp>
      <p:sp>
        <p:nvSpPr>
          <p:cNvPr id="31" name="Shape 28"/>
          <p:cNvSpPr/>
          <p:nvPr/>
        </p:nvSpPr>
        <p:spPr>
          <a:xfrm>
            <a:off x="1261872" y="2944368"/>
            <a:ext cx="155448" cy="155448"/>
          </a:xfrm>
          <a:prstGeom prst="ellipse">
            <a:avLst/>
          </a:prstGeom>
          <a:solidFill>
            <a:srgbClr val="1B1F3B"/>
          </a:solidFill>
          <a:ln w="12700">
            <a:solidFill>
              <a:srgbClr val="1B1F3B"/>
            </a:solidFill>
            <a:prstDash val="solid"/>
          </a:ln>
        </p:spPr>
      </p:sp>
      <p:sp>
        <p:nvSpPr>
          <p:cNvPr id="32" name="Shape 29"/>
          <p:cNvSpPr/>
          <p:nvPr/>
        </p:nvSpPr>
        <p:spPr>
          <a:xfrm>
            <a:off x="1572768" y="2944368"/>
            <a:ext cx="155448" cy="155448"/>
          </a:xfrm>
          <a:prstGeom prst="ellipse">
            <a:avLst/>
          </a:prstGeom>
          <a:solidFill>
            <a:srgbClr val="C3C7D6"/>
          </a:solidFill>
          <a:ln w="12700">
            <a:solidFill>
              <a:srgbClr val="C3C7D6"/>
            </a:solidFill>
            <a:prstDash val="solid"/>
          </a:ln>
        </p:spPr>
      </p:sp>
      <p:sp>
        <p:nvSpPr>
          <p:cNvPr id="33" name="Shape 30"/>
          <p:cNvSpPr/>
          <p:nvPr/>
        </p:nvSpPr>
        <p:spPr>
          <a:xfrm>
            <a:off x="1883664" y="2944368"/>
            <a:ext cx="155448" cy="155448"/>
          </a:xfrm>
          <a:prstGeom prst="ellipse">
            <a:avLst/>
          </a:prstGeom>
          <a:solidFill>
            <a:srgbClr val="1B1F3B"/>
          </a:solidFill>
          <a:ln w="12700">
            <a:solidFill>
              <a:srgbClr val="1B1F3B"/>
            </a:solidFill>
            <a:prstDash val="solid"/>
          </a:ln>
        </p:spPr>
      </p:sp>
      <p:sp>
        <p:nvSpPr>
          <p:cNvPr id="34" name="Shape 31"/>
          <p:cNvSpPr/>
          <p:nvPr/>
        </p:nvSpPr>
        <p:spPr>
          <a:xfrm>
            <a:off x="2194560" y="2944368"/>
            <a:ext cx="155448" cy="155448"/>
          </a:xfrm>
          <a:prstGeom prst="ellipse">
            <a:avLst/>
          </a:prstGeom>
          <a:solidFill>
            <a:srgbClr val="1B1F3B"/>
          </a:solidFill>
          <a:ln w="12700">
            <a:solidFill>
              <a:srgbClr val="1B1F3B"/>
            </a:solidFill>
            <a:prstDash val="solid"/>
          </a:ln>
        </p:spPr>
      </p:sp>
      <p:sp>
        <p:nvSpPr>
          <p:cNvPr id="35" name="Shape 32"/>
          <p:cNvSpPr/>
          <p:nvPr/>
        </p:nvSpPr>
        <p:spPr>
          <a:xfrm>
            <a:off x="2505456" y="2944368"/>
            <a:ext cx="155448" cy="155448"/>
          </a:xfrm>
          <a:prstGeom prst="ellipse">
            <a:avLst/>
          </a:prstGeom>
          <a:solidFill>
            <a:srgbClr val="C3C7D6"/>
          </a:solidFill>
          <a:ln w="12700">
            <a:solidFill>
              <a:srgbClr val="C3C7D6"/>
            </a:solidFill>
            <a:prstDash val="solid"/>
          </a:ln>
        </p:spPr>
      </p:sp>
      <p:sp>
        <p:nvSpPr>
          <p:cNvPr id="36" name="Shape 33"/>
          <p:cNvSpPr/>
          <p:nvPr/>
        </p:nvSpPr>
        <p:spPr>
          <a:xfrm>
            <a:off x="2816352" y="2944368"/>
            <a:ext cx="155448" cy="155448"/>
          </a:xfrm>
          <a:prstGeom prst="ellipse">
            <a:avLst/>
          </a:prstGeom>
          <a:solidFill>
            <a:srgbClr val="1B1F3B"/>
          </a:solidFill>
          <a:ln w="12700">
            <a:solidFill>
              <a:srgbClr val="1B1F3B"/>
            </a:solidFill>
            <a:prstDash val="solid"/>
          </a:ln>
        </p:spPr>
      </p:sp>
      <p:sp>
        <p:nvSpPr>
          <p:cNvPr id="37" name="Shape 34"/>
          <p:cNvSpPr/>
          <p:nvPr/>
        </p:nvSpPr>
        <p:spPr>
          <a:xfrm>
            <a:off x="640080" y="3255264"/>
            <a:ext cx="155448" cy="155448"/>
          </a:xfrm>
          <a:prstGeom prst="ellipse">
            <a:avLst/>
          </a:prstGeom>
          <a:solidFill>
            <a:srgbClr val="C3C7D6"/>
          </a:solidFill>
          <a:ln w="12700">
            <a:solidFill>
              <a:srgbClr val="C3C7D6"/>
            </a:solidFill>
            <a:prstDash val="solid"/>
          </a:ln>
        </p:spPr>
      </p:sp>
      <p:sp>
        <p:nvSpPr>
          <p:cNvPr id="38" name="Shape 35"/>
          <p:cNvSpPr/>
          <p:nvPr/>
        </p:nvSpPr>
        <p:spPr>
          <a:xfrm>
            <a:off x="950976" y="3255264"/>
            <a:ext cx="155448" cy="155448"/>
          </a:xfrm>
          <a:prstGeom prst="ellipse">
            <a:avLst/>
          </a:prstGeom>
          <a:solidFill>
            <a:srgbClr val="1B1F3B"/>
          </a:solidFill>
          <a:ln w="12700">
            <a:solidFill>
              <a:srgbClr val="1B1F3B"/>
            </a:solidFill>
            <a:prstDash val="solid"/>
          </a:ln>
        </p:spPr>
      </p:sp>
      <p:sp>
        <p:nvSpPr>
          <p:cNvPr id="39" name="Shape 36"/>
          <p:cNvSpPr/>
          <p:nvPr/>
        </p:nvSpPr>
        <p:spPr>
          <a:xfrm>
            <a:off x="1261872" y="3255264"/>
            <a:ext cx="155448" cy="155448"/>
          </a:xfrm>
          <a:prstGeom prst="ellipse">
            <a:avLst/>
          </a:prstGeom>
          <a:solidFill>
            <a:srgbClr val="C3C7D6"/>
          </a:solidFill>
          <a:ln w="12700">
            <a:solidFill>
              <a:srgbClr val="C3C7D6"/>
            </a:solidFill>
            <a:prstDash val="solid"/>
          </a:ln>
        </p:spPr>
      </p:sp>
      <p:sp>
        <p:nvSpPr>
          <p:cNvPr id="40" name="Shape 37"/>
          <p:cNvSpPr/>
          <p:nvPr/>
        </p:nvSpPr>
        <p:spPr>
          <a:xfrm>
            <a:off x="1572768" y="3255264"/>
            <a:ext cx="155448" cy="155448"/>
          </a:xfrm>
          <a:prstGeom prst="ellipse">
            <a:avLst/>
          </a:prstGeom>
          <a:solidFill>
            <a:srgbClr val="C3C7D6"/>
          </a:solidFill>
          <a:ln w="12700">
            <a:solidFill>
              <a:srgbClr val="C3C7D6"/>
            </a:solidFill>
            <a:prstDash val="solid"/>
          </a:ln>
        </p:spPr>
      </p:sp>
      <p:sp>
        <p:nvSpPr>
          <p:cNvPr id="41" name="Shape 38"/>
          <p:cNvSpPr/>
          <p:nvPr/>
        </p:nvSpPr>
        <p:spPr>
          <a:xfrm>
            <a:off x="1883664" y="3255264"/>
            <a:ext cx="155448" cy="155448"/>
          </a:xfrm>
          <a:prstGeom prst="ellipse">
            <a:avLst/>
          </a:prstGeom>
          <a:solidFill>
            <a:srgbClr val="C3C7D6"/>
          </a:solidFill>
          <a:ln w="12700">
            <a:solidFill>
              <a:srgbClr val="C3C7D6"/>
            </a:solidFill>
            <a:prstDash val="solid"/>
          </a:ln>
        </p:spPr>
      </p:sp>
      <p:sp>
        <p:nvSpPr>
          <p:cNvPr id="42" name="Shape 39"/>
          <p:cNvSpPr/>
          <p:nvPr/>
        </p:nvSpPr>
        <p:spPr>
          <a:xfrm>
            <a:off x="2194560" y="3255264"/>
            <a:ext cx="155448" cy="155448"/>
          </a:xfrm>
          <a:prstGeom prst="ellipse">
            <a:avLst/>
          </a:prstGeom>
          <a:solidFill>
            <a:srgbClr val="1B1F3B"/>
          </a:solidFill>
          <a:ln w="12700">
            <a:solidFill>
              <a:srgbClr val="1B1F3B"/>
            </a:solidFill>
            <a:prstDash val="solid"/>
          </a:ln>
        </p:spPr>
      </p:sp>
      <p:sp>
        <p:nvSpPr>
          <p:cNvPr id="43" name="Shape 40"/>
          <p:cNvSpPr/>
          <p:nvPr/>
        </p:nvSpPr>
        <p:spPr>
          <a:xfrm>
            <a:off x="2505456" y="3255264"/>
            <a:ext cx="155448" cy="155448"/>
          </a:xfrm>
          <a:prstGeom prst="ellipse">
            <a:avLst/>
          </a:prstGeom>
          <a:solidFill>
            <a:srgbClr val="1B1F3B"/>
          </a:solidFill>
          <a:ln w="12700">
            <a:solidFill>
              <a:srgbClr val="1B1F3B"/>
            </a:solidFill>
            <a:prstDash val="solid"/>
          </a:ln>
        </p:spPr>
      </p:sp>
      <p:sp>
        <p:nvSpPr>
          <p:cNvPr id="44" name="Shape 41"/>
          <p:cNvSpPr/>
          <p:nvPr/>
        </p:nvSpPr>
        <p:spPr>
          <a:xfrm>
            <a:off x="2816352" y="3255264"/>
            <a:ext cx="155448" cy="155448"/>
          </a:xfrm>
          <a:prstGeom prst="ellipse">
            <a:avLst/>
          </a:prstGeom>
          <a:solidFill>
            <a:srgbClr val="C3C7D6"/>
          </a:solidFill>
          <a:ln w="12700">
            <a:solidFill>
              <a:srgbClr val="C3C7D6"/>
            </a:solidFill>
            <a:prstDash val="solid"/>
          </a:ln>
        </p:spPr>
      </p:sp>
      <p:sp>
        <p:nvSpPr>
          <p:cNvPr id="45" name="Shape 42"/>
          <p:cNvSpPr/>
          <p:nvPr/>
        </p:nvSpPr>
        <p:spPr>
          <a:xfrm>
            <a:off x="640080" y="3566160"/>
            <a:ext cx="155448" cy="155448"/>
          </a:xfrm>
          <a:prstGeom prst="ellipse">
            <a:avLst/>
          </a:prstGeom>
          <a:solidFill>
            <a:srgbClr val="1B1F3B"/>
          </a:solidFill>
          <a:ln w="12700">
            <a:solidFill>
              <a:srgbClr val="1B1F3B"/>
            </a:solidFill>
            <a:prstDash val="solid"/>
          </a:ln>
        </p:spPr>
      </p:sp>
      <p:sp>
        <p:nvSpPr>
          <p:cNvPr id="46" name="Shape 43"/>
          <p:cNvSpPr/>
          <p:nvPr/>
        </p:nvSpPr>
        <p:spPr>
          <a:xfrm>
            <a:off x="950976" y="3566160"/>
            <a:ext cx="155448" cy="155448"/>
          </a:xfrm>
          <a:prstGeom prst="ellipse">
            <a:avLst/>
          </a:prstGeom>
          <a:solidFill>
            <a:srgbClr val="1B1F3B"/>
          </a:solidFill>
          <a:ln w="12700">
            <a:solidFill>
              <a:srgbClr val="1B1F3B"/>
            </a:solidFill>
            <a:prstDash val="solid"/>
          </a:ln>
        </p:spPr>
      </p:sp>
      <p:sp>
        <p:nvSpPr>
          <p:cNvPr id="47" name="Shape 44"/>
          <p:cNvSpPr/>
          <p:nvPr/>
        </p:nvSpPr>
        <p:spPr>
          <a:xfrm>
            <a:off x="1261872" y="3566160"/>
            <a:ext cx="155448" cy="155448"/>
          </a:xfrm>
          <a:prstGeom prst="ellipse">
            <a:avLst/>
          </a:prstGeom>
          <a:solidFill>
            <a:srgbClr val="C3C7D6"/>
          </a:solidFill>
          <a:ln w="12700">
            <a:solidFill>
              <a:srgbClr val="C3C7D6"/>
            </a:solidFill>
            <a:prstDash val="solid"/>
          </a:ln>
        </p:spPr>
      </p:sp>
      <p:sp>
        <p:nvSpPr>
          <p:cNvPr id="48" name="Shape 45"/>
          <p:cNvSpPr/>
          <p:nvPr/>
        </p:nvSpPr>
        <p:spPr>
          <a:xfrm>
            <a:off x="1572768" y="3566160"/>
            <a:ext cx="155448" cy="155448"/>
          </a:xfrm>
          <a:prstGeom prst="ellipse">
            <a:avLst/>
          </a:prstGeom>
          <a:solidFill>
            <a:srgbClr val="C3C7D6"/>
          </a:solidFill>
          <a:ln w="12700">
            <a:solidFill>
              <a:srgbClr val="C3C7D6"/>
            </a:solidFill>
            <a:prstDash val="solid"/>
          </a:ln>
        </p:spPr>
      </p:sp>
      <p:sp>
        <p:nvSpPr>
          <p:cNvPr id="49" name="Shape 46"/>
          <p:cNvSpPr/>
          <p:nvPr/>
        </p:nvSpPr>
        <p:spPr>
          <a:xfrm>
            <a:off x="1883664" y="3566160"/>
            <a:ext cx="155448" cy="155448"/>
          </a:xfrm>
          <a:prstGeom prst="ellipse">
            <a:avLst/>
          </a:prstGeom>
          <a:solidFill>
            <a:srgbClr val="C3C7D6"/>
          </a:solidFill>
          <a:ln w="12700">
            <a:solidFill>
              <a:srgbClr val="C3C7D6"/>
            </a:solidFill>
            <a:prstDash val="solid"/>
          </a:ln>
        </p:spPr>
      </p:sp>
      <p:sp>
        <p:nvSpPr>
          <p:cNvPr id="50" name="Shape 47"/>
          <p:cNvSpPr/>
          <p:nvPr/>
        </p:nvSpPr>
        <p:spPr>
          <a:xfrm>
            <a:off x="2194560" y="3566160"/>
            <a:ext cx="155448" cy="155448"/>
          </a:xfrm>
          <a:prstGeom prst="ellipse">
            <a:avLst/>
          </a:prstGeom>
          <a:solidFill>
            <a:srgbClr val="1B1F3B"/>
          </a:solidFill>
          <a:ln w="12700">
            <a:solidFill>
              <a:srgbClr val="1B1F3B"/>
            </a:solidFill>
            <a:prstDash val="solid"/>
          </a:ln>
        </p:spPr>
      </p:sp>
      <p:sp>
        <p:nvSpPr>
          <p:cNvPr id="51" name="Shape 48"/>
          <p:cNvSpPr/>
          <p:nvPr/>
        </p:nvSpPr>
        <p:spPr>
          <a:xfrm>
            <a:off x="2505456" y="3566160"/>
            <a:ext cx="155448" cy="155448"/>
          </a:xfrm>
          <a:prstGeom prst="ellipse">
            <a:avLst/>
          </a:prstGeom>
          <a:solidFill>
            <a:srgbClr val="C3C7D6"/>
          </a:solidFill>
          <a:ln w="12700">
            <a:solidFill>
              <a:srgbClr val="C3C7D6"/>
            </a:solidFill>
            <a:prstDash val="solid"/>
          </a:ln>
        </p:spPr>
      </p:sp>
      <p:sp>
        <p:nvSpPr>
          <p:cNvPr id="52" name="Shape 49"/>
          <p:cNvSpPr/>
          <p:nvPr/>
        </p:nvSpPr>
        <p:spPr>
          <a:xfrm>
            <a:off x="2816352" y="3566160"/>
            <a:ext cx="155448" cy="155448"/>
          </a:xfrm>
          <a:prstGeom prst="ellipse">
            <a:avLst/>
          </a:prstGeom>
          <a:solidFill>
            <a:srgbClr val="C3C7D6"/>
          </a:solidFill>
          <a:ln w="12700">
            <a:solidFill>
              <a:srgbClr val="C3C7D6"/>
            </a:solidFill>
            <a:prstDash val="solid"/>
          </a:ln>
        </p:spPr>
      </p:sp>
      <p:sp>
        <p:nvSpPr>
          <p:cNvPr id="53" name="Shape 50"/>
          <p:cNvSpPr/>
          <p:nvPr/>
        </p:nvSpPr>
        <p:spPr>
          <a:xfrm>
            <a:off x="640080" y="3877056"/>
            <a:ext cx="155448" cy="155448"/>
          </a:xfrm>
          <a:prstGeom prst="ellipse">
            <a:avLst/>
          </a:prstGeom>
          <a:solidFill>
            <a:srgbClr val="C3C7D6"/>
          </a:solidFill>
          <a:ln w="12700">
            <a:solidFill>
              <a:srgbClr val="C3C7D6"/>
            </a:solidFill>
            <a:prstDash val="solid"/>
          </a:ln>
        </p:spPr>
      </p:sp>
      <p:sp>
        <p:nvSpPr>
          <p:cNvPr id="54" name="Shape 51"/>
          <p:cNvSpPr/>
          <p:nvPr/>
        </p:nvSpPr>
        <p:spPr>
          <a:xfrm>
            <a:off x="950976" y="3877056"/>
            <a:ext cx="155448" cy="155448"/>
          </a:xfrm>
          <a:prstGeom prst="ellipse">
            <a:avLst/>
          </a:prstGeom>
          <a:solidFill>
            <a:srgbClr val="C3C7D6"/>
          </a:solidFill>
          <a:ln w="12700">
            <a:solidFill>
              <a:srgbClr val="C3C7D6"/>
            </a:solidFill>
            <a:prstDash val="solid"/>
          </a:ln>
        </p:spPr>
      </p:sp>
      <p:sp>
        <p:nvSpPr>
          <p:cNvPr id="55" name="Shape 52"/>
          <p:cNvSpPr/>
          <p:nvPr/>
        </p:nvSpPr>
        <p:spPr>
          <a:xfrm>
            <a:off x="1261872" y="3877056"/>
            <a:ext cx="155448" cy="155448"/>
          </a:xfrm>
          <a:prstGeom prst="ellipse">
            <a:avLst/>
          </a:prstGeom>
          <a:solidFill>
            <a:srgbClr val="1B1F3B"/>
          </a:solidFill>
          <a:ln w="12700">
            <a:solidFill>
              <a:srgbClr val="1B1F3B"/>
            </a:solidFill>
            <a:prstDash val="solid"/>
          </a:ln>
        </p:spPr>
      </p:sp>
      <p:sp>
        <p:nvSpPr>
          <p:cNvPr id="56" name="Shape 53"/>
          <p:cNvSpPr/>
          <p:nvPr/>
        </p:nvSpPr>
        <p:spPr>
          <a:xfrm>
            <a:off x="1572768" y="3877056"/>
            <a:ext cx="155448" cy="155448"/>
          </a:xfrm>
          <a:prstGeom prst="ellipse">
            <a:avLst/>
          </a:prstGeom>
          <a:solidFill>
            <a:srgbClr val="C3C7D6"/>
          </a:solidFill>
          <a:ln w="12700">
            <a:solidFill>
              <a:srgbClr val="C3C7D6"/>
            </a:solidFill>
            <a:prstDash val="solid"/>
          </a:ln>
        </p:spPr>
      </p:sp>
      <p:sp>
        <p:nvSpPr>
          <p:cNvPr id="57" name="Shape 54"/>
          <p:cNvSpPr/>
          <p:nvPr/>
        </p:nvSpPr>
        <p:spPr>
          <a:xfrm>
            <a:off x="1883664" y="3877056"/>
            <a:ext cx="155448" cy="155448"/>
          </a:xfrm>
          <a:prstGeom prst="ellipse">
            <a:avLst/>
          </a:prstGeom>
          <a:solidFill>
            <a:srgbClr val="C3C7D6"/>
          </a:solidFill>
          <a:ln w="12700">
            <a:solidFill>
              <a:srgbClr val="C3C7D6"/>
            </a:solidFill>
            <a:prstDash val="solid"/>
          </a:ln>
        </p:spPr>
      </p:sp>
      <p:sp>
        <p:nvSpPr>
          <p:cNvPr id="58" name="Shape 55"/>
          <p:cNvSpPr/>
          <p:nvPr/>
        </p:nvSpPr>
        <p:spPr>
          <a:xfrm>
            <a:off x="2194560" y="3877056"/>
            <a:ext cx="155448" cy="155448"/>
          </a:xfrm>
          <a:prstGeom prst="ellipse">
            <a:avLst/>
          </a:prstGeom>
          <a:solidFill>
            <a:srgbClr val="1B1F3B"/>
          </a:solidFill>
          <a:ln w="12700">
            <a:solidFill>
              <a:srgbClr val="1B1F3B"/>
            </a:solidFill>
            <a:prstDash val="solid"/>
          </a:ln>
        </p:spPr>
      </p:sp>
      <p:sp>
        <p:nvSpPr>
          <p:cNvPr id="59" name="Shape 56"/>
          <p:cNvSpPr/>
          <p:nvPr/>
        </p:nvSpPr>
        <p:spPr>
          <a:xfrm>
            <a:off x="2505456" y="3877056"/>
            <a:ext cx="155448" cy="155448"/>
          </a:xfrm>
          <a:prstGeom prst="ellipse">
            <a:avLst/>
          </a:prstGeom>
          <a:solidFill>
            <a:srgbClr val="C3C7D6"/>
          </a:solidFill>
          <a:ln w="12700">
            <a:solidFill>
              <a:srgbClr val="C3C7D6"/>
            </a:solidFill>
            <a:prstDash val="solid"/>
          </a:ln>
        </p:spPr>
      </p:sp>
      <p:sp>
        <p:nvSpPr>
          <p:cNvPr id="60" name="Shape 57"/>
          <p:cNvSpPr/>
          <p:nvPr/>
        </p:nvSpPr>
        <p:spPr>
          <a:xfrm>
            <a:off x="2816352" y="3877056"/>
            <a:ext cx="155448" cy="155448"/>
          </a:xfrm>
          <a:prstGeom prst="ellipse">
            <a:avLst/>
          </a:prstGeom>
          <a:solidFill>
            <a:srgbClr val="C3C7D6"/>
          </a:solidFill>
          <a:ln w="12700">
            <a:solidFill>
              <a:srgbClr val="C3C7D6"/>
            </a:solidFill>
            <a:prstDash val="solid"/>
          </a:ln>
        </p:spPr>
      </p:sp>
      <p:sp>
        <p:nvSpPr>
          <p:cNvPr id="61" name="Shape 58"/>
          <p:cNvSpPr/>
          <p:nvPr/>
        </p:nvSpPr>
        <p:spPr>
          <a:xfrm>
            <a:off x="640080" y="4187952"/>
            <a:ext cx="155448" cy="155448"/>
          </a:xfrm>
          <a:prstGeom prst="ellipse">
            <a:avLst/>
          </a:prstGeom>
          <a:solidFill>
            <a:srgbClr val="C3C7D6"/>
          </a:solidFill>
          <a:ln w="12700">
            <a:solidFill>
              <a:srgbClr val="C3C7D6"/>
            </a:solidFill>
            <a:prstDash val="solid"/>
          </a:ln>
        </p:spPr>
      </p:sp>
      <p:sp>
        <p:nvSpPr>
          <p:cNvPr id="62" name="Shape 59"/>
          <p:cNvSpPr/>
          <p:nvPr/>
        </p:nvSpPr>
        <p:spPr>
          <a:xfrm>
            <a:off x="950976" y="4187952"/>
            <a:ext cx="155448" cy="155448"/>
          </a:xfrm>
          <a:prstGeom prst="ellipse">
            <a:avLst/>
          </a:prstGeom>
          <a:solidFill>
            <a:srgbClr val="1B1F3B"/>
          </a:solidFill>
          <a:ln w="12700">
            <a:solidFill>
              <a:srgbClr val="1B1F3B"/>
            </a:solidFill>
            <a:prstDash val="solid"/>
          </a:ln>
        </p:spPr>
      </p:sp>
      <p:sp>
        <p:nvSpPr>
          <p:cNvPr id="63" name="Shape 60"/>
          <p:cNvSpPr/>
          <p:nvPr/>
        </p:nvSpPr>
        <p:spPr>
          <a:xfrm>
            <a:off x="1261872" y="4187952"/>
            <a:ext cx="155448" cy="155448"/>
          </a:xfrm>
          <a:prstGeom prst="ellipse">
            <a:avLst/>
          </a:prstGeom>
          <a:solidFill>
            <a:srgbClr val="C3C7D6"/>
          </a:solidFill>
          <a:ln w="12700">
            <a:solidFill>
              <a:srgbClr val="C3C7D6"/>
            </a:solidFill>
            <a:prstDash val="solid"/>
          </a:ln>
        </p:spPr>
      </p:sp>
      <p:sp>
        <p:nvSpPr>
          <p:cNvPr id="64" name="Shape 61"/>
          <p:cNvSpPr/>
          <p:nvPr/>
        </p:nvSpPr>
        <p:spPr>
          <a:xfrm>
            <a:off x="1572768" y="4187952"/>
            <a:ext cx="155448" cy="155448"/>
          </a:xfrm>
          <a:prstGeom prst="ellipse">
            <a:avLst/>
          </a:prstGeom>
          <a:solidFill>
            <a:srgbClr val="C3C7D6"/>
          </a:solidFill>
          <a:ln w="12700">
            <a:solidFill>
              <a:srgbClr val="C3C7D6"/>
            </a:solidFill>
            <a:prstDash val="solid"/>
          </a:ln>
        </p:spPr>
      </p:sp>
      <p:sp>
        <p:nvSpPr>
          <p:cNvPr id="65" name="Shape 62"/>
          <p:cNvSpPr/>
          <p:nvPr/>
        </p:nvSpPr>
        <p:spPr>
          <a:xfrm>
            <a:off x="1883664" y="4187952"/>
            <a:ext cx="155448" cy="155448"/>
          </a:xfrm>
          <a:prstGeom prst="ellipse">
            <a:avLst/>
          </a:prstGeom>
          <a:solidFill>
            <a:srgbClr val="1B1F3B"/>
          </a:solidFill>
          <a:ln w="12700">
            <a:solidFill>
              <a:srgbClr val="1B1F3B"/>
            </a:solidFill>
            <a:prstDash val="solid"/>
          </a:ln>
        </p:spPr>
      </p:sp>
      <p:sp>
        <p:nvSpPr>
          <p:cNvPr id="66" name="Shape 63"/>
          <p:cNvSpPr/>
          <p:nvPr/>
        </p:nvSpPr>
        <p:spPr>
          <a:xfrm>
            <a:off x="2194560" y="4187952"/>
            <a:ext cx="155448" cy="155448"/>
          </a:xfrm>
          <a:prstGeom prst="ellipse">
            <a:avLst/>
          </a:prstGeom>
          <a:solidFill>
            <a:srgbClr val="C3C7D6"/>
          </a:solidFill>
          <a:ln w="12700">
            <a:solidFill>
              <a:srgbClr val="C3C7D6"/>
            </a:solidFill>
            <a:prstDash val="solid"/>
          </a:ln>
        </p:spPr>
      </p:sp>
      <p:sp>
        <p:nvSpPr>
          <p:cNvPr id="67" name="Shape 64"/>
          <p:cNvSpPr/>
          <p:nvPr/>
        </p:nvSpPr>
        <p:spPr>
          <a:xfrm>
            <a:off x="2505456" y="4187952"/>
            <a:ext cx="155448" cy="155448"/>
          </a:xfrm>
          <a:prstGeom prst="ellipse">
            <a:avLst/>
          </a:prstGeom>
          <a:solidFill>
            <a:srgbClr val="C3C7D6"/>
          </a:solidFill>
          <a:ln w="12700">
            <a:solidFill>
              <a:srgbClr val="C3C7D6"/>
            </a:solidFill>
            <a:prstDash val="solid"/>
          </a:ln>
        </p:spPr>
      </p:sp>
      <p:sp>
        <p:nvSpPr>
          <p:cNvPr id="68" name="Shape 65"/>
          <p:cNvSpPr/>
          <p:nvPr/>
        </p:nvSpPr>
        <p:spPr>
          <a:xfrm>
            <a:off x="2816352" y="4187952"/>
            <a:ext cx="155448" cy="155448"/>
          </a:xfrm>
          <a:prstGeom prst="ellipse">
            <a:avLst/>
          </a:prstGeom>
          <a:solidFill>
            <a:srgbClr val="C3C7D6"/>
          </a:solidFill>
          <a:ln w="12700">
            <a:solidFill>
              <a:srgbClr val="C3C7D6"/>
            </a:solidFill>
            <a:prstDash val="solid"/>
          </a:ln>
        </p:spPr>
      </p:sp>
      <p:sp>
        <p:nvSpPr>
          <p:cNvPr id="69" name="Text 66"/>
          <p:cNvSpPr txBox="1"/>
          <p:nvPr/>
        </p:nvSpPr>
        <p:spPr>
          <a:xfrm>
            <a:off x="640080" y="4617720"/>
            <a:ext cx="2743200" cy="365760"/>
          </a:xfrm>
          <a:prstGeom prst="rect">
            <a:avLst/>
          </a:prstGeom>
          <a:noFill/>
          <a:ln/>
        </p:spPr>
        <p:txBody>
          <a:bodyPr wrap="square" lIns="0" tIns="0" rIns="0" bIns="0" rtlCol="0" anchor="t"/>
          <a:lstStyle/>
          <a:p>
            <a:pPr indent="0" marL="0">
              <a:buNone/>
            </a:pPr>
            <a:r>
              <a:rPr lang="en-US" sz="1400" dirty="0">
                <a:solidFill>
                  <a:schemeClr val="tx2"/>
                </a:solidFill>
              </a:rPr>
              <a:t>전체 사용자 64명</a:t>
            </a:r>
            <a:endParaRPr lang="en-US" sz="1400" dirty="0"/>
          </a:p>
        </p:txBody>
      </p:sp>
      <p:sp>
        <p:nvSpPr>
          <p:cNvPr id="70" name="Shape 67"/>
          <p:cNvSpPr/>
          <p:nvPr/>
        </p:nvSpPr>
        <p:spPr>
          <a:xfrm>
            <a:off x="3383280" y="3108960"/>
            <a:ext cx="914400" cy="0"/>
          </a:xfrm>
          <a:prstGeom prst="line">
            <a:avLst/>
          </a:prstGeom>
          <a:noFill/>
          <a:ln w="19050">
            <a:solidFill>
              <a:srgbClr val="8A90A8"/>
            </a:solidFill>
            <a:prstDash val="solid"/>
            <a:tailEnd type="triangle"/>
          </a:ln>
        </p:spPr>
      </p:sp>
      <p:sp>
        <p:nvSpPr>
          <p:cNvPr id="71" name="Text 68"/>
          <p:cNvSpPr txBox="1"/>
          <p:nvPr/>
        </p:nvSpPr>
        <p:spPr>
          <a:xfrm>
            <a:off x="3246120" y="3246120"/>
            <a:ext cx="1371600" cy="365760"/>
          </a:xfrm>
          <a:prstGeom prst="rect">
            <a:avLst/>
          </a:prstGeom>
          <a:noFill/>
          <a:ln/>
        </p:spPr>
        <p:txBody>
          <a:bodyPr wrap="square" lIns="0" tIns="0" rIns="0" bIns="0" rtlCol="0" anchor="t"/>
          <a:lstStyle/>
          <a:p>
            <a:pPr indent="0" marL="0">
              <a:buNone/>
            </a:pPr>
            <a:r>
              <a:rPr lang="en-US" sz="1400" dirty="0">
                <a:solidFill>
                  <a:schemeClr val="tx2"/>
                </a:solidFill>
              </a:rPr>
              <a:t>무작위 배정</a:t>
            </a:r>
            <a:endParaRPr lang="en-US" sz="1400" dirty="0"/>
          </a:p>
        </p:txBody>
      </p:sp>
      <p:sp>
        <p:nvSpPr>
          <p:cNvPr id="72" name="Shape 69"/>
          <p:cNvSpPr/>
          <p:nvPr/>
        </p:nvSpPr>
        <p:spPr>
          <a:xfrm>
            <a:off x="4663440" y="2011680"/>
            <a:ext cx="155448" cy="155448"/>
          </a:xfrm>
          <a:prstGeom prst="ellipse">
            <a:avLst/>
          </a:prstGeom>
          <a:solidFill>
            <a:srgbClr val="3A5BFF"/>
          </a:solidFill>
          <a:ln w="12700">
            <a:solidFill>
              <a:srgbClr val="3A5BFF"/>
            </a:solidFill>
            <a:prstDash val="solid"/>
          </a:ln>
        </p:spPr>
      </p:sp>
      <p:sp>
        <p:nvSpPr>
          <p:cNvPr id="73" name="Shape 70"/>
          <p:cNvSpPr/>
          <p:nvPr/>
        </p:nvSpPr>
        <p:spPr>
          <a:xfrm>
            <a:off x="4974336" y="2011680"/>
            <a:ext cx="155448" cy="155448"/>
          </a:xfrm>
          <a:prstGeom prst="ellipse">
            <a:avLst/>
          </a:prstGeom>
          <a:solidFill>
            <a:srgbClr val="C9D3FF"/>
          </a:solidFill>
          <a:ln w="12700">
            <a:solidFill>
              <a:srgbClr val="C9D3FF"/>
            </a:solidFill>
            <a:prstDash val="solid"/>
          </a:ln>
        </p:spPr>
      </p:sp>
      <p:sp>
        <p:nvSpPr>
          <p:cNvPr id="74" name="Shape 71"/>
          <p:cNvSpPr/>
          <p:nvPr/>
        </p:nvSpPr>
        <p:spPr>
          <a:xfrm>
            <a:off x="5285232" y="2011680"/>
            <a:ext cx="155448" cy="155448"/>
          </a:xfrm>
          <a:prstGeom prst="ellipse">
            <a:avLst/>
          </a:prstGeom>
          <a:solidFill>
            <a:srgbClr val="3A5BFF"/>
          </a:solidFill>
          <a:ln w="12700">
            <a:solidFill>
              <a:srgbClr val="3A5BFF"/>
            </a:solidFill>
            <a:prstDash val="solid"/>
          </a:ln>
        </p:spPr>
      </p:sp>
      <p:sp>
        <p:nvSpPr>
          <p:cNvPr id="75" name="Shape 72"/>
          <p:cNvSpPr/>
          <p:nvPr/>
        </p:nvSpPr>
        <p:spPr>
          <a:xfrm>
            <a:off x="5596128" y="2011680"/>
            <a:ext cx="155448" cy="155448"/>
          </a:xfrm>
          <a:prstGeom prst="ellipse">
            <a:avLst/>
          </a:prstGeom>
          <a:solidFill>
            <a:srgbClr val="C9D3FF"/>
          </a:solidFill>
          <a:ln w="12700">
            <a:solidFill>
              <a:srgbClr val="C9D3FF"/>
            </a:solidFill>
            <a:prstDash val="solid"/>
          </a:ln>
        </p:spPr>
      </p:sp>
      <p:sp>
        <p:nvSpPr>
          <p:cNvPr id="76" name="Shape 73"/>
          <p:cNvSpPr/>
          <p:nvPr/>
        </p:nvSpPr>
        <p:spPr>
          <a:xfrm>
            <a:off x="5907024" y="2011680"/>
            <a:ext cx="155448" cy="155448"/>
          </a:xfrm>
          <a:prstGeom prst="ellipse">
            <a:avLst/>
          </a:prstGeom>
          <a:solidFill>
            <a:srgbClr val="3A5BFF"/>
          </a:solidFill>
          <a:ln w="12700">
            <a:solidFill>
              <a:srgbClr val="3A5BFF"/>
            </a:solidFill>
            <a:prstDash val="solid"/>
          </a:ln>
        </p:spPr>
      </p:sp>
      <p:sp>
        <p:nvSpPr>
          <p:cNvPr id="77" name="Shape 74"/>
          <p:cNvSpPr/>
          <p:nvPr/>
        </p:nvSpPr>
        <p:spPr>
          <a:xfrm>
            <a:off x="6217920" y="2011680"/>
            <a:ext cx="155448" cy="155448"/>
          </a:xfrm>
          <a:prstGeom prst="ellipse">
            <a:avLst/>
          </a:prstGeom>
          <a:solidFill>
            <a:srgbClr val="C9D3FF"/>
          </a:solidFill>
          <a:ln w="12700">
            <a:solidFill>
              <a:srgbClr val="C9D3FF"/>
            </a:solidFill>
            <a:prstDash val="solid"/>
          </a:ln>
        </p:spPr>
      </p:sp>
      <p:sp>
        <p:nvSpPr>
          <p:cNvPr id="78" name="Shape 75"/>
          <p:cNvSpPr/>
          <p:nvPr/>
        </p:nvSpPr>
        <p:spPr>
          <a:xfrm>
            <a:off x="4663440" y="2322576"/>
            <a:ext cx="155448" cy="155448"/>
          </a:xfrm>
          <a:prstGeom prst="ellipse">
            <a:avLst/>
          </a:prstGeom>
          <a:solidFill>
            <a:srgbClr val="C9D3FF"/>
          </a:solidFill>
          <a:ln w="12700">
            <a:solidFill>
              <a:srgbClr val="C9D3FF"/>
            </a:solidFill>
            <a:prstDash val="solid"/>
          </a:ln>
        </p:spPr>
      </p:sp>
      <p:sp>
        <p:nvSpPr>
          <p:cNvPr id="79" name="Shape 76"/>
          <p:cNvSpPr/>
          <p:nvPr/>
        </p:nvSpPr>
        <p:spPr>
          <a:xfrm>
            <a:off x="4974336" y="2322576"/>
            <a:ext cx="155448" cy="155448"/>
          </a:xfrm>
          <a:prstGeom prst="ellipse">
            <a:avLst/>
          </a:prstGeom>
          <a:solidFill>
            <a:srgbClr val="3A5BFF"/>
          </a:solidFill>
          <a:ln w="12700">
            <a:solidFill>
              <a:srgbClr val="3A5BFF"/>
            </a:solidFill>
            <a:prstDash val="solid"/>
          </a:ln>
        </p:spPr>
      </p:sp>
      <p:sp>
        <p:nvSpPr>
          <p:cNvPr id="80" name="Shape 77"/>
          <p:cNvSpPr/>
          <p:nvPr/>
        </p:nvSpPr>
        <p:spPr>
          <a:xfrm>
            <a:off x="5285232" y="2322576"/>
            <a:ext cx="155448" cy="155448"/>
          </a:xfrm>
          <a:prstGeom prst="ellipse">
            <a:avLst/>
          </a:prstGeom>
          <a:solidFill>
            <a:srgbClr val="3A5BFF"/>
          </a:solidFill>
          <a:ln w="12700">
            <a:solidFill>
              <a:srgbClr val="3A5BFF"/>
            </a:solidFill>
            <a:prstDash val="solid"/>
          </a:ln>
        </p:spPr>
      </p:sp>
      <p:sp>
        <p:nvSpPr>
          <p:cNvPr id="81" name="Shape 78"/>
          <p:cNvSpPr/>
          <p:nvPr/>
        </p:nvSpPr>
        <p:spPr>
          <a:xfrm>
            <a:off x="5596128" y="2322576"/>
            <a:ext cx="155448" cy="155448"/>
          </a:xfrm>
          <a:prstGeom prst="ellipse">
            <a:avLst/>
          </a:prstGeom>
          <a:solidFill>
            <a:srgbClr val="C9D3FF"/>
          </a:solidFill>
          <a:ln w="12700">
            <a:solidFill>
              <a:srgbClr val="C9D3FF"/>
            </a:solidFill>
            <a:prstDash val="solid"/>
          </a:ln>
        </p:spPr>
      </p:sp>
      <p:sp>
        <p:nvSpPr>
          <p:cNvPr id="82" name="Shape 79"/>
          <p:cNvSpPr/>
          <p:nvPr/>
        </p:nvSpPr>
        <p:spPr>
          <a:xfrm>
            <a:off x="5907024" y="2322576"/>
            <a:ext cx="155448" cy="155448"/>
          </a:xfrm>
          <a:prstGeom prst="ellipse">
            <a:avLst/>
          </a:prstGeom>
          <a:solidFill>
            <a:srgbClr val="C9D3FF"/>
          </a:solidFill>
          <a:ln w="12700">
            <a:solidFill>
              <a:srgbClr val="C9D3FF"/>
            </a:solidFill>
            <a:prstDash val="solid"/>
          </a:ln>
        </p:spPr>
      </p:sp>
      <p:sp>
        <p:nvSpPr>
          <p:cNvPr id="83" name="Shape 80"/>
          <p:cNvSpPr/>
          <p:nvPr/>
        </p:nvSpPr>
        <p:spPr>
          <a:xfrm>
            <a:off x="6217920" y="2322576"/>
            <a:ext cx="155448" cy="155448"/>
          </a:xfrm>
          <a:prstGeom prst="ellipse">
            <a:avLst/>
          </a:prstGeom>
          <a:solidFill>
            <a:srgbClr val="3A5BFF"/>
          </a:solidFill>
          <a:ln w="12700">
            <a:solidFill>
              <a:srgbClr val="3A5BFF"/>
            </a:solidFill>
            <a:prstDash val="solid"/>
          </a:ln>
        </p:spPr>
      </p:sp>
      <p:sp>
        <p:nvSpPr>
          <p:cNvPr id="84" name="Shape 81"/>
          <p:cNvSpPr/>
          <p:nvPr/>
        </p:nvSpPr>
        <p:spPr>
          <a:xfrm>
            <a:off x="4663440" y="2633472"/>
            <a:ext cx="155448" cy="155448"/>
          </a:xfrm>
          <a:prstGeom prst="ellipse">
            <a:avLst/>
          </a:prstGeom>
          <a:solidFill>
            <a:srgbClr val="3A5BFF"/>
          </a:solidFill>
          <a:ln w="12700">
            <a:solidFill>
              <a:srgbClr val="3A5BFF"/>
            </a:solidFill>
            <a:prstDash val="solid"/>
          </a:ln>
        </p:spPr>
      </p:sp>
      <p:sp>
        <p:nvSpPr>
          <p:cNvPr id="85" name="Shape 82"/>
          <p:cNvSpPr/>
          <p:nvPr/>
        </p:nvSpPr>
        <p:spPr>
          <a:xfrm>
            <a:off x="4974336" y="2633472"/>
            <a:ext cx="155448" cy="155448"/>
          </a:xfrm>
          <a:prstGeom prst="ellipse">
            <a:avLst/>
          </a:prstGeom>
          <a:solidFill>
            <a:srgbClr val="3A5BFF"/>
          </a:solidFill>
          <a:ln w="12700">
            <a:solidFill>
              <a:srgbClr val="3A5BFF"/>
            </a:solidFill>
            <a:prstDash val="solid"/>
          </a:ln>
        </p:spPr>
      </p:sp>
      <p:sp>
        <p:nvSpPr>
          <p:cNvPr id="86" name="Shape 83"/>
          <p:cNvSpPr/>
          <p:nvPr/>
        </p:nvSpPr>
        <p:spPr>
          <a:xfrm>
            <a:off x="5285232" y="2633472"/>
            <a:ext cx="155448" cy="155448"/>
          </a:xfrm>
          <a:prstGeom prst="ellipse">
            <a:avLst/>
          </a:prstGeom>
          <a:solidFill>
            <a:srgbClr val="C9D3FF"/>
          </a:solidFill>
          <a:ln w="12700">
            <a:solidFill>
              <a:srgbClr val="C9D3FF"/>
            </a:solidFill>
            <a:prstDash val="solid"/>
          </a:ln>
        </p:spPr>
      </p:sp>
      <p:sp>
        <p:nvSpPr>
          <p:cNvPr id="87" name="Shape 84"/>
          <p:cNvSpPr/>
          <p:nvPr/>
        </p:nvSpPr>
        <p:spPr>
          <a:xfrm>
            <a:off x="5596128" y="2633472"/>
            <a:ext cx="155448" cy="155448"/>
          </a:xfrm>
          <a:prstGeom prst="ellipse">
            <a:avLst/>
          </a:prstGeom>
          <a:solidFill>
            <a:srgbClr val="3A5BFF"/>
          </a:solidFill>
          <a:ln w="12700">
            <a:solidFill>
              <a:srgbClr val="3A5BFF"/>
            </a:solidFill>
            <a:prstDash val="solid"/>
          </a:ln>
        </p:spPr>
      </p:sp>
      <p:sp>
        <p:nvSpPr>
          <p:cNvPr id="88" name="Shape 85"/>
          <p:cNvSpPr/>
          <p:nvPr/>
        </p:nvSpPr>
        <p:spPr>
          <a:xfrm>
            <a:off x="5907024" y="2633472"/>
            <a:ext cx="155448" cy="155448"/>
          </a:xfrm>
          <a:prstGeom prst="ellipse">
            <a:avLst/>
          </a:prstGeom>
          <a:solidFill>
            <a:srgbClr val="3A5BFF"/>
          </a:solidFill>
          <a:ln w="12700">
            <a:solidFill>
              <a:srgbClr val="3A5BFF"/>
            </a:solidFill>
            <a:prstDash val="solid"/>
          </a:ln>
        </p:spPr>
      </p:sp>
      <p:sp>
        <p:nvSpPr>
          <p:cNvPr id="89" name="Shape 86"/>
          <p:cNvSpPr/>
          <p:nvPr/>
        </p:nvSpPr>
        <p:spPr>
          <a:xfrm>
            <a:off x="6217920" y="2633472"/>
            <a:ext cx="155448" cy="155448"/>
          </a:xfrm>
          <a:prstGeom prst="ellipse">
            <a:avLst/>
          </a:prstGeom>
          <a:solidFill>
            <a:srgbClr val="C9D3FF"/>
          </a:solidFill>
          <a:ln w="12700">
            <a:solidFill>
              <a:srgbClr val="C9D3FF"/>
            </a:solidFill>
            <a:prstDash val="solid"/>
          </a:ln>
        </p:spPr>
      </p:sp>
      <p:sp>
        <p:nvSpPr>
          <p:cNvPr id="90" name="Shape 87"/>
          <p:cNvSpPr/>
          <p:nvPr/>
        </p:nvSpPr>
        <p:spPr>
          <a:xfrm>
            <a:off x="4663440" y="2944368"/>
            <a:ext cx="155448" cy="155448"/>
          </a:xfrm>
          <a:prstGeom prst="ellipse">
            <a:avLst/>
          </a:prstGeom>
          <a:solidFill>
            <a:srgbClr val="C9D3FF"/>
          </a:solidFill>
          <a:ln w="12700">
            <a:solidFill>
              <a:srgbClr val="C9D3FF"/>
            </a:solidFill>
            <a:prstDash val="solid"/>
          </a:ln>
        </p:spPr>
      </p:sp>
      <p:sp>
        <p:nvSpPr>
          <p:cNvPr id="91" name="Shape 88"/>
          <p:cNvSpPr/>
          <p:nvPr/>
        </p:nvSpPr>
        <p:spPr>
          <a:xfrm>
            <a:off x="4974336" y="2944368"/>
            <a:ext cx="155448" cy="155448"/>
          </a:xfrm>
          <a:prstGeom prst="ellipse">
            <a:avLst/>
          </a:prstGeom>
          <a:solidFill>
            <a:srgbClr val="3A5BFF"/>
          </a:solidFill>
          <a:ln w="12700">
            <a:solidFill>
              <a:srgbClr val="3A5BFF"/>
            </a:solidFill>
            <a:prstDash val="solid"/>
          </a:ln>
        </p:spPr>
      </p:sp>
      <p:sp>
        <p:nvSpPr>
          <p:cNvPr id="92" name="Shape 89"/>
          <p:cNvSpPr/>
          <p:nvPr/>
        </p:nvSpPr>
        <p:spPr>
          <a:xfrm>
            <a:off x="5285232" y="2944368"/>
            <a:ext cx="155448" cy="155448"/>
          </a:xfrm>
          <a:prstGeom prst="ellipse">
            <a:avLst/>
          </a:prstGeom>
          <a:solidFill>
            <a:srgbClr val="C9D3FF"/>
          </a:solidFill>
          <a:ln w="12700">
            <a:solidFill>
              <a:srgbClr val="C9D3FF"/>
            </a:solidFill>
            <a:prstDash val="solid"/>
          </a:ln>
        </p:spPr>
      </p:sp>
      <p:sp>
        <p:nvSpPr>
          <p:cNvPr id="93" name="Shape 90"/>
          <p:cNvSpPr/>
          <p:nvPr/>
        </p:nvSpPr>
        <p:spPr>
          <a:xfrm>
            <a:off x="5596128" y="2944368"/>
            <a:ext cx="155448" cy="155448"/>
          </a:xfrm>
          <a:prstGeom prst="ellipse">
            <a:avLst/>
          </a:prstGeom>
          <a:solidFill>
            <a:srgbClr val="C9D3FF"/>
          </a:solidFill>
          <a:ln w="12700">
            <a:solidFill>
              <a:srgbClr val="C9D3FF"/>
            </a:solidFill>
            <a:prstDash val="solid"/>
          </a:ln>
        </p:spPr>
      </p:sp>
      <p:sp>
        <p:nvSpPr>
          <p:cNvPr id="94" name="Shape 91"/>
          <p:cNvSpPr/>
          <p:nvPr/>
        </p:nvSpPr>
        <p:spPr>
          <a:xfrm>
            <a:off x="5907024" y="2944368"/>
            <a:ext cx="155448" cy="155448"/>
          </a:xfrm>
          <a:prstGeom prst="ellipse">
            <a:avLst/>
          </a:prstGeom>
          <a:solidFill>
            <a:srgbClr val="C9D3FF"/>
          </a:solidFill>
          <a:ln w="12700">
            <a:solidFill>
              <a:srgbClr val="C9D3FF"/>
            </a:solidFill>
            <a:prstDash val="solid"/>
          </a:ln>
        </p:spPr>
      </p:sp>
      <p:sp>
        <p:nvSpPr>
          <p:cNvPr id="95" name="Shape 92"/>
          <p:cNvSpPr/>
          <p:nvPr/>
        </p:nvSpPr>
        <p:spPr>
          <a:xfrm>
            <a:off x="6217920" y="2944368"/>
            <a:ext cx="155448" cy="155448"/>
          </a:xfrm>
          <a:prstGeom prst="ellipse">
            <a:avLst/>
          </a:prstGeom>
          <a:solidFill>
            <a:srgbClr val="3A5BFF"/>
          </a:solidFill>
          <a:ln w="12700">
            <a:solidFill>
              <a:srgbClr val="3A5BFF"/>
            </a:solidFill>
            <a:prstDash val="solid"/>
          </a:ln>
        </p:spPr>
      </p:sp>
      <p:sp>
        <p:nvSpPr>
          <p:cNvPr id="96" name="Shape 93"/>
          <p:cNvSpPr/>
          <p:nvPr/>
        </p:nvSpPr>
        <p:spPr>
          <a:xfrm>
            <a:off x="4663440" y="3255264"/>
            <a:ext cx="155448" cy="155448"/>
          </a:xfrm>
          <a:prstGeom prst="ellipse">
            <a:avLst/>
          </a:prstGeom>
          <a:solidFill>
            <a:srgbClr val="C9D3FF"/>
          </a:solidFill>
          <a:ln w="12700">
            <a:solidFill>
              <a:srgbClr val="C9D3FF"/>
            </a:solidFill>
            <a:prstDash val="solid"/>
          </a:ln>
        </p:spPr>
      </p:sp>
      <p:sp>
        <p:nvSpPr>
          <p:cNvPr id="97" name="Shape 94"/>
          <p:cNvSpPr/>
          <p:nvPr/>
        </p:nvSpPr>
        <p:spPr>
          <a:xfrm>
            <a:off x="4974336" y="3255264"/>
            <a:ext cx="155448" cy="155448"/>
          </a:xfrm>
          <a:prstGeom prst="ellipse">
            <a:avLst/>
          </a:prstGeom>
          <a:solidFill>
            <a:srgbClr val="C9D3FF"/>
          </a:solidFill>
          <a:ln w="12700">
            <a:solidFill>
              <a:srgbClr val="C9D3FF"/>
            </a:solidFill>
            <a:prstDash val="solid"/>
          </a:ln>
        </p:spPr>
      </p:sp>
      <p:sp>
        <p:nvSpPr>
          <p:cNvPr id="98" name="Shape 95"/>
          <p:cNvSpPr/>
          <p:nvPr/>
        </p:nvSpPr>
        <p:spPr>
          <a:xfrm>
            <a:off x="5285232" y="3255264"/>
            <a:ext cx="155448" cy="155448"/>
          </a:xfrm>
          <a:prstGeom prst="ellipse">
            <a:avLst/>
          </a:prstGeom>
          <a:solidFill>
            <a:srgbClr val="C9D3FF"/>
          </a:solidFill>
          <a:ln w="12700">
            <a:solidFill>
              <a:srgbClr val="C9D3FF"/>
            </a:solidFill>
            <a:prstDash val="solid"/>
          </a:ln>
        </p:spPr>
      </p:sp>
      <p:sp>
        <p:nvSpPr>
          <p:cNvPr id="99" name="Shape 96"/>
          <p:cNvSpPr/>
          <p:nvPr/>
        </p:nvSpPr>
        <p:spPr>
          <a:xfrm>
            <a:off x="5596128" y="3255264"/>
            <a:ext cx="155448" cy="155448"/>
          </a:xfrm>
          <a:prstGeom prst="ellipse">
            <a:avLst/>
          </a:prstGeom>
          <a:solidFill>
            <a:srgbClr val="C9D3FF"/>
          </a:solidFill>
          <a:ln w="12700">
            <a:solidFill>
              <a:srgbClr val="C9D3FF"/>
            </a:solidFill>
            <a:prstDash val="solid"/>
          </a:ln>
        </p:spPr>
      </p:sp>
      <p:sp>
        <p:nvSpPr>
          <p:cNvPr id="100" name="Text 97"/>
          <p:cNvSpPr txBox="1"/>
          <p:nvPr/>
        </p:nvSpPr>
        <p:spPr>
          <a:xfrm>
            <a:off x="4663440" y="4617720"/>
            <a:ext cx="2194560" cy="731520"/>
          </a:xfrm>
          <a:prstGeom prst="rect">
            <a:avLst/>
          </a:prstGeom>
          <a:noFill/>
          <a:ln/>
        </p:spPr>
        <p:txBody>
          <a:bodyPr wrap="square" lIns="0" tIns="0" rIns="0" bIns="0" rtlCol="0" anchor="t"/>
          <a:lstStyle/>
          <a:p>
            <a:pPr indent="0" marL="0">
              <a:buNone/>
            </a:pPr>
            <a:r>
              <a:rPr lang="en-US" sz="1500" b="1" dirty="0">
                <a:solidFill>
                  <a:schemeClr val="accent1"/>
                </a:solidFill>
              </a:rPr>
              <a:t>A 대조군</a:t>
            </a:r>
            <a:endParaRPr lang="en-US" sz="1500" dirty="0"/>
          </a:p>
          <a:p>
            <a:pPr indent="0" marL="0">
              <a:buNone/>
            </a:pPr>
            <a:r>
              <a:rPr lang="en-US" sz="1400" dirty="0">
                <a:solidFill>
                  <a:schemeClr val="tx2"/>
                </a:solidFill>
              </a:rPr>
              <a:t>28명 · 충성 사용자 43%</a:t>
            </a:r>
            <a:endParaRPr lang="en-US" sz="1500" dirty="0"/>
          </a:p>
        </p:txBody>
      </p:sp>
      <p:sp>
        <p:nvSpPr>
          <p:cNvPr id="101" name="Shape 98"/>
          <p:cNvSpPr/>
          <p:nvPr/>
        </p:nvSpPr>
        <p:spPr>
          <a:xfrm>
            <a:off x="6949440" y="2011680"/>
            <a:ext cx="155448" cy="155448"/>
          </a:xfrm>
          <a:prstGeom prst="ellipse">
            <a:avLst/>
          </a:prstGeom>
          <a:solidFill>
            <a:srgbClr val="0E9C9C"/>
          </a:solidFill>
          <a:ln w="12700">
            <a:solidFill>
              <a:srgbClr val="0E9C9C"/>
            </a:solidFill>
            <a:prstDash val="solid"/>
          </a:ln>
        </p:spPr>
      </p:sp>
      <p:sp>
        <p:nvSpPr>
          <p:cNvPr id="102" name="Shape 99"/>
          <p:cNvSpPr/>
          <p:nvPr/>
        </p:nvSpPr>
        <p:spPr>
          <a:xfrm>
            <a:off x="7260336" y="2011680"/>
            <a:ext cx="155448" cy="155448"/>
          </a:xfrm>
          <a:prstGeom prst="ellipse">
            <a:avLst/>
          </a:prstGeom>
          <a:solidFill>
            <a:srgbClr val="B7E3E3"/>
          </a:solidFill>
          <a:ln w="12700">
            <a:solidFill>
              <a:srgbClr val="B7E3E3"/>
            </a:solidFill>
            <a:prstDash val="solid"/>
          </a:ln>
        </p:spPr>
      </p:sp>
      <p:sp>
        <p:nvSpPr>
          <p:cNvPr id="103" name="Shape 100"/>
          <p:cNvSpPr/>
          <p:nvPr/>
        </p:nvSpPr>
        <p:spPr>
          <a:xfrm>
            <a:off x="7571232" y="2011680"/>
            <a:ext cx="155448" cy="155448"/>
          </a:xfrm>
          <a:prstGeom prst="ellipse">
            <a:avLst/>
          </a:prstGeom>
          <a:solidFill>
            <a:srgbClr val="0E9C9C"/>
          </a:solidFill>
          <a:ln w="12700">
            <a:solidFill>
              <a:srgbClr val="0E9C9C"/>
            </a:solidFill>
            <a:prstDash val="solid"/>
          </a:ln>
        </p:spPr>
      </p:sp>
      <p:sp>
        <p:nvSpPr>
          <p:cNvPr id="104" name="Shape 101"/>
          <p:cNvSpPr/>
          <p:nvPr/>
        </p:nvSpPr>
        <p:spPr>
          <a:xfrm>
            <a:off x="7882128" y="2011680"/>
            <a:ext cx="155448" cy="155448"/>
          </a:xfrm>
          <a:prstGeom prst="ellipse">
            <a:avLst/>
          </a:prstGeom>
          <a:solidFill>
            <a:srgbClr val="0E9C9C"/>
          </a:solidFill>
          <a:ln w="12700">
            <a:solidFill>
              <a:srgbClr val="0E9C9C"/>
            </a:solidFill>
            <a:prstDash val="solid"/>
          </a:ln>
        </p:spPr>
      </p:sp>
      <p:sp>
        <p:nvSpPr>
          <p:cNvPr id="105" name="Shape 102"/>
          <p:cNvSpPr/>
          <p:nvPr/>
        </p:nvSpPr>
        <p:spPr>
          <a:xfrm>
            <a:off x="8193024" y="2011680"/>
            <a:ext cx="155448" cy="155448"/>
          </a:xfrm>
          <a:prstGeom prst="ellipse">
            <a:avLst/>
          </a:prstGeom>
          <a:solidFill>
            <a:srgbClr val="B7E3E3"/>
          </a:solidFill>
          <a:ln w="12700">
            <a:solidFill>
              <a:srgbClr val="B7E3E3"/>
            </a:solidFill>
            <a:prstDash val="solid"/>
          </a:ln>
        </p:spPr>
      </p:sp>
      <p:sp>
        <p:nvSpPr>
          <p:cNvPr id="106" name="Shape 103"/>
          <p:cNvSpPr/>
          <p:nvPr/>
        </p:nvSpPr>
        <p:spPr>
          <a:xfrm>
            <a:off x="8503920" y="2011680"/>
            <a:ext cx="155448" cy="155448"/>
          </a:xfrm>
          <a:prstGeom prst="ellipse">
            <a:avLst/>
          </a:prstGeom>
          <a:solidFill>
            <a:srgbClr val="B7E3E3"/>
          </a:solidFill>
          <a:ln w="12700">
            <a:solidFill>
              <a:srgbClr val="B7E3E3"/>
            </a:solidFill>
            <a:prstDash val="solid"/>
          </a:ln>
        </p:spPr>
      </p:sp>
      <p:sp>
        <p:nvSpPr>
          <p:cNvPr id="107" name="Shape 104"/>
          <p:cNvSpPr/>
          <p:nvPr/>
        </p:nvSpPr>
        <p:spPr>
          <a:xfrm>
            <a:off x="6949440" y="2322576"/>
            <a:ext cx="155448" cy="155448"/>
          </a:xfrm>
          <a:prstGeom prst="ellipse">
            <a:avLst/>
          </a:prstGeom>
          <a:solidFill>
            <a:srgbClr val="B7E3E3"/>
          </a:solidFill>
          <a:ln w="12700">
            <a:solidFill>
              <a:srgbClr val="B7E3E3"/>
            </a:solidFill>
            <a:prstDash val="solid"/>
          </a:ln>
        </p:spPr>
      </p:sp>
      <p:sp>
        <p:nvSpPr>
          <p:cNvPr id="108" name="Shape 105"/>
          <p:cNvSpPr/>
          <p:nvPr/>
        </p:nvSpPr>
        <p:spPr>
          <a:xfrm>
            <a:off x="7260336" y="2322576"/>
            <a:ext cx="155448" cy="155448"/>
          </a:xfrm>
          <a:prstGeom prst="ellipse">
            <a:avLst/>
          </a:prstGeom>
          <a:solidFill>
            <a:srgbClr val="B7E3E3"/>
          </a:solidFill>
          <a:ln w="12700">
            <a:solidFill>
              <a:srgbClr val="B7E3E3"/>
            </a:solidFill>
            <a:prstDash val="solid"/>
          </a:ln>
        </p:spPr>
      </p:sp>
      <p:sp>
        <p:nvSpPr>
          <p:cNvPr id="109" name="Shape 106"/>
          <p:cNvSpPr/>
          <p:nvPr/>
        </p:nvSpPr>
        <p:spPr>
          <a:xfrm>
            <a:off x="7571232" y="2322576"/>
            <a:ext cx="155448" cy="155448"/>
          </a:xfrm>
          <a:prstGeom prst="ellipse">
            <a:avLst/>
          </a:prstGeom>
          <a:solidFill>
            <a:srgbClr val="0E9C9C"/>
          </a:solidFill>
          <a:ln w="12700">
            <a:solidFill>
              <a:srgbClr val="0E9C9C"/>
            </a:solidFill>
            <a:prstDash val="solid"/>
          </a:ln>
        </p:spPr>
      </p:sp>
      <p:sp>
        <p:nvSpPr>
          <p:cNvPr id="110" name="Shape 107"/>
          <p:cNvSpPr/>
          <p:nvPr/>
        </p:nvSpPr>
        <p:spPr>
          <a:xfrm>
            <a:off x="7882128" y="2322576"/>
            <a:ext cx="155448" cy="155448"/>
          </a:xfrm>
          <a:prstGeom prst="ellipse">
            <a:avLst/>
          </a:prstGeom>
          <a:solidFill>
            <a:srgbClr val="0E9C9C"/>
          </a:solidFill>
          <a:ln w="12700">
            <a:solidFill>
              <a:srgbClr val="0E9C9C"/>
            </a:solidFill>
            <a:prstDash val="solid"/>
          </a:ln>
        </p:spPr>
      </p:sp>
      <p:sp>
        <p:nvSpPr>
          <p:cNvPr id="111" name="Shape 108"/>
          <p:cNvSpPr/>
          <p:nvPr/>
        </p:nvSpPr>
        <p:spPr>
          <a:xfrm>
            <a:off x="8193024" y="2322576"/>
            <a:ext cx="155448" cy="155448"/>
          </a:xfrm>
          <a:prstGeom prst="ellipse">
            <a:avLst/>
          </a:prstGeom>
          <a:solidFill>
            <a:srgbClr val="0E9C9C"/>
          </a:solidFill>
          <a:ln w="12700">
            <a:solidFill>
              <a:srgbClr val="0E9C9C"/>
            </a:solidFill>
            <a:prstDash val="solid"/>
          </a:ln>
        </p:spPr>
      </p:sp>
      <p:sp>
        <p:nvSpPr>
          <p:cNvPr id="112" name="Shape 109"/>
          <p:cNvSpPr/>
          <p:nvPr/>
        </p:nvSpPr>
        <p:spPr>
          <a:xfrm>
            <a:off x="8503920" y="2322576"/>
            <a:ext cx="155448" cy="155448"/>
          </a:xfrm>
          <a:prstGeom prst="ellipse">
            <a:avLst/>
          </a:prstGeom>
          <a:solidFill>
            <a:srgbClr val="B7E3E3"/>
          </a:solidFill>
          <a:ln w="12700">
            <a:solidFill>
              <a:srgbClr val="B7E3E3"/>
            </a:solidFill>
            <a:prstDash val="solid"/>
          </a:ln>
        </p:spPr>
      </p:sp>
      <p:sp>
        <p:nvSpPr>
          <p:cNvPr id="113" name="Shape 110"/>
          <p:cNvSpPr/>
          <p:nvPr/>
        </p:nvSpPr>
        <p:spPr>
          <a:xfrm>
            <a:off x="6949440" y="2633472"/>
            <a:ext cx="155448" cy="155448"/>
          </a:xfrm>
          <a:prstGeom prst="ellipse">
            <a:avLst/>
          </a:prstGeom>
          <a:solidFill>
            <a:srgbClr val="0E9C9C"/>
          </a:solidFill>
          <a:ln w="12700">
            <a:solidFill>
              <a:srgbClr val="0E9C9C"/>
            </a:solidFill>
            <a:prstDash val="solid"/>
          </a:ln>
        </p:spPr>
      </p:sp>
      <p:sp>
        <p:nvSpPr>
          <p:cNvPr id="114" name="Shape 111"/>
          <p:cNvSpPr/>
          <p:nvPr/>
        </p:nvSpPr>
        <p:spPr>
          <a:xfrm>
            <a:off x="7260336" y="2633472"/>
            <a:ext cx="155448" cy="155448"/>
          </a:xfrm>
          <a:prstGeom prst="ellipse">
            <a:avLst/>
          </a:prstGeom>
          <a:solidFill>
            <a:srgbClr val="B7E3E3"/>
          </a:solidFill>
          <a:ln w="12700">
            <a:solidFill>
              <a:srgbClr val="B7E3E3"/>
            </a:solidFill>
            <a:prstDash val="solid"/>
          </a:ln>
        </p:spPr>
      </p:sp>
      <p:sp>
        <p:nvSpPr>
          <p:cNvPr id="115" name="Shape 112"/>
          <p:cNvSpPr/>
          <p:nvPr/>
        </p:nvSpPr>
        <p:spPr>
          <a:xfrm>
            <a:off x="7571232" y="2633472"/>
            <a:ext cx="155448" cy="155448"/>
          </a:xfrm>
          <a:prstGeom prst="ellipse">
            <a:avLst/>
          </a:prstGeom>
          <a:solidFill>
            <a:srgbClr val="B7E3E3"/>
          </a:solidFill>
          <a:ln w="12700">
            <a:solidFill>
              <a:srgbClr val="B7E3E3"/>
            </a:solidFill>
            <a:prstDash val="solid"/>
          </a:ln>
        </p:spPr>
      </p:sp>
      <p:sp>
        <p:nvSpPr>
          <p:cNvPr id="116" name="Shape 113"/>
          <p:cNvSpPr/>
          <p:nvPr/>
        </p:nvSpPr>
        <p:spPr>
          <a:xfrm>
            <a:off x="7882128" y="2633472"/>
            <a:ext cx="155448" cy="155448"/>
          </a:xfrm>
          <a:prstGeom prst="ellipse">
            <a:avLst/>
          </a:prstGeom>
          <a:solidFill>
            <a:srgbClr val="0E9C9C"/>
          </a:solidFill>
          <a:ln w="12700">
            <a:solidFill>
              <a:srgbClr val="0E9C9C"/>
            </a:solidFill>
            <a:prstDash val="solid"/>
          </a:ln>
        </p:spPr>
      </p:sp>
      <p:sp>
        <p:nvSpPr>
          <p:cNvPr id="117" name="Shape 114"/>
          <p:cNvSpPr/>
          <p:nvPr/>
        </p:nvSpPr>
        <p:spPr>
          <a:xfrm>
            <a:off x="8193024" y="2633472"/>
            <a:ext cx="155448" cy="155448"/>
          </a:xfrm>
          <a:prstGeom prst="ellipse">
            <a:avLst/>
          </a:prstGeom>
          <a:solidFill>
            <a:srgbClr val="0E9C9C"/>
          </a:solidFill>
          <a:ln w="12700">
            <a:solidFill>
              <a:srgbClr val="0E9C9C"/>
            </a:solidFill>
            <a:prstDash val="solid"/>
          </a:ln>
        </p:spPr>
      </p:sp>
      <p:sp>
        <p:nvSpPr>
          <p:cNvPr id="118" name="Shape 115"/>
          <p:cNvSpPr/>
          <p:nvPr/>
        </p:nvSpPr>
        <p:spPr>
          <a:xfrm>
            <a:off x="8503920" y="2633472"/>
            <a:ext cx="155448" cy="155448"/>
          </a:xfrm>
          <a:prstGeom prst="ellipse">
            <a:avLst/>
          </a:prstGeom>
          <a:solidFill>
            <a:srgbClr val="B7E3E3"/>
          </a:solidFill>
          <a:ln w="12700">
            <a:solidFill>
              <a:srgbClr val="B7E3E3"/>
            </a:solidFill>
            <a:prstDash val="solid"/>
          </a:ln>
        </p:spPr>
      </p:sp>
      <p:sp>
        <p:nvSpPr>
          <p:cNvPr id="119" name="Shape 116"/>
          <p:cNvSpPr/>
          <p:nvPr/>
        </p:nvSpPr>
        <p:spPr>
          <a:xfrm>
            <a:off x="6949440" y="2944368"/>
            <a:ext cx="155448" cy="155448"/>
          </a:xfrm>
          <a:prstGeom prst="ellipse">
            <a:avLst/>
          </a:prstGeom>
          <a:solidFill>
            <a:srgbClr val="0E9C9C"/>
          </a:solidFill>
          <a:ln w="12700">
            <a:solidFill>
              <a:srgbClr val="0E9C9C"/>
            </a:solidFill>
            <a:prstDash val="solid"/>
          </a:ln>
        </p:spPr>
      </p:sp>
      <p:sp>
        <p:nvSpPr>
          <p:cNvPr id="120" name="Shape 117"/>
          <p:cNvSpPr/>
          <p:nvPr/>
        </p:nvSpPr>
        <p:spPr>
          <a:xfrm>
            <a:off x="7260336" y="2944368"/>
            <a:ext cx="155448" cy="155448"/>
          </a:xfrm>
          <a:prstGeom prst="ellipse">
            <a:avLst/>
          </a:prstGeom>
          <a:solidFill>
            <a:srgbClr val="B7E3E3"/>
          </a:solidFill>
          <a:ln w="12700">
            <a:solidFill>
              <a:srgbClr val="B7E3E3"/>
            </a:solidFill>
            <a:prstDash val="solid"/>
          </a:ln>
        </p:spPr>
      </p:sp>
      <p:sp>
        <p:nvSpPr>
          <p:cNvPr id="121" name="Shape 118"/>
          <p:cNvSpPr/>
          <p:nvPr/>
        </p:nvSpPr>
        <p:spPr>
          <a:xfrm>
            <a:off x="7571232" y="2944368"/>
            <a:ext cx="155448" cy="155448"/>
          </a:xfrm>
          <a:prstGeom prst="ellipse">
            <a:avLst/>
          </a:prstGeom>
          <a:solidFill>
            <a:srgbClr val="B7E3E3"/>
          </a:solidFill>
          <a:ln w="12700">
            <a:solidFill>
              <a:srgbClr val="B7E3E3"/>
            </a:solidFill>
            <a:prstDash val="solid"/>
          </a:ln>
        </p:spPr>
      </p:sp>
      <p:sp>
        <p:nvSpPr>
          <p:cNvPr id="122" name="Shape 119"/>
          <p:cNvSpPr/>
          <p:nvPr/>
        </p:nvSpPr>
        <p:spPr>
          <a:xfrm>
            <a:off x="7882128" y="2944368"/>
            <a:ext cx="155448" cy="155448"/>
          </a:xfrm>
          <a:prstGeom prst="ellipse">
            <a:avLst/>
          </a:prstGeom>
          <a:solidFill>
            <a:srgbClr val="B7E3E3"/>
          </a:solidFill>
          <a:ln w="12700">
            <a:solidFill>
              <a:srgbClr val="B7E3E3"/>
            </a:solidFill>
            <a:prstDash val="solid"/>
          </a:ln>
        </p:spPr>
      </p:sp>
      <p:sp>
        <p:nvSpPr>
          <p:cNvPr id="123" name="Shape 120"/>
          <p:cNvSpPr/>
          <p:nvPr/>
        </p:nvSpPr>
        <p:spPr>
          <a:xfrm>
            <a:off x="8193024" y="2944368"/>
            <a:ext cx="155448" cy="155448"/>
          </a:xfrm>
          <a:prstGeom prst="ellipse">
            <a:avLst/>
          </a:prstGeom>
          <a:solidFill>
            <a:srgbClr val="0E9C9C"/>
          </a:solidFill>
          <a:ln w="12700">
            <a:solidFill>
              <a:srgbClr val="0E9C9C"/>
            </a:solidFill>
            <a:prstDash val="solid"/>
          </a:ln>
        </p:spPr>
      </p:sp>
      <p:sp>
        <p:nvSpPr>
          <p:cNvPr id="124" name="Shape 121"/>
          <p:cNvSpPr/>
          <p:nvPr/>
        </p:nvSpPr>
        <p:spPr>
          <a:xfrm>
            <a:off x="8503920" y="2944368"/>
            <a:ext cx="155448" cy="155448"/>
          </a:xfrm>
          <a:prstGeom prst="ellipse">
            <a:avLst/>
          </a:prstGeom>
          <a:solidFill>
            <a:srgbClr val="B7E3E3"/>
          </a:solidFill>
          <a:ln w="12700">
            <a:solidFill>
              <a:srgbClr val="B7E3E3"/>
            </a:solidFill>
            <a:prstDash val="solid"/>
          </a:ln>
        </p:spPr>
      </p:sp>
      <p:sp>
        <p:nvSpPr>
          <p:cNvPr id="125" name="Shape 122"/>
          <p:cNvSpPr/>
          <p:nvPr/>
        </p:nvSpPr>
        <p:spPr>
          <a:xfrm>
            <a:off x="6949440" y="3255264"/>
            <a:ext cx="155448" cy="155448"/>
          </a:xfrm>
          <a:prstGeom prst="ellipse">
            <a:avLst/>
          </a:prstGeom>
          <a:solidFill>
            <a:srgbClr val="0E9C9C"/>
          </a:solidFill>
          <a:ln w="12700">
            <a:solidFill>
              <a:srgbClr val="0E9C9C"/>
            </a:solidFill>
            <a:prstDash val="solid"/>
          </a:ln>
        </p:spPr>
      </p:sp>
      <p:sp>
        <p:nvSpPr>
          <p:cNvPr id="126" name="Shape 123"/>
          <p:cNvSpPr/>
          <p:nvPr/>
        </p:nvSpPr>
        <p:spPr>
          <a:xfrm>
            <a:off x="7260336" y="3255264"/>
            <a:ext cx="155448" cy="155448"/>
          </a:xfrm>
          <a:prstGeom prst="ellipse">
            <a:avLst/>
          </a:prstGeom>
          <a:solidFill>
            <a:srgbClr val="B7E3E3"/>
          </a:solidFill>
          <a:ln w="12700">
            <a:solidFill>
              <a:srgbClr val="B7E3E3"/>
            </a:solidFill>
            <a:prstDash val="solid"/>
          </a:ln>
        </p:spPr>
      </p:sp>
      <p:sp>
        <p:nvSpPr>
          <p:cNvPr id="127" name="Shape 124"/>
          <p:cNvSpPr/>
          <p:nvPr/>
        </p:nvSpPr>
        <p:spPr>
          <a:xfrm>
            <a:off x="7571232" y="3255264"/>
            <a:ext cx="155448" cy="155448"/>
          </a:xfrm>
          <a:prstGeom prst="ellipse">
            <a:avLst/>
          </a:prstGeom>
          <a:solidFill>
            <a:srgbClr val="B7E3E3"/>
          </a:solidFill>
          <a:ln w="12700">
            <a:solidFill>
              <a:srgbClr val="B7E3E3"/>
            </a:solidFill>
            <a:prstDash val="solid"/>
          </a:ln>
        </p:spPr>
      </p:sp>
      <p:sp>
        <p:nvSpPr>
          <p:cNvPr id="128" name="Shape 125"/>
          <p:cNvSpPr/>
          <p:nvPr/>
        </p:nvSpPr>
        <p:spPr>
          <a:xfrm>
            <a:off x="7882128" y="3255264"/>
            <a:ext cx="155448" cy="155448"/>
          </a:xfrm>
          <a:prstGeom prst="ellipse">
            <a:avLst/>
          </a:prstGeom>
          <a:solidFill>
            <a:srgbClr val="B7E3E3"/>
          </a:solidFill>
          <a:ln w="12700">
            <a:solidFill>
              <a:srgbClr val="B7E3E3"/>
            </a:solidFill>
            <a:prstDash val="solid"/>
          </a:ln>
        </p:spPr>
      </p:sp>
      <p:sp>
        <p:nvSpPr>
          <p:cNvPr id="129" name="Shape 126"/>
          <p:cNvSpPr/>
          <p:nvPr/>
        </p:nvSpPr>
        <p:spPr>
          <a:xfrm>
            <a:off x="8193024" y="3255264"/>
            <a:ext cx="155448" cy="155448"/>
          </a:xfrm>
          <a:prstGeom prst="ellipse">
            <a:avLst/>
          </a:prstGeom>
          <a:solidFill>
            <a:srgbClr val="B7E3E3"/>
          </a:solidFill>
          <a:ln w="12700">
            <a:solidFill>
              <a:srgbClr val="B7E3E3"/>
            </a:solidFill>
            <a:prstDash val="solid"/>
          </a:ln>
        </p:spPr>
      </p:sp>
      <p:sp>
        <p:nvSpPr>
          <p:cNvPr id="130" name="Shape 127"/>
          <p:cNvSpPr/>
          <p:nvPr/>
        </p:nvSpPr>
        <p:spPr>
          <a:xfrm>
            <a:off x="8503920" y="3255264"/>
            <a:ext cx="155448" cy="155448"/>
          </a:xfrm>
          <a:prstGeom prst="ellipse">
            <a:avLst/>
          </a:prstGeom>
          <a:solidFill>
            <a:srgbClr val="0E9C9C"/>
          </a:solidFill>
          <a:ln w="12700">
            <a:solidFill>
              <a:srgbClr val="0E9C9C"/>
            </a:solidFill>
            <a:prstDash val="solid"/>
          </a:ln>
        </p:spPr>
      </p:sp>
      <p:sp>
        <p:nvSpPr>
          <p:cNvPr id="131" name="Shape 128"/>
          <p:cNvSpPr/>
          <p:nvPr/>
        </p:nvSpPr>
        <p:spPr>
          <a:xfrm>
            <a:off x="6949440" y="3566160"/>
            <a:ext cx="155448" cy="155448"/>
          </a:xfrm>
          <a:prstGeom prst="ellipse">
            <a:avLst/>
          </a:prstGeom>
          <a:solidFill>
            <a:srgbClr val="B7E3E3"/>
          </a:solidFill>
          <a:ln w="12700">
            <a:solidFill>
              <a:srgbClr val="B7E3E3"/>
            </a:solidFill>
            <a:prstDash val="solid"/>
          </a:ln>
        </p:spPr>
      </p:sp>
      <p:sp>
        <p:nvSpPr>
          <p:cNvPr id="132" name="Shape 129"/>
          <p:cNvSpPr/>
          <p:nvPr/>
        </p:nvSpPr>
        <p:spPr>
          <a:xfrm>
            <a:off x="7260336" y="3566160"/>
            <a:ext cx="155448" cy="155448"/>
          </a:xfrm>
          <a:prstGeom prst="ellipse">
            <a:avLst/>
          </a:prstGeom>
          <a:solidFill>
            <a:srgbClr val="B7E3E3"/>
          </a:solidFill>
          <a:ln w="12700">
            <a:solidFill>
              <a:srgbClr val="B7E3E3"/>
            </a:solidFill>
            <a:prstDash val="solid"/>
          </a:ln>
        </p:spPr>
      </p:sp>
      <p:sp>
        <p:nvSpPr>
          <p:cNvPr id="133" name="Shape 130"/>
          <p:cNvSpPr/>
          <p:nvPr/>
        </p:nvSpPr>
        <p:spPr>
          <a:xfrm>
            <a:off x="7571232" y="3566160"/>
            <a:ext cx="155448" cy="155448"/>
          </a:xfrm>
          <a:prstGeom prst="ellipse">
            <a:avLst/>
          </a:prstGeom>
          <a:solidFill>
            <a:srgbClr val="0E9C9C"/>
          </a:solidFill>
          <a:ln w="12700">
            <a:solidFill>
              <a:srgbClr val="0E9C9C"/>
            </a:solidFill>
            <a:prstDash val="solid"/>
          </a:ln>
        </p:spPr>
      </p:sp>
      <p:sp>
        <p:nvSpPr>
          <p:cNvPr id="134" name="Shape 131"/>
          <p:cNvSpPr/>
          <p:nvPr/>
        </p:nvSpPr>
        <p:spPr>
          <a:xfrm>
            <a:off x="7882128" y="3566160"/>
            <a:ext cx="155448" cy="155448"/>
          </a:xfrm>
          <a:prstGeom prst="ellipse">
            <a:avLst/>
          </a:prstGeom>
          <a:solidFill>
            <a:srgbClr val="B7E3E3"/>
          </a:solidFill>
          <a:ln w="12700">
            <a:solidFill>
              <a:srgbClr val="B7E3E3"/>
            </a:solidFill>
            <a:prstDash val="solid"/>
          </a:ln>
        </p:spPr>
      </p:sp>
      <p:sp>
        <p:nvSpPr>
          <p:cNvPr id="135" name="Shape 132"/>
          <p:cNvSpPr/>
          <p:nvPr/>
        </p:nvSpPr>
        <p:spPr>
          <a:xfrm>
            <a:off x="8193024" y="3566160"/>
            <a:ext cx="155448" cy="155448"/>
          </a:xfrm>
          <a:prstGeom prst="ellipse">
            <a:avLst/>
          </a:prstGeom>
          <a:solidFill>
            <a:srgbClr val="0E9C9C"/>
          </a:solidFill>
          <a:ln w="12700">
            <a:solidFill>
              <a:srgbClr val="0E9C9C"/>
            </a:solidFill>
            <a:prstDash val="solid"/>
          </a:ln>
        </p:spPr>
      </p:sp>
      <p:sp>
        <p:nvSpPr>
          <p:cNvPr id="136" name="Shape 133"/>
          <p:cNvSpPr/>
          <p:nvPr/>
        </p:nvSpPr>
        <p:spPr>
          <a:xfrm>
            <a:off x="8503920" y="3566160"/>
            <a:ext cx="155448" cy="155448"/>
          </a:xfrm>
          <a:prstGeom prst="ellipse">
            <a:avLst/>
          </a:prstGeom>
          <a:solidFill>
            <a:srgbClr val="B7E3E3"/>
          </a:solidFill>
          <a:ln w="12700">
            <a:solidFill>
              <a:srgbClr val="B7E3E3"/>
            </a:solidFill>
            <a:prstDash val="solid"/>
          </a:ln>
        </p:spPr>
      </p:sp>
      <p:sp>
        <p:nvSpPr>
          <p:cNvPr id="137" name="Text 134"/>
          <p:cNvSpPr txBox="1"/>
          <p:nvPr/>
        </p:nvSpPr>
        <p:spPr>
          <a:xfrm>
            <a:off x="6949440" y="4617720"/>
            <a:ext cx="2194560" cy="731520"/>
          </a:xfrm>
          <a:prstGeom prst="rect">
            <a:avLst/>
          </a:prstGeom>
          <a:noFill/>
          <a:ln/>
        </p:spPr>
        <p:txBody>
          <a:bodyPr wrap="square" lIns="0" tIns="0" rIns="0" bIns="0" rtlCol="0" anchor="t"/>
          <a:lstStyle/>
          <a:p>
            <a:pPr indent="0" marL="0">
              <a:buNone/>
            </a:pPr>
            <a:r>
              <a:rPr lang="en-US" sz="1500" b="1" dirty="0">
                <a:solidFill>
                  <a:schemeClr val="accent2"/>
                </a:solidFill>
              </a:rPr>
              <a:t>B 실험군</a:t>
            </a:r>
            <a:endParaRPr lang="en-US" sz="1500" dirty="0"/>
          </a:p>
          <a:p>
            <a:pPr indent="0" marL="0">
              <a:buNone/>
            </a:pPr>
            <a:r>
              <a:rPr lang="en-US" sz="1400" dirty="0">
                <a:solidFill>
                  <a:schemeClr val="tx2"/>
                </a:solidFill>
              </a:rPr>
              <a:t>36명 · 충성 사용자 42%</a:t>
            </a:r>
            <a:endParaRPr lang="en-US" sz="1500" dirty="0"/>
          </a:p>
        </p:txBody>
      </p:sp>
      <p:sp>
        <p:nvSpPr>
          <p:cNvPr id="138" name="Text 135"/>
          <p:cNvSpPr txBox="1"/>
          <p:nvPr/>
        </p:nvSpPr>
        <p:spPr>
          <a:xfrm>
            <a:off x="9235440" y="2011680"/>
            <a:ext cx="2377440" cy="3291840"/>
          </a:xfrm>
          <a:prstGeom prst="rect">
            <a:avLst/>
          </a:prstGeom>
          <a:noFill/>
          <a:ln/>
        </p:spPr>
        <p:txBody>
          <a:bodyPr wrap="square" lIns="0" tIns="0" rIns="0" bIns="0" rtlCol="0" anchor="t"/>
          <a:lstStyle/>
          <a:p>
            <a:pPr indent="0" marL="0">
              <a:buNone/>
            </a:pPr>
            <a:r>
              <a:rPr lang="en-US" sz="2000" b="1" dirty="0">
                <a:solidFill>
                  <a:schemeClr val="tx1"/>
                </a:solidFill>
              </a:rPr>
              <a:t>두 그룹의 차이</a:t>
            </a:r>
            <a:endParaRPr lang="en-US" sz="1500" dirty="0"/>
          </a:p>
          <a:p>
            <a:pPr indent="0" marL="0">
              <a:spcAft>
                <a:spcPts val="1400"/>
              </a:spcAft>
              <a:buNone/>
            </a:pPr>
            <a:r>
              <a:rPr lang="en-US" sz="2000" b="1" dirty="0">
                <a:solidFill>
                  <a:schemeClr val="accent1"/>
                </a:solidFill>
              </a:rPr>
              <a:t>= 처치 효과 + 우연</a:t>
            </a:r>
            <a:endParaRPr lang="en-US" sz="1500" dirty="0"/>
          </a:p>
          <a:p>
            <a:pPr indent="0" marL="0">
              <a:buNone/>
            </a:pPr>
            <a:r>
              <a:rPr lang="en-US" sz="1500" b="1" dirty="0">
                <a:solidFill>
                  <a:schemeClr val="tx1"/>
                </a:solidFill>
              </a:rPr>
              <a:t>좋은 배정의 조건</a:t>
            </a:r>
            <a:endParaRPr lang="en-US" sz="1500" dirty="0"/>
          </a:p>
          <a:p>
            <a:pPr marL="342900" indent="-342900">
              <a:buSzPct val="100000"/>
              <a:buChar char="•"/>
            </a:pPr>
            <a:r>
              <a:rPr lang="en-US" sz="1400" dirty="0">
                <a:solidFill>
                  <a:schemeClr val="tx2"/>
                </a:solidFill>
              </a:rPr>
              <a:t>지속성: 실험 내내 같은 그룹</a:t>
            </a:r>
            <a:endParaRPr lang="en-US" sz="1500" dirty="0"/>
          </a:p>
          <a:p>
            <a:pPr marL="342900" indent="-342900">
              <a:buSzPct val="100000"/>
              <a:buChar char="•"/>
            </a:pPr>
            <a:r>
              <a:rPr lang="en-US" sz="1400" dirty="0">
                <a:solidFill>
                  <a:schemeClr val="tx2"/>
                </a:solidFill>
              </a:rPr>
              <a:t>독립성: 내 배정이 남의 배정에 영향 없음</a:t>
            </a:r>
            <a:endParaRPr lang="en-US" sz="1500" dirty="0"/>
          </a:p>
          <a:p>
            <a:pPr marL="342900" indent="-342900">
              <a:buSzPct val="100000"/>
              <a:buChar char="•"/>
            </a:pPr>
            <a:r>
              <a:rPr lang="en-US" sz="1400" dirty="0">
                <a:solidFill>
                  <a:schemeClr val="tx2"/>
                </a:solidFill>
              </a:rPr>
              <a:t>배정 확률이 모두에게 같음</a:t>
            </a:r>
            <a:endParaRPr lang="en-US" sz="15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Ch1 · Bing 사례</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6개월 미뤄 둔 아이디어가 매출을 12% 올렸다</a:t>
            </a:r>
            <a:endParaRPr lang="en-US" sz="2000" dirty="0"/>
          </a:p>
        </p:txBody>
      </p:sp>
      <p:pic>
        <p:nvPicPr>
          <p:cNvPr id="5" name="Bing 실험 그림" descr="Bing 광고 제목을 길게 표시한 실험 전후 비교">    </p:cNvPr>
          <p:cNvPicPr>
            <a:picLocks noChangeAspect="1"/>
          </p:cNvPicPr>
          <p:nvPr/>
        </p:nvPicPr>
        <p:blipFill>
          <a:blip r:embed="rId1"/>
          <a:stretch>
            <a:fillRect/>
          </a:stretch>
        </p:blipFill>
        <p:spPr>
          <a:xfrm>
            <a:off x="640080" y="1645920"/>
            <a:ext cx="3308213" cy="4160520"/>
          </a:xfrm>
          <a:prstGeom prst="rect">
            <a:avLst/>
          </a:prstGeom>
        </p:spPr>
      </p:pic>
      <p:sp>
        <p:nvSpPr>
          <p:cNvPr id="6" name="Text 2"/>
          <p:cNvSpPr txBox="1"/>
          <p:nvPr/>
        </p:nvSpPr>
        <p:spPr>
          <a:xfrm>
            <a:off x="4405493" y="1691640"/>
            <a:ext cx="7161667" cy="914400"/>
          </a:xfrm>
          <a:prstGeom prst="rect">
            <a:avLst/>
          </a:prstGeom>
          <a:noFill/>
          <a:ln/>
        </p:spPr>
        <p:txBody>
          <a:bodyPr wrap="square" lIns="0" tIns="0" rIns="0" bIns="0" rtlCol="0" anchor="t"/>
          <a:lstStyle/>
          <a:p>
            <a:pPr indent="0" marL="0">
              <a:buNone/>
            </a:pPr>
            <a:r>
              <a:rPr lang="en-US" sz="5400" b="1" dirty="0">
                <a:solidFill>
                  <a:schemeClr val="accent1"/>
                </a:solidFill>
              </a:rPr>
              <a:t>+12%</a:t>
            </a:r>
            <a:pPr indent="0" marL="0">
              <a:buNone/>
            </a:pPr>
            <a:r>
              <a:rPr lang="en-US" sz="2000" b="1" dirty="0">
                <a:solidFill>
                  <a:schemeClr val="tx1"/>
                </a:solidFill>
              </a:rPr>
              <a:t>  매출</a:t>
            </a:r>
            <a:endParaRPr lang="en-US" sz="1500" dirty="0"/>
          </a:p>
        </p:txBody>
      </p:sp>
      <p:sp>
        <p:nvSpPr>
          <p:cNvPr id="7" name="Text 3"/>
          <p:cNvSpPr txBox="1"/>
          <p:nvPr/>
        </p:nvSpPr>
        <p:spPr>
          <a:xfrm>
            <a:off x="4405493" y="2651760"/>
            <a:ext cx="7161667" cy="640080"/>
          </a:xfrm>
          <a:prstGeom prst="rect">
            <a:avLst/>
          </a:prstGeom>
          <a:noFill/>
          <a:ln/>
        </p:spPr>
        <p:txBody>
          <a:bodyPr wrap="square" lIns="0" tIns="0" rIns="0" bIns="0" rtlCol="0" anchor="t"/>
          <a:lstStyle/>
          <a:p>
            <a:pPr indent="0" marL="0">
              <a:buNone/>
            </a:pPr>
            <a:r>
              <a:rPr lang="en-US" sz="1500" dirty="0">
                <a:solidFill>
                  <a:schemeClr val="tx2"/>
                </a:solidFill>
              </a:rPr>
              <a:t>광고 제목 길게 표시 · 사용자 경험 지표(세션 수, 이용량, 관련성) 악화 없음</a:t>
            </a:r>
            <a:endParaRPr lang="en-US" sz="1500" dirty="0"/>
          </a:p>
        </p:txBody>
      </p:sp>
      <p:sp>
        <p:nvSpPr>
          <p:cNvPr id="8" name="Text 4"/>
          <p:cNvSpPr txBox="1"/>
          <p:nvPr/>
        </p:nvSpPr>
        <p:spPr>
          <a:xfrm>
            <a:off x="4405493" y="3429000"/>
            <a:ext cx="548640" cy="457200"/>
          </a:xfrm>
          <a:prstGeom prst="rect">
            <a:avLst/>
          </a:prstGeom>
          <a:noFill/>
          <a:ln/>
        </p:spPr>
        <p:txBody>
          <a:bodyPr wrap="square" lIns="0" tIns="0" rIns="0" bIns="0" rtlCol="0" anchor="t"/>
          <a:lstStyle/>
          <a:p>
            <a:pPr indent="0" marL="0">
              <a:buNone/>
            </a:pPr>
            <a:r>
              <a:rPr lang="en-US" sz="2000" b="1" dirty="0">
                <a:solidFill>
                  <a:schemeClr val="accent1"/>
                </a:solidFill>
              </a:rPr>
              <a:t>01</a:t>
            </a:r>
            <a:endParaRPr lang="en-US" sz="2000" dirty="0"/>
          </a:p>
        </p:txBody>
      </p:sp>
      <p:sp>
        <p:nvSpPr>
          <p:cNvPr id="9" name="Text 5"/>
          <p:cNvSpPr txBox="1"/>
          <p:nvPr/>
        </p:nvSpPr>
        <p:spPr>
          <a:xfrm>
            <a:off x="4999853" y="3447288"/>
            <a:ext cx="6567307" cy="731520"/>
          </a:xfrm>
          <a:prstGeom prst="rect">
            <a:avLst/>
          </a:prstGeom>
          <a:noFill/>
          <a:ln/>
        </p:spPr>
        <p:txBody>
          <a:bodyPr wrap="square" lIns="0" tIns="0" rIns="0" bIns="0" rtlCol="0" anchor="t"/>
          <a:lstStyle/>
          <a:p>
            <a:pPr indent="0" marL="0">
              <a:buNone/>
            </a:pPr>
            <a:r>
              <a:rPr lang="en-US" sz="1500" b="1" dirty="0">
                <a:solidFill>
                  <a:schemeClr val="tx1"/>
                </a:solidFill>
              </a:rPr>
              <a:t>아이디어의 가치는 사전에 판단하기 어렵다</a:t>
            </a:r>
            <a:endParaRPr lang="en-US" sz="1500" dirty="0"/>
          </a:p>
          <a:p>
            <a:pPr indent="0" marL="0">
              <a:buNone/>
            </a:pPr>
            <a:r>
              <a:rPr lang="en-US" sz="1400" dirty="0">
                <a:solidFill>
                  <a:schemeClr val="tx2"/>
                </a:solidFill>
              </a:rPr>
              <a:t>Microsoft에서 실험한 아이디어 중 지표를 개선한 건 약 3분의 1</a:t>
            </a:r>
            <a:endParaRPr lang="en-US" sz="1500" dirty="0"/>
          </a:p>
        </p:txBody>
      </p:sp>
      <p:sp>
        <p:nvSpPr>
          <p:cNvPr id="10" name="Text 6"/>
          <p:cNvSpPr txBox="1"/>
          <p:nvPr/>
        </p:nvSpPr>
        <p:spPr>
          <a:xfrm>
            <a:off x="4405493" y="4206240"/>
            <a:ext cx="548640" cy="457200"/>
          </a:xfrm>
          <a:prstGeom prst="rect">
            <a:avLst/>
          </a:prstGeom>
          <a:noFill/>
          <a:ln/>
        </p:spPr>
        <p:txBody>
          <a:bodyPr wrap="square" lIns="0" tIns="0" rIns="0" bIns="0" rtlCol="0" anchor="t"/>
          <a:lstStyle/>
          <a:p>
            <a:pPr indent="0" marL="0">
              <a:buNone/>
            </a:pPr>
            <a:r>
              <a:rPr lang="en-US" sz="2000" b="1" dirty="0">
                <a:solidFill>
                  <a:schemeClr val="accent1"/>
                </a:solidFill>
              </a:rPr>
              <a:t>02</a:t>
            </a:r>
            <a:endParaRPr lang="en-US" sz="2000" dirty="0"/>
          </a:p>
        </p:txBody>
      </p:sp>
      <p:sp>
        <p:nvSpPr>
          <p:cNvPr id="11" name="Text 7"/>
          <p:cNvSpPr txBox="1"/>
          <p:nvPr/>
        </p:nvSpPr>
        <p:spPr>
          <a:xfrm>
            <a:off x="4999853" y="4224528"/>
            <a:ext cx="6567307" cy="731520"/>
          </a:xfrm>
          <a:prstGeom prst="rect">
            <a:avLst/>
          </a:prstGeom>
          <a:noFill/>
          <a:ln/>
        </p:spPr>
        <p:txBody>
          <a:bodyPr wrap="square" lIns="0" tIns="0" rIns="0" bIns="0" rtlCol="0" anchor="t"/>
          <a:lstStyle/>
          <a:p>
            <a:pPr indent="0" marL="0">
              <a:buNone/>
            </a:pPr>
            <a:r>
              <a:rPr lang="en-US" sz="1500" b="1" dirty="0">
                <a:solidFill>
                  <a:schemeClr val="tx1"/>
                </a:solidFill>
              </a:rPr>
              <a:t>큰 효과를 내는 실험은 드물다</a:t>
            </a:r>
            <a:endParaRPr lang="en-US" sz="1500" dirty="0"/>
          </a:p>
          <a:p>
            <a:pPr indent="0" marL="0">
              <a:buNone/>
            </a:pPr>
            <a:r>
              <a:rPr lang="en-US" sz="1400" dirty="0">
                <a:solidFill>
                  <a:schemeClr val="tx2"/>
                </a:solidFill>
              </a:rPr>
              <a:t>작은 개선을 반복해서 찾고, 그것을 쌓아 제품을 키운다</a:t>
            </a:r>
            <a:endParaRPr lang="en-US" sz="1500" dirty="0"/>
          </a:p>
        </p:txBody>
      </p:sp>
      <p:sp>
        <p:nvSpPr>
          <p:cNvPr id="12" name="Text 8"/>
          <p:cNvSpPr txBox="1"/>
          <p:nvPr/>
        </p:nvSpPr>
        <p:spPr>
          <a:xfrm>
            <a:off x="4405493" y="4983480"/>
            <a:ext cx="548640" cy="457200"/>
          </a:xfrm>
          <a:prstGeom prst="rect">
            <a:avLst/>
          </a:prstGeom>
          <a:noFill/>
          <a:ln/>
        </p:spPr>
        <p:txBody>
          <a:bodyPr wrap="square" lIns="0" tIns="0" rIns="0" bIns="0" rtlCol="0" anchor="t"/>
          <a:lstStyle/>
          <a:p>
            <a:pPr indent="0" marL="0">
              <a:buNone/>
            </a:pPr>
            <a:r>
              <a:rPr lang="en-US" sz="2000" b="1" dirty="0">
                <a:solidFill>
                  <a:schemeClr val="accent1"/>
                </a:solidFill>
              </a:rPr>
              <a:t>03</a:t>
            </a:r>
            <a:endParaRPr lang="en-US" sz="2000" dirty="0"/>
          </a:p>
        </p:txBody>
      </p:sp>
      <p:sp>
        <p:nvSpPr>
          <p:cNvPr id="13" name="Text 9"/>
          <p:cNvSpPr txBox="1"/>
          <p:nvPr/>
        </p:nvSpPr>
        <p:spPr>
          <a:xfrm>
            <a:off x="4999853" y="5001768"/>
            <a:ext cx="6567307" cy="731520"/>
          </a:xfrm>
          <a:prstGeom prst="rect">
            <a:avLst/>
          </a:prstGeom>
          <a:noFill/>
          <a:ln/>
        </p:spPr>
        <p:txBody>
          <a:bodyPr wrap="square" lIns="0" tIns="0" rIns="0" bIns="0" rtlCol="0" anchor="t"/>
          <a:lstStyle/>
          <a:p>
            <a:pPr indent="0" marL="0">
              <a:buNone/>
            </a:pPr>
            <a:r>
              <a:rPr lang="en-US" sz="1500" b="1" dirty="0">
                <a:solidFill>
                  <a:schemeClr val="tx1"/>
                </a:solidFill>
              </a:rPr>
              <a:t>효과가 있는 것과 없는 것을 가린다</a:t>
            </a:r>
            <a:endParaRPr lang="en-US" sz="1500" dirty="0"/>
          </a:p>
          <a:p>
            <a:pPr indent="0" marL="0">
              <a:buNone/>
            </a:pPr>
            <a:r>
              <a:rPr lang="en-US" sz="1400" dirty="0">
                <a:solidFill>
                  <a:schemeClr val="tx2"/>
                </a:solidFill>
              </a:rPr>
              <a:t>캠페인과 디지털 마케팅 자산을 평가하는 기준이 된다</a:t>
            </a:r>
            <a:endParaRPr lang="en-US" sz="1500" dirty="0"/>
          </a:p>
        </p:txBody>
      </p:sp>
      <p:sp>
        <p:nvSpPr>
          <p:cNvPr id="14" name="Text 10"/>
          <p:cNvSpPr txBox="1"/>
          <p:nvPr/>
        </p:nvSpPr>
        <p:spPr>
          <a:xfrm>
            <a:off x="640080" y="5943600"/>
            <a:ext cx="10911535" cy="274320"/>
          </a:xfrm>
          <a:prstGeom prst="rect">
            <a:avLst/>
          </a:prstGeom>
          <a:noFill/>
          <a:ln/>
        </p:spPr>
        <p:txBody>
          <a:bodyPr wrap="square" lIns="0" tIns="0" rIns="0" bIns="0" rtlCol="0" anchor="t"/>
          <a:lstStyle/>
          <a:p>
            <a:pPr indent="0" marL="0">
              <a:buNone/>
            </a:pPr>
            <a:r>
              <a:rPr lang="en-US" sz="1100" dirty="0">
                <a:solidFill>
                  <a:schemeClr val="accent6"/>
                </a:solidFill>
              </a:rPr>
              <a:t>그림: Kohavi, Tang, Xu (2020) 그림 1.1 · 출처: Kohavi &amp; Thomke (2017), HBR · 위키 01편 1장, 11편 1.3</a:t>
            </a:r>
            <a:endParaRPr lang="en-US" sz="11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Ch1 · 용어 정리</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먼저 용어를 맞춘다</a:t>
            </a:r>
            <a:endParaRPr lang="en-US" sz="2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11535" cy="914400"/>
        </p:xfrm>
        <a:graphic>
          <a:graphicData uri="http://schemas.openxmlformats.org/drawingml/2006/table">
            <a:tbl>
              <a:tblPr/>
              <a:tblGrid>
                <a:gridCol w="2651760"/>
                <a:gridCol w="3840480"/>
                <a:gridCol w="4416552"/>
              </a:tblGrid>
              <a:tr h="548640">
                <a:tc>
                  <a:txBody>
                    <a:bodyPr/>
                    <a:lstStyle/>
                    <a:p>
                      <a:pPr indent="0" marL="0">
                        <a:buNone/>
                      </a:pPr>
                      <a:r>
                        <a:rPr lang="en-US" sz="1400" b="1" dirty="0">
                          <a:solidFill>
                            <a:srgbClr val="555C7A"/>
                          </a:solidFill>
                        </a:rPr>
                        <a:t>용어</a:t>
                      </a:r>
                      <a:endParaRPr lang="en-US" sz="14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400" b="1" dirty="0">
                          <a:solidFill>
                            <a:srgbClr val="555C7A"/>
                          </a:solidFill>
                        </a:rPr>
                        <a:t>뜻</a:t>
                      </a:r>
                      <a:endParaRPr lang="en-US" sz="14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400" b="1" dirty="0">
                          <a:solidFill>
                            <a:srgbClr val="555C7A"/>
                          </a:solidFill>
                        </a:rPr>
                        <a:t>기억할 점</a:t>
                      </a:r>
                      <a:endParaRPr lang="en-US" sz="14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r>
              <a:tr h="548640">
                <a:tc>
                  <a:txBody>
                    <a:bodyPr/>
                    <a:lstStyle/>
                    <a:p>
                      <a:pPr indent="0" marL="0">
                        <a:buNone/>
                      </a:pPr>
                      <a:r>
                        <a:rPr lang="en-US" sz="1500" b="1" dirty="0">
                          <a:solidFill>
                            <a:srgbClr val="1B1F3B"/>
                          </a:solidFill>
                        </a:rPr>
                        <a:t>대조군 (Control)</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비교 기준이 되는 기존 버전</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문제가 생기면 돌아갈 안전한 기본 버전 (fallback)</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548640">
                <a:tc>
                  <a:txBody>
                    <a:bodyPr/>
                    <a:lstStyle/>
                    <a:p>
                      <a:pPr indent="0" marL="0">
                        <a:buNone/>
                      </a:pPr>
                      <a:r>
                        <a:rPr lang="en-US" sz="1500" b="1" dirty="0">
                          <a:solidFill>
                            <a:srgbClr val="1B1F3B"/>
                          </a:solidFill>
                        </a:rPr>
                        <a:t>실험군 (Treatment)</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새 변경사항을 적용한 버전</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가능하면 핵심 변화 하나만 담는다</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548640">
                <a:tc>
                  <a:txBody>
                    <a:bodyPr/>
                    <a:lstStyle/>
                    <a:p>
                      <a:pPr indent="0" marL="0">
                        <a:buNone/>
                      </a:pPr>
                      <a:r>
                        <a:rPr lang="en-US" sz="1500" b="1" dirty="0">
                          <a:solidFill>
                            <a:srgbClr val="1B1F3B"/>
                          </a:solidFill>
                        </a:rPr>
                        <a:t>변형군 (Variant)</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실험에서 비교하는 각각의 사용자 경험</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A와 B를 모두 포함. A/B/n은 대조군 하나 + 실험군 여럿</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548640">
                <a:tc>
                  <a:txBody>
                    <a:bodyPr/>
                    <a:lstStyle/>
                    <a:p>
                      <a:pPr indent="0" marL="0">
                        <a:buNone/>
                      </a:pPr>
                      <a:r>
                        <a:rPr lang="en-US" sz="1500" b="1" dirty="0">
                          <a:solidFill>
                            <a:srgbClr val="1B1F3B"/>
                          </a:solidFill>
                        </a:rPr>
                        <a:t>무작위 배정 단위</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변형군에 무작위로 배정되는 단위</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주로 사용자. 페이지·세션·사용일도 가능</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548640">
                <a:tc>
                  <a:txBody>
                    <a:bodyPr/>
                    <a:lstStyle/>
                    <a:p>
                      <a:pPr indent="0" marL="0">
                        <a:buNone/>
                      </a:pPr>
                      <a:r>
                        <a:rPr lang="en-US" sz="1500" b="1" dirty="0">
                          <a:solidFill>
                            <a:srgbClr val="1B1F3B"/>
                          </a:solidFill>
                        </a:rPr>
                        <a:t>OEC</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실험 성공을 판단하는 전체 평가 기준</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Ch2에서 자세히</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548640">
                <a:tc>
                  <a:txBody>
                    <a:bodyPr/>
                    <a:lstStyle/>
                    <a:p>
                      <a:pPr indent="0" marL="0">
                        <a:buNone/>
                      </a:pPr>
                      <a:r>
                        <a:rPr lang="en-US" sz="1500" b="1" dirty="0">
                          <a:solidFill>
                            <a:srgbClr val="1B1F3B"/>
                          </a:solidFill>
                        </a:rPr>
                        <a:t>파라미터</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통제할 수 있는 실험 변수</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요인(factor)이라고도 부른다</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bl>
          </a:graphicData>
        </a:graphic>
      </p:graphicFrame>
      <p:sp>
        <p:nvSpPr>
          <p:cNvPr id="6" name="Text 2"/>
          <p:cNvSpPr txBox="1"/>
          <p:nvPr/>
        </p:nvSpPr>
        <p:spPr>
          <a:xfrm>
            <a:off x="640080" y="5669280"/>
            <a:ext cx="10911535" cy="365760"/>
          </a:xfrm>
          <a:prstGeom prst="rect">
            <a:avLst/>
          </a:prstGeom>
          <a:noFill/>
          <a:ln/>
        </p:spPr>
        <p:txBody>
          <a:bodyPr wrap="square" lIns="0" tIns="0" rIns="0" bIns="0" rtlCol="0" anchor="t"/>
          <a:lstStyle/>
          <a:p>
            <a:pPr indent="0" marL="0">
              <a:buNone/>
            </a:pPr>
            <a:r>
              <a:rPr lang="en-US" sz="1400" dirty="0">
                <a:solidFill>
                  <a:schemeClr val="tx2"/>
                </a:solidFill>
              </a:rPr>
              <a:t>같은 말: 온라인 통제 실험(Online Controlled Experiment), 분할 테스트, 버킷 테스트, 플라이트</a:t>
            </a:r>
            <a:endParaRPr lang="en-US" sz="14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Ch1 · A/B 테스트의 정의</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A/B 테스트는 일곱 단계로 돌아간다</a:t>
            </a:r>
            <a:endParaRPr lang="en-US" sz="2000" dirty="0"/>
          </a:p>
        </p:txBody>
      </p:sp>
      <p:sp>
        <p:nvSpPr>
          <p:cNvPr id="5" name="Text 2"/>
          <p:cNvSpPr txBox="1"/>
          <p:nvPr/>
        </p:nvSpPr>
        <p:spPr>
          <a:xfrm>
            <a:off x="640080" y="1828800"/>
            <a:ext cx="2468880" cy="1645920"/>
          </a:xfrm>
          <a:prstGeom prst="rect">
            <a:avLst/>
          </a:prstGeom>
          <a:noFill/>
          <a:ln/>
        </p:spPr>
        <p:txBody>
          <a:bodyPr wrap="square" lIns="0" tIns="0" rIns="0" bIns="0" rtlCol="0" anchor="t"/>
          <a:lstStyle/>
          <a:p>
            <a:pPr indent="0" marL="0">
              <a:buNone/>
            </a:pPr>
            <a:r>
              <a:rPr lang="en-US" sz="1400" b="1" dirty="0">
                <a:solidFill>
                  <a:schemeClr val="accent1"/>
                </a:solidFill>
              </a:rPr>
              <a:t>01</a:t>
            </a:r>
            <a:endParaRPr lang="en-US" sz="1500" dirty="0"/>
          </a:p>
          <a:p>
            <a:pPr indent="0" marL="0">
              <a:buNone/>
            </a:pPr>
            <a:r>
              <a:rPr lang="en-US" sz="2000" b="1" dirty="0">
                <a:solidFill>
                  <a:schemeClr val="tx1"/>
                </a:solidFill>
              </a:rPr>
              <a:t>목표와 지표 설정</a:t>
            </a:r>
            <a:endParaRPr lang="en-US" sz="1500" dirty="0"/>
          </a:p>
          <a:p>
            <a:pPr indent="0" marL="0">
              <a:spcAft>
                <a:spcPts val="400"/>
              </a:spcAft>
              <a:buNone/>
            </a:pPr>
            <a:r>
              <a:rPr lang="en-US" sz="1400" dirty="0">
                <a:solidFill>
                  <a:schemeClr val="tx2"/>
                </a:solidFill>
              </a:rPr>
              <a:t>무엇을 개선할지, OEC와 주요 지표</a:t>
            </a:r>
            <a:endParaRPr lang="en-US" sz="1500" dirty="0"/>
          </a:p>
          <a:p>
            <a:pPr indent="0" marL="0">
              <a:buNone/>
            </a:pPr>
            <a:r>
              <a:rPr lang="en-US" sz="1400" b="1" dirty="0">
                <a:solidFill>
                  <a:schemeClr val="accent6"/>
                </a:solidFill>
              </a:rPr>
              <a:t>Ch2</a:t>
            </a:r>
            <a:endParaRPr lang="en-US" sz="1500" dirty="0"/>
          </a:p>
        </p:txBody>
      </p:sp>
      <p:sp>
        <p:nvSpPr>
          <p:cNvPr id="6" name="Text 3"/>
          <p:cNvSpPr txBox="1"/>
          <p:nvPr/>
        </p:nvSpPr>
        <p:spPr>
          <a:xfrm>
            <a:off x="3401568" y="1828800"/>
            <a:ext cx="2468880" cy="1645920"/>
          </a:xfrm>
          <a:prstGeom prst="rect">
            <a:avLst/>
          </a:prstGeom>
          <a:noFill/>
          <a:ln/>
        </p:spPr>
        <p:txBody>
          <a:bodyPr wrap="square" lIns="0" tIns="0" rIns="0" bIns="0" rtlCol="0" anchor="t"/>
          <a:lstStyle/>
          <a:p>
            <a:pPr indent="0" marL="0">
              <a:buNone/>
            </a:pPr>
            <a:r>
              <a:rPr lang="en-US" sz="1400" b="1" dirty="0">
                <a:solidFill>
                  <a:schemeClr val="accent1"/>
                </a:solidFill>
              </a:rPr>
              <a:t>02</a:t>
            </a:r>
            <a:endParaRPr lang="en-US" sz="1500" dirty="0"/>
          </a:p>
          <a:p>
            <a:pPr indent="0" marL="0">
              <a:buNone/>
            </a:pPr>
            <a:r>
              <a:rPr lang="en-US" sz="2000" b="1" dirty="0">
                <a:solidFill>
                  <a:schemeClr val="tx1"/>
                </a:solidFill>
              </a:rPr>
              <a:t>가설 설정</a:t>
            </a:r>
            <a:endParaRPr lang="en-US" sz="1500" dirty="0"/>
          </a:p>
          <a:p>
            <a:pPr indent="0" marL="0">
              <a:spcAft>
                <a:spcPts val="400"/>
              </a:spcAft>
              <a:buNone/>
            </a:pPr>
            <a:r>
              <a:rPr lang="en-US" sz="1400" dirty="0">
                <a:solidFill>
                  <a:schemeClr val="tx2"/>
                </a:solidFill>
              </a:rPr>
              <a:t>어떤 변화가 어떤 지표를 움직일지</a:t>
            </a:r>
            <a:endParaRPr lang="en-US" sz="1500" dirty="0"/>
          </a:p>
          <a:p>
            <a:pPr indent="0" marL="0">
              <a:buNone/>
            </a:pPr>
            <a:r>
              <a:rPr lang="en-US" sz="1400" b="1" dirty="0">
                <a:solidFill>
                  <a:schemeClr val="accent6"/>
                </a:solidFill>
              </a:rPr>
              <a:t>Ch2</a:t>
            </a:r>
            <a:endParaRPr lang="en-US" sz="1500" dirty="0"/>
          </a:p>
        </p:txBody>
      </p:sp>
      <p:sp>
        <p:nvSpPr>
          <p:cNvPr id="7" name="Text 4"/>
          <p:cNvSpPr txBox="1"/>
          <p:nvPr/>
        </p:nvSpPr>
        <p:spPr>
          <a:xfrm>
            <a:off x="6163056" y="1828800"/>
            <a:ext cx="2468880" cy="1645920"/>
          </a:xfrm>
          <a:prstGeom prst="rect">
            <a:avLst/>
          </a:prstGeom>
          <a:noFill/>
          <a:ln/>
        </p:spPr>
        <p:txBody>
          <a:bodyPr wrap="square" lIns="0" tIns="0" rIns="0" bIns="0" rtlCol="0" anchor="t"/>
          <a:lstStyle/>
          <a:p>
            <a:pPr indent="0" marL="0">
              <a:buNone/>
            </a:pPr>
            <a:r>
              <a:rPr lang="en-US" sz="1400" b="1" dirty="0">
                <a:solidFill>
                  <a:schemeClr val="accent1"/>
                </a:solidFill>
              </a:rPr>
              <a:t>03</a:t>
            </a:r>
            <a:endParaRPr lang="en-US" sz="1500" dirty="0"/>
          </a:p>
          <a:p>
            <a:pPr indent="0" marL="0">
              <a:buNone/>
            </a:pPr>
            <a:r>
              <a:rPr lang="en-US" sz="2000" b="1" dirty="0">
                <a:solidFill>
                  <a:schemeClr val="tx1"/>
                </a:solidFill>
              </a:rPr>
              <a:t>대조군·실험군 설계</a:t>
            </a:r>
            <a:endParaRPr lang="en-US" sz="1500" dirty="0"/>
          </a:p>
          <a:p>
            <a:pPr indent="0" marL="0">
              <a:spcAft>
                <a:spcPts val="400"/>
              </a:spcAft>
              <a:buNone/>
            </a:pPr>
            <a:r>
              <a:rPr lang="en-US" sz="1400" dirty="0">
                <a:solidFill>
                  <a:schemeClr val="tx2"/>
                </a:solidFill>
              </a:rPr>
              <a:t>기존 = A, 변경 = B</a:t>
            </a:r>
            <a:endParaRPr lang="en-US" sz="1500" dirty="0"/>
          </a:p>
          <a:p>
            <a:pPr indent="0" marL="0">
              <a:buNone/>
            </a:pPr>
            <a:r>
              <a:rPr lang="en-US" sz="1400" b="1" dirty="0">
                <a:solidFill>
                  <a:schemeClr val="accent6"/>
                </a:solidFill>
              </a:rPr>
              <a:t>Ch2</a:t>
            </a:r>
            <a:endParaRPr lang="en-US" sz="1500" dirty="0"/>
          </a:p>
        </p:txBody>
      </p:sp>
      <p:sp>
        <p:nvSpPr>
          <p:cNvPr id="8" name="Text 5"/>
          <p:cNvSpPr txBox="1"/>
          <p:nvPr/>
        </p:nvSpPr>
        <p:spPr>
          <a:xfrm>
            <a:off x="8924544" y="1828800"/>
            <a:ext cx="2468880" cy="1645920"/>
          </a:xfrm>
          <a:prstGeom prst="rect">
            <a:avLst/>
          </a:prstGeom>
          <a:noFill/>
          <a:ln/>
        </p:spPr>
        <p:txBody>
          <a:bodyPr wrap="square" lIns="0" tIns="0" rIns="0" bIns="0" rtlCol="0" anchor="t"/>
          <a:lstStyle/>
          <a:p>
            <a:pPr indent="0" marL="0">
              <a:buNone/>
            </a:pPr>
            <a:r>
              <a:rPr lang="en-US" sz="1400" b="1" dirty="0">
                <a:solidFill>
                  <a:schemeClr val="accent1"/>
                </a:solidFill>
              </a:rPr>
              <a:t>04</a:t>
            </a:r>
            <a:endParaRPr lang="en-US" sz="1500" dirty="0"/>
          </a:p>
          <a:p>
            <a:pPr indent="0" marL="0">
              <a:buNone/>
            </a:pPr>
            <a:r>
              <a:rPr lang="en-US" sz="2000" b="1" dirty="0">
                <a:solidFill>
                  <a:schemeClr val="tx1"/>
                </a:solidFill>
              </a:rPr>
              <a:t>무작위 배정</a:t>
            </a:r>
            <a:endParaRPr lang="en-US" sz="1500" dirty="0"/>
          </a:p>
          <a:p>
            <a:pPr indent="0" marL="0">
              <a:spcAft>
                <a:spcPts val="400"/>
              </a:spcAft>
              <a:buNone/>
            </a:pPr>
            <a:r>
              <a:rPr lang="en-US" sz="1400" dirty="0">
                <a:solidFill>
                  <a:schemeClr val="tx2"/>
                </a:solidFill>
              </a:rPr>
              <a:t>같은 사용자는 같은 그룹, 배정은 서로 독립</a:t>
            </a:r>
            <a:endParaRPr lang="en-US" sz="1500" dirty="0"/>
          </a:p>
          <a:p>
            <a:pPr indent="0" marL="0">
              <a:buNone/>
            </a:pPr>
            <a:r>
              <a:rPr lang="en-US" sz="1400" b="1" dirty="0">
                <a:solidFill>
                  <a:schemeClr val="accent6"/>
                </a:solidFill>
              </a:rPr>
              <a:t>Ch1 · Ch2</a:t>
            </a:r>
            <a:endParaRPr lang="en-US" sz="1500" dirty="0"/>
          </a:p>
        </p:txBody>
      </p:sp>
      <p:sp>
        <p:nvSpPr>
          <p:cNvPr id="9" name="Text 6"/>
          <p:cNvSpPr txBox="1"/>
          <p:nvPr/>
        </p:nvSpPr>
        <p:spPr>
          <a:xfrm>
            <a:off x="640080" y="3794760"/>
            <a:ext cx="2468880" cy="1645920"/>
          </a:xfrm>
          <a:prstGeom prst="rect">
            <a:avLst/>
          </a:prstGeom>
          <a:noFill/>
          <a:ln/>
        </p:spPr>
        <p:txBody>
          <a:bodyPr wrap="square" lIns="0" tIns="0" rIns="0" bIns="0" rtlCol="0" anchor="t"/>
          <a:lstStyle/>
          <a:p>
            <a:pPr indent="0" marL="0">
              <a:buNone/>
            </a:pPr>
            <a:r>
              <a:rPr lang="en-US" sz="1400" b="1" dirty="0">
                <a:solidFill>
                  <a:schemeClr val="accent1"/>
                </a:solidFill>
              </a:rPr>
              <a:t>05</a:t>
            </a:r>
            <a:endParaRPr lang="en-US" sz="1500" dirty="0"/>
          </a:p>
          <a:p>
            <a:pPr indent="0" marL="0">
              <a:buNone/>
            </a:pPr>
            <a:r>
              <a:rPr lang="en-US" sz="2000" b="1" dirty="0">
                <a:solidFill>
                  <a:schemeClr val="tx1"/>
                </a:solidFill>
              </a:rPr>
              <a:t>실행과 데이터 수집</a:t>
            </a:r>
            <a:endParaRPr lang="en-US" sz="1500" dirty="0"/>
          </a:p>
          <a:p>
            <a:pPr indent="0" marL="0">
              <a:spcAft>
                <a:spcPts val="400"/>
              </a:spcAft>
              <a:buNone/>
            </a:pPr>
            <a:r>
              <a:rPr lang="en-US" sz="1400" dirty="0">
                <a:solidFill>
                  <a:schemeClr val="tx2"/>
                </a:solidFill>
              </a:rPr>
              <a:t>미리 정한 지표를 측정</a:t>
            </a:r>
            <a:endParaRPr lang="en-US" sz="1500" dirty="0"/>
          </a:p>
          <a:p>
            <a:pPr indent="0" marL="0">
              <a:buNone/>
            </a:pPr>
            <a:r>
              <a:rPr lang="en-US" sz="1400" b="1" dirty="0">
                <a:solidFill>
                  <a:schemeClr val="accent6"/>
                </a:solidFill>
              </a:rPr>
              <a:t>Ch3</a:t>
            </a:r>
            <a:endParaRPr lang="en-US" sz="1500" dirty="0"/>
          </a:p>
        </p:txBody>
      </p:sp>
      <p:sp>
        <p:nvSpPr>
          <p:cNvPr id="10" name="Text 7"/>
          <p:cNvSpPr txBox="1"/>
          <p:nvPr/>
        </p:nvSpPr>
        <p:spPr>
          <a:xfrm>
            <a:off x="3401568" y="3794760"/>
            <a:ext cx="2468880" cy="1645920"/>
          </a:xfrm>
          <a:prstGeom prst="rect">
            <a:avLst/>
          </a:prstGeom>
          <a:noFill/>
          <a:ln/>
        </p:spPr>
        <p:txBody>
          <a:bodyPr wrap="square" lIns="0" tIns="0" rIns="0" bIns="0" rtlCol="0" anchor="t"/>
          <a:lstStyle/>
          <a:p>
            <a:pPr indent="0" marL="0">
              <a:buNone/>
            </a:pPr>
            <a:r>
              <a:rPr lang="en-US" sz="1400" b="1" dirty="0">
                <a:solidFill>
                  <a:schemeClr val="accent1"/>
                </a:solidFill>
              </a:rPr>
              <a:t>06</a:t>
            </a:r>
            <a:endParaRPr lang="en-US" sz="1500" dirty="0"/>
          </a:p>
          <a:p>
            <a:pPr indent="0" marL="0">
              <a:buNone/>
            </a:pPr>
            <a:r>
              <a:rPr lang="en-US" sz="2000" b="1" dirty="0">
                <a:solidFill>
                  <a:schemeClr val="tx1"/>
                </a:solidFill>
              </a:rPr>
              <a:t>분석과 비교</a:t>
            </a:r>
            <a:endParaRPr lang="en-US" sz="1500" dirty="0"/>
          </a:p>
          <a:p>
            <a:pPr indent="0" marL="0">
              <a:spcAft>
                <a:spcPts val="400"/>
              </a:spcAft>
              <a:buNone/>
            </a:pPr>
            <a:r>
              <a:rPr lang="en-US" sz="1400" dirty="0">
                <a:solidFill>
                  <a:schemeClr val="tx2"/>
                </a:solidFill>
              </a:rPr>
              <a:t>차이가 우연인지 통계적으로 평가</a:t>
            </a:r>
            <a:endParaRPr lang="en-US" sz="1500" dirty="0"/>
          </a:p>
          <a:p>
            <a:pPr indent="0" marL="0">
              <a:buNone/>
            </a:pPr>
            <a:r>
              <a:rPr lang="en-US" sz="1400" b="1" dirty="0">
                <a:solidFill>
                  <a:schemeClr val="accent6"/>
                </a:solidFill>
              </a:rPr>
              <a:t>Ch3</a:t>
            </a:r>
            <a:endParaRPr lang="en-US" sz="1500" dirty="0"/>
          </a:p>
        </p:txBody>
      </p:sp>
      <p:sp>
        <p:nvSpPr>
          <p:cNvPr id="11" name="Text 8"/>
          <p:cNvSpPr txBox="1"/>
          <p:nvPr/>
        </p:nvSpPr>
        <p:spPr>
          <a:xfrm>
            <a:off x="6163056" y="3794760"/>
            <a:ext cx="2468880" cy="1645920"/>
          </a:xfrm>
          <a:prstGeom prst="rect">
            <a:avLst/>
          </a:prstGeom>
          <a:noFill/>
          <a:ln/>
        </p:spPr>
        <p:txBody>
          <a:bodyPr wrap="square" lIns="0" tIns="0" rIns="0" bIns="0" rtlCol="0" anchor="t"/>
          <a:lstStyle/>
          <a:p>
            <a:pPr indent="0" marL="0">
              <a:buNone/>
            </a:pPr>
            <a:r>
              <a:rPr lang="en-US" sz="1400" b="1" dirty="0">
                <a:solidFill>
                  <a:schemeClr val="accent1"/>
                </a:solidFill>
              </a:rPr>
              <a:t>07</a:t>
            </a:r>
            <a:endParaRPr lang="en-US" sz="1500" dirty="0"/>
          </a:p>
          <a:p>
            <a:pPr indent="0" marL="0">
              <a:buNone/>
            </a:pPr>
            <a:r>
              <a:rPr lang="en-US" sz="2000" b="1" dirty="0">
                <a:solidFill>
                  <a:schemeClr val="tx1"/>
                </a:solidFill>
              </a:rPr>
              <a:t>결정과 반복</a:t>
            </a:r>
            <a:endParaRPr lang="en-US" sz="1500" dirty="0"/>
          </a:p>
          <a:p>
            <a:pPr indent="0" marL="0">
              <a:spcAft>
                <a:spcPts val="400"/>
              </a:spcAft>
              <a:buNone/>
            </a:pPr>
            <a:r>
              <a:rPr lang="en-US" sz="1400" dirty="0">
                <a:solidFill>
                  <a:schemeClr val="tx2"/>
                </a:solidFill>
              </a:rPr>
              <a:t>적용 여부를 정하고, 가설을 고쳐 다음 실험</a:t>
            </a:r>
            <a:endParaRPr lang="en-US" sz="1500" dirty="0"/>
          </a:p>
          <a:p>
            <a:pPr indent="0" marL="0">
              <a:buNone/>
            </a:pPr>
            <a:r>
              <a:rPr lang="en-US" sz="1400" b="1" dirty="0">
                <a:solidFill>
                  <a:schemeClr val="accent6"/>
                </a:solidFill>
              </a:rPr>
              <a:t>Ch5</a:t>
            </a:r>
            <a:endParaRPr lang="en-US" sz="15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Ch1 · 타당성</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이 실험 안에서 맞는가, 밖에서도 통하는가</a:t>
            </a:r>
            <a:endParaRPr lang="en-US" sz="2000" dirty="0"/>
          </a:p>
        </p:txBody>
      </p:sp>
      <p:sp>
        <p:nvSpPr>
          <p:cNvPr id="5" name="Text 2"/>
          <p:cNvSpPr txBox="1"/>
          <p:nvPr/>
        </p:nvSpPr>
        <p:spPr>
          <a:xfrm>
            <a:off x="640080" y="1783080"/>
            <a:ext cx="4754880" cy="2194560"/>
          </a:xfrm>
          <a:prstGeom prst="rect">
            <a:avLst/>
          </a:prstGeom>
          <a:noFill/>
          <a:ln/>
        </p:spPr>
        <p:txBody>
          <a:bodyPr wrap="square" lIns="0" tIns="0" rIns="0" bIns="0" rtlCol="0" anchor="t"/>
          <a:lstStyle/>
          <a:p>
            <a:pPr indent="0" marL="0">
              <a:spcAft>
                <a:spcPts val="400"/>
              </a:spcAft>
              <a:buNone/>
            </a:pPr>
            <a:r>
              <a:rPr lang="en-US" sz="2000" b="1" dirty="0">
                <a:solidFill>
                  <a:schemeClr val="accent1"/>
                </a:solidFill>
              </a:rPr>
              <a:t>내적 타당성</a:t>
            </a:r>
            <a:endParaRPr lang="en-US" sz="1500" dirty="0"/>
          </a:p>
          <a:p>
            <a:pPr indent="0" marL="0">
              <a:spcAft>
                <a:spcPts val="1000"/>
              </a:spcAft>
              <a:buNone/>
            </a:pPr>
            <a:r>
              <a:rPr lang="en-US" sz="1500" dirty="0">
                <a:solidFill>
                  <a:schemeClr val="tx1"/>
                </a:solidFill>
              </a:rPr>
              <a:t>관찰된 차이가 정말 처치 때문인가?  → 인과의 신뢰성</a:t>
            </a:r>
            <a:endParaRPr lang="en-US" sz="1500" dirty="0"/>
          </a:p>
          <a:p>
            <a:pPr marL="342900" indent="-342900">
              <a:spcAft>
                <a:spcPts val="400"/>
              </a:spcAft>
              <a:buSzPct val="100000"/>
              <a:buChar char="•"/>
            </a:pPr>
            <a:r>
              <a:rPr lang="en-US" sz="1500" dirty="0">
                <a:solidFill>
                  <a:schemeClr val="tx1"/>
                </a:solidFill>
              </a:rPr>
              <a:t>처음으로 효과를 검증할 때 우선</a:t>
            </a:r>
            <a:endParaRPr lang="en-US" sz="1500" dirty="0"/>
          </a:p>
          <a:p>
            <a:pPr marL="342900" indent="-342900">
              <a:spcAft>
                <a:spcPts val="400"/>
              </a:spcAft>
              <a:buSzPct val="100000"/>
              <a:buChar char="•"/>
            </a:pPr>
            <a:r>
              <a:rPr lang="en-US" sz="1500" dirty="0">
                <a:solidFill>
                  <a:schemeClr val="tx1"/>
                </a:solidFill>
              </a:rPr>
              <a:t>깨뜨리는 것: SRM, 그룹 간 오염, 한쪽에만 생긴 로깅 변경</a:t>
            </a:r>
            <a:endParaRPr lang="en-US" sz="1500" dirty="0"/>
          </a:p>
        </p:txBody>
      </p:sp>
      <p:sp>
        <p:nvSpPr>
          <p:cNvPr id="6" name="Shape 3"/>
          <p:cNvSpPr/>
          <p:nvPr/>
        </p:nvSpPr>
        <p:spPr>
          <a:xfrm>
            <a:off x="5989320" y="1828800"/>
            <a:ext cx="0" cy="2103120"/>
          </a:xfrm>
          <a:prstGeom prst="line">
            <a:avLst/>
          </a:prstGeom>
          <a:noFill/>
          <a:ln w="12700">
            <a:solidFill>
              <a:srgbClr val="E3E7F1"/>
            </a:solidFill>
            <a:prstDash val="solid"/>
          </a:ln>
        </p:spPr>
      </p:sp>
      <p:sp>
        <p:nvSpPr>
          <p:cNvPr id="7" name="Text 4"/>
          <p:cNvSpPr txBox="1"/>
          <p:nvPr/>
        </p:nvSpPr>
        <p:spPr>
          <a:xfrm>
            <a:off x="6355080" y="1783080"/>
            <a:ext cx="4754880" cy="2194560"/>
          </a:xfrm>
          <a:prstGeom prst="rect">
            <a:avLst/>
          </a:prstGeom>
          <a:noFill/>
          <a:ln/>
        </p:spPr>
        <p:txBody>
          <a:bodyPr wrap="square" lIns="0" tIns="0" rIns="0" bIns="0" rtlCol="0" anchor="t"/>
          <a:lstStyle/>
          <a:p>
            <a:pPr indent="0" marL="0">
              <a:spcAft>
                <a:spcPts val="400"/>
              </a:spcAft>
              <a:buNone/>
            </a:pPr>
            <a:r>
              <a:rPr lang="en-US" sz="2000" b="1" dirty="0">
                <a:solidFill>
                  <a:schemeClr val="accent2"/>
                </a:solidFill>
              </a:rPr>
              <a:t>외적 타당성</a:t>
            </a:r>
            <a:endParaRPr lang="en-US" sz="1500" dirty="0"/>
          </a:p>
          <a:p>
            <a:pPr indent="0" marL="0">
              <a:spcAft>
                <a:spcPts val="1000"/>
              </a:spcAft>
              <a:buNone/>
            </a:pPr>
            <a:r>
              <a:rPr lang="en-US" sz="1500" dirty="0">
                <a:solidFill>
                  <a:schemeClr val="tx1"/>
                </a:solidFill>
              </a:rPr>
              <a:t>다른 사용자·환경·시점에도 통하나?  → 일반화</a:t>
            </a:r>
            <a:endParaRPr lang="en-US" sz="1500" dirty="0"/>
          </a:p>
          <a:p>
            <a:pPr marL="342900" indent="-342900">
              <a:spcAft>
                <a:spcPts val="400"/>
              </a:spcAft>
              <a:buSzPct val="100000"/>
              <a:buChar char="•"/>
            </a:pPr>
            <a:r>
              <a:rPr lang="en-US" sz="1500" dirty="0">
                <a:solidFill>
                  <a:schemeClr val="tx1"/>
                </a:solidFill>
              </a:rPr>
              <a:t>전체 출시·여러 국가 출시·장기 전략에서 중요</a:t>
            </a:r>
            <a:endParaRPr lang="en-US" sz="1500" dirty="0"/>
          </a:p>
          <a:p>
            <a:pPr marL="342900" indent="-342900">
              <a:spcAft>
                <a:spcPts val="400"/>
              </a:spcAft>
              <a:buSzPct val="100000"/>
              <a:buChar char="•"/>
            </a:pPr>
            <a:r>
              <a:rPr lang="en-US" sz="1500" dirty="0">
                <a:solidFill>
                  <a:schemeClr val="tx1"/>
                </a:solidFill>
              </a:rPr>
              <a:t>깨뜨리는 것: 특수 시즌, 신규 사용자만, 특정 국가만</a:t>
            </a:r>
            <a:endParaRPr lang="en-US" sz="1500" dirty="0"/>
          </a:p>
        </p:txBody>
      </p:sp>
      <p:sp>
        <p:nvSpPr>
          <p:cNvPr id="8" name="Text 5"/>
          <p:cNvSpPr txBox="1"/>
          <p:nvPr/>
        </p:nvSpPr>
        <p:spPr>
          <a:xfrm>
            <a:off x="640080" y="4206240"/>
            <a:ext cx="10911535" cy="365760"/>
          </a:xfrm>
          <a:prstGeom prst="rect">
            <a:avLst/>
          </a:prstGeom>
          <a:noFill/>
          <a:ln/>
        </p:spPr>
        <p:txBody>
          <a:bodyPr wrap="square" lIns="0" tIns="0" rIns="0" bIns="0" rtlCol="0" anchor="t"/>
          <a:lstStyle/>
          <a:p>
            <a:pPr indent="0" marL="0">
              <a:buNone/>
            </a:pPr>
            <a:r>
              <a:rPr lang="en-US" sz="1500" dirty="0">
                <a:solidFill>
                  <a:schemeClr val="tx2"/>
                </a:solidFill>
              </a:rPr>
              <a:t>통제를 엄격하게 할수록 내적 타당성 ↑, 현실과의 거리 ↑ → 단계적으로 확보</a:t>
            </a:r>
            <a:endParaRPr lang="en-US" sz="1500" dirty="0"/>
          </a:p>
        </p:txBody>
      </p:sp>
      <p:sp>
        <p:nvSpPr>
          <p:cNvPr id="9" name="Text 6"/>
          <p:cNvSpPr txBox="1"/>
          <p:nvPr/>
        </p:nvSpPr>
        <p:spPr>
          <a:xfrm>
            <a:off x="640080" y="4663440"/>
            <a:ext cx="3108960" cy="457200"/>
          </a:xfrm>
          <a:prstGeom prst="rect">
            <a:avLst/>
          </a:prstGeom>
          <a:noFill/>
          <a:ln/>
        </p:spPr>
        <p:txBody>
          <a:bodyPr wrap="square" lIns="0" tIns="0" rIns="0" bIns="0" rtlCol="0" anchor="t"/>
          <a:lstStyle/>
          <a:p>
            <a:pPr indent="0" marL="0">
              <a:buNone/>
            </a:pPr>
            <a:r>
              <a:rPr lang="en-US" sz="2000" b="1" dirty="0">
                <a:solidFill>
                  <a:schemeClr val="accent1"/>
                </a:solidFill>
              </a:rPr>
              <a:t>내적 타당성 확보</a:t>
            </a:r>
            <a:endParaRPr lang="en-US" sz="2000" dirty="0"/>
          </a:p>
        </p:txBody>
      </p:sp>
      <p:sp>
        <p:nvSpPr>
          <p:cNvPr id="10" name="Shape 7"/>
          <p:cNvSpPr/>
          <p:nvPr/>
        </p:nvSpPr>
        <p:spPr>
          <a:xfrm>
            <a:off x="3703320" y="4846320"/>
            <a:ext cx="457200" cy="0"/>
          </a:xfrm>
          <a:prstGeom prst="line">
            <a:avLst/>
          </a:prstGeom>
          <a:noFill/>
          <a:ln w="19050">
            <a:solidFill>
              <a:srgbClr val="8A90A8"/>
            </a:solidFill>
            <a:prstDash val="solid"/>
            <a:tailEnd type="triangle"/>
          </a:ln>
        </p:spPr>
      </p:sp>
      <p:sp>
        <p:nvSpPr>
          <p:cNvPr id="11" name="Text 8"/>
          <p:cNvSpPr txBox="1"/>
          <p:nvPr/>
        </p:nvSpPr>
        <p:spPr>
          <a:xfrm>
            <a:off x="4297680" y="4663440"/>
            <a:ext cx="3108960" cy="457200"/>
          </a:xfrm>
          <a:prstGeom prst="rect">
            <a:avLst/>
          </a:prstGeom>
          <a:noFill/>
          <a:ln/>
        </p:spPr>
        <p:txBody>
          <a:bodyPr wrap="square" lIns="0" tIns="0" rIns="0" bIns="0" rtlCol="0" anchor="t"/>
          <a:lstStyle/>
          <a:p>
            <a:pPr indent="0" marL="0">
              <a:buNone/>
            </a:pPr>
            <a:r>
              <a:rPr lang="en-US" sz="2000" b="1" dirty="0">
                <a:solidFill>
                  <a:schemeClr val="tx1"/>
                </a:solidFill>
              </a:rPr>
              <a:t>외적 타당성 검토</a:t>
            </a:r>
            <a:endParaRPr lang="en-US" sz="2000" dirty="0"/>
          </a:p>
        </p:txBody>
      </p:sp>
      <p:sp>
        <p:nvSpPr>
          <p:cNvPr id="12" name="Shape 9"/>
          <p:cNvSpPr/>
          <p:nvPr/>
        </p:nvSpPr>
        <p:spPr>
          <a:xfrm>
            <a:off x="7360920" y="4846320"/>
            <a:ext cx="457200" cy="0"/>
          </a:xfrm>
          <a:prstGeom prst="line">
            <a:avLst/>
          </a:prstGeom>
          <a:noFill/>
          <a:ln w="19050">
            <a:solidFill>
              <a:srgbClr val="8A90A8"/>
            </a:solidFill>
            <a:prstDash val="solid"/>
            <a:tailEnd type="triangle"/>
          </a:ln>
        </p:spPr>
      </p:sp>
      <p:sp>
        <p:nvSpPr>
          <p:cNvPr id="13" name="Text 10"/>
          <p:cNvSpPr txBox="1"/>
          <p:nvPr/>
        </p:nvSpPr>
        <p:spPr>
          <a:xfrm>
            <a:off x="7955280" y="4663440"/>
            <a:ext cx="3108960" cy="457200"/>
          </a:xfrm>
          <a:prstGeom prst="rect">
            <a:avLst/>
          </a:prstGeom>
          <a:noFill/>
          <a:ln/>
        </p:spPr>
        <p:txBody>
          <a:bodyPr wrap="square" lIns="0" tIns="0" rIns="0" bIns="0" rtlCol="0" anchor="t"/>
          <a:lstStyle/>
          <a:p>
            <a:pPr indent="0" marL="0">
              <a:buNone/>
            </a:pPr>
            <a:r>
              <a:rPr lang="en-US" sz="2000" b="1" dirty="0">
                <a:solidFill>
                  <a:schemeClr val="tx1"/>
                </a:solidFill>
              </a:rPr>
              <a:t>다른 집단·국가·기간에서 반복</a:t>
            </a:r>
            <a:endParaRPr lang="en-US" sz="2000" dirty="0"/>
          </a:p>
        </p:txBody>
      </p:sp>
      <p:sp>
        <p:nvSpPr>
          <p:cNvPr id="14" name="Text 11"/>
          <p:cNvSpPr txBox="1"/>
          <p:nvPr/>
        </p:nvSpPr>
        <p:spPr>
          <a:xfrm>
            <a:off x="640080" y="5440680"/>
            <a:ext cx="10911535" cy="411480"/>
          </a:xfrm>
          <a:prstGeom prst="rect">
            <a:avLst/>
          </a:prstGeom>
          <a:noFill/>
          <a:ln/>
        </p:spPr>
        <p:txBody>
          <a:bodyPr wrap="square" lIns="0" tIns="0" rIns="0" bIns="0" rtlCol="0" anchor="t"/>
          <a:lstStyle/>
          <a:p>
            <a:pPr indent="0" marL="0">
              <a:buNone/>
            </a:pPr>
            <a:r>
              <a:rPr lang="en-US" sz="1500" b="1" dirty="0">
                <a:solidFill>
                  <a:schemeClr val="accent1"/>
                </a:solidFill>
              </a:rPr>
              <a:t>실무에서 이렇게 말한다  </a:t>
            </a:r>
            <a:pPr indent="0" marL="0">
              <a:buNone/>
            </a:pPr>
            <a:r>
              <a:rPr lang="en-US" sz="1500" dirty="0">
                <a:solidFill>
                  <a:schemeClr val="tx1"/>
                </a:solidFill>
              </a:rPr>
              <a:t>"이번 결과는 10월 둘째 주, 신규 사용자 기준입니다"</a:t>
            </a:r>
            <a:endParaRPr lang="en-US" sz="15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Ch1 · 한계</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A/B 테스트가 안 되거나 조심해야 하는 상황</a:t>
            </a:r>
            <a:endParaRPr lang="en-US" sz="2000" dirty="0"/>
          </a:p>
        </p:txBody>
      </p:sp>
      <p:sp>
        <p:nvSpPr>
          <p:cNvPr id="5" name="Text 2"/>
          <p:cNvSpPr txBox="1"/>
          <p:nvPr/>
        </p:nvSpPr>
        <p:spPr>
          <a:xfrm>
            <a:off x="640080" y="1874520"/>
            <a:ext cx="822960" cy="640080"/>
          </a:xfrm>
          <a:prstGeom prst="rect">
            <a:avLst/>
          </a:prstGeom>
          <a:noFill/>
          <a:ln/>
        </p:spPr>
        <p:txBody>
          <a:bodyPr wrap="square" lIns="0" tIns="0" rIns="0" bIns="0" rtlCol="0" anchor="t"/>
          <a:lstStyle/>
          <a:p>
            <a:pPr indent="0" marL="0">
              <a:buNone/>
            </a:pPr>
            <a:r>
              <a:rPr lang="en-US" sz="3000" b="1" dirty="0">
                <a:solidFill>
                  <a:schemeClr val="accent1"/>
                </a:solidFill>
              </a:rPr>
              <a:t>01</a:t>
            </a:r>
            <a:endParaRPr lang="en-US" sz="3000" dirty="0"/>
          </a:p>
        </p:txBody>
      </p:sp>
      <p:sp>
        <p:nvSpPr>
          <p:cNvPr id="6" name="Text 3"/>
          <p:cNvSpPr txBox="1"/>
          <p:nvPr/>
        </p:nvSpPr>
        <p:spPr>
          <a:xfrm>
            <a:off x="1554480" y="1920240"/>
            <a:ext cx="4389120" cy="1188720"/>
          </a:xfrm>
          <a:prstGeom prst="rect">
            <a:avLst/>
          </a:prstGeom>
          <a:noFill/>
          <a:ln/>
        </p:spPr>
        <p:txBody>
          <a:bodyPr wrap="square" lIns="0" tIns="0" rIns="0" bIns="0" rtlCol="0" anchor="t"/>
          <a:lstStyle/>
          <a:p>
            <a:pPr indent="0" marL="0">
              <a:buNone/>
            </a:pPr>
            <a:r>
              <a:rPr lang="en-US" sz="2000" b="1" dirty="0">
                <a:solidFill>
                  <a:schemeClr val="tx1"/>
                </a:solidFill>
              </a:rPr>
              <a:t>윤리·법</a:t>
            </a:r>
            <a:endParaRPr lang="en-US" sz="1500" dirty="0"/>
          </a:p>
          <a:p>
            <a:pPr indent="0" marL="0">
              <a:buNone/>
            </a:pPr>
            <a:r>
              <a:rPr lang="en-US" sz="1500" dirty="0">
                <a:solidFill>
                  <a:schemeClr val="tx2"/>
                </a:solidFill>
              </a:rPr>
              <a:t>가격 차별, 해로울 수 있는 처치, 동의가 필요한 실험</a:t>
            </a:r>
            <a:endParaRPr lang="en-US" sz="1500" dirty="0"/>
          </a:p>
        </p:txBody>
      </p:sp>
      <p:sp>
        <p:nvSpPr>
          <p:cNvPr id="7" name="Text 4"/>
          <p:cNvSpPr txBox="1"/>
          <p:nvPr/>
        </p:nvSpPr>
        <p:spPr>
          <a:xfrm>
            <a:off x="6217920" y="1874520"/>
            <a:ext cx="822960" cy="640080"/>
          </a:xfrm>
          <a:prstGeom prst="rect">
            <a:avLst/>
          </a:prstGeom>
          <a:noFill/>
          <a:ln/>
        </p:spPr>
        <p:txBody>
          <a:bodyPr wrap="square" lIns="0" tIns="0" rIns="0" bIns="0" rtlCol="0" anchor="t"/>
          <a:lstStyle/>
          <a:p>
            <a:pPr indent="0" marL="0">
              <a:buNone/>
            </a:pPr>
            <a:r>
              <a:rPr lang="en-US" sz="3000" b="1" dirty="0">
                <a:solidFill>
                  <a:schemeClr val="accent1"/>
                </a:solidFill>
              </a:rPr>
              <a:t>02</a:t>
            </a:r>
            <a:endParaRPr lang="en-US" sz="3000" dirty="0"/>
          </a:p>
        </p:txBody>
      </p:sp>
      <p:sp>
        <p:nvSpPr>
          <p:cNvPr id="8" name="Text 5"/>
          <p:cNvSpPr txBox="1"/>
          <p:nvPr/>
        </p:nvSpPr>
        <p:spPr>
          <a:xfrm>
            <a:off x="7132320" y="1920240"/>
            <a:ext cx="4389120" cy="1188720"/>
          </a:xfrm>
          <a:prstGeom prst="rect">
            <a:avLst/>
          </a:prstGeom>
          <a:noFill/>
          <a:ln/>
        </p:spPr>
        <p:txBody>
          <a:bodyPr wrap="square" lIns="0" tIns="0" rIns="0" bIns="0" rtlCol="0" anchor="t"/>
          <a:lstStyle/>
          <a:p>
            <a:pPr indent="0" marL="0">
              <a:buNone/>
            </a:pPr>
            <a:r>
              <a:rPr lang="en-US" sz="2000" b="1" dirty="0">
                <a:solidFill>
                  <a:schemeClr val="tx1"/>
                </a:solidFill>
              </a:rPr>
              <a:t>네트워크 효과</a:t>
            </a:r>
            <a:endParaRPr lang="en-US" sz="1500" dirty="0"/>
          </a:p>
          <a:p>
            <a:pPr indent="0" marL="0">
              <a:buNone/>
            </a:pPr>
            <a:r>
              <a:rPr lang="en-US" sz="1500" dirty="0">
                <a:solidFill>
                  <a:schemeClr val="tx2"/>
                </a:solidFill>
              </a:rPr>
              <a:t>친구·판매자·라이더가 엮여 한 그룹의 처치가 다른 그룹에 번짐</a:t>
            </a:r>
            <a:endParaRPr lang="en-US" sz="1500" dirty="0"/>
          </a:p>
        </p:txBody>
      </p:sp>
      <p:sp>
        <p:nvSpPr>
          <p:cNvPr id="9" name="Text 6"/>
          <p:cNvSpPr txBox="1"/>
          <p:nvPr/>
        </p:nvSpPr>
        <p:spPr>
          <a:xfrm>
            <a:off x="640080" y="3474720"/>
            <a:ext cx="822960" cy="640080"/>
          </a:xfrm>
          <a:prstGeom prst="rect">
            <a:avLst/>
          </a:prstGeom>
          <a:noFill/>
          <a:ln/>
        </p:spPr>
        <p:txBody>
          <a:bodyPr wrap="square" lIns="0" tIns="0" rIns="0" bIns="0" rtlCol="0" anchor="t"/>
          <a:lstStyle/>
          <a:p>
            <a:pPr indent="0" marL="0">
              <a:buNone/>
            </a:pPr>
            <a:r>
              <a:rPr lang="en-US" sz="3000" b="1" dirty="0">
                <a:solidFill>
                  <a:schemeClr val="accent1"/>
                </a:solidFill>
              </a:rPr>
              <a:t>03</a:t>
            </a:r>
            <a:endParaRPr lang="en-US" sz="3000" dirty="0"/>
          </a:p>
        </p:txBody>
      </p:sp>
      <p:sp>
        <p:nvSpPr>
          <p:cNvPr id="10" name="Text 7"/>
          <p:cNvSpPr txBox="1"/>
          <p:nvPr/>
        </p:nvSpPr>
        <p:spPr>
          <a:xfrm>
            <a:off x="1554480" y="3520440"/>
            <a:ext cx="4389120" cy="1188720"/>
          </a:xfrm>
          <a:prstGeom prst="rect">
            <a:avLst/>
          </a:prstGeom>
          <a:noFill/>
          <a:ln/>
        </p:spPr>
        <p:txBody>
          <a:bodyPr wrap="square" lIns="0" tIns="0" rIns="0" bIns="0" rtlCol="0" anchor="t"/>
          <a:lstStyle/>
          <a:p>
            <a:pPr indent="0" marL="0">
              <a:buNone/>
            </a:pPr>
            <a:r>
              <a:rPr lang="en-US" sz="2000" b="1" dirty="0">
                <a:solidFill>
                  <a:schemeClr val="tx1"/>
                </a:solidFill>
              </a:rPr>
              <a:t>표본 부족</a:t>
            </a:r>
            <a:endParaRPr lang="en-US" sz="1500" dirty="0"/>
          </a:p>
          <a:p>
            <a:pPr indent="0" marL="0">
              <a:buNone/>
            </a:pPr>
            <a:r>
              <a:rPr lang="en-US" sz="1500" dirty="0">
                <a:solidFill>
                  <a:schemeClr val="tx2"/>
                </a:solidFill>
              </a:rPr>
              <a:t>B2B, 저트래픽 서비스처럼 검정력을 확보할 사용자가 없음</a:t>
            </a:r>
            <a:endParaRPr lang="en-US" sz="1500" dirty="0"/>
          </a:p>
        </p:txBody>
      </p:sp>
      <p:sp>
        <p:nvSpPr>
          <p:cNvPr id="11" name="Text 8"/>
          <p:cNvSpPr txBox="1"/>
          <p:nvPr/>
        </p:nvSpPr>
        <p:spPr>
          <a:xfrm>
            <a:off x="6217920" y="3474720"/>
            <a:ext cx="822960" cy="640080"/>
          </a:xfrm>
          <a:prstGeom prst="rect">
            <a:avLst/>
          </a:prstGeom>
          <a:noFill/>
          <a:ln/>
        </p:spPr>
        <p:txBody>
          <a:bodyPr wrap="square" lIns="0" tIns="0" rIns="0" bIns="0" rtlCol="0" anchor="t"/>
          <a:lstStyle/>
          <a:p>
            <a:pPr indent="0" marL="0">
              <a:buNone/>
            </a:pPr>
            <a:r>
              <a:rPr lang="en-US" sz="3000" b="1" dirty="0">
                <a:solidFill>
                  <a:schemeClr val="accent1"/>
                </a:solidFill>
              </a:rPr>
              <a:t>04</a:t>
            </a:r>
            <a:endParaRPr lang="en-US" sz="3000" dirty="0"/>
          </a:p>
        </p:txBody>
      </p:sp>
      <p:sp>
        <p:nvSpPr>
          <p:cNvPr id="12" name="Text 9"/>
          <p:cNvSpPr txBox="1"/>
          <p:nvPr/>
        </p:nvSpPr>
        <p:spPr>
          <a:xfrm>
            <a:off x="7132320" y="3520440"/>
            <a:ext cx="4389120" cy="1188720"/>
          </a:xfrm>
          <a:prstGeom prst="rect">
            <a:avLst/>
          </a:prstGeom>
          <a:noFill/>
          <a:ln/>
        </p:spPr>
        <p:txBody>
          <a:bodyPr wrap="square" lIns="0" tIns="0" rIns="0" bIns="0" rtlCol="0" anchor="t"/>
          <a:lstStyle/>
          <a:p>
            <a:pPr indent="0" marL="0">
              <a:buNone/>
            </a:pPr>
            <a:r>
              <a:rPr lang="en-US" sz="2000" b="1" dirty="0">
                <a:solidFill>
                  <a:schemeClr val="tx1"/>
                </a:solidFill>
              </a:rPr>
              <a:t>비교할 두 세계를 만들 수 없음</a:t>
            </a:r>
            <a:endParaRPr lang="en-US" sz="1500" dirty="0"/>
          </a:p>
          <a:p>
            <a:pPr indent="0" marL="0">
              <a:buNone/>
            </a:pPr>
            <a:r>
              <a:rPr lang="en-US" sz="1500" dirty="0">
                <a:solidFill>
                  <a:schemeClr val="tx2"/>
                </a:solidFill>
              </a:rPr>
              <a:t>M&amp;A처럼 같은 단위를 두 상태로 동시에 운영할 수 없는 결정</a:t>
            </a:r>
            <a:endParaRPr lang="en-US" sz="1500" dirty="0"/>
          </a:p>
        </p:txBody>
      </p:sp>
      <p:sp>
        <p:nvSpPr>
          <p:cNvPr id="13" name="Text 10"/>
          <p:cNvSpPr txBox="1"/>
          <p:nvPr/>
        </p:nvSpPr>
        <p:spPr>
          <a:xfrm>
            <a:off x="640080" y="5257800"/>
            <a:ext cx="10911535" cy="457200"/>
          </a:xfrm>
          <a:prstGeom prst="rect">
            <a:avLst/>
          </a:prstGeom>
          <a:noFill/>
          <a:ln/>
        </p:spPr>
        <p:txBody>
          <a:bodyPr wrap="square" lIns="0" tIns="0" rIns="0" bIns="0" rtlCol="0" anchor="t"/>
          <a:lstStyle/>
          <a:p>
            <a:pPr indent="0" marL="0">
              <a:buNone/>
            </a:pPr>
            <a:r>
              <a:rPr lang="en-US" sz="1500" b="1" dirty="0">
                <a:solidFill>
                  <a:schemeClr val="accent1"/>
                </a:solidFill>
              </a:rPr>
              <a:t>→ Ch4 대안: </a:t>
            </a:r>
            <a:pPr indent="0" marL="0">
              <a:buNone/>
            </a:pPr>
            <a:r>
              <a:rPr lang="en-US" sz="1500" dirty="0">
                <a:solidFill>
                  <a:schemeClr val="tx1"/>
                </a:solidFill>
              </a:rPr>
              <a:t>클러스터 랜덤화, 스위치백, DID · RDD · Synthetic Control</a:t>
            </a:r>
            <a:endParaRPr lang="en-US" sz="15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640080" y="1371600"/>
            <a:ext cx="3657600" cy="1463040"/>
          </a:xfrm>
          <a:prstGeom prst="rect">
            <a:avLst/>
          </a:prstGeom>
          <a:noFill/>
          <a:ln/>
        </p:spPr>
        <p:txBody>
          <a:bodyPr wrap="square" lIns="0" tIns="0" rIns="0" bIns="0" rtlCol="0" anchor="b"/>
          <a:lstStyle/>
          <a:p>
            <a:pPr algn="l" indent="0" marL="0">
              <a:buNone/>
            </a:pPr>
            <a:r>
              <a:rPr lang="en-US" sz="9600" b="1" dirty="0">
                <a:solidFill>
                  <a:srgbClr val="7B93FF"/>
                </a:solidFill>
              </a:rPr>
              <a:t>02</a:t>
            </a:r>
            <a:endParaRPr lang="en-US" sz="9600" dirty="0"/>
          </a:p>
        </p:txBody>
      </p:sp>
      <p:sp>
        <p:nvSpPr>
          <p:cNvPr id="3" name="Text 0"/>
          <p:cNvSpPr/>
          <p:nvPr>
            <p:ph idx="101" type="title" hasCustomPrompt="1"/>
          </p:nvPr>
        </p:nvSpPr>
        <p:spPr>
          <a:xfrm>
            <a:off x="640080" y="3017520"/>
            <a:ext cx="10058400" cy="914400"/>
          </a:xfrm>
          <a:prstGeom prst="rect">
            <a:avLst/>
          </a:prstGeom>
          <a:noFill/>
          <a:ln/>
        </p:spPr>
        <p:txBody>
          <a:bodyPr wrap="square" lIns="0" tIns="0" rIns="0" bIns="0" rtlCol="0" anchor="t"/>
          <a:lstStyle/>
          <a:p>
            <a:pPr algn="l" indent="0" marL="0">
              <a:buNone/>
            </a:pPr>
            <a:r>
              <a:rPr lang="en-US" sz="4000" b="1" dirty="0">
                <a:solidFill>
                  <a:srgbClr val="FFFFFF"/>
                </a:solidFill>
              </a:rPr>
              <a:t>A/B 테스트 설계의 핵심 구성요소</a:t>
            </a:r>
            <a:endParaRPr lang="en-US" sz="4000" dirty="0"/>
          </a:p>
        </p:txBody>
      </p:sp>
      <p:sp>
        <p:nvSpPr>
          <p:cNvPr id="4" name="Text 0"/>
          <p:cNvSpPr/>
          <p:nvPr>
            <p:ph idx="102" type="body" hasCustomPrompt="1"/>
          </p:nvPr>
        </p:nvSpPr>
        <p:spPr>
          <a:xfrm>
            <a:off x="640080" y="4069080"/>
            <a:ext cx="10058400" cy="731520"/>
          </a:xfrm>
          <a:prstGeom prst="rect">
            <a:avLst/>
          </a:prstGeom>
          <a:noFill/>
          <a:ln/>
        </p:spPr>
        <p:txBody>
          <a:bodyPr wrap="square" lIns="0" tIns="0" rIns="0" bIns="0" rtlCol="0" anchor="t"/>
          <a:lstStyle/>
          <a:p>
            <a:pPr algn="l" indent="0" marL="0">
              <a:buNone/>
            </a:pPr>
            <a:r>
              <a:rPr lang="en-US" sz="2000" dirty="0">
                <a:solidFill>
                  <a:srgbClr val="AEB3CC"/>
                </a:solidFill>
              </a:rPr>
              <a:t>문제와 가설, 지표, 단위, 표본, 배정</a:t>
            </a:r>
            <a:endParaRPr lang="en-US" sz="2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Ch2 · 문제 정의</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현상이 아니라 문제에서 시작한다</a:t>
            </a:r>
            <a:endParaRPr lang="en-US" sz="2000" dirty="0"/>
          </a:p>
        </p:txBody>
      </p:sp>
      <p:sp>
        <p:nvSpPr>
          <p:cNvPr id="5" name="Text 2"/>
          <p:cNvSpPr txBox="1"/>
          <p:nvPr/>
        </p:nvSpPr>
        <p:spPr>
          <a:xfrm>
            <a:off x="640080" y="1874520"/>
            <a:ext cx="822960" cy="365760"/>
          </a:xfrm>
          <a:prstGeom prst="rect">
            <a:avLst/>
          </a:prstGeom>
          <a:noFill/>
          <a:ln/>
        </p:spPr>
        <p:txBody>
          <a:bodyPr wrap="square" lIns="0" tIns="0" rIns="0" bIns="0" rtlCol="0" anchor="t"/>
          <a:lstStyle/>
          <a:p>
            <a:pPr indent="0" marL="0">
              <a:buNone/>
            </a:pPr>
            <a:r>
              <a:rPr lang="en-US" sz="1400" b="1" dirty="0">
                <a:solidFill>
                  <a:schemeClr val="accent6"/>
                </a:solidFill>
              </a:rPr>
              <a:t>현상</a:t>
            </a:r>
            <a:endParaRPr lang="en-US" sz="1400" dirty="0"/>
          </a:p>
        </p:txBody>
      </p:sp>
      <p:sp>
        <p:nvSpPr>
          <p:cNvPr id="6" name="Text 3"/>
          <p:cNvSpPr txBox="1"/>
          <p:nvPr/>
        </p:nvSpPr>
        <p:spPr>
          <a:xfrm>
            <a:off x="1554480" y="1828800"/>
            <a:ext cx="6400800" cy="457200"/>
          </a:xfrm>
          <a:prstGeom prst="rect">
            <a:avLst/>
          </a:prstGeom>
          <a:noFill/>
          <a:ln/>
        </p:spPr>
        <p:txBody>
          <a:bodyPr wrap="square" lIns="0" tIns="0" rIns="0" bIns="0" rtlCol="0" anchor="t"/>
          <a:lstStyle/>
          <a:p>
            <a:pPr indent="0" marL="0">
              <a:buNone/>
            </a:pPr>
            <a:r>
              <a:rPr lang="en-US" sz="1900" dirty="0">
                <a:solidFill>
                  <a:schemeClr val="tx1"/>
                </a:solidFill>
              </a:rPr>
              <a:t>예약이 줄었다</a:t>
            </a:r>
            <a:endParaRPr lang="en-US" sz="1900" dirty="0"/>
          </a:p>
        </p:txBody>
      </p:sp>
      <p:sp>
        <p:nvSpPr>
          <p:cNvPr id="7" name="Text 4"/>
          <p:cNvSpPr txBox="1"/>
          <p:nvPr/>
        </p:nvSpPr>
        <p:spPr>
          <a:xfrm>
            <a:off x="1554480" y="2240280"/>
            <a:ext cx="365760" cy="411480"/>
          </a:xfrm>
          <a:prstGeom prst="rect">
            <a:avLst/>
          </a:prstGeom>
          <a:noFill/>
          <a:ln/>
        </p:spPr>
        <p:txBody>
          <a:bodyPr wrap="square" lIns="0" tIns="0" rIns="0" bIns="0" rtlCol="0" anchor="t"/>
          <a:lstStyle/>
          <a:p>
            <a:pPr indent="0" marL="0">
              <a:buNone/>
            </a:pPr>
            <a:r>
              <a:rPr lang="en-US" sz="2000" dirty="0">
                <a:solidFill>
                  <a:schemeClr val="accent6"/>
                </a:solidFill>
              </a:rPr>
              <a:t>↓</a:t>
            </a:r>
            <a:endParaRPr lang="en-US" sz="2000" dirty="0"/>
          </a:p>
        </p:txBody>
      </p:sp>
      <p:sp>
        <p:nvSpPr>
          <p:cNvPr id="8" name="Text 5"/>
          <p:cNvSpPr txBox="1"/>
          <p:nvPr/>
        </p:nvSpPr>
        <p:spPr>
          <a:xfrm>
            <a:off x="640080" y="2743200"/>
            <a:ext cx="822960" cy="365760"/>
          </a:xfrm>
          <a:prstGeom prst="rect">
            <a:avLst/>
          </a:prstGeom>
          <a:noFill/>
          <a:ln/>
        </p:spPr>
        <p:txBody>
          <a:bodyPr wrap="square" lIns="0" tIns="0" rIns="0" bIns="0" rtlCol="0" anchor="t"/>
          <a:lstStyle/>
          <a:p>
            <a:pPr indent="0" marL="0">
              <a:buNone/>
            </a:pPr>
            <a:endParaRPr lang="en-US" sz="1400" dirty="0"/>
          </a:p>
        </p:txBody>
      </p:sp>
      <p:sp>
        <p:nvSpPr>
          <p:cNvPr id="9" name="Text 6"/>
          <p:cNvSpPr txBox="1"/>
          <p:nvPr/>
        </p:nvSpPr>
        <p:spPr>
          <a:xfrm>
            <a:off x="1965960" y="2697480"/>
            <a:ext cx="6400800" cy="457200"/>
          </a:xfrm>
          <a:prstGeom prst="rect">
            <a:avLst/>
          </a:prstGeom>
          <a:noFill/>
          <a:ln/>
        </p:spPr>
        <p:txBody>
          <a:bodyPr wrap="square" lIns="0" tIns="0" rIns="0" bIns="0" rtlCol="0" anchor="t"/>
          <a:lstStyle/>
          <a:p>
            <a:pPr indent="0" marL="0">
              <a:buNone/>
            </a:pPr>
            <a:r>
              <a:rPr lang="en-US" sz="1900" dirty="0">
                <a:solidFill>
                  <a:schemeClr val="tx1"/>
                </a:solidFill>
              </a:rPr>
              <a:t>예약 전환이 나빠졌다</a:t>
            </a:r>
            <a:endParaRPr lang="en-US" sz="1900" dirty="0"/>
          </a:p>
        </p:txBody>
      </p:sp>
      <p:sp>
        <p:nvSpPr>
          <p:cNvPr id="10" name="Text 7"/>
          <p:cNvSpPr txBox="1"/>
          <p:nvPr/>
        </p:nvSpPr>
        <p:spPr>
          <a:xfrm>
            <a:off x="1965960" y="3108960"/>
            <a:ext cx="365760" cy="411480"/>
          </a:xfrm>
          <a:prstGeom prst="rect">
            <a:avLst/>
          </a:prstGeom>
          <a:noFill/>
          <a:ln/>
        </p:spPr>
        <p:txBody>
          <a:bodyPr wrap="square" lIns="0" tIns="0" rIns="0" bIns="0" rtlCol="0" anchor="t"/>
          <a:lstStyle/>
          <a:p>
            <a:pPr indent="0" marL="0">
              <a:buNone/>
            </a:pPr>
            <a:r>
              <a:rPr lang="en-US" sz="2000" dirty="0">
                <a:solidFill>
                  <a:schemeClr val="accent6"/>
                </a:solidFill>
              </a:rPr>
              <a:t>↓</a:t>
            </a:r>
            <a:endParaRPr lang="en-US" sz="2000" dirty="0"/>
          </a:p>
        </p:txBody>
      </p:sp>
      <p:sp>
        <p:nvSpPr>
          <p:cNvPr id="11" name="Text 8"/>
          <p:cNvSpPr txBox="1"/>
          <p:nvPr/>
        </p:nvSpPr>
        <p:spPr>
          <a:xfrm>
            <a:off x="640080" y="3611880"/>
            <a:ext cx="822960" cy="365760"/>
          </a:xfrm>
          <a:prstGeom prst="rect">
            <a:avLst/>
          </a:prstGeom>
          <a:noFill/>
          <a:ln/>
        </p:spPr>
        <p:txBody>
          <a:bodyPr wrap="square" lIns="0" tIns="0" rIns="0" bIns="0" rtlCol="0" anchor="t"/>
          <a:lstStyle/>
          <a:p>
            <a:pPr indent="0" marL="0">
              <a:buNone/>
            </a:pPr>
            <a:endParaRPr lang="en-US" sz="1400" dirty="0"/>
          </a:p>
        </p:txBody>
      </p:sp>
      <p:sp>
        <p:nvSpPr>
          <p:cNvPr id="12" name="Text 9"/>
          <p:cNvSpPr txBox="1"/>
          <p:nvPr/>
        </p:nvSpPr>
        <p:spPr>
          <a:xfrm>
            <a:off x="2377440" y="3566160"/>
            <a:ext cx="6400800" cy="457200"/>
          </a:xfrm>
          <a:prstGeom prst="rect">
            <a:avLst/>
          </a:prstGeom>
          <a:noFill/>
          <a:ln/>
        </p:spPr>
        <p:txBody>
          <a:bodyPr wrap="square" lIns="0" tIns="0" rIns="0" bIns="0" rtlCol="0" anchor="t"/>
          <a:lstStyle/>
          <a:p>
            <a:pPr indent="0" marL="0">
              <a:buNone/>
            </a:pPr>
            <a:r>
              <a:rPr lang="en-US" sz="1900" dirty="0">
                <a:solidFill>
                  <a:schemeClr val="tx1"/>
                </a:solidFill>
              </a:rPr>
              <a:t>검색 → 예약완료 CVR이 감소했다</a:t>
            </a:r>
            <a:endParaRPr lang="en-US" sz="1900" dirty="0"/>
          </a:p>
        </p:txBody>
      </p:sp>
      <p:sp>
        <p:nvSpPr>
          <p:cNvPr id="13" name="Text 10"/>
          <p:cNvSpPr txBox="1"/>
          <p:nvPr/>
        </p:nvSpPr>
        <p:spPr>
          <a:xfrm>
            <a:off x="2377440" y="3977640"/>
            <a:ext cx="365760" cy="411480"/>
          </a:xfrm>
          <a:prstGeom prst="rect">
            <a:avLst/>
          </a:prstGeom>
          <a:noFill/>
          <a:ln/>
        </p:spPr>
        <p:txBody>
          <a:bodyPr wrap="square" lIns="0" tIns="0" rIns="0" bIns="0" rtlCol="0" anchor="t"/>
          <a:lstStyle/>
          <a:p>
            <a:pPr indent="0" marL="0">
              <a:buNone/>
            </a:pPr>
            <a:r>
              <a:rPr lang="en-US" sz="2000" dirty="0">
                <a:solidFill>
                  <a:schemeClr val="accent6"/>
                </a:solidFill>
              </a:rPr>
              <a:t>↓</a:t>
            </a:r>
            <a:endParaRPr lang="en-US" sz="2000" dirty="0"/>
          </a:p>
        </p:txBody>
      </p:sp>
      <p:sp>
        <p:nvSpPr>
          <p:cNvPr id="14" name="Text 11"/>
          <p:cNvSpPr txBox="1"/>
          <p:nvPr/>
        </p:nvSpPr>
        <p:spPr>
          <a:xfrm>
            <a:off x="640080" y="4480560"/>
            <a:ext cx="822960" cy="365760"/>
          </a:xfrm>
          <a:prstGeom prst="rect">
            <a:avLst/>
          </a:prstGeom>
          <a:noFill/>
          <a:ln/>
        </p:spPr>
        <p:txBody>
          <a:bodyPr wrap="square" lIns="0" tIns="0" rIns="0" bIns="0" rtlCol="0" anchor="t"/>
          <a:lstStyle/>
          <a:p>
            <a:pPr indent="0" marL="0">
              <a:buNone/>
            </a:pPr>
            <a:r>
              <a:rPr lang="en-US" sz="1400" b="1" dirty="0">
                <a:solidFill>
                  <a:schemeClr val="accent1"/>
                </a:solidFill>
              </a:rPr>
              <a:t>문제</a:t>
            </a:r>
            <a:endParaRPr lang="en-US" sz="1400" dirty="0"/>
          </a:p>
        </p:txBody>
      </p:sp>
      <p:sp>
        <p:nvSpPr>
          <p:cNvPr id="15" name="Text 12"/>
          <p:cNvSpPr txBox="1"/>
          <p:nvPr/>
        </p:nvSpPr>
        <p:spPr>
          <a:xfrm>
            <a:off x="2788920" y="4434840"/>
            <a:ext cx="6400800" cy="457200"/>
          </a:xfrm>
          <a:prstGeom prst="rect">
            <a:avLst/>
          </a:prstGeom>
          <a:noFill/>
          <a:ln/>
        </p:spPr>
        <p:txBody>
          <a:bodyPr wrap="square" lIns="0" tIns="0" rIns="0" bIns="0" rtlCol="0" anchor="t"/>
          <a:lstStyle/>
          <a:p>
            <a:pPr indent="0" marL="0">
              <a:buNone/>
            </a:pPr>
            <a:r>
              <a:rPr lang="en-US" sz="2100" b="1" dirty="0">
                <a:solidFill>
                  <a:schemeClr val="accent1"/>
                </a:solidFill>
              </a:rPr>
              <a:t>프로모션 채널 유입이 늘어난 뒤 전체 CVR이 나빠졌다</a:t>
            </a:r>
            <a:endParaRPr lang="en-US" sz="2100" dirty="0"/>
          </a:p>
        </p:txBody>
      </p:sp>
      <p:sp>
        <p:nvSpPr>
          <p:cNvPr id="16" name="Text 13"/>
          <p:cNvSpPr txBox="1"/>
          <p:nvPr/>
        </p:nvSpPr>
        <p:spPr>
          <a:xfrm>
            <a:off x="8412480" y="1828800"/>
            <a:ext cx="3154680" cy="3108960"/>
          </a:xfrm>
          <a:prstGeom prst="rect">
            <a:avLst/>
          </a:prstGeom>
          <a:noFill/>
          <a:ln/>
        </p:spPr>
        <p:txBody>
          <a:bodyPr wrap="square" lIns="0" tIns="0" rIns="0" bIns="0" rtlCol="0" anchor="t"/>
          <a:lstStyle/>
          <a:p>
            <a:pPr indent="0" marL="0">
              <a:spcAft>
                <a:spcPts val="600"/>
              </a:spcAft>
              <a:buNone/>
            </a:pPr>
            <a:r>
              <a:rPr lang="en-US" sz="2000" b="1" dirty="0">
                <a:solidFill>
                  <a:schemeClr val="tx1"/>
                </a:solidFill>
              </a:rPr>
              <a:t>왜 끝까지 좁히나</a:t>
            </a:r>
            <a:endParaRPr lang="en-US" sz="1500" dirty="0"/>
          </a:p>
          <a:p>
            <a:pPr marL="342900" indent="-342900">
              <a:spcAft>
                <a:spcPts val="400"/>
              </a:spcAft>
              <a:buSzPct val="100000"/>
              <a:buChar char="•"/>
            </a:pPr>
            <a:r>
              <a:rPr lang="en-US" sz="1500" dirty="0">
                <a:solidFill>
                  <a:schemeClr val="tx2"/>
                </a:solidFill>
              </a:rPr>
              <a:t>A/B는 "무엇을 바꿨을 때 이 지표가 얼마나 달라졌나"를 비교</a:t>
            </a:r>
            <a:endParaRPr lang="en-US" sz="1500" dirty="0"/>
          </a:p>
          <a:p>
            <a:pPr marL="342900" indent="-342900">
              <a:spcAft>
                <a:spcPts val="400"/>
              </a:spcAft>
              <a:buSzPct val="100000"/>
              <a:buChar char="•"/>
            </a:pPr>
            <a:r>
              <a:rPr lang="en-US" sz="1500" dirty="0">
                <a:solidFill>
                  <a:schemeClr val="tx2"/>
                </a:solidFill>
              </a:rPr>
              <a:t>지표·구간까지 좁혀야 바꿀 곳이 보인다</a:t>
            </a:r>
            <a:endParaRPr lang="en-US" sz="1500" dirty="0"/>
          </a:p>
          <a:p>
            <a:pPr marL="342900" indent="-342900">
              <a:buSzPct val="100000"/>
              <a:buChar char="•"/>
            </a:pPr>
            <a:r>
              <a:rPr lang="en-US" sz="1500" dirty="0">
                <a:solidFill>
                  <a:schemeClr val="tx2"/>
                </a:solidFill>
              </a:rPr>
              <a:t>엉뚱한 Treatment를 실험하지 않게 된다</a:t>
            </a:r>
            <a:endParaRPr lang="en-US" sz="1500" dirty="0"/>
          </a:p>
        </p:txBody>
      </p:sp>
      <p:sp>
        <p:nvSpPr>
          <p:cNvPr id="17" name="Text 14"/>
          <p:cNvSpPr txBox="1"/>
          <p:nvPr/>
        </p:nvSpPr>
        <p:spPr>
          <a:xfrm>
            <a:off x="640080" y="5669280"/>
            <a:ext cx="5486400" cy="320040"/>
          </a:xfrm>
          <a:prstGeom prst="rect">
            <a:avLst/>
          </a:prstGeom>
          <a:noFill/>
          <a:ln/>
        </p:spPr>
        <p:txBody>
          <a:bodyPr wrap="square" lIns="0" tIns="0" rIns="0" bIns="0" rtlCol="0" anchor="t"/>
          <a:lstStyle/>
          <a:p>
            <a:pPr indent="0" marL="0">
              <a:buNone/>
            </a:pPr>
            <a:r>
              <a:rPr lang="en-US" sz="1400" dirty="0">
                <a:solidFill>
                  <a:schemeClr val="accent6"/>
                </a:solidFill>
              </a:rPr>
              <a:t>*CVR(Conversion Rate): 전환율</a:t>
            </a:r>
            <a:endParaRPr lang="en-US" sz="14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Ch2 · 무엇을 바꿀까</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해결책은 여러 개, 실험에서 바꾸는 건 하나</a:t>
            </a:r>
            <a:endParaRPr lang="en-US" sz="2000" dirty="0"/>
          </a:p>
        </p:txBody>
      </p:sp>
      <p:sp>
        <p:nvSpPr>
          <p:cNvPr id="5" name="Text 2"/>
          <p:cNvSpPr txBox="1"/>
          <p:nvPr/>
        </p:nvSpPr>
        <p:spPr>
          <a:xfrm>
            <a:off x="640080" y="1783080"/>
            <a:ext cx="4937760" cy="3657600"/>
          </a:xfrm>
          <a:prstGeom prst="rect">
            <a:avLst/>
          </a:prstGeom>
          <a:noFill/>
          <a:ln/>
        </p:spPr>
        <p:txBody>
          <a:bodyPr wrap="square" lIns="0" tIns="0" rIns="0" bIns="0" rtlCol="0" anchor="t"/>
          <a:lstStyle/>
          <a:p>
            <a:pPr indent="0" marL="0">
              <a:spcAft>
                <a:spcPts val="600"/>
              </a:spcAft>
              <a:buNone/>
            </a:pPr>
            <a:r>
              <a:rPr lang="en-US" sz="1400" b="1" dirty="0">
                <a:solidFill>
                  <a:schemeClr val="accent6"/>
                </a:solidFill>
              </a:rPr>
              <a:t>문제</a:t>
            </a:r>
            <a:endParaRPr lang="en-US" sz="1500" dirty="0"/>
          </a:p>
          <a:p>
            <a:pPr indent="0" marL="0">
              <a:spcAft>
                <a:spcPts val="1400"/>
              </a:spcAft>
              <a:buNone/>
            </a:pPr>
            <a:r>
              <a:rPr lang="en-US" sz="2000" b="1" dirty="0">
                <a:solidFill>
                  <a:schemeClr val="tx1"/>
                </a:solidFill>
              </a:rPr>
              <a:t>프로모션으로 들어온 사용자의 재예약률이 낮다</a:t>
            </a:r>
            <a:endParaRPr lang="en-US" sz="1500" dirty="0"/>
          </a:p>
          <a:p>
            <a:pPr indent="0" marL="0">
              <a:spcAft>
                <a:spcPts val="400"/>
              </a:spcAft>
              <a:buNone/>
            </a:pPr>
            <a:r>
              <a:rPr lang="en-US" sz="1400" b="1" dirty="0">
                <a:solidFill>
                  <a:schemeClr val="accent6"/>
                </a:solidFill>
              </a:rPr>
              <a:t>가능한 솔루션 가설</a:t>
            </a:r>
            <a:endParaRPr lang="en-US" sz="1500" dirty="0"/>
          </a:p>
          <a:p>
            <a:pPr marL="342900" indent="-342900">
              <a:spcAft>
                <a:spcPts val="600"/>
              </a:spcAft>
              <a:buSzPct val="100000"/>
              <a:buChar char="•"/>
            </a:pPr>
            <a:r>
              <a:rPr lang="en-US" sz="1500" dirty="0">
                <a:solidFill>
                  <a:schemeClr val="tx1"/>
                </a:solidFill>
              </a:rPr>
              <a:t>프로모션 노출 대상을 바꾼다</a:t>
            </a:r>
            <a:endParaRPr lang="en-US" sz="1500" dirty="0"/>
          </a:p>
          <a:p>
            <a:pPr marL="342900" indent="-342900">
              <a:spcAft>
                <a:spcPts val="600"/>
              </a:spcAft>
              <a:buSzPct val="100000"/>
              <a:buChar char="•"/>
            </a:pPr>
            <a:r>
              <a:rPr lang="en-US" sz="1500" dirty="0">
                <a:solidFill>
                  <a:schemeClr val="tx1"/>
                </a:solidFill>
              </a:rPr>
              <a:t>프로모션 혜택 구조를 바꾼다</a:t>
            </a:r>
            <a:endParaRPr lang="en-US" sz="1500" dirty="0"/>
          </a:p>
          <a:p>
            <a:pPr marL="342900" indent="-342900">
              <a:spcAft>
                <a:spcPts val="600"/>
              </a:spcAft>
              <a:buSzPct val="100000"/>
              <a:buChar char="•"/>
            </a:pPr>
            <a:r>
              <a:rPr lang="en-US" sz="1500" dirty="0">
                <a:solidFill>
                  <a:schemeClr val="tx1"/>
                </a:solidFill>
              </a:rPr>
              <a:t>첫 예약 뒤 재방문 혜택을 준다</a:t>
            </a:r>
            <a:endParaRPr lang="en-US" sz="1500" dirty="0"/>
          </a:p>
          <a:p>
            <a:pPr marL="342900" indent="-342900">
              <a:spcAft>
                <a:spcPts val="600"/>
              </a:spcAft>
              <a:buSzPct val="100000"/>
              <a:buChar char="•"/>
            </a:pPr>
            <a:r>
              <a:rPr lang="en-US" sz="1500" dirty="0">
                <a:solidFill>
                  <a:schemeClr val="tx1"/>
                </a:solidFill>
              </a:rPr>
              <a:t>특정 세그먼트에만 프로모션을 노출한다</a:t>
            </a:r>
            <a:endParaRPr lang="en-US" sz="1500" dirty="0"/>
          </a:p>
        </p:txBody>
      </p:sp>
      <p:sp>
        <p:nvSpPr>
          <p:cNvPr id="6" name="Shape 3"/>
          <p:cNvSpPr/>
          <p:nvPr/>
        </p:nvSpPr>
        <p:spPr>
          <a:xfrm>
            <a:off x="5989320" y="1828800"/>
            <a:ext cx="0" cy="3566160"/>
          </a:xfrm>
          <a:prstGeom prst="line">
            <a:avLst/>
          </a:prstGeom>
          <a:noFill/>
          <a:ln w="12700">
            <a:solidFill>
              <a:srgbClr val="E3E7F1"/>
            </a:solidFill>
            <a:prstDash val="solid"/>
          </a:ln>
        </p:spPr>
      </p:sp>
      <p:sp>
        <p:nvSpPr>
          <p:cNvPr id="7" name="Text 4"/>
          <p:cNvSpPr txBox="1"/>
          <p:nvPr/>
        </p:nvSpPr>
        <p:spPr>
          <a:xfrm>
            <a:off x="6355080" y="1783080"/>
            <a:ext cx="5212080" cy="3657600"/>
          </a:xfrm>
          <a:prstGeom prst="rect">
            <a:avLst/>
          </a:prstGeom>
          <a:noFill/>
          <a:ln/>
        </p:spPr>
        <p:txBody>
          <a:bodyPr wrap="square" lIns="0" tIns="0" rIns="0" bIns="0" rtlCol="0" anchor="t"/>
          <a:lstStyle/>
          <a:p>
            <a:pPr indent="0" marL="0">
              <a:spcAft>
                <a:spcPts val="1000"/>
              </a:spcAft>
              <a:buNone/>
            </a:pPr>
            <a:r>
              <a:rPr lang="en-US" sz="2000" b="1" dirty="0">
                <a:solidFill>
                  <a:schemeClr val="tx1"/>
                </a:solidFill>
              </a:rPr>
              <a:t>실험군에서 한 번에 다 바꾸면</a:t>
            </a:r>
            <a:endParaRPr lang="en-US" sz="1500" dirty="0"/>
          </a:p>
          <a:p>
            <a:pPr indent="0" marL="0">
              <a:buNone/>
            </a:pPr>
            <a:r>
              <a:rPr lang="en-US" sz="1500" b="1" dirty="0">
                <a:solidFill>
                  <a:schemeClr val="accent4"/>
                </a:solidFill>
              </a:rPr>
              <a:t>할인율 변경</a:t>
            </a:r>
            <a:pPr indent="0" marL="0">
              <a:buNone/>
            </a:pPr>
            <a:r>
              <a:rPr lang="en-US" sz="1500" dirty="0">
                <a:solidFill>
                  <a:schemeClr val="tx1"/>
                </a:solidFill>
              </a:rPr>
              <a:t>  +  </a:t>
            </a:r>
            <a:pPr indent="0" marL="0">
              <a:buNone/>
            </a:pPr>
            <a:r>
              <a:rPr lang="en-US" sz="1500" b="1" dirty="0">
                <a:solidFill>
                  <a:schemeClr val="accent4"/>
                </a:solidFill>
              </a:rPr>
              <a:t>버튼 색 변경</a:t>
            </a:r>
            <a:pPr indent="0" marL="0">
              <a:buNone/>
            </a:pPr>
            <a:r>
              <a:rPr lang="en-US" sz="1500" dirty="0">
                <a:solidFill>
                  <a:schemeClr val="tx1"/>
                </a:solidFill>
              </a:rPr>
              <a:t>  +  </a:t>
            </a:r>
            <a:pPr indent="0" marL="0">
              <a:spcAft>
                <a:spcPts val="1000"/>
              </a:spcAft>
              <a:buNone/>
            </a:pPr>
            <a:r>
              <a:rPr lang="en-US" sz="1500" b="1" dirty="0">
                <a:solidFill>
                  <a:schemeClr val="accent4"/>
                </a:solidFill>
              </a:rPr>
              <a:t>추천 영역 변경</a:t>
            </a:r>
            <a:endParaRPr lang="en-US" sz="1500" dirty="0"/>
          </a:p>
          <a:p>
            <a:pPr indent="0" marL="0">
              <a:spcAft>
                <a:spcPts val="1800"/>
              </a:spcAft>
              <a:buNone/>
            </a:pPr>
            <a:r>
              <a:rPr lang="en-US" sz="1500" dirty="0">
                <a:solidFill>
                  <a:schemeClr val="tx2"/>
                </a:solidFill>
              </a:rPr>
              <a:t>→ 전환율이 올라도 원인을 모른다</a:t>
            </a:r>
            <a:endParaRPr lang="en-US" sz="1500" dirty="0"/>
          </a:p>
          <a:p>
            <a:pPr indent="0" marL="0">
              <a:buNone/>
            </a:pPr>
            <a:r>
              <a:rPr lang="en-US" sz="2000" b="1" dirty="0">
                <a:solidFill>
                  <a:schemeClr val="accent1"/>
                </a:solidFill>
              </a:rPr>
              <a:t>대조군과의 차이는 핵심 변화 하나만</a:t>
            </a:r>
            <a:endParaRPr lang="en-US" sz="15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Ch2 · 가설 수립</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가설은 한 문장으로 쓴다</a:t>
            </a:r>
            <a:endParaRPr lang="en-US" sz="2000" dirty="0"/>
          </a:p>
        </p:txBody>
      </p:sp>
      <p:sp>
        <p:nvSpPr>
          <p:cNvPr id="5" name="Text 2"/>
          <p:cNvSpPr txBox="1"/>
          <p:nvPr/>
        </p:nvSpPr>
        <p:spPr>
          <a:xfrm>
            <a:off x="640080" y="1783080"/>
            <a:ext cx="10911535" cy="548640"/>
          </a:xfrm>
          <a:prstGeom prst="rect">
            <a:avLst/>
          </a:prstGeom>
          <a:noFill/>
          <a:ln/>
        </p:spPr>
        <p:txBody>
          <a:bodyPr wrap="square" lIns="0" tIns="0" rIns="0" bIns="0" rtlCol="0" anchor="t"/>
          <a:lstStyle/>
          <a:p>
            <a:pPr indent="0" marL="0">
              <a:buNone/>
            </a:pPr>
            <a:r>
              <a:rPr lang="en-US" sz="2000" b="1" dirty="0">
                <a:solidFill>
                  <a:schemeClr val="accent1"/>
                </a:solidFill>
              </a:rPr>
              <a:t>[대상]</a:t>
            </a:r>
            <a:pPr indent="0" marL="0">
              <a:buNone/>
            </a:pPr>
            <a:r>
              <a:rPr lang="en-US" sz="2000" dirty="0">
                <a:solidFill>
                  <a:schemeClr val="tx1"/>
                </a:solidFill>
              </a:rPr>
              <a:t>에게 </a:t>
            </a:r>
            <a:pPr indent="0" marL="0">
              <a:buNone/>
            </a:pPr>
            <a:r>
              <a:rPr lang="en-US" sz="2000" b="1" dirty="0">
                <a:solidFill>
                  <a:schemeClr val="accent2"/>
                </a:solidFill>
              </a:rPr>
              <a:t>[Treatment]</a:t>
            </a:r>
            <a:pPr indent="0" marL="0">
              <a:buNone/>
            </a:pPr>
            <a:r>
              <a:rPr lang="en-US" sz="2000" dirty="0">
                <a:solidFill>
                  <a:schemeClr val="tx1"/>
                </a:solidFill>
              </a:rPr>
              <a:t>를 적용하면, </a:t>
            </a:r>
            <a:pPr indent="0" marL="0">
              <a:buNone/>
            </a:pPr>
            <a:r>
              <a:rPr lang="en-US" sz="2000" b="1" dirty="0">
                <a:solidFill>
                  <a:schemeClr val="accent5"/>
                </a:solidFill>
              </a:rPr>
              <a:t>[이유]</a:t>
            </a:r>
            <a:pPr indent="0" marL="0">
              <a:buNone/>
            </a:pPr>
            <a:r>
              <a:rPr lang="en-US" sz="2000" dirty="0">
                <a:solidFill>
                  <a:schemeClr val="tx1"/>
                </a:solidFill>
              </a:rPr>
              <a:t> 때문에 </a:t>
            </a:r>
            <a:pPr indent="0" marL="0">
              <a:buNone/>
            </a:pPr>
            <a:r>
              <a:rPr lang="en-US" sz="2000" b="1" dirty="0">
                <a:solidFill>
                  <a:schemeClr val="accent1"/>
                </a:solidFill>
              </a:rPr>
              <a:t>[Metric]</a:t>
            </a:r>
            <a:pPr indent="0" marL="0">
              <a:buNone/>
            </a:pPr>
            <a:r>
              <a:rPr lang="en-US" sz="2000" dirty="0">
                <a:solidFill>
                  <a:schemeClr val="tx1"/>
                </a:solidFill>
              </a:rPr>
              <a:t>이 </a:t>
            </a:r>
            <a:pPr indent="0" marL="0">
              <a:buNone/>
            </a:pPr>
            <a:r>
              <a:rPr lang="en-US" sz="2000" b="1" dirty="0">
                <a:solidFill>
                  <a:schemeClr val="accent2"/>
                </a:solidFill>
              </a:rPr>
              <a:t>[방향]</a:t>
            </a:r>
            <a:pPr indent="0" marL="0">
              <a:buNone/>
            </a:pPr>
            <a:r>
              <a:rPr lang="en-US" sz="2000" dirty="0">
                <a:solidFill>
                  <a:schemeClr val="tx1"/>
                </a:solidFill>
              </a:rPr>
              <a:t>으로 변할 것이다</a:t>
            </a:r>
            <a:endParaRPr lang="en-US" sz="2000" dirty="0"/>
          </a:p>
        </p:txBody>
      </p:sp>
      <p:sp>
        <p:nvSpPr>
          <p:cNvPr id="6" name="Text 3"/>
          <p:cNvSpPr txBox="1"/>
          <p:nvPr/>
        </p:nvSpPr>
        <p:spPr>
          <a:xfrm>
            <a:off x="640080" y="2377440"/>
            <a:ext cx="10911535" cy="365760"/>
          </a:xfrm>
          <a:prstGeom prst="rect">
            <a:avLst/>
          </a:prstGeom>
          <a:noFill/>
          <a:ln/>
        </p:spPr>
        <p:txBody>
          <a:bodyPr wrap="square" lIns="0" tIns="0" rIns="0" bIns="0" rtlCol="0" anchor="t"/>
          <a:lstStyle/>
          <a:p>
            <a:pPr indent="0" marL="0">
              <a:buNone/>
            </a:pPr>
            <a:r>
              <a:rPr lang="en-US" sz="1500" dirty="0">
                <a:solidFill>
                  <a:schemeClr val="tx2"/>
                </a:solidFill>
              </a:rPr>
              <a:t>+ 가능하면 얼마나 변할지(의미 있는 변화 크기)까지</a:t>
            </a:r>
            <a:endParaRPr lang="en-US" sz="1500" dirty="0"/>
          </a:p>
        </p:txBody>
      </p:sp>
      <p:sp>
        <p:nvSpPr>
          <p:cNvPr id="7" name="Text 4"/>
          <p:cNvSpPr txBox="1"/>
          <p:nvPr/>
        </p:nvSpPr>
        <p:spPr>
          <a:xfrm>
            <a:off x="640080" y="3063240"/>
            <a:ext cx="2560320" cy="457200"/>
          </a:xfrm>
          <a:prstGeom prst="rect">
            <a:avLst/>
          </a:prstGeom>
          <a:noFill/>
          <a:ln/>
        </p:spPr>
        <p:txBody>
          <a:bodyPr wrap="square" lIns="0" tIns="0" rIns="0" bIns="0" rtlCol="0" anchor="t"/>
          <a:lstStyle/>
          <a:p>
            <a:pPr indent="0" marL="0">
              <a:buNone/>
            </a:pPr>
            <a:r>
              <a:rPr lang="en-US" sz="2000" b="1" dirty="0">
                <a:solidFill>
                  <a:schemeClr val="accent1"/>
                </a:solidFill>
              </a:rPr>
              <a:t>Treatment</a:t>
            </a:r>
            <a:endParaRPr lang="en-US" sz="2000" dirty="0"/>
          </a:p>
        </p:txBody>
      </p:sp>
      <p:sp>
        <p:nvSpPr>
          <p:cNvPr id="8" name="Shape 5"/>
          <p:cNvSpPr/>
          <p:nvPr/>
        </p:nvSpPr>
        <p:spPr>
          <a:xfrm>
            <a:off x="2926080" y="3291840"/>
            <a:ext cx="640080" cy="0"/>
          </a:xfrm>
          <a:prstGeom prst="line">
            <a:avLst/>
          </a:prstGeom>
          <a:noFill/>
          <a:ln w="19050">
            <a:solidFill>
              <a:srgbClr val="8A90A8"/>
            </a:solidFill>
            <a:prstDash val="solid"/>
            <a:tailEnd type="triangle"/>
          </a:ln>
        </p:spPr>
      </p:sp>
      <p:sp>
        <p:nvSpPr>
          <p:cNvPr id="9" name="Text 6"/>
          <p:cNvSpPr txBox="1"/>
          <p:nvPr/>
        </p:nvSpPr>
        <p:spPr>
          <a:xfrm>
            <a:off x="3749040" y="3063240"/>
            <a:ext cx="2560320" cy="457200"/>
          </a:xfrm>
          <a:prstGeom prst="rect">
            <a:avLst/>
          </a:prstGeom>
          <a:noFill/>
          <a:ln/>
        </p:spPr>
        <p:txBody>
          <a:bodyPr wrap="square" lIns="0" tIns="0" rIns="0" bIns="0" rtlCol="0" anchor="t"/>
          <a:lstStyle/>
          <a:p>
            <a:pPr indent="0" marL="0">
              <a:buNone/>
            </a:pPr>
            <a:r>
              <a:rPr lang="en-US" sz="2000" b="1" dirty="0">
                <a:solidFill>
                  <a:schemeClr val="accent5"/>
                </a:solidFill>
              </a:rPr>
              <a:t>사용자 행동 변화</a:t>
            </a:r>
            <a:endParaRPr lang="en-US" sz="2000" dirty="0"/>
          </a:p>
        </p:txBody>
      </p:sp>
      <p:sp>
        <p:nvSpPr>
          <p:cNvPr id="10" name="Shape 7"/>
          <p:cNvSpPr/>
          <p:nvPr/>
        </p:nvSpPr>
        <p:spPr>
          <a:xfrm>
            <a:off x="6035040" y="3291840"/>
            <a:ext cx="640080" cy="0"/>
          </a:xfrm>
          <a:prstGeom prst="line">
            <a:avLst/>
          </a:prstGeom>
          <a:noFill/>
          <a:ln w="19050">
            <a:solidFill>
              <a:srgbClr val="8A90A8"/>
            </a:solidFill>
            <a:prstDash val="solid"/>
            <a:tailEnd type="triangle"/>
          </a:ln>
        </p:spPr>
      </p:sp>
      <p:sp>
        <p:nvSpPr>
          <p:cNvPr id="11" name="Text 8"/>
          <p:cNvSpPr txBox="1"/>
          <p:nvPr/>
        </p:nvSpPr>
        <p:spPr>
          <a:xfrm>
            <a:off x="6858000" y="3063240"/>
            <a:ext cx="2560320" cy="457200"/>
          </a:xfrm>
          <a:prstGeom prst="rect">
            <a:avLst/>
          </a:prstGeom>
          <a:noFill/>
          <a:ln/>
        </p:spPr>
        <p:txBody>
          <a:bodyPr wrap="square" lIns="0" tIns="0" rIns="0" bIns="0" rtlCol="0" anchor="t"/>
          <a:lstStyle/>
          <a:p>
            <a:pPr indent="0" marL="0">
              <a:buNone/>
            </a:pPr>
            <a:r>
              <a:rPr lang="en-US" sz="2000" b="1" dirty="0">
                <a:solidFill>
                  <a:schemeClr val="accent1"/>
                </a:solidFill>
              </a:rPr>
              <a:t>Metric 변화</a:t>
            </a:r>
            <a:endParaRPr lang="en-US" sz="2000" dirty="0"/>
          </a:p>
        </p:txBody>
      </p:sp>
      <p:sp>
        <p:nvSpPr>
          <p:cNvPr id="12" name="Text 9"/>
          <p:cNvSpPr txBox="1"/>
          <p:nvPr/>
        </p:nvSpPr>
        <p:spPr>
          <a:xfrm>
            <a:off x="9509760" y="3063240"/>
            <a:ext cx="2103120" cy="731520"/>
          </a:xfrm>
          <a:prstGeom prst="rect">
            <a:avLst/>
          </a:prstGeom>
          <a:noFill/>
          <a:ln/>
        </p:spPr>
        <p:txBody>
          <a:bodyPr wrap="square" lIns="0" tIns="0" rIns="0" bIns="0" rtlCol="0" anchor="t"/>
          <a:lstStyle/>
          <a:p>
            <a:pPr indent="0" marL="0">
              <a:buNone/>
            </a:pPr>
            <a:r>
              <a:rPr lang="en-US" sz="1400" dirty="0">
                <a:solidFill>
                  <a:schemeClr val="tx2"/>
                </a:solidFill>
              </a:rPr>
              <a:t>이 연결을 설명할 수 있어야 한다</a:t>
            </a:r>
            <a:endParaRPr lang="en-US" sz="1400" dirty="0"/>
          </a:p>
        </p:txBody>
      </p:sp>
      <p:sp>
        <p:nvSpPr>
          <p:cNvPr id="13" name="Text 10"/>
          <p:cNvSpPr txBox="1"/>
          <p:nvPr/>
        </p:nvSpPr>
        <p:spPr>
          <a:xfrm>
            <a:off x="640080" y="4069080"/>
            <a:ext cx="10911535" cy="1097280"/>
          </a:xfrm>
          <a:prstGeom prst="rect">
            <a:avLst/>
          </a:prstGeom>
          <a:noFill/>
          <a:ln/>
        </p:spPr>
        <p:txBody>
          <a:bodyPr wrap="square" lIns="0" tIns="0" rIns="0" bIns="0" rtlCol="0" anchor="t"/>
          <a:lstStyle/>
          <a:p>
            <a:pPr indent="0" marL="0">
              <a:buNone/>
            </a:pPr>
            <a:r>
              <a:rPr lang="en-US" sz="1400" b="1" dirty="0">
                <a:solidFill>
                  <a:schemeClr val="accent3"/>
                </a:solidFill>
              </a:rPr>
              <a:t>예시 가설</a:t>
            </a:r>
            <a:endParaRPr lang="en-US" sz="2000" dirty="0"/>
          </a:p>
          <a:p>
            <a:pPr indent="0" marL="0">
              <a:buNone/>
            </a:pPr>
            <a:r>
              <a:rPr lang="en-US" sz="2000" b="1" dirty="0">
                <a:solidFill>
                  <a:schemeClr val="accent1"/>
                </a:solidFill>
              </a:rPr>
              <a:t>재방문 가능성이 높은 사용자</a:t>
            </a:r>
            <a:pPr indent="0" marL="0">
              <a:buNone/>
            </a:pPr>
            <a:r>
              <a:rPr lang="en-US" sz="2000" dirty="0">
                <a:solidFill>
                  <a:schemeClr val="tx1"/>
                </a:solidFill>
              </a:rPr>
              <a:t>에게만 </a:t>
            </a:r>
            <a:pPr indent="0" marL="0">
              <a:buNone/>
            </a:pPr>
            <a:r>
              <a:rPr lang="en-US" sz="2000" b="1" dirty="0">
                <a:solidFill>
                  <a:schemeClr val="accent2"/>
                </a:solidFill>
              </a:rPr>
              <a:t>프로모션을 노출하면</a:t>
            </a:r>
            <a:pPr indent="0" marL="0">
              <a:buNone/>
            </a:pPr>
            <a:r>
              <a:rPr lang="en-US" sz="2000" dirty="0">
                <a:solidFill>
                  <a:schemeClr val="tx1"/>
                </a:solidFill>
              </a:rPr>
              <a:t>, </a:t>
            </a:r>
            <a:pPr indent="0" marL="0">
              <a:buNone/>
            </a:pPr>
            <a:r>
              <a:rPr lang="en-US" sz="2000" b="1" dirty="0">
                <a:solidFill>
                  <a:schemeClr val="accent5"/>
                </a:solidFill>
              </a:rPr>
              <a:t>저품질 유입 비중이 줄어</a:t>
            </a:r>
            <a:pPr indent="0" marL="0">
              <a:buNone/>
            </a:pPr>
            <a:r>
              <a:rPr lang="en-US" sz="2000" dirty="0">
                <a:solidFill>
                  <a:schemeClr val="tx1"/>
                </a:solidFill>
              </a:rPr>
              <a:t> </a:t>
            </a:r>
            <a:pPr indent="0" marL="0">
              <a:buNone/>
            </a:pPr>
            <a:r>
              <a:rPr lang="en-US" sz="2000" b="1" dirty="0">
                <a:solidFill>
                  <a:schemeClr val="accent1"/>
                </a:solidFill>
              </a:rPr>
              <a:t>검색 → 예약완료 CVR</a:t>
            </a:r>
            <a:pPr indent="0" marL="0">
              <a:buNone/>
            </a:pPr>
            <a:r>
              <a:rPr lang="en-US" sz="2000" dirty="0">
                <a:solidFill>
                  <a:schemeClr val="tx1"/>
                </a:solidFill>
              </a:rPr>
              <a:t>이 </a:t>
            </a:r>
            <a:pPr indent="0" marL="0">
              <a:buNone/>
            </a:pPr>
            <a:r>
              <a:rPr lang="en-US" sz="2000" b="1" dirty="0">
                <a:solidFill>
                  <a:schemeClr val="accent2"/>
                </a:solidFill>
              </a:rPr>
              <a:t>증가할 것이다</a:t>
            </a:r>
            <a:endParaRPr lang="en-US" sz="2000" dirty="0"/>
          </a:p>
        </p:txBody>
      </p:sp>
      <p:sp>
        <p:nvSpPr>
          <p:cNvPr id="14" name="Text 11"/>
          <p:cNvSpPr txBox="1"/>
          <p:nvPr/>
        </p:nvSpPr>
        <p:spPr>
          <a:xfrm>
            <a:off x="640080" y="5669280"/>
            <a:ext cx="10911535" cy="274320"/>
          </a:xfrm>
          <a:prstGeom prst="rect">
            <a:avLst/>
          </a:prstGeom>
          <a:noFill/>
          <a:ln/>
        </p:spPr>
        <p:txBody>
          <a:bodyPr wrap="square" lIns="0" tIns="0" rIns="0" bIns="0" rtlCol="0" anchor="t"/>
          <a:lstStyle/>
          <a:p>
            <a:pPr indent="0" marL="0">
              <a:buNone/>
            </a:pPr>
            <a:r>
              <a:rPr lang="en-US" sz="1100" dirty="0">
                <a:solidFill>
                  <a:schemeClr val="accent6"/>
                </a:solidFill>
              </a:rPr>
              <a:t>위키 02편 1.3~1.4</a:t>
            </a:r>
            <a:endParaRPr lang="en-US" sz="11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Ch2 · 좋은 가설의 조건</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틀렸다는 결과도 나올 수 있어야 좋은 가설이다</a:t>
            </a:r>
            <a:endParaRPr lang="en-US" sz="2000" dirty="0"/>
          </a:p>
        </p:txBody>
      </p:sp>
      <p:sp>
        <p:nvSpPr>
          <p:cNvPr id="5" name="Text 2"/>
          <p:cNvSpPr txBox="1"/>
          <p:nvPr/>
        </p:nvSpPr>
        <p:spPr>
          <a:xfrm>
            <a:off x="640080" y="1783080"/>
            <a:ext cx="914400" cy="548640"/>
          </a:xfrm>
          <a:prstGeom prst="rect">
            <a:avLst/>
          </a:prstGeom>
          <a:noFill/>
          <a:ln/>
        </p:spPr>
        <p:txBody>
          <a:bodyPr wrap="square" lIns="0" tIns="0" rIns="0" bIns="0" rtlCol="0" anchor="t"/>
          <a:lstStyle/>
          <a:p>
            <a:pPr indent="0" marL="0">
              <a:buNone/>
            </a:pPr>
            <a:r>
              <a:rPr lang="en-US" sz="3000" b="1" dirty="0">
                <a:solidFill>
                  <a:schemeClr val="accent1"/>
                </a:solidFill>
              </a:rPr>
              <a:t>01</a:t>
            </a:r>
            <a:endParaRPr lang="en-US" sz="3000" dirty="0"/>
          </a:p>
        </p:txBody>
      </p:sp>
      <p:sp>
        <p:nvSpPr>
          <p:cNvPr id="6" name="Text 3"/>
          <p:cNvSpPr txBox="1"/>
          <p:nvPr/>
        </p:nvSpPr>
        <p:spPr>
          <a:xfrm>
            <a:off x="640080" y="2377440"/>
            <a:ext cx="3383280" cy="1097280"/>
          </a:xfrm>
          <a:prstGeom prst="rect">
            <a:avLst/>
          </a:prstGeom>
          <a:noFill/>
          <a:ln/>
        </p:spPr>
        <p:txBody>
          <a:bodyPr wrap="square" lIns="0" tIns="0" rIns="0" bIns="0" rtlCol="0" anchor="t"/>
          <a:lstStyle/>
          <a:p>
            <a:pPr indent="0" marL="0">
              <a:buNone/>
            </a:pPr>
            <a:r>
              <a:rPr lang="en-US" sz="2000" b="1" dirty="0">
                <a:solidFill>
                  <a:schemeClr val="tx1"/>
                </a:solidFill>
              </a:rPr>
              <a:t>구체적이다</a:t>
            </a:r>
            <a:endParaRPr lang="en-US" sz="1500" dirty="0"/>
          </a:p>
          <a:p>
            <a:pPr indent="0" marL="0">
              <a:buNone/>
            </a:pPr>
            <a:r>
              <a:rPr lang="en-US" sz="1500" dirty="0">
                <a:solidFill>
                  <a:schemeClr val="tx2"/>
                </a:solidFill>
              </a:rPr>
              <a:t>대상, 변화, 지표가 하나로 특정된다</a:t>
            </a:r>
            <a:endParaRPr lang="en-US" sz="1500" dirty="0"/>
          </a:p>
        </p:txBody>
      </p:sp>
      <p:sp>
        <p:nvSpPr>
          <p:cNvPr id="7" name="Text 4"/>
          <p:cNvSpPr txBox="1"/>
          <p:nvPr/>
        </p:nvSpPr>
        <p:spPr>
          <a:xfrm>
            <a:off x="4343400" y="1783080"/>
            <a:ext cx="914400" cy="548640"/>
          </a:xfrm>
          <a:prstGeom prst="rect">
            <a:avLst/>
          </a:prstGeom>
          <a:noFill/>
          <a:ln/>
        </p:spPr>
        <p:txBody>
          <a:bodyPr wrap="square" lIns="0" tIns="0" rIns="0" bIns="0" rtlCol="0" anchor="t"/>
          <a:lstStyle/>
          <a:p>
            <a:pPr indent="0" marL="0">
              <a:buNone/>
            </a:pPr>
            <a:r>
              <a:rPr lang="en-US" sz="3000" b="1" dirty="0">
                <a:solidFill>
                  <a:schemeClr val="accent1"/>
                </a:solidFill>
              </a:rPr>
              <a:t>02</a:t>
            </a:r>
            <a:endParaRPr lang="en-US" sz="3000" dirty="0"/>
          </a:p>
        </p:txBody>
      </p:sp>
      <p:sp>
        <p:nvSpPr>
          <p:cNvPr id="8" name="Text 5"/>
          <p:cNvSpPr txBox="1"/>
          <p:nvPr/>
        </p:nvSpPr>
        <p:spPr>
          <a:xfrm>
            <a:off x="4343400" y="2377440"/>
            <a:ext cx="3383280" cy="1097280"/>
          </a:xfrm>
          <a:prstGeom prst="rect">
            <a:avLst/>
          </a:prstGeom>
          <a:noFill/>
          <a:ln/>
        </p:spPr>
        <p:txBody>
          <a:bodyPr wrap="square" lIns="0" tIns="0" rIns="0" bIns="0" rtlCol="0" anchor="t"/>
          <a:lstStyle/>
          <a:p>
            <a:pPr indent="0" marL="0">
              <a:buNone/>
            </a:pPr>
            <a:r>
              <a:rPr lang="en-US" sz="2000" b="1" dirty="0">
                <a:solidFill>
                  <a:schemeClr val="tx1"/>
                </a:solidFill>
              </a:rPr>
              <a:t>측정할 수 있다</a:t>
            </a:r>
            <a:endParaRPr lang="en-US" sz="1500" dirty="0"/>
          </a:p>
          <a:p>
            <a:pPr indent="0" marL="0">
              <a:buNone/>
            </a:pPr>
            <a:r>
              <a:rPr lang="en-US" sz="1500" dirty="0">
                <a:solidFill>
                  <a:schemeClr val="tx2"/>
                </a:solidFill>
              </a:rPr>
              <a:t>실험 기간 안에 지표로 잴 수 있다</a:t>
            </a:r>
            <a:endParaRPr lang="en-US" sz="1500" dirty="0"/>
          </a:p>
        </p:txBody>
      </p:sp>
      <p:sp>
        <p:nvSpPr>
          <p:cNvPr id="9" name="Text 6"/>
          <p:cNvSpPr txBox="1"/>
          <p:nvPr/>
        </p:nvSpPr>
        <p:spPr>
          <a:xfrm>
            <a:off x="8046720" y="1783080"/>
            <a:ext cx="914400" cy="548640"/>
          </a:xfrm>
          <a:prstGeom prst="rect">
            <a:avLst/>
          </a:prstGeom>
          <a:noFill/>
          <a:ln/>
        </p:spPr>
        <p:txBody>
          <a:bodyPr wrap="square" lIns="0" tIns="0" rIns="0" bIns="0" rtlCol="0" anchor="t"/>
          <a:lstStyle/>
          <a:p>
            <a:pPr indent="0" marL="0">
              <a:buNone/>
            </a:pPr>
            <a:r>
              <a:rPr lang="en-US" sz="3000" b="1" dirty="0">
                <a:solidFill>
                  <a:schemeClr val="accent1"/>
                </a:solidFill>
              </a:rPr>
              <a:t>03</a:t>
            </a:r>
            <a:endParaRPr lang="en-US" sz="3000" dirty="0"/>
          </a:p>
        </p:txBody>
      </p:sp>
      <p:sp>
        <p:nvSpPr>
          <p:cNvPr id="10" name="Text 7"/>
          <p:cNvSpPr txBox="1"/>
          <p:nvPr/>
        </p:nvSpPr>
        <p:spPr>
          <a:xfrm>
            <a:off x="8046720" y="2377440"/>
            <a:ext cx="3383280" cy="1097280"/>
          </a:xfrm>
          <a:prstGeom prst="rect">
            <a:avLst/>
          </a:prstGeom>
          <a:noFill/>
          <a:ln/>
        </p:spPr>
        <p:txBody>
          <a:bodyPr wrap="square" lIns="0" tIns="0" rIns="0" bIns="0" rtlCol="0" anchor="t"/>
          <a:lstStyle/>
          <a:p>
            <a:pPr indent="0" marL="0">
              <a:buNone/>
            </a:pPr>
            <a:r>
              <a:rPr lang="en-US" sz="2000" b="1" dirty="0">
                <a:solidFill>
                  <a:schemeClr val="tx1"/>
                </a:solidFill>
              </a:rPr>
              <a:t>반증할 수 있다</a:t>
            </a:r>
            <a:endParaRPr lang="en-US" sz="1500" dirty="0"/>
          </a:p>
          <a:p>
            <a:pPr indent="0" marL="0">
              <a:buNone/>
            </a:pPr>
            <a:r>
              <a:rPr lang="en-US" sz="1500" dirty="0">
                <a:solidFill>
                  <a:schemeClr val="tx2"/>
                </a:solidFill>
              </a:rPr>
              <a:t>가설을 버리게 될 결과가 정해져 있다</a:t>
            </a:r>
            <a:endParaRPr lang="en-US" sz="1500" dirty="0"/>
          </a:p>
        </p:txBody>
      </p:sp>
      <p:sp>
        <p:nvSpPr>
          <p:cNvPr id="11" name="Text 8"/>
          <p:cNvSpPr txBox="1"/>
          <p:nvPr/>
        </p:nvSpPr>
        <p:spPr>
          <a:xfrm>
            <a:off x="640080" y="3794760"/>
            <a:ext cx="5669280" cy="914400"/>
          </a:xfrm>
          <a:prstGeom prst="rect">
            <a:avLst/>
          </a:prstGeom>
          <a:noFill/>
          <a:ln/>
        </p:spPr>
        <p:txBody>
          <a:bodyPr wrap="square" lIns="0" tIns="0" rIns="0" bIns="0" rtlCol="0" anchor="t"/>
          <a:lstStyle/>
          <a:p>
            <a:pPr indent="0" marL="0">
              <a:buNone/>
            </a:pPr>
            <a:r>
              <a:rPr lang="en-US" sz="1400" b="1" dirty="0">
                <a:solidFill>
                  <a:schemeClr val="accent4"/>
                </a:solidFill>
              </a:rPr>
              <a:t>나쁜 예</a:t>
            </a:r>
            <a:endParaRPr lang="en-US" sz="1500" dirty="0"/>
          </a:p>
          <a:p>
            <a:pPr indent="0" marL="0">
              <a:buNone/>
            </a:pPr>
            <a:r>
              <a:rPr lang="en-US" sz="2000" dirty="0">
                <a:solidFill>
                  <a:schemeClr val="tx1"/>
                </a:solidFill>
              </a:rPr>
              <a:t>"장바구니 UI를 개선하면 지표가 좋아질 것이다"</a:t>
            </a:r>
            <a:endParaRPr lang="en-US" sz="1500" dirty="0"/>
          </a:p>
        </p:txBody>
      </p:sp>
      <p:sp>
        <p:nvSpPr>
          <p:cNvPr id="12" name="Text 9"/>
          <p:cNvSpPr txBox="1"/>
          <p:nvPr/>
        </p:nvSpPr>
        <p:spPr>
          <a:xfrm>
            <a:off x="6583680" y="4114800"/>
            <a:ext cx="4937760" cy="731520"/>
          </a:xfrm>
          <a:prstGeom prst="rect">
            <a:avLst/>
          </a:prstGeom>
          <a:noFill/>
          <a:ln/>
        </p:spPr>
        <p:txBody>
          <a:bodyPr wrap="square" lIns="0" tIns="0" rIns="0" bIns="0" rtlCol="0" anchor="t"/>
          <a:lstStyle/>
          <a:p>
            <a:pPr indent="0" marL="0">
              <a:buNone/>
            </a:pPr>
            <a:r>
              <a:rPr lang="en-US" sz="1500" dirty="0">
                <a:solidFill>
                  <a:schemeClr val="tx2"/>
                </a:solidFill>
              </a:rPr>
              <a:t>대상·이유·지표가 없음 → 어떤 결과로도 '틀렸다'고 할 수 없다</a:t>
            </a:r>
            <a:endParaRPr lang="en-US" sz="1500" dirty="0"/>
          </a:p>
        </p:txBody>
      </p:sp>
      <p:sp>
        <p:nvSpPr>
          <p:cNvPr id="13" name="Text 10"/>
          <p:cNvSpPr txBox="1"/>
          <p:nvPr/>
        </p:nvSpPr>
        <p:spPr>
          <a:xfrm>
            <a:off x="640080" y="5120640"/>
            <a:ext cx="10911535" cy="457200"/>
          </a:xfrm>
          <a:prstGeom prst="rect">
            <a:avLst/>
          </a:prstGeom>
          <a:noFill/>
          <a:ln/>
        </p:spPr>
        <p:txBody>
          <a:bodyPr wrap="square" lIns="0" tIns="0" rIns="0" bIns="0" rtlCol="0" anchor="t"/>
          <a:lstStyle/>
          <a:p>
            <a:pPr indent="0" marL="0">
              <a:buNone/>
            </a:pPr>
            <a:r>
              <a:rPr lang="en-US" sz="2000" b="1" dirty="0">
                <a:solidFill>
                  <a:schemeClr val="accent1"/>
                </a:solidFill>
              </a:rPr>
              <a:t>가설을 쓴 뒤 스스로 묻기  </a:t>
            </a:r>
            <a:pPr indent="0" marL="0">
              <a:buNone/>
            </a:pPr>
            <a:r>
              <a:rPr lang="en-US" sz="2000" dirty="0">
                <a:solidFill>
                  <a:schemeClr val="tx1"/>
                </a:solidFill>
              </a:rPr>
              <a:t>"어떤 결과가 나오면 이 가설을 지지하지 않을 것인가?"</a:t>
            </a:r>
            <a:endParaRPr lang="en-US" sz="20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Ch2 · 제품 가설에서 통계적 가설로</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제품 가설을 통계적 가설로 바꾼다</a:t>
            </a:r>
            <a:endParaRPr lang="en-US" sz="2000" dirty="0"/>
          </a:p>
        </p:txBody>
      </p:sp>
      <p:sp>
        <p:nvSpPr>
          <p:cNvPr id="5" name="Text 2"/>
          <p:cNvSpPr txBox="1"/>
          <p:nvPr/>
        </p:nvSpPr>
        <p:spPr>
          <a:xfrm>
            <a:off x="640080" y="1783080"/>
            <a:ext cx="5029200" cy="822960"/>
          </a:xfrm>
          <a:prstGeom prst="rect">
            <a:avLst/>
          </a:prstGeom>
          <a:noFill/>
          <a:ln/>
        </p:spPr>
        <p:txBody>
          <a:bodyPr wrap="square" lIns="0" tIns="0" rIns="0" bIns="0" rtlCol="0" anchor="t"/>
          <a:lstStyle/>
          <a:p>
            <a:pPr indent="0" marL="0">
              <a:buNone/>
            </a:pPr>
            <a:r>
              <a:rPr lang="en-US" sz="1500" b="1" dirty="0">
                <a:solidFill>
                  <a:schemeClr val="tx2"/>
                </a:solidFill>
              </a:rPr>
              <a:t>제품 가설</a:t>
            </a:r>
            <a:endParaRPr lang="en-US" sz="1500" dirty="0"/>
          </a:p>
          <a:p>
            <a:pPr indent="0" marL="0">
              <a:buNone/>
            </a:pPr>
            <a:r>
              <a:rPr lang="en-US" sz="2000" dirty="0">
                <a:solidFill>
                  <a:schemeClr val="tx1"/>
                </a:solidFill>
              </a:rPr>
              <a:t>"이 변화를 적용하면 어떤 결과가 나타날까?"</a:t>
            </a:r>
            <a:endParaRPr lang="en-US" sz="1500" dirty="0"/>
          </a:p>
        </p:txBody>
      </p:sp>
      <p:sp>
        <p:nvSpPr>
          <p:cNvPr id="6" name="Shape 3"/>
          <p:cNvSpPr/>
          <p:nvPr/>
        </p:nvSpPr>
        <p:spPr>
          <a:xfrm>
            <a:off x="5486400" y="2240280"/>
            <a:ext cx="640080" cy="0"/>
          </a:xfrm>
          <a:prstGeom prst="line">
            <a:avLst/>
          </a:prstGeom>
          <a:noFill/>
          <a:ln w="19050">
            <a:solidFill>
              <a:srgbClr val="8A90A8"/>
            </a:solidFill>
            <a:prstDash val="solid"/>
            <a:tailEnd type="triangle"/>
          </a:ln>
        </p:spPr>
      </p:sp>
      <p:sp>
        <p:nvSpPr>
          <p:cNvPr id="7" name="Text 4"/>
          <p:cNvSpPr txBox="1"/>
          <p:nvPr/>
        </p:nvSpPr>
        <p:spPr>
          <a:xfrm>
            <a:off x="6355080" y="1783080"/>
            <a:ext cx="5212080" cy="822960"/>
          </a:xfrm>
          <a:prstGeom prst="rect">
            <a:avLst/>
          </a:prstGeom>
          <a:noFill/>
          <a:ln/>
        </p:spPr>
        <p:txBody>
          <a:bodyPr wrap="square" lIns="0" tIns="0" rIns="0" bIns="0" rtlCol="0" anchor="t"/>
          <a:lstStyle/>
          <a:p>
            <a:pPr indent="0" marL="0">
              <a:buNone/>
            </a:pPr>
            <a:r>
              <a:rPr lang="en-US" sz="1500" b="1" dirty="0">
                <a:solidFill>
                  <a:schemeClr val="accent1"/>
                </a:solidFill>
              </a:rPr>
              <a:t>통계적 가설</a:t>
            </a:r>
            <a:endParaRPr lang="en-US" sz="1500" dirty="0"/>
          </a:p>
          <a:p>
            <a:pPr indent="0" marL="0">
              <a:buNone/>
            </a:pPr>
            <a:r>
              <a:rPr lang="en-US" sz="2000" dirty="0">
                <a:solidFill>
                  <a:schemeClr val="tx1"/>
                </a:solidFill>
              </a:rPr>
              <a:t>"관찰된 차이가 우연이라 보기 어려울 만큼 큰가?"</a:t>
            </a:r>
            <a:endParaRPr lang="en-US" sz="1500" dirty="0"/>
          </a:p>
        </p:txBody>
      </p:sp>
      <p:sp>
        <p:nvSpPr>
          <p:cNvPr id="8" name="Text 5"/>
          <p:cNvSpPr txBox="1"/>
          <p:nvPr/>
        </p:nvSpPr>
        <p:spPr>
          <a:xfrm>
            <a:off x="640080" y="3017520"/>
            <a:ext cx="5029200" cy="1828800"/>
          </a:xfrm>
          <a:prstGeom prst="rect">
            <a:avLst/>
          </a:prstGeom>
          <a:noFill/>
          <a:ln/>
        </p:spPr>
        <p:txBody>
          <a:bodyPr wrap="square" lIns="0" tIns="0" rIns="0" bIns="0" rtlCol="0" anchor="t"/>
          <a:lstStyle/>
          <a:p>
            <a:pPr indent="0" marL="0">
              <a:spcAft>
                <a:spcPts val="600"/>
              </a:spcAft>
              <a:buNone/>
            </a:pPr>
            <a:r>
              <a:rPr lang="en-US" sz="2000" b="1" dirty="0">
                <a:solidFill>
                  <a:schemeClr val="accent1"/>
                </a:solidFill>
              </a:rPr>
              <a:t>양측검정</a:t>
            </a:r>
            <a:endParaRPr lang="en-US" sz="1500" dirty="0"/>
          </a:p>
          <a:p>
            <a:pPr indent="0" marL="0">
              <a:buNone/>
            </a:pPr>
            <a:r>
              <a:rPr lang="en-US" sz="2000" dirty="0">
                <a:solidFill>
                  <a:schemeClr val="tx1"/>
                </a:solidFill>
              </a:rPr>
              <a:t>H0 :  p_T = p_C</a:t>
            </a:r>
            <a:endParaRPr lang="en-US" sz="1500" dirty="0"/>
          </a:p>
          <a:p>
            <a:pPr indent="0" marL="0">
              <a:spcAft>
                <a:spcPts val="600"/>
              </a:spcAft>
              <a:buNone/>
            </a:pPr>
            <a:r>
              <a:rPr lang="en-US" sz="2000" dirty="0">
                <a:solidFill>
                  <a:schemeClr val="tx1"/>
                </a:solidFill>
              </a:rPr>
              <a:t>H1 :  p_T ≠ p_C</a:t>
            </a:r>
            <a:endParaRPr lang="en-US" sz="1500" dirty="0"/>
          </a:p>
          <a:p>
            <a:pPr indent="0" marL="0">
              <a:buNone/>
            </a:pPr>
            <a:r>
              <a:rPr lang="en-US" sz="1400" dirty="0">
                <a:solidFill>
                  <a:schemeClr val="tx2"/>
                </a:solidFill>
              </a:rPr>
              <a:t>올라도 내려가도 차이로 본다. α를 양쪽 꼬리에 나눈다</a:t>
            </a:r>
            <a:endParaRPr lang="en-US" sz="1500" dirty="0"/>
          </a:p>
        </p:txBody>
      </p:sp>
      <p:sp>
        <p:nvSpPr>
          <p:cNvPr id="9" name="Shape 6"/>
          <p:cNvSpPr/>
          <p:nvPr/>
        </p:nvSpPr>
        <p:spPr>
          <a:xfrm>
            <a:off x="5989320" y="3063240"/>
            <a:ext cx="0" cy="1737360"/>
          </a:xfrm>
          <a:prstGeom prst="line">
            <a:avLst/>
          </a:prstGeom>
          <a:noFill/>
          <a:ln w="12700">
            <a:solidFill>
              <a:srgbClr val="E3E7F1"/>
            </a:solidFill>
            <a:prstDash val="solid"/>
          </a:ln>
        </p:spPr>
      </p:sp>
      <p:sp>
        <p:nvSpPr>
          <p:cNvPr id="10" name="Text 7"/>
          <p:cNvSpPr txBox="1"/>
          <p:nvPr/>
        </p:nvSpPr>
        <p:spPr>
          <a:xfrm>
            <a:off x="6355080" y="3017520"/>
            <a:ext cx="5212080" cy="1828800"/>
          </a:xfrm>
          <a:prstGeom prst="rect">
            <a:avLst/>
          </a:prstGeom>
          <a:noFill/>
          <a:ln/>
        </p:spPr>
        <p:txBody>
          <a:bodyPr wrap="square" lIns="0" tIns="0" rIns="0" bIns="0" rtlCol="0" anchor="t"/>
          <a:lstStyle/>
          <a:p>
            <a:pPr indent="0" marL="0">
              <a:spcAft>
                <a:spcPts val="600"/>
              </a:spcAft>
              <a:buNone/>
            </a:pPr>
            <a:r>
              <a:rPr lang="en-US" sz="2000" b="1" dirty="0">
                <a:solidFill>
                  <a:schemeClr val="accent5"/>
                </a:solidFill>
              </a:rPr>
              <a:t>단측검정</a:t>
            </a:r>
            <a:endParaRPr lang="en-US" sz="1500" dirty="0"/>
          </a:p>
          <a:p>
            <a:pPr indent="0" marL="0">
              <a:buNone/>
            </a:pPr>
            <a:r>
              <a:rPr lang="en-US" sz="2000" dirty="0">
                <a:solidFill>
                  <a:schemeClr val="tx1"/>
                </a:solidFill>
              </a:rPr>
              <a:t>H0 :  p_T ≤ p_C</a:t>
            </a:r>
            <a:endParaRPr lang="en-US" sz="1500" dirty="0"/>
          </a:p>
          <a:p>
            <a:pPr indent="0" marL="0">
              <a:spcAft>
                <a:spcPts val="600"/>
              </a:spcAft>
              <a:buNone/>
            </a:pPr>
            <a:r>
              <a:rPr lang="en-US" sz="2000" dirty="0">
                <a:solidFill>
                  <a:schemeClr val="tx1"/>
                </a:solidFill>
              </a:rPr>
              <a:t>H1 :  p_T &gt; p_C</a:t>
            </a:r>
            <a:endParaRPr lang="en-US" sz="1500" dirty="0"/>
          </a:p>
          <a:p>
            <a:pPr indent="0" marL="0">
              <a:buNone/>
            </a:pPr>
            <a:r>
              <a:rPr lang="en-US" sz="1400" dirty="0">
                <a:solidFill>
                  <a:schemeClr val="tx2"/>
                </a:solidFill>
              </a:rPr>
              <a:t>한 방향만 본다. 같은 표본이면 그 방향의 검정력이 더 높다</a:t>
            </a:r>
            <a:endParaRPr lang="en-US" sz="1500" dirty="0"/>
          </a:p>
        </p:txBody>
      </p:sp>
      <p:sp>
        <p:nvSpPr>
          <p:cNvPr id="11" name="Text 8"/>
          <p:cNvSpPr txBox="1"/>
          <p:nvPr/>
        </p:nvSpPr>
        <p:spPr>
          <a:xfrm>
            <a:off x="640080" y="5166360"/>
            <a:ext cx="10911535" cy="457200"/>
          </a:xfrm>
          <a:prstGeom prst="rect">
            <a:avLst/>
          </a:prstGeom>
          <a:noFill/>
          <a:ln/>
        </p:spPr>
        <p:txBody>
          <a:bodyPr wrap="square" lIns="0" tIns="0" rIns="0" bIns="0" rtlCol="0" anchor="t"/>
          <a:lstStyle/>
          <a:p>
            <a:pPr indent="0" marL="0">
              <a:buNone/>
            </a:pPr>
            <a:r>
              <a:rPr lang="en-US" sz="1500" b="1" dirty="0">
                <a:solidFill>
                  <a:schemeClr val="accent1"/>
                </a:solidFill>
              </a:rPr>
              <a:t>왜 '효과 없음'부터 가정하나  </a:t>
            </a:r>
            <a:pPr indent="0" marL="0">
              <a:buNone/>
            </a:pPr>
            <a:r>
              <a:rPr lang="en-US" sz="1500" dirty="0">
                <a:solidFill>
                  <a:schemeClr val="tx1"/>
                </a:solidFill>
              </a:rPr>
              <a:t>H0를 참이라 두고 → 지금 데이터가 얼마나 드문지 잰다</a:t>
            </a:r>
            <a:endParaRPr lang="en-US" sz="15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Ch2 · 단측검정 vs 양측검정</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단측검정은 결과를 보기 전에 정한다</a:t>
            </a:r>
            <a:endParaRPr lang="en-US" sz="2000" dirty="0"/>
          </a:p>
        </p:txBody>
      </p:sp>
      <p:sp>
        <p:nvSpPr>
          <p:cNvPr id="5" name="Z 분포"/>
          <p:cNvSpPr/>
          <p:nvPr/>
        </p:nvSpPr>
        <p:spPr>
          <a:xfrm>
            <a:off x="640080" y="2103120"/>
            <a:ext cx="6035040" cy="2377440"/>
          </a:xfrm>
          <a:custGeom>
            <a:avLst/>
            <a:gdLst/>
            <a:ahLst/>
            <a:cxnLst/>
            <a:rect l="l" t="t" r="r" b="b"/>
            <a:pathLst>
              <a:path w="6035040" h="2377440">
                <a:moveTo>
                  <a:pt x="0" y="2377440"/>
                </a:moveTo>
                <a:lnTo>
                  <a:pt x="0" y="2376682"/>
                </a:lnTo>
                <a:lnTo>
                  <a:pt x="37719" y="2376516"/>
                </a:lnTo>
                <a:lnTo>
                  <a:pt x="75438" y="2376315"/>
                </a:lnTo>
                <a:lnTo>
                  <a:pt x="113157" y="2376075"/>
                </a:lnTo>
                <a:lnTo>
                  <a:pt x="150876" y="2375787"/>
                </a:lnTo>
                <a:lnTo>
                  <a:pt x="188595" y="2375444"/>
                </a:lnTo>
                <a:lnTo>
                  <a:pt x="226314" y="2375036"/>
                </a:lnTo>
                <a:lnTo>
                  <a:pt x="264033" y="2374550"/>
                </a:lnTo>
                <a:lnTo>
                  <a:pt x="301752" y="2373976"/>
                </a:lnTo>
                <a:lnTo>
                  <a:pt x="339471" y="2373298"/>
                </a:lnTo>
                <a:lnTo>
                  <a:pt x="377190" y="2372500"/>
                </a:lnTo>
                <a:lnTo>
                  <a:pt x="414909" y="2371563"/>
                </a:lnTo>
                <a:lnTo>
                  <a:pt x="452628" y="2370465"/>
                </a:lnTo>
                <a:lnTo>
                  <a:pt x="490347" y="2369183"/>
                </a:lnTo>
                <a:lnTo>
                  <a:pt x="528066" y="2367689"/>
                </a:lnTo>
                <a:lnTo>
                  <a:pt x="565785" y="2365954"/>
                </a:lnTo>
                <a:lnTo>
                  <a:pt x="603504" y="2363945"/>
                </a:lnTo>
                <a:lnTo>
                  <a:pt x="641223" y="2361623"/>
                </a:lnTo>
                <a:lnTo>
                  <a:pt x="678942" y="2358948"/>
                </a:lnTo>
                <a:lnTo>
                  <a:pt x="716661" y="2355875"/>
                </a:lnTo>
                <a:lnTo>
                  <a:pt x="754380" y="2352353"/>
                </a:lnTo>
                <a:lnTo>
                  <a:pt x="792099" y="2348330"/>
                </a:lnTo>
                <a:lnTo>
                  <a:pt x="829818" y="2343745"/>
                </a:lnTo>
                <a:lnTo>
                  <a:pt x="867537" y="2338536"/>
                </a:lnTo>
                <a:lnTo>
                  <a:pt x="905256" y="2332634"/>
                </a:lnTo>
                <a:lnTo>
                  <a:pt x="942975" y="2325965"/>
                </a:lnTo>
                <a:lnTo>
                  <a:pt x="980694" y="2318452"/>
                </a:lnTo>
                <a:lnTo>
                  <a:pt x="1018413" y="2310010"/>
                </a:lnTo>
                <a:lnTo>
                  <a:pt x="1056132" y="2300553"/>
                </a:lnTo>
                <a:lnTo>
                  <a:pt x="1093851" y="2289988"/>
                </a:lnTo>
                <a:lnTo>
                  <a:pt x="1131570" y="2278220"/>
                </a:lnTo>
                <a:lnTo>
                  <a:pt x="1169289" y="2265149"/>
                </a:lnTo>
                <a:lnTo>
                  <a:pt x="1207008" y="2250674"/>
                </a:lnTo>
                <a:lnTo>
                  <a:pt x="1244727" y="2234690"/>
                </a:lnTo>
                <a:lnTo>
                  <a:pt x="1282446" y="2217093"/>
                </a:lnTo>
                <a:lnTo>
                  <a:pt x="1320165" y="2197775"/>
                </a:lnTo>
                <a:lnTo>
                  <a:pt x="1357884" y="2176634"/>
                </a:lnTo>
                <a:lnTo>
                  <a:pt x="1395603" y="2153564"/>
                </a:lnTo>
                <a:lnTo>
                  <a:pt x="1433322" y="2128468"/>
                </a:lnTo>
                <a:lnTo>
                  <a:pt x="1471041" y="2101249"/>
                </a:lnTo>
                <a:lnTo>
                  <a:pt x="1508760" y="2071820"/>
                </a:lnTo>
                <a:lnTo>
                  <a:pt x="1546479" y="2040100"/>
                </a:lnTo>
                <a:lnTo>
                  <a:pt x="1584198" y="2006017"/>
                </a:lnTo>
                <a:lnTo>
                  <a:pt x="1621917" y="1969512"/>
                </a:lnTo>
                <a:lnTo>
                  <a:pt x="1659636" y="1930537"/>
                </a:lnTo>
                <a:lnTo>
                  <a:pt x="1697355" y="1889061"/>
                </a:lnTo>
                <a:lnTo>
                  <a:pt x="1735074" y="1845068"/>
                </a:lnTo>
                <a:lnTo>
                  <a:pt x="1772793" y="1798562"/>
                </a:lnTo>
                <a:lnTo>
                  <a:pt x="1810512" y="1749565"/>
                </a:lnTo>
                <a:lnTo>
                  <a:pt x="1848231" y="1698120"/>
                </a:lnTo>
                <a:lnTo>
                  <a:pt x="1885950" y="1644296"/>
                </a:lnTo>
                <a:lnTo>
                  <a:pt x="1923669" y="1588183"/>
                </a:lnTo>
                <a:lnTo>
                  <a:pt x="1961388" y="1529897"/>
                </a:lnTo>
                <a:lnTo>
                  <a:pt x="1999107" y="1469579"/>
                </a:lnTo>
                <a:lnTo>
                  <a:pt x="2036826" y="1407396"/>
                </a:lnTo>
                <a:lnTo>
                  <a:pt x="2074545" y="1343542"/>
                </a:lnTo>
                <a:lnTo>
                  <a:pt x="2112264" y="1278236"/>
                </a:lnTo>
                <a:lnTo>
                  <a:pt x="2149983" y="1211723"/>
                </a:lnTo>
                <a:lnTo>
                  <a:pt x="2187702" y="1144272"/>
                </a:lnTo>
                <a:lnTo>
                  <a:pt x="2225421" y="1076176"/>
                </a:lnTo>
                <a:lnTo>
                  <a:pt x="2263140" y="1007747"/>
                </a:lnTo>
                <a:lnTo>
                  <a:pt x="2300859" y="939321"/>
                </a:lnTo>
                <a:lnTo>
                  <a:pt x="2338578" y="871245"/>
                </a:lnTo>
                <a:lnTo>
                  <a:pt x="2376297" y="803887"/>
                </a:lnTo>
                <a:lnTo>
                  <a:pt x="2414016" y="737620"/>
                </a:lnTo>
                <a:lnTo>
                  <a:pt x="2451735" y="672830"/>
                </a:lnTo>
                <a:lnTo>
                  <a:pt x="2489454" y="609904"/>
                </a:lnTo>
                <a:lnTo>
                  <a:pt x="2527173" y="549232"/>
                </a:lnTo>
                <a:lnTo>
                  <a:pt x="2564892" y="491198"/>
                </a:lnTo>
                <a:lnTo>
                  <a:pt x="2602611" y="436182"/>
                </a:lnTo>
                <a:lnTo>
                  <a:pt x="2640330" y="384549"/>
                </a:lnTo>
                <a:lnTo>
                  <a:pt x="2678049" y="336651"/>
                </a:lnTo>
                <a:lnTo>
                  <a:pt x="2715768" y="292821"/>
                </a:lnTo>
                <a:lnTo>
                  <a:pt x="2753487" y="253365"/>
                </a:lnTo>
                <a:lnTo>
                  <a:pt x="2791206" y="218567"/>
                </a:lnTo>
                <a:lnTo>
                  <a:pt x="2828925" y="188678"/>
                </a:lnTo>
                <a:lnTo>
                  <a:pt x="2866644" y="163915"/>
                </a:lnTo>
                <a:lnTo>
                  <a:pt x="2904363" y="144462"/>
                </a:lnTo>
                <a:lnTo>
                  <a:pt x="2942082" y="130462"/>
                </a:lnTo>
                <a:lnTo>
                  <a:pt x="2979801" y="122020"/>
                </a:lnTo>
                <a:lnTo>
                  <a:pt x="3017520" y="119199"/>
                </a:lnTo>
                <a:lnTo>
                  <a:pt x="3055239" y="122020"/>
                </a:lnTo>
                <a:lnTo>
                  <a:pt x="3092958" y="130462"/>
                </a:lnTo>
                <a:lnTo>
                  <a:pt x="3130677" y="144462"/>
                </a:lnTo>
                <a:lnTo>
                  <a:pt x="3168396" y="163915"/>
                </a:lnTo>
                <a:lnTo>
                  <a:pt x="3206115" y="188678"/>
                </a:lnTo>
                <a:lnTo>
                  <a:pt x="3243834" y="218567"/>
                </a:lnTo>
                <a:lnTo>
                  <a:pt x="3281553" y="253365"/>
                </a:lnTo>
                <a:lnTo>
                  <a:pt x="3319272" y="292821"/>
                </a:lnTo>
                <a:lnTo>
                  <a:pt x="3356991" y="336651"/>
                </a:lnTo>
                <a:lnTo>
                  <a:pt x="3394710" y="384549"/>
                </a:lnTo>
                <a:lnTo>
                  <a:pt x="3432429" y="436182"/>
                </a:lnTo>
                <a:lnTo>
                  <a:pt x="3470148" y="491198"/>
                </a:lnTo>
                <a:lnTo>
                  <a:pt x="3507867" y="549232"/>
                </a:lnTo>
                <a:lnTo>
                  <a:pt x="3545586" y="609904"/>
                </a:lnTo>
                <a:lnTo>
                  <a:pt x="3583305" y="672830"/>
                </a:lnTo>
                <a:lnTo>
                  <a:pt x="3621024" y="737620"/>
                </a:lnTo>
                <a:lnTo>
                  <a:pt x="3658743" y="803887"/>
                </a:lnTo>
                <a:lnTo>
                  <a:pt x="3696462" y="871245"/>
                </a:lnTo>
                <a:lnTo>
                  <a:pt x="3734181" y="939321"/>
                </a:lnTo>
                <a:lnTo>
                  <a:pt x="3771900" y="1007747"/>
                </a:lnTo>
                <a:lnTo>
                  <a:pt x="3809619" y="1076176"/>
                </a:lnTo>
                <a:lnTo>
                  <a:pt x="3847338" y="1144272"/>
                </a:lnTo>
                <a:lnTo>
                  <a:pt x="3885057" y="1211723"/>
                </a:lnTo>
                <a:lnTo>
                  <a:pt x="3922776" y="1278236"/>
                </a:lnTo>
                <a:lnTo>
                  <a:pt x="3960495" y="1343542"/>
                </a:lnTo>
                <a:lnTo>
                  <a:pt x="3998214" y="1407396"/>
                </a:lnTo>
                <a:lnTo>
                  <a:pt x="4035933" y="1469579"/>
                </a:lnTo>
                <a:lnTo>
                  <a:pt x="4073652" y="1529897"/>
                </a:lnTo>
                <a:lnTo>
                  <a:pt x="4111371" y="1588183"/>
                </a:lnTo>
                <a:lnTo>
                  <a:pt x="4149090" y="1644296"/>
                </a:lnTo>
                <a:lnTo>
                  <a:pt x="4186809" y="1698120"/>
                </a:lnTo>
                <a:lnTo>
                  <a:pt x="4224528" y="1749565"/>
                </a:lnTo>
                <a:lnTo>
                  <a:pt x="4262247" y="1798562"/>
                </a:lnTo>
                <a:lnTo>
                  <a:pt x="4299966" y="1845068"/>
                </a:lnTo>
                <a:lnTo>
                  <a:pt x="4337685" y="1889061"/>
                </a:lnTo>
                <a:lnTo>
                  <a:pt x="4375404" y="1930537"/>
                </a:lnTo>
                <a:lnTo>
                  <a:pt x="4413123" y="1969512"/>
                </a:lnTo>
                <a:lnTo>
                  <a:pt x="4450842" y="2006017"/>
                </a:lnTo>
                <a:lnTo>
                  <a:pt x="4488561" y="2040100"/>
                </a:lnTo>
                <a:lnTo>
                  <a:pt x="4526280" y="2071820"/>
                </a:lnTo>
                <a:lnTo>
                  <a:pt x="4563999" y="2101249"/>
                </a:lnTo>
                <a:lnTo>
                  <a:pt x="4601718" y="2128468"/>
                </a:lnTo>
                <a:lnTo>
                  <a:pt x="4639437" y="2153564"/>
                </a:lnTo>
                <a:lnTo>
                  <a:pt x="4677156" y="2176634"/>
                </a:lnTo>
                <a:lnTo>
                  <a:pt x="4714875" y="2197775"/>
                </a:lnTo>
                <a:lnTo>
                  <a:pt x="4752594" y="2217093"/>
                </a:lnTo>
                <a:lnTo>
                  <a:pt x="4790313" y="2234690"/>
                </a:lnTo>
                <a:lnTo>
                  <a:pt x="4828032" y="2250674"/>
                </a:lnTo>
                <a:lnTo>
                  <a:pt x="4865751" y="2265149"/>
                </a:lnTo>
                <a:lnTo>
                  <a:pt x="4903470" y="2278220"/>
                </a:lnTo>
                <a:lnTo>
                  <a:pt x="4941189" y="2289988"/>
                </a:lnTo>
                <a:lnTo>
                  <a:pt x="4978908" y="2300553"/>
                </a:lnTo>
                <a:lnTo>
                  <a:pt x="5016627" y="2310010"/>
                </a:lnTo>
                <a:lnTo>
                  <a:pt x="5054346" y="2318452"/>
                </a:lnTo>
                <a:lnTo>
                  <a:pt x="5092065" y="2325965"/>
                </a:lnTo>
                <a:lnTo>
                  <a:pt x="5129784" y="2332634"/>
                </a:lnTo>
                <a:lnTo>
                  <a:pt x="5167503" y="2338536"/>
                </a:lnTo>
                <a:lnTo>
                  <a:pt x="5205222" y="2343745"/>
                </a:lnTo>
                <a:lnTo>
                  <a:pt x="5242941" y="2348330"/>
                </a:lnTo>
                <a:lnTo>
                  <a:pt x="5280660" y="2352353"/>
                </a:lnTo>
                <a:lnTo>
                  <a:pt x="5318379" y="2355875"/>
                </a:lnTo>
                <a:lnTo>
                  <a:pt x="5356098" y="2358948"/>
                </a:lnTo>
                <a:lnTo>
                  <a:pt x="5393817" y="2361623"/>
                </a:lnTo>
                <a:lnTo>
                  <a:pt x="5431536" y="2363945"/>
                </a:lnTo>
                <a:lnTo>
                  <a:pt x="5469255" y="2365954"/>
                </a:lnTo>
                <a:lnTo>
                  <a:pt x="5506974" y="2367689"/>
                </a:lnTo>
                <a:lnTo>
                  <a:pt x="5544693" y="2369183"/>
                </a:lnTo>
                <a:lnTo>
                  <a:pt x="5582412" y="2370465"/>
                </a:lnTo>
                <a:lnTo>
                  <a:pt x="5620131" y="2371563"/>
                </a:lnTo>
                <a:lnTo>
                  <a:pt x="5657850" y="2372500"/>
                </a:lnTo>
                <a:lnTo>
                  <a:pt x="5695569" y="2373298"/>
                </a:lnTo>
                <a:lnTo>
                  <a:pt x="5733288" y="2373976"/>
                </a:lnTo>
                <a:lnTo>
                  <a:pt x="5771007" y="2374550"/>
                </a:lnTo>
                <a:lnTo>
                  <a:pt x="5808726" y="2375036"/>
                </a:lnTo>
                <a:lnTo>
                  <a:pt x="5846445" y="2375444"/>
                </a:lnTo>
                <a:lnTo>
                  <a:pt x="5884164" y="2375787"/>
                </a:lnTo>
                <a:lnTo>
                  <a:pt x="5921883" y="2376075"/>
                </a:lnTo>
                <a:lnTo>
                  <a:pt x="5959602" y="2376315"/>
                </a:lnTo>
                <a:lnTo>
                  <a:pt x="5997321" y="2376516"/>
                </a:lnTo>
                <a:lnTo>
                  <a:pt x="6035040" y="2376682"/>
                </a:lnTo>
                <a:lnTo>
                  <a:pt x="6035040" y="2377440"/>
                </a:lnTo>
                <a:close/>
              </a:path>
            </a:pathLst>
          </a:custGeom>
          <a:solidFill>
            <a:srgbClr val="E3E7F1"/>
          </a:solidFill>
          <a:ln w="12700">
            <a:solidFill>
              <a:srgbClr val="E3E7F1"/>
            </a:solidFill>
            <a:prstDash val="solid"/>
          </a:ln>
        </p:spPr>
      </p:sp>
      <p:sp>
        <p:nvSpPr>
          <p:cNvPr id="6" name="미리 정한 방향 5%"/>
          <p:cNvSpPr/>
          <p:nvPr/>
        </p:nvSpPr>
        <p:spPr>
          <a:xfrm>
            <a:off x="640080" y="2103120"/>
            <a:ext cx="6035040" cy="2377440"/>
          </a:xfrm>
          <a:custGeom>
            <a:avLst/>
            <a:gdLst/>
            <a:ahLst/>
            <a:cxnLst/>
            <a:rect l="l" t="t" r="r" b="b"/>
            <a:pathLst>
              <a:path w="6035040" h="2377440">
                <a:moveTo>
                  <a:pt x="4258475" y="2377440"/>
                </a:moveTo>
                <a:lnTo>
                  <a:pt x="4258475" y="1793774"/>
                </a:lnTo>
                <a:lnTo>
                  <a:pt x="4296194" y="1840531"/>
                </a:lnTo>
                <a:lnTo>
                  <a:pt x="4333913" y="1884775"/>
                </a:lnTo>
                <a:lnTo>
                  <a:pt x="4371632" y="1926502"/>
                </a:lnTo>
                <a:lnTo>
                  <a:pt x="4409351" y="1965726"/>
                </a:lnTo>
                <a:lnTo>
                  <a:pt x="4447070" y="2002476"/>
                </a:lnTo>
                <a:lnTo>
                  <a:pt x="4484789" y="2036799"/>
                </a:lnTo>
                <a:lnTo>
                  <a:pt x="4522508" y="2068753"/>
                </a:lnTo>
                <a:lnTo>
                  <a:pt x="4560227" y="2098407"/>
                </a:lnTo>
                <a:lnTo>
                  <a:pt x="4597946" y="2125843"/>
                </a:lnTo>
                <a:lnTo>
                  <a:pt x="4635665" y="2151147"/>
                </a:lnTo>
                <a:lnTo>
                  <a:pt x="4673384" y="2174415"/>
                </a:lnTo>
                <a:lnTo>
                  <a:pt x="4711103" y="2195745"/>
                </a:lnTo>
                <a:lnTo>
                  <a:pt x="4748822" y="2215240"/>
                </a:lnTo>
                <a:lnTo>
                  <a:pt x="4786541" y="2233005"/>
                </a:lnTo>
                <a:lnTo>
                  <a:pt x="4824260" y="2249145"/>
                </a:lnTo>
                <a:lnTo>
                  <a:pt x="4861979" y="2263767"/>
                </a:lnTo>
                <a:lnTo>
                  <a:pt x="4899698" y="2276973"/>
                </a:lnTo>
                <a:lnTo>
                  <a:pt x="4937417" y="2288867"/>
                </a:lnTo>
                <a:lnTo>
                  <a:pt x="4975136" y="2299548"/>
                </a:lnTo>
                <a:lnTo>
                  <a:pt x="5012855" y="2309111"/>
                </a:lnTo>
                <a:lnTo>
                  <a:pt x="5050574" y="2317651"/>
                </a:lnTo>
                <a:lnTo>
                  <a:pt x="5088293" y="2325253"/>
                </a:lnTo>
                <a:lnTo>
                  <a:pt x="5126012" y="2332003"/>
                </a:lnTo>
                <a:lnTo>
                  <a:pt x="5163731" y="2337978"/>
                </a:lnTo>
                <a:lnTo>
                  <a:pt x="5201450" y="2343254"/>
                </a:lnTo>
                <a:lnTo>
                  <a:pt x="5239169" y="2347898"/>
                </a:lnTo>
                <a:lnTo>
                  <a:pt x="5276888" y="2351974"/>
                </a:lnTo>
                <a:lnTo>
                  <a:pt x="5314607" y="2355543"/>
                </a:lnTo>
                <a:lnTo>
                  <a:pt x="5352326" y="2358659"/>
                </a:lnTo>
                <a:lnTo>
                  <a:pt x="5390045" y="2361372"/>
                </a:lnTo>
                <a:lnTo>
                  <a:pt x="5427764" y="2363727"/>
                </a:lnTo>
                <a:lnTo>
                  <a:pt x="5465483" y="2365766"/>
                </a:lnTo>
                <a:lnTo>
                  <a:pt x="5503202" y="2367527"/>
                </a:lnTo>
                <a:lnTo>
                  <a:pt x="5540921" y="2369043"/>
                </a:lnTo>
                <a:lnTo>
                  <a:pt x="5578640" y="2370345"/>
                </a:lnTo>
                <a:lnTo>
                  <a:pt x="5616359" y="2371461"/>
                </a:lnTo>
                <a:lnTo>
                  <a:pt x="5654078" y="2372413"/>
                </a:lnTo>
                <a:lnTo>
                  <a:pt x="5691797" y="2373224"/>
                </a:lnTo>
                <a:lnTo>
                  <a:pt x="5729516" y="2373913"/>
                </a:lnTo>
                <a:lnTo>
                  <a:pt x="5767235" y="2374497"/>
                </a:lnTo>
                <a:lnTo>
                  <a:pt x="5804954" y="2374991"/>
                </a:lnTo>
                <a:lnTo>
                  <a:pt x="5842673" y="2375406"/>
                </a:lnTo>
                <a:lnTo>
                  <a:pt x="5880392" y="2375756"/>
                </a:lnTo>
                <a:lnTo>
                  <a:pt x="5918111" y="2376049"/>
                </a:lnTo>
                <a:lnTo>
                  <a:pt x="5955830" y="2376293"/>
                </a:lnTo>
                <a:lnTo>
                  <a:pt x="5993549" y="2376497"/>
                </a:lnTo>
                <a:lnTo>
                  <a:pt x="6031268" y="2376667"/>
                </a:lnTo>
                <a:lnTo>
                  <a:pt x="6035040" y="2377440"/>
                </a:lnTo>
                <a:close/>
              </a:path>
            </a:pathLst>
          </a:custGeom>
          <a:solidFill>
            <a:srgbClr val="3A5BFF"/>
          </a:solidFill>
          <a:ln w="12700">
            <a:solidFill>
              <a:srgbClr val="3A5BFF"/>
            </a:solidFill>
            <a:prstDash val="solid"/>
          </a:ln>
        </p:spPr>
      </p:sp>
      <p:sp>
        <p:nvSpPr>
          <p:cNvPr id="7" name="사후에 연 반대 방향 5%"/>
          <p:cNvSpPr/>
          <p:nvPr/>
        </p:nvSpPr>
        <p:spPr>
          <a:xfrm>
            <a:off x="640080" y="2103120"/>
            <a:ext cx="6035040" cy="2377440"/>
          </a:xfrm>
          <a:custGeom>
            <a:avLst/>
            <a:gdLst/>
            <a:ahLst/>
            <a:cxnLst/>
            <a:rect l="l" t="t" r="r" b="b"/>
            <a:pathLst>
              <a:path w="6035040" h="2377440">
                <a:moveTo>
                  <a:pt x="0" y="2377440"/>
                </a:moveTo>
                <a:lnTo>
                  <a:pt x="0" y="2376682"/>
                </a:lnTo>
                <a:lnTo>
                  <a:pt x="37719" y="2376516"/>
                </a:lnTo>
                <a:lnTo>
                  <a:pt x="75438" y="2376315"/>
                </a:lnTo>
                <a:lnTo>
                  <a:pt x="113157" y="2376075"/>
                </a:lnTo>
                <a:lnTo>
                  <a:pt x="150876" y="2375787"/>
                </a:lnTo>
                <a:lnTo>
                  <a:pt x="188595" y="2375444"/>
                </a:lnTo>
                <a:lnTo>
                  <a:pt x="226314" y="2375036"/>
                </a:lnTo>
                <a:lnTo>
                  <a:pt x="264033" y="2374550"/>
                </a:lnTo>
                <a:lnTo>
                  <a:pt x="301752" y="2373976"/>
                </a:lnTo>
                <a:lnTo>
                  <a:pt x="339471" y="2373298"/>
                </a:lnTo>
                <a:lnTo>
                  <a:pt x="377190" y="2372500"/>
                </a:lnTo>
                <a:lnTo>
                  <a:pt x="414909" y="2371563"/>
                </a:lnTo>
                <a:lnTo>
                  <a:pt x="452628" y="2370465"/>
                </a:lnTo>
                <a:lnTo>
                  <a:pt x="490347" y="2369183"/>
                </a:lnTo>
                <a:lnTo>
                  <a:pt x="528066" y="2367689"/>
                </a:lnTo>
                <a:lnTo>
                  <a:pt x="565785" y="2365954"/>
                </a:lnTo>
                <a:lnTo>
                  <a:pt x="603504" y="2363945"/>
                </a:lnTo>
                <a:lnTo>
                  <a:pt x="641223" y="2361623"/>
                </a:lnTo>
                <a:lnTo>
                  <a:pt x="678942" y="2358948"/>
                </a:lnTo>
                <a:lnTo>
                  <a:pt x="716661" y="2355875"/>
                </a:lnTo>
                <a:lnTo>
                  <a:pt x="754380" y="2352353"/>
                </a:lnTo>
                <a:lnTo>
                  <a:pt x="792099" y="2348330"/>
                </a:lnTo>
                <a:lnTo>
                  <a:pt x="829818" y="2343745"/>
                </a:lnTo>
                <a:lnTo>
                  <a:pt x="867537" y="2338536"/>
                </a:lnTo>
                <a:lnTo>
                  <a:pt x="905256" y="2332634"/>
                </a:lnTo>
                <a:lnTo>
                  <a:pt x="942975" y="2325965"/>
                </a:lnTo>
                <a:lnTo>
                  <a:pt x="980694" y="2318452"/>
                </a:lnTo>
                <a:lnTo>
                  <a:pt x="1018413" y="2310010"/>
                </a:lnTo>
                <a:lnTo>
                  <a:pt x="1056132" y="2300553"/>
                </a:lnTo>
                <a:lnTo>
                  <a:pt x="1093851" y="2289988"/>
                </a:lnTo>
                <a:lnTo>
                  <a:pt x="1131570" y="2278220"/>
                </a:lnTo>
                <a:lnTo>
                  <a:pt x="1169289" y="2265149"/>
                </a:lnTo>
                <a:lnTo>
                  <a:pt x="1207008" y="2250674"/>
                </a:lnTo>
                <a:lnTo>
                  <a:pt x="1244727" y="2234690"/>
                </a:lnTo>
                <a:lnTo>
                  <a:pt x="1282446" y="2217093"/>
                </a:lnTo>
                <a:lnTo>
                  <a:pt x="1320165" y="2197775"/>
                </a:lnTo>
                <a:lnTo>
                  <a:pt x="1357884" y="2176634"/>
                </a:lnTo>
                <a:lnTo>
                  <a:pt x="1395603" y="2153564"/>
                </a:lnTo>
                <a:lnTo>
                  <a:pt x="1433322" y="2128468"/>
                </a:lnTo>
                <a:lnTo>
                  <a:pt x="1471041" y="2101249"/>
                </a:lnTo>
                <a:lnTo>
                  <a:pt x="1508760" y="2071820"/>
                </a:lnTo>
                <a:lnTo>
                  <a:pt x="1546479" y="2040100"/>
                </a:lnTo>
                <a:lnTo>
                  <a:pt x="1584198" y="2006017"/>
                </a:lnTo>
                <a:lnTo>
                  <a:pt x="1621917" y="1969512"/>
                </a:lnTo>
                <a:lnTo>
                  <a:pt x="1659636" y="1930537"/>
                </a:lnTo>
                <a:lnTo>
                  <a:pt x="1697355" y="1889061"/>
                </a:lnTo>
                <a:lnTo>
                  <a:pt x="1735074" y="1845068"/>
                </a:lnTo>
                <a:lnTo>
                  <a:pt x="1772793" y="1798562"/>
                </a:lnTo>
                <a:lnTo>
                  <a:pt x="1776565" y="2377440"/>
                </a:lnTo>
                <a:close/>
              </a:path>
            </a:pathLst>
          </a:custGeom>
          <a:solidFill>
            <a:srgbClr val="D93B41"/>
          </a:solidFill>
          <a:ln w="12700">
            <a:solidFill>
              <a:srgbClr val="D93B41"/>
            </a:solidFill>
            <a:prstDash val="solid"/>
          </a:ln>
        </p:spPr>
      </p:sp>
      <p:sp>
        <p:nvSpPr>
          <p:cNvPr id="8" name="Shape 5"/>
          <p:cNvSpPr/>
          <p:nvPr/>
        </p:nvSpPr>
        <p:spPr>
          <a:xfrm>
            <a:off x="640080" y="4480560"/>
            <a:ext cx="6035040" cy="0"/>
          </a:xfrm>
          <a:prstGeom prst="line">
            <a:avLst/>
          </a:prstGeom>
          <a:noFill/>
          <a:ln w="12700">
            <a:solidFill>
              <a:srgbClr val="8A90A8"/>
            </a:solidFill>
            <a:prstDash val="solid"/>
          </a:ln>
        </p:spPr>
      </p:sp>
      <p:sp>
        <p:nvSpPr>
          <p:cNvPr id="9" name="Text 6"/>
          <p:cNvSpPr txBox="1"/>
          <p:nvPr/>
        </p:nvSpPr>
        <p:spPr>
          <a:xfrm>
            <a:off x="1868005" y="4553712"/>
            <a:ext cx="1097280" cy="274320"/>
          </a:xfrm>
          <a:prstGeom prst="rect">
            <a:avLst/>
          </a:prstGeom>
          <a:noFill/>
          <a:ln/>
        </p:spPr>
        <p:txBody>
          <a:bodyPr wrap="square" lIns="0" tIns="0" rIns="0" bIns="0" rtlCol="0" anchor="t"/>
          <a:lstStyle/>
          <a:p>
            <a:pPr algn="ctr" indent="0" marL="0">
              <a:buNone/>
            </a:pPr>
            <a:r>
              <a:rPr lang="en-US" sz="1400" dirty="0">
                <a:solidFill>
                  <a:schemeClr val="tx2"/>
                </a:solidFill>
              </a:rPr>
              <a:t>-1.645</a:t>
            </a:r>
            <a:endParaRPr lang="en-US" sz="1400" dirty="0"/>
          </a:p>
        </p:txBody>
      </p:sp>
      <p:sp>
        <p:nvSpPr>
          <p:cNvPr id="10" name="Text 7"/>
          <p:cNvSpPr txBox="1"/>
          <p:nvPr/>
        </p:nvSpPr>
        <p:spPr>
          <a:xfrm>
            <a:off x="3108960" y="4553712"/>
            <a:ext cx="1097280" cy="274320"/>
          </a:xfrm>
          <a:prstGeom prst="rect">
            <a:avLst/>
          </a:prstGeom>
          <a:noFill/>
          <a:ln/>
        </p:spPr>
        <p:txBody>
          <a:bodyPr wrap="square" lIns="0" tIns="0" rIns="0" bIns="0" rtlCol="0" anchor="t"/>
          <a:lstStyle/>
          <a:p>
            <a:pPr algn="ctr" indent="0" marL="0">
              <a:buNone/>
            </a:pPr>
            <a:r>
              <a:rPr lang="en-US" sz="1400" dirty="0">
                <a:solidFill>
                  <a:schemeClr val="tx2"/>
                </a:solidFill>
              </a:rPr>
              <a:t>0</a:t>
            </a:r>
            <a:endParaRPr lang="en-US" sz="1400" dirty="0"/>
          </a:p>
        </p:txBody>
      </p:sp>
      <p:sp>
        <p:nvSpPr>
          <p:cNvPr id="11" name="Text 8"/>
          <p:cNvSpPr txBox="1"/>
          <p:nvPr/>
        </p:nvSpPr>
        <p:spPr>
          <a:xfrm>
            <a:off x="4349915" y="4553712"/>
            <a:ext cx="1097280" cy="274320"/>
          </a:xfrm>
          <a:prstGeom prst="rect">
            <a:avLst/>
          </a:prstGeom>
          <a:noFill/>
          <a:ln/>
        </p:spPr>
        <p:txBody>
          <a:bodyPr wrap="square" lIns="0" tIns="0" rIns="0" bIns="0" rtlCol="0" anchor="t"/>
          <a:lstStyle/>
          <a:p>
            <a:pPr algn="ctr" indent="0" marL="0">
              <a:buNone/>
            </a:pPr>
            <a:r>
              <a:rPr lang="en-US" sz="1400" dirty="0">
                <a:solidFill>
                  <a:schemeClr val="tx2"/>
                </a:solidFill>
              </a:rPr>
              <a:t>+1.645</a:t>
            </a:r>
            <a:endParaRPr lang="en-US" sz="1400" dirty="0"/>
          </a:p>
        </p:txBody>
      </p:sp>
      <p:sp>
        <p:nvSpPr>
          <p:cNvPr id="12" name="Text 9"/>
          <p:cNvSpPr txBox="1"/>
          <p:nvPr/>
        </p:nvSpPr>
        <p:spPr>
          <a:xfrm>
            <a:off x="640080" y="4937760"/>
            <a:ext cx="6035040" cy="320040"/>
          </a:xfrm>
          <a:prstGeom prst="rect">
            <a:avLst/>
          </a:prstGeom>
          <a:noFill/>
          <a:ln/>
        </p:spPr>
        <p:txBody>
          <a:bodyPr wrap="square" lIns="0" tIns="0" rIns="0" bIns="0" rtlCol="0" anchor="t"/>
          <a:lstStyle/>
          <a:p>
            <a:pPr indent="0" marL="0">
              <a:buNone/>
            </a:pPr>
            <a:r>
              <a:rPr lang="en-US" sz="1400" dirty="0">
                <a:solidFill>
                  <a:schemeClr val="accent1"/>
                </a:solidFill>
              </a:rPr>
              <a:t>■ </a:t>
            </a:r>
            <a:pPr indent="0" marL="0">
              <a:buNone/>
            </a:pPr>
            <a:r>
              <a:rPr lang="en-US" sz="1400" dirty="0">
                <a:solidFill>
                  <a:schemeClr val="tx2"/>
                </a:solidFill>
              </a:rPr>
              <a:t>미리 정한 방향  5%      </a:t>
            </a:r>
            <a:pPr indent="0" marL="0">
              <a:buNone/>
            </a:pPr>
            <a:r>
              <a:rPr lang="en-US" sz="1400" dirty="0">
                <a:solidFill>
                  <a:schemeClr val="accent4"/>
                </a:solidFill>
              </a:rPr>
              <a:t>■ </a:t>
            </a:r>
            <a:pPr indent="0" marL="0">
              <a:buNone/>
            </a:pPr>
            <a:r>
              <a:rPr lang="en-US" sz="1400" dirty="0">
                <a:solidFill>
                  <a:schemeClr val="tx2"/>
                </a:solidFill>
              </a:rPr>
              <a:t>결과 보고 연 반대 방향  +5%</a:t>
            </a:r>
            <a:endParaRPr lang="en-US" sz="1400" dirty="0"/>
          </a:p>
        </p:txBody>
      </p:sp>
      <p:sp>
        <p:nvSpPr>
          <p:cNvPr id="13" name="Text 10"/>
          <p:cNvSpPr txBox="1"/>
          <p:nvPr/>
        </p:nvSpPr>
        <p:spPr>
          <a:xfrm>
            <a:off x="640080" y="1737360"/>
            <a:ext cx="6035040" cy="320040"/>
          </a:xfrm>
          <a:prstGeom prst="rect">
            <a:avLst/>
          </a:prstGeom>
          <a:noFill/>
          <a:ln/>
        </p:spPr>
        <p:txBody>
          <a:bodyPr wrap="square" lIns="0" tIns="0" rIns="0" bIns="0" rtlCol="0" anchor="t"/>
          <a:lstStyle/>
          <a:p>
            <a:pPr indent="0" marL="0">
              <a:buNone/>
            </a:pPr>
            <a:r>
              <a:rPr lang="en-US" sz="1400" b="1" dirty="0">
                <a:solidFill>
                  <a:schemeClr val="tx1"/>
                </a:solidFill>
              </a:rPr>
              <a:t>단측(α 5%)으로 정했는데 결과를 보고 방향을 고르면</a:t>
            </a:r>
            <a:endParaRPr lang="en-US" sz="1400" dirty="0"/>
          </a:p>
        </p:txBody>
      </p:sp>
      <p:sp>
        <p:nvSpPr>
          <p:cNvPr id="14" name="Text 11"/>
          <p:cNvSpPr txBox="1"/>
          <p:nvPr/>
        </p:nvSpPr>
        <p:spPr>
          <a:xfrm>
            <a:off x="7223760" y="1783080"/>
            <a:ext cx="4343400" cy="4023360"/>
          </a:xfrm>
          <a:prstGeom prst="rect">
            <a:avLst/>
          </a:prstGeom>
          <a:noFill/>
          <a:ln/>
        </p:spPr>
        <p:txBody>
          <a:bodyPr wrap="square" lIns="0" tIns="0" rIns="0" bIns="0" rtlCol="0" anchor="t"/>
          <a:lstStyle/>
          <a:p>
            <a:pPr indent="0" marL="0">
              <a:buNone/>
            </a:pPr>
            <a:r>
              <a:rPr lang="en-US" sz="5400" b="1" dirty="0">
                <a:solidFill>
                  <a:schemeClr val="accent4"/>
                </a:solidFill>
              </a:rPr>
              <a:t>5% → 10%</a:t>
            </a:r>
            <a:endParaRPr lang="en-US" sz="1500" dirty="0"/>
          </a:p>
          <a:p>
            <a:pPr indent="0" marL="0">
              <a:spcAft>
                <a:spcPts val="1600"/>
              </a:spcAft>
              <a:buNone/>
            </a:pPr>
            <a:r>
              <a:rPr lang="en-US" sz="1500" dirty="0">
                <a:solidFill>
                  <a:schemeClr val="tx2"/>
                </a:solidFill>
              </a:rPr>
              <a:t>결과를 보고 방향을 고를 때 실제 1종 오류율</a:t>
            </a:r>
            <a:endParaRPr lang="en-US" sz="1500" dirty="0"/>
          </a:p>
          <a:p>
            <a:pPr indent="0" marL="0">
              <a:spcAft>
                <a:spcPts val="400"/>
              </a:spcAft>
              <a:buNone/>
            </a:pPr>
            <a:r>
              <a:rPr lang="en-US" sz="1500" b="1" dirty="0">
                <a:solidFill>
                  <a:schemeClr val="tx1"/>
                </a:solidFill>
              </a:rPr>
              <a:t>두 관점</a:t>
            </a:r>
            <a:endParaRPr lang="en-US" sz="1500" dirty="0"/>
          </a:p>
          <a:p>
            <a:pPr marL="342900" indent="-342900">
              <a:buSzPct val="100000"/>
              <a:buChar char="•"/>
            </a:pPr>
            <a:r>
              <a:rPr lang="en-US" sz="1400" dirty="0">
                <a:solidFill>
                  <a:schemeClr val="tx1"/>
                </a:solidFill>
              </a:rPr>
              <a:t>단측 옹호: 관심은 대부분 '좋아졌나' 한 방향</a:t>
            </a:r>
            <a:endParaRPr lang="en-US" sz="1500" dirty="0"/>
          </a:p>
          <a:p>
            <a:pPr marL="342900" indent="-342900">
              <a:spcAft>
                <a:spcPts val="1000"/>
              </a:spcAft>
              <a:buSzPct val="100000"/>
              <a:buChar char="•"/>
            </a:pPr>
            <a:r>
              <a:rPr lang="en-US" sz="1400" dirty="0">
                <a:solidFill>
                  <a:schemeClr val="tx1"/>
                </a:solidFill>
              </a:rPr>
              <a:t>양측 기본: 단측은 반대 방향 변화를 못 잡는다</a:t>
            </a:r>
            <a:endParaRPr lang="en-US" sz="1500" dirty="0"/>
          </a:p>
          <a:p>
            <a:pPr indent="0" marL="0">
              <a:buNone/>
            </a:pPr>
            <a:r>
              <a:rPr lang="en-US" sz="1500" b="1" dirty="0">
                <a:solidFill>
                  <a:schemeClr val="accent1"/>
                </a:solidFill>
              </a:rPr>
              <a:t>공통점: 검정 방식은 결과를 보기 전에 정한다</a:t>
            </a:r>
            <a:endParaRPr lang="en-US" sz="1500" dirty="0"/>
          </a:p>
        </p:txBody>
      </p:sp>
      <p:sp>
        <p:nvSpPr>
          <p:cNvPr id="15" name="Text 12"/>
          <p:cNvSpPr txBox="1"/>
          <p:nvPr/>
        </p:nvSpPr>
        <p:spPr>
          <a:xfrm>
            <a:off x="640080" y="5989320"/>
            <a:ext cx="10911535" cy="274320"/>
          </a:xfrm>
          <a:prstGeom prst="rect">
            <a:avLst/>
          </a:prstGeom>
          <a:noFill/>
          <a:ln/>
        </p:spPr>
        <p:txBody>
          <a:bodyPr wrap="square" lIns="0" tIns="0" rIns="0" bIns="0" rtlCol="0" anchor="t"/>
          <a:lstStyle/>
          <a:p>
            <a:pPr indent="0" marL="0">
              <a:buNone/>
            </a:pPr>
            <a:r>
              <a:rPr lang="en-US" sz="1100" dirty="0">
                <a:solidFill>
                  <a:schemeClr val="accent6"/>
                </a:solidFill>
              </a:rPr>
              <a:t>참고: blog.analytics-toolkit.com/?p=760 · docs.statsig.com/stats-engine/one-sided-test · 위키 02편 1.5</a:t>
            </a:r>
            <a:endParaRPr lang="en-US" sz="11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Ch2 · 비열등성 검정</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'나빠지지 않았다'는 비열등성 검정으로 말한다</a:t>
            </a:r>
            <a:endParaRPr lang="en-US" sz="2000" dirty="0"/>
          </a:p>
        </p:txBody>
      </p:sp>
      <p:sp>
        <p:nvSpPr>
          <p:cNvPr id="5" name="Text 2"/>
          <p:cNvSpPr txBox="1"/>
          <p:nvPr/>
        </p:nvSpPr>
        <p:spPr>
          <a:xfrm>
            <a:off x="640080" y="1783080"/>
            <a:ext cx="3840480" cy="1371600"/>
          </a:xfrm>
          <a:prstGeom prst="rect">
            <a:avLst/>
          </a:prstGeom>
          <a:noFill/>
          <a:ln/>
        </p:spPr>
        <p:txBody>
          <a:bodyPr wrap="square" lIns="0" tIns="0" rIns="0" bIns="0" rtlCol="0" anchor="t"/>
          <a:lstStyle/>
          <a:p>
            <a:pPr indent="0" marL="0">
              <a:buNone/>
            </a:pPr>
            <a:r>
              <a:rPr lang="en-US" sz="2000" dirty="0">
                <a:solidFill>
                  <a:schemeClr val="tx1"/>
                </a:solidFill>
              </a:rPr>
              <a:t>H0 :  Δ ≤ -마진</a:t>
            </a:r>
            <a:endParaRPr lang="en-US" sz="1500" dirty="0"/>
          </a:p>
          <a:p>
            <a:pPr indent="0" marL="0">
              <a:spcAft>
                <a:spcPts val="800"/>
              </a:spcAft>
              <a:buNone/>
            </a:pPr>
            <a:r>
              <a:rPr lang="en-US" sz="2000" dirty="0">
                <a:solidFill>
                  <a:schemeClr val="tx1"/>
                </a:solidFill>
              </a:rPr>
              <a:t>H1 :  Δ &gt; -마진</a:t>
            </a:r>
            <a:endParaRPr lang="en-US" sz="1500" dirty="0"/>
          </a:p>
          <a:p>
            <a:pPr indent="0" marL="0">
              <a:buNone/>
            </a:pPr>
            <a:r>
              <a:rPr lang="en-US" sz="1400" dirty="0">
                <a:solidFill>
                  <a:schemeClr val="tx2"/>
                </a:solidFill>
              </a:rPr>
              <a:t>마진 안쪽 손실까지는 '나빠지지 않았다'고 본다</a:t>
            </a:r>
            <a:endParaRPr lang="en-US" sz="1500" dirty="0"/>
          </a:p>
        </p:txBody>
      </p:sp>
      <p:sp>
        <p:nvSpPr>
          <p:cNvPr id="6" name="Text 3"/>
          <p:cNvSpPr txBox="1"/>
          <p:nvPr/>
        </p:nvSpPr>
        <p:spPr>
          <a:xfrm>
            <a:off x="4937760" y="1783080"/>
            <a:ext cx="6629400" cy="1280160"/>
          </a:xfrm>
          <a:prstGeom prst="rect">
            <a:avLst/>
          </a:prstGeom>
          <a:noFill/>
          <a:ln/>
        </p:spPr>
        <p:txBody>
          <a:bodyPr wrap="square" lIns="0" tIns="0" rIns="0" bIns="0" rtlCol="0" anchor="t"/>
          <a:lstStyle/>
          <a:p>
            <a:pPr indent="0" marL="0">
              <a:spcAft>
                <a:spcPts val="400"/>
              </a:spcAft>
              <a:buNone/>
            </a:pPr>
            <a:r>
              <a:rPr lang="en-US" sz="1500" b="1" dirty="0">
                <a:solidFill>
                  <a:schemeClr val="tx1"/>
                </a:solidFill>
              </a:rPr>
              <a:t>언제 쓰나</a:t>
            </a:r>
            <a:endParaRPr lang="en-US" sz="1500" dirty="0"/>
          </a:p>
          <a:p>
            <a:pPr indent="0" marL="0">
              <a:buNone/>
            </a:pPr>
            <a:r>
              <a:rPr lang="en-US" sz="1500" dirty="0">
                <a:solidFill>
                  <a:schemeClr val="tx2"/>
                </a:solidFill>
              </a:rPr>
              <a:t>발송량 축소, 비용 절감, 속도 개선처럼 주 목적은 다른 곳에 있고 이 지표는 지키기만 하면 될 때</a:t>
            </a:r>
            <a:endParaRPr lang="en-US" sz="1500" dirty="0"/>
          </a:p>
        </p:txBody>
      </p:sp>
      <p:sp>
        <p:nvSpPr>
          <p:cNvPr id="7" name="Shape 4"/>
          <p:cNvSpPr/>
          <p:nvPr/>
        </p:nvSpPr>
        <p:spPr>
          <a:xfrm>
            <a:off x="6400800" y="3337560"/>
            <a:ext cx="0" cy="1645920"/>
          </a:xfrm>
          <a:prstGeom prst="line">
            <a:avLst/>
          </a:prstGeom>
          <a:noFill/>
          <a:ln w="12700">
            <a:solidFill>
              <a:srgbClr val="8A90A8"/>
            </a:solidFill>
            <a:prstDash val="dash"/>
          </a:ln>
        </p:spPr>
      </p:sp>
      <p:sp>
        <p:nvSpPr>
          <p:cNvPr id="8" name="Shape 5"/>
          <p:cNvSpPr/>
          <p:nvPr/>
        </p:nvSpPr>
        <p:spPr>
          <a:xfrm>
            <a:off x="5303520" y="3337560"/>
            <a:ext cx="0" cy="1645920"/>
          </a:xfrm>
          <a:prstGeom prst="line">
            <a:avLst/>
          </a:prstGeom>
          <a:noFill/>
          <a:ln w="19050">
            <a:solidFill>
              <a:srgbClr val="D93B41"/>
            </a:solidFill>
            <a:prstDash val="dash"/>
          </a:ln>
        </p:spPr>
      </p:sp>
      <p:sp>
        <p:nvSpPr>
          <p:cNvPr id="9" name="Text 6"/>
          <p:cNvSpPr txBox="1"/>
          <p:nvPr/>
        </p:nvSpPr>
        <p:spPr>
          <a:xfrm>
            <a:off x="4754880" y="3017520"/>
            <a:ext cx="1097280" cy="274320"/>
          </a:xfrm>
          <a:prstGeom prst="rect">
            <a:avLst/>
          </a:prstGeom>
          <a:noFill/>
          <a:ln/>
        </p:spPr>
        <p:txBody>
          <a:bodyPr wrap="square" lIns="0" tIns="0" rIns="0" bIns="0" rtlCol="0" anchor="t"/>
          <a:lstStyle/>
          <a:p>
            <a:pPr algn="ctr" indent="0" marL="0">
              <a:buNone/>
            </a:pPr>
            <a:r>
              <a:rPr lang="en-US" sz="1400" b="1" dirty="0">
                <a:solidFill>
                  <a:schemeClr val="accent4"/>
                </a:solidFill>
              </a:rPr>
              <a:t>마진 -1%</a:t>
            </a:r>
            <a:endParaRPr lang="en-US" sz="1400" dirty="0"/>
          </a:p>
        </p:txBody>
      </p:sp>
      <p:sp>
        <p:nvSpPr>
          <p:cNvPr id="10" name="Text 7"/>
          <p:cNvSpPr txBox="1"/>
          <p:nvPr/>
        </p:nvSpPr>
        <p:spPr>
          <a:xfrm>
            <a:off x="2651760" y="5029200"/>
            <a:ext cx="914400" cy="274320"/>
          </a:xfrm>
          <a:prstGeom prst="rect">
            <a:avLst/>
          </a:prstGeom>
          <a:noFill/>
          <a:ln/>
        </p:spPr>
        <p:txBody>
          <a:bodyPr wrap="square" lIns="0" tIns="0" rIns="0" bIns="0" rtlCol="0" anchor="t"/>
          <a:lstStyle/>
          <a:p>
            <a:pPr algn="ctr" indent="0" marL="0">
              <a:buNone/>
            </a:pPr>
            <a:r>
              <a:rPr lang="en-US" sz="1400" dirty="0">
                <a:solidFill>
                  <a:schemeClr val="tx2"/>
                </a:solidFill>
              </a:rPr>
              <a:t>-3%</a:t>
            </a:r>
            <a:endParaRPr lang="en-US" sz="1400" dirty="0"/>
          </a:p>
        </p:txBody>
      </p:sp>
      <p:sp>
        <p:nvSpPr>
          <p:cNvPr id="11" name="Text 8"/>
          <p:cNvSpPr txBox="1"/>
          <p:nvPr/>
        </p:nvSpPr>
        <p:spPr>
          <a:xfrm>
            <a:off x="3749040" y="5029200"/>
            <a:ext cx="914400" cy="274320"/>
          </a:xfrm>
          <a:prstGeom prst="rect">
            <a:avLst/>
          </a:prstGeom>
          <a:noFill/>
          <a:ln/>
        </p:spPr>
        <p:txBody>
          <a:bodyPr wrap="square" lIns="0" tIns="0" rIns="0" bIns="0" rtlCol="0" anchor="t"/>
          <a:lstStyle/>
          <a:p>
            <a:pPr algn="ctr" indent="0" marL="0">
              <a:buNone/>
            </a:pPr>
            <a:r>
              <a:rPr lang="en-US" sz="1400" dirty="0">
                <a:solidFill>
                  <a:schemeClr val="tx2"/>
                </a:solidFill>
              </a:rPr>
              <a:t>-2%</a:t>
            </a:r>
            <a:endParaRPr lang="en-US" sz="1400" dirty="0"/>
          </a:p>
        </p:txBody>
      </p:sp>
      <p:sp>
        <p:nvSpPr>
          <p:cNvPr id="12" name="Text 9"/>
          <p:cNvSpPr txBox="1"/>
          <p:nvPr/>
        </p:nvSpPr>
        <p:spPr>
          <a:xfrm>
            <a:off x="4846320" y="5029200"/>
            <a:ext cx="914400" cy="274320"/>
          </a:xfrm>
          <a:prstGeom prst="rect">
            <a:avLst/>
          </a:prstGeom>
          <a:noFill/>
          <a:ln/>
        </p:spPr>
        <p:txBody>
          <a:bodyPr wrap="square" lIns="0" tIns="0" rIns="0" bIns="0" rtlCol="0" anchor="t"/>
          <a:lstStyle/>
          <a:p>
            <a:pPr algn="ctr" indent="0" marL="0">
              <a:buNone/>
            </a:pPr>
            <a:r>
              <a:rPr lang="en-US" sz="1400" dirty="0">
                <a:solidFill>
                  <a:schemeClr val="tx2"/>
                </a:solidFill>
              </a:rPr>
              <a:t>-1%</a:t>
            </a:r>
            <a:endParaRPr lang="en-US" sz="1400" dirty="0"/>
          </a:p>
        </p:txBody>
      </p:sp>
      <p:sp>
        <p:nvSpPr>
          <p:cNvPr id="13" name="Text 10"/>
          <p:cNvSpPr txBox="1"/>
          <p:nvPr/>
        </p:nvSpPr>
        <p:spPr>
          <a:xfrm>
            <a:off x="5943600" y="5029200"/>
            <a:ext cx="914400" cy="274320"/>
          </a:xfrm>
          <a:prstGeom prst="rect">
            <a:avLst/>
          </a:prstGeom>
          <a:noFill/>
          <a:ln/>
        </p:spPr>
        <p:txBody>
          <a:bodyPr wrap="square" lIns="0" tIns="0" rIns="0" bIns="0" rtlCol="0" anchor="t"/>
          <a:lstStyle/>
          <a:p>
            <a:pPr algn="ctr" indent="0" marL="0">
              <a:buNone/>
            </a:pPr>
            <a:r>
              <a:rPr lang="en-US" sz="1400" dirty="0">
                <a:solidFill>
                  <a:schemeClr val="tx2"/>
                </a:solidFill>
              </a:rPr>
              <a:t>0%</a:t>
            </a:r>
            <a:endParaRPr lang="en-US" sz="1400" dirty="0"/>
          </a:p>
        </p:txBody>
      </p:sp>
      <p:sp>
        <p:nvSpPr>
          <p:cNvPr id="14" name="Text 11"/>
          <p:cNvSpPr txBox="1"/>
          <p:nvPr/>
        </p:nvSpPr>
        <p:spPr>
          <a:xfrm>
            <a:off x="7040880" y="5029200"/>
            <a:ext cx="914400" cy="274320"/>
          </a:xfrm>
          <a:prstGeom prst="rect">
            <a:avLst/>
          </a:prstGeom>
          <a:noFill/>
          <a:ln/>
        </p:spPr>
        <p:txBody>
          <a:bodyPr wrap="square" lIns="0" tIns="0" rIns="0" bIns="0" rtlCol="0" anchor="t"/>
          <a:lstStyle/>
          <a:p>
            <a:pPr algn="ctr" indent="0" marL="0">
              <a:buNone/>
            </a:pPr>
            <a:r>
              <a:rPr lang="en-US" sz="1400" dirty="0">
                <a:solidFill>
                  <a:schemeClr val="tx2"/>
                </a:solidFill>
              </a:rPr>
              <a:t>+1%</a:t>
            </a:r>
            <a:endParaRPr lang="en-US" sz="1400" dirty="0"/>
          </a:p>
        </p:txBody>
      </p:sp>
      <p:sp>
        <p:nvSpPr>
          <p:cNvPr id="15" name="Text 12"/>
          <p:cNvSpPr txBox="1"/>
          <p:nvPr/>
        </p:nvSpPr>
        <p:spPr>
          <a:xfrm>
            <a:off x="8138160" y="5029200"/>
            <a:ext cx="914400" cy="274320"/>
          </a:xfrm>
          <a:prstGeom prst="rect">
            <a:avLst/>
          </a:prstGeom>
          <a:noFill/>
          <a:ln/>
        </p:spPr>
        <p:txBody>
          <a:bodyPr wrap="square" lIns="0" tIns="0" rIns="0" bIns="0" rtlCol="0" anchor="t"/>
          <a:lstStyle/>
          <a:p>
            <a:pPr algn="ctr" indent="0" marL="0">
              <a:buNone/>
            </a:pPr>
            <a:r>
              <a:rPr lang="en-US" sz="1400" dirty="0">
                <a:solidFill>
                  <a:schemeClr val="tx2"/>
                </a:solidFill>
              </a:rPr>
              <a:t>+2%</a:t>
            </a:r>
            <a:endParaRPr lang="en-US" sz="1400" dirty="0"/>
          </a:p>
        </p:txBody>
      </p:sp>
      <p:sp>
        <p:nvSpPr>
          <p:cNvPr id="16" name="Text 13"/>
          <p:cNvSpPr txBox="1"/>
          <p:nvPr/>
        </p:nvSpPr>
        <p:spPr>
          <a:xfrm>
            <a:off x="640080" y="3456432"/>
            <a:ext cx="2194560" cy="365760"/>
          </a:xfrm>
          <a:prstGeom prst="rect">
            <a:avLst/>
          </a:prstGeom>
          <a:noFill/>
          <a:ln/>
        </p:spPr>
        <p:txBody>
          <a:bodyPr wrap="square" lIns="0" tIns="0" rIns="0" bIns="0" rtlCol="0" anchor="t"/>
          <a:lstStyle/>
          <a:p>
            <a:pPr indent="0" marL="0">
              <a:buNone/>
            </a:pPr>
            <a:r>
              <a:rPr lang="en-US" sz="1500" b="1" dirty="0">
                <a:solidFill>
                  <a:schemeClr val="tx1"/>
                </a:solidFill>
              </a:rPr>
              <a:t>결과 1</a:t>
            </a:r>
            <a:endParaRPr lang="en-US" sz="1500" dirty="0"/>
          </a:p>
        </p:txBody>
      </p:sp>
      <p:sp>
        <p:nvSpPr>
          <p:cNvPr id="17" name="Shape 14"/>
          <p:cNvSpPr/>
          <p:nvPr/>
        </p:nvSpPr>
        <p:spPr>
          <a:xfrm>
            <a:off x="5632704" y="3639312"/>
            <a:ext cx="1097280" cy="0"/>
          </a:xfrm>
          <a:prstGeom prst="line">
            <a:avLst/>
          </a:prstGeom>
          <a:noFill/>
          <a:ln w="50800">
            <a:solidFill>
              <a:srgbClr val="0F9D63"/>
            </a:solidFill>
            <a:prstDash val="solid"/>
          </a:ln>
        </p:spPr>
      </p:sp>
      <p:sp>
        <p:nvSpPr>
          <p:cNvPr id="18" name="Shape 15"/>
          <p:cNvSpPr/>
          <p:nvPr/>
        </p:nvSpPr>
        <p:spPr>
          <a:xfrm>
            <a:off x="6080760" y="3538728"/>
            <a:ext cx="201168" cy="201168"/>
          </a:xfrm>
          <a:prstGeom prst="ellipse">
            <a:avLst/>
          </a:prstGeom>
          <a:solidFill>
            <a:srgbClr val="0F9D63"/>
          </a:solidFill>
          <a:ln w="12700">
            <a:solidFill>
              <a:srgbClr val="0F9D63"/>
            </a:solidFill>
            <a:prstDash val="solid"/>
          </a:ln>
        </p:spPr>
      </p:sp>
      <p:sp>
        <p:nvSpPr>
          <p:cNvPr id="19" name="Text 16"/>
          <p:cNvSpPr txBox="1"/>
          <p:nvPr/>
        </p:nvSpPr>
        <p:spPr>
          <a:xfrm>
            <a:off x="8869680" y="3474720"/>
            <a:ext cx="2743200" cy="548640"/>
          </a:xfrm>
          <a:prstGeom prst="rect">
            <a:avLst/>
          </a:prstGeom>
          <a:noFill/>
          <a:ln/>
        </p:spPr>
        <p:txBody>
          <a:bodyPr wrap="square" lIns="0" tIns="0" rIns="0" bIns="0" rtlCol="0" anchor="t"/>
          <a:lstStyle/>
          <a:p>
            <a:pPr indent="0" marL="0">
              <a:buNone/>
            </a:pPr>
            <a:r>
              <a:rPr lang="en-US" sz="1400" dirty="0">
                <a:solidFill>
                  <a:schemeClr val="tx2"/>
                </a:solidFill>
              </a:rPr>
              <a:t>구간 하한이 마진 위 → 비열등 통과</a:t>
            </a:r>
            <a:endParaRPr lang="en-US" sz="1400" dirty="0"/>
          </a:p>
        </p:txBody>
      </p:sp>
      <p:sp>
        <p:nvSpPr>
          <p:cNvPr id="20" name="Text 17"/>
          <p:cNvSpPr txBox="1"/>
          <p:nvPr/>
        </p:nvSpPr>
        <p:spPr>
          <a:xfrm>
            <a:off x="640080" y="4233672"/>
            <a:ext cx="2194560" cy="365760"/>
          </a:xfrm>
          <a:prstGeom prst="rect">
            <a:avLst/>
          </a:prstGeom>
          <a:noFill/>
          <a:ln/>
        </p:spPr>
        <p:txBody>
          <a:bodyPr wrap="square" lIns="0" tIns="0" rIns="0" bIns="0" rtlCol="0" anchor="t"/>
          <a:lstStyle/>
          <a:p>
            <a:pPr indent="0" marL="0">
              <a:buNone/>
            </a:pPr>
            <a:r>
              <a:rPr lang="en-US" sz="1500" b="1" dirty="0">
                <a:solidFill>
                  <a:schemeClr val="tx1"/>
                </a:solidFill>
              </a:rPr>
              <a:t>결과 2</a:t>
            </a:r>
            <a:endParaRPr lang="en-US" sz="1500" dirty="0"/>
          </a:p>
        </p:txBody>
      </p:sp>
      <p:sp>
        <p:nvSpPr>
          <p:cNvPr id="21" name="Shape 18"/>
          <p:cNvSpPr/>
          <p:nvPr/>
        </p:nvSpPr>
        <p:spPr>
          <a:xfrm>
            <a:off x="4645152" y="4416552"/>
            <a:ext cx="3072384" cy="0"/>
          </a:xfrm>
          <a:prstGeom prst="line">
            <a:avLst/>
          </a:prstGeom>
          <a:noFill/>
          <a:ln w="50800">
            <a:solidFill>
              <a:srgbClr val="B87700"/>
            </a:solidFill>
            <a:prstDash val="solid"/>
          </a:ln>
        </p:spPr>
      </p:sp>
      <p:sp>
        <p:nvSpPr>
          <p:cNvPr id="22" name="Shape 19"/>
          <p:cNvSpPr/>
          <p:nvPr/>
        </p:nvSpPr>
        <p:spPr>
          <a:xfrm>
            <a:off x="6080760" y="4315968"/>
            <a:ext cx="201168" cy="201168"/>
          </a:xfrm>
          <a:prstGeom prst="ellipse">
            <a:avLst/>
          </a:prstGeom>
          <a:solidFill>
            <a:srgbClr val="B87700"/>
          </a:solidFill>
          <a:ln w="12700">
            <a:solidFill>
              <a:srgbClr val="B87700"/>
            </a:solidFill>
            <a:prstDash val="solid"/>
          </a:ln>
        </p:spPr>
      </p:sp>
      <p:sp>
        <p:nvSpPr>
          <p:cNvPr id="23" name="Text 20"/>
          <p:cNvSpPr txBox="1"/>
          <p:nvPr/>
        </p:nvSpPr>
        <p:spPr>
          <a:xfrm>
            <a:off x="8869680" y="4251960"/>
            <a:ext cx="2743200" cy="548640"/>
          </a:xfrm>
          <a:prstGeom prst="rect">
            <a:avLst/>
          </a:prstGeom>
          <a:noFill/>
          <a:ln/>
        </p:spPr>
        <p:txBody>
          <a:bodyPr wrap="square" lIns="0" tIns="0" rIns="0" bIns="0" rtlCol="0" anchor="t"/>
          <a:lstStyle/>
          <a:p>
            <a:pPr indent="0" marL="0">
              <a:buNone/>
            </a:pPr>
            <a:r>
              <a:rPr lang="en-US" sz="1400" dirty="0">
                <a:solidFill>
                  <a:schemeClr val="tx2"/>
                </a:solidFill>
              </a:rPr>
              <a:t>하한이 마진 아래 → 판단 불가, 표본 부족</a:t>
            </a:r>
            <a:endParaRPr lang="en-US" sz="1400" dirty="0"/>
          </a:p>
        </p:txBody>
      </p:sp>
      <p:sp>
        <p:nvSpPr>
          <p:cNvPr id="24" name="Text 21"/>
          <p:cNvSpPr txBox="1"/>
          <p:nvPr/>
        </p:nvSpPr>
        <p:spPr>
          <a:xfrm>
            <a:off x="640080" y="5577840"/>
            <a:ext cx="10911535" cy="548640"/>
          </a:xfrm>
          <a:prstGeom prst="rect">
            <a:avLst/>
          </a:prstGeom>
          <a:noFill/>
          <a:ln/>
        </p:spPr>
        <p:txBody>
          <a:bodyPr wrap="square" lIns="0" tIns="0" rIns="0" bIns="0" rtlCol="0" anchor="t"/>
          <a:lstStyle/>
          <a:p>
            <a:pPr indent="0" marL="0">
              <a:buNone/>
            </a:pPr>
            <a:r>
              <a:rPr lang="en-US" sz="1500" b="1" dirty="0">
                <a:solidFill>
                  <a:schemeClr val="accent1"/>
                </a:solidFill>
              </a:rPr>
              <a:t>둘 다 우월성 검정으로는 '차이 없음'  </a:t>
            </a:r>
            <a:pPr indent="0" marL="0">
              <a:buNone/>
            </a:pPr>
            <a:r>
              <a:rPr lang="en-US" sz="1500" dirty="0">
                <a:solidFill>
                  <a:schemeClr val="tx1"/>
                </a:solidFill>
              </a:rPr>
              <a:t>→ "나빠지지 않았다"는 결과 1만 가능 · 마진은 실험 전에 비즈니스와 합의</a:t>
            </a:r>
            <a:endParaRPr lang="en-US" sz="15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Ch2 · 지표 설계</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지표는 층으로 설계하고, 순서대로 읽는다</a:t>
            </a:r>
            <a:endParaRPr lang="en-US" sz="2000" dirty="0"/>
          </a:p>
        </p:txBody>
      </p:sp>
      <p:sp>
        <p:nvSpPr>
          <p:cNvPr id="5" name="Text 2"/>
          <p:cNvSpPr txBox="1"/>
          <p:nvPr/>
        </p:nvSpPr>
        <p:spPr>
          <a:xfrm>
            <a:off x="640080" y="1737360"/>
            <a:ext cx="10911535" cy="365760"/>
          </a:xfrm>
          <a:prstGeom prst="rect">
            <a:avLst/>
          </a:prstGeom>
          <a:noFill/>
          <a:ln/>
        </p:spPr>
        <p:txBody>
          <a:bodyPr wrap="square" lIns="0" tIns="0" rIns="0" bIns="0" rtlCol="0" anchor="t"/>
          <a:lstStyle/>
          <a:p>
            <a:pPr indent="0" marL="0">
              <a:buNone/>
            </a:pPr>
            <a:r>
              <a:rPr lang="en-US" sz="1500" b="1" dirty="0">
                <a:solidFill>
                  <a:schemeClr val="accent6"/>
                </a:solidFill>
              </a:rPr>
              <a:t>가설  </a:t>
            </a:r>
            <a:pPr indent="0" marL="0">
              <a:buNone/>
            </a:pPr>
            <a:r>
              <a:rPr lang="en-US" sz="1500" dirty="0">
                <a:solidFill>
                  <a:schemeClr val="tx1"/>
                </a:solidFill>
              </a:rPr>
              <a:t>개인화 추천을 적용하면 원하는 숙소를 더 쉽게 찾아 예약완료율이 오를 것이다</a:t>
            </a:r>
            <a:endParaRPr lang="en-US" sz="1500" dirty="0"/>
          </a:p>
        </p:txBody>
      </p:sp>
      <p:sp>
        <p:nvSpPr>
          <p:cNvPr id="6" name="Text 3"/>
          <p:cNvSpPr txBox="1"/>
          <p:nvPr/>
        </p:nvSpPr>
        <p:spPr>
          <a:xfrm>
            <a:off x="640080" y="2331720"/>
            <a:ext cx="2651760" cy="457200"/>
          </a:xfrm>
          <a:prstGeom prst="rect">
            <a:avLst/>
          </a:prstGeom>
          <a:noFill/>
          <a:ln/>
        </p:spPr>
        <p:txBody>
          <a:bodyPr wrap="square" lIns="0" tIns="0" rIns="0" bIns="0" rtlCol="0" anchor="t"/>
          <a:lstStyle/>
          <a:p>
            <a:pPr indent="0" marL="0">
              <a:buNone/>
            </a:pPr>
            <a:r>
              <a:rPr lang="en-US" sz="2000" b="1" dirty="0">
                <a:solidFill>
                  <a:schemeClr val="accent1"/>
                </a:solidFill>
              </a:rPr>
              <a:t>OEC</a:t>
            </a:r>
            <a:endParaRPr lang="en-US" sz="2000" dirty="0"/>
          </a:p>
        </p:txBody>
      </p:sp>
      <p:sp>
        <p:nvSpPr>
          <p:cNvPr id="7" name="Text 4"/>
          <p:cNvSpPr txBox="1"/>
          <p:nvPr/>
        </p:nvSpPr>
        <p:spPr>
          <a:xfrm>
            <a:off x="3840480" y="2359152"/>
            <a:ext cx="4389120" cy="457200"/>
          </a:xfrm>
          <a:prstGeom prst="rect">
            <a:avLst/>
          </a:prstGeom>
          <a:noFill/>
          <a:ln/>
        </p:spPr>
        <p:txBody>
          <a:bodyPr wrap="square" lIns="0" tIns="0" rIns="0" bIns="0" rtlCol="0" anchor="t"/>
          <a:lstStyle/>
          <a:p>
            <a:pPr indent="0" marL="0">
              <a:buNone/>
            </a:pPr>
            <a:r>
              <a:rPr lang="en-US" sz="1500" dirty="0">
                <a:solidFill>
                  <a:schemeClr val="tx1"/>
                </a:solidFill>
              </a:rPr>
              <a:t>실험 전체가 좋은 변화인지 판단하는 기준</a:t>
            </a:r>
            <a:endParaRPr lang="en-US" sz="1500" dirty="0"/>
          </a:p>
        </p:txBody>
      </p:sp>
      <p:sp>
        <p:nvSpPr>
          <p:cNvPr id="8" name="Text 5"/>
          <p:cNvSpPr txBox="1"/>
          <p:nvPr/>
        </p:nvSpPr>
        <p:spPr>
          <a:xfrm>
            <a:off x="8503920" y="2359152"/>
            <a:ext cx="3108960" cy="457200"/>
          </a:xfrm>
          <a:prstGeom prst="rect">
            <a:avLst/>
          </a:prstGeom>
          <a:noFill/>
          <a:ln/>
        </p:spPr>
        <p:txBody>
          <a:bodyPr wrap="square" lIns="0" tIns="0" rIns="0" bIns="0" rtlCol="0" anchor="t"/>
          <a:lstStyle/>
          <a:p>
            <a:pPr indent="0" marL="0">
              <a:buNone/>
            </a:pPr>
            <a:r>
              <a:rPr lang="en-US" sz="1500" dirty="0">
                <a:solidFill>
                  <a:schemeClr val="tx2"/>
                </a:solidFill>
              </a:rPr>
              <a:t>사용자당 예약 수</a:t>
            </a:r>
            <a:endParaRPr lang="en-US" sz="1500" dirty="0"/>
          </a:p>
        </p:txBody>
      </p:sp>
      <p:sp>
        <p:nvSpPr>
          <p:cNvPr id="9" name="Text 6"/>
          <p:cNvSpPr txBox="1"/>
          <p:nvPr/>
        </p:nvSpPr>
        <p:spPr>
          <a:xfrm>
            <a:off x="914400" y="3017520"/>
            <a:ext cx="2651760" cy="457200"/>
          </a:xfrm>
          <a:prstGeom prst="rect">
            <a:avLst/>
          </a:prstGeom>
          <a:noFill/>
          <a:ln/>
        </p:spPr>
        <p:txBody>
          <a:bodyPr wrap="square" lIns="0" tIns="0" rIns="0" bIns="0" rtlCol="0" anchor="t"/>
          <a:lstStyle/>
          <a:p>
            <a:pPr indent="0" marL="0">
              <a:buNone/>
            </a:pPr>
            <a:r>
              <a:rPr lang="en-US" sz="2000" b="1" dirty="0">
                <a:solidFill>
                  <a:schemeClr val="accent1"/>
                </a:solidFill>
              </a:rPr>
              <a:t>Primary</a:t>
            </a:r>
            <a:endParaRPr lang="en-US" sz="2000" dirty="0"/>
          </a:p>
        </p:txBody>
      </p:sp>
      <p:sp>
        <p:nvSpPr>
          <p:cNvPr id="10" name="Text 7"/>
          <p:cNvSpPr txBox="1"/>
          <p:nvPr/>
        </p:nvSpPr>
        <p:spPr>
          <a:xfrm>
            <a:off x="3840480" y="3044952"/>
            <a:ext cx="4389120" cy="457200"/>
          </a:xfrm>
          <a:prstGeom prst="rect">
            <a:avLst/>
          </a:prstGeom>
          <a:noFill/>
          <a:ln/>
        </p:spPr>
        <p:txBody>
          <a:bodyPr wrap="square" lIns="0" tIns="0" rIns="0" bIns="0" rtlCol="0" anchor="t"/>
          <a:lstStyle/>
          <a:p>
            <a:pPr indent="0" marL="0">
              <a:buNone/>
            </a:pPr>
            <a:r>
              <a:rPr lang="en-US" sz="1500" dirty="0">
                <a:solidFill>
                  <a:schemeClr val="tx1"/>
                </a:solidFill>
              </a:rPr>
              <a:t>가설의 핵심 효과를 대표하는 지표</a:t>
            </a:r>
            <a:endParaRPr lang="en-US" sz="1500" dirty="0"/>
          </a:p>
        </p:txBody>
      </p:sp>
      <p:sp>
        <p:nvSpPr>
          <p:cNvPr id="11" name="Text 8"/>
          <p:cNvSpPr txBox="1"/>
          <p:nvPr/>
        </p:nvSpPr>
        <p:spPr>
          <a:xfrm>
            <a:off x="8503920" y="3044952"/>
            <a:ext cx="3108960" cy="457200"/>
          </a:xfrm>
          <a:prstGeom prst="rect">
            <a:avLst/>
          </a:prstGeom>
          <a:noFill/>
          <a:ln/>
        </p:spPr>
        <p:txBody>
          <a:bodyPr wrap="square" lIns="0" tIns="0" rIns="0" bIns="0" rtlCol="0" anchor="t"/>
          <a:lstStyle/>
          <a:p>
            <a:pPr indent="0" marL="0">
              <a:buNone/>
            </a:pPr>
            <a:r>
              <a:rPr lang="en-US" sz="1500" dirty="0">
                <a:solidFill>
                  <a:schemeClr val="tx2"/>
                </a:solidFill>
              </a:rPr>
              <a:t>검색 → 예약완료 CVR</a:t>
            </a:r>
            <a:endParaRPr lang="en-US" sz="1500" dirty="0"/>
          </a:p>
        </p:txBody>
      </p:sp>
      <p:sp>
        <p:nvSpPr>
          <p:cNvPr id="12" name="Text 9"/>
          <p:cNvSpPr txBox="1"/>
          <p:nvPr/>
        </p:nvSpPr>
        <p:spPr>
          <a:xfrm>
            <a:off x="1188720" y="3703320"/>
            <a:ext cx="2651760" cy="457200"/>
          </a:xfrm>
          <a:prstGeom prst="rect">
            <a:avLst/>
          </a:prstGeom>
          <a:noFill/>
          <a:ln/>
        </p:spPr>
        <p:txBody>
          <a:bodyPr wrap="square" lIns="0" tIns="0" rIns="0" bIns="0" rtlCol="0" anchor="t"/>
          <a:lstStyle/>
          <a:p>
            <a:pPr indent="0" marL="0">
              <a:buNone/>
            </a:pPr>
            <a:r>
              <a:rPr lang="en-US" sz="2000" b="1" dirty="0">
                <a:solidFill>
                  <a:schemeClr val="tx2"/>
                </a:solidFill>
              </a:rPr>
              <a:t>Secondary · Driver</a:t>
            </a:r>
            <a:endParaRPr lang="en-US" sz="2000" dirty="0"/>
          </a:p>
        </p:txBody>
      </p:sp>
      <p:sp>
        <p:nvSpPr>
          <p:cNvPr id="13" name="Text 10"/>
          <p:cNvSpPr txBox="1"/>
          <p:nvPr/>
        </p:nvSpPr>
        <p:spPr>
          <a:xfrm>
            <a:off x="3840480" y="3730752"/>
            <a:ext cx="4389120" cy="457200"/>
          </a:xfrm>
          <a:prstGeom prst="rect">
            <a:avLst/>
          </a:prstGeom>
          <a:noFill/>
          <a:ln/>
        </p:spPr>
        <p:txBody>
          <a:bodyPr wrap="square" lIns="0" tIns="0" rIns="0" bIns="0" rtlCol="0" anchor="t"/>
          <a:lstStyle/>
          <a:p>
            <a:pPr indent="0" marL="0">
              <a:buNone/>
            </a:pPr>
            <a:r>
              <a:rPr lang="en-US" sz="1500" dirty="0">
                <a:solidFill>
                  <a:schemeClr val="tx1"/>
                </a:solidFill>
              </a:rPr>
              <a:t>또 무엇이 변했나, 왜 움직였나</a:t>
            </a:r>
            <a:endParaRPr lang="en-US" sz="1500" dirty="0"/>
          </a:p>
        </p:txBody>
      </p:sp>
      <p:sp>
        <p:nvSpPr>
          <p:cNvPr id="14" name="Text 11"/>
          <p:cNvSpPr txBox="1"/>
          <p:nvPr/>
        </p:nvSpPr>
        <p:spPr>
          <a:xfrm>
            <a:off x="8503920" y="3730752"/>
            <a:ext cx="3108960" cy="457200"/>
          </a:xfrm>
          <a:prstGeom prst="rect">
            <a:avLst/>
          </a:prstGeom>
          <a:noFill/>
          <a:ln/>
        </p:spPr>
        <p:txBody>
          <a:bodyPr wrap="square" lIns="0" tIns="0" rIns="0" bIns="0" rtlCol="0" anchor="t"/>
          <a:lstStyle/>
          <a:p>
            <a:pPr indent="0" marL="0">
              <a:buNone/>
            </a:pPr>
            <a:r>
              <a:rPr lang="en-US" sz="1500" dirty="0">
                <a:solidFill>
                  <a:schemeClr val="tx2"/>
                </a:solidFill>
              </a:rPr>
              <a:t>추천 CTR, 상세페이지 도달률</a:t>
            </a:r>
            <a:endParaRPr lang="en-US" sz="1500" dirty="0"/>
          </a:p>
        </p:txBody>
      </p:sp>
      <p:sp>
        <p:nvSpPr>
          <p:cNvPr id="15" name="Text 12"/>
          <p:cNvSpPr txBox="1"/>
          <p:nvPr/>
        </p:nvSpPr>
        <p:spPr>
          <a:xfrm>
            <a:off x="1463040" y="4389120"/>
            <a:ext cx="2651760" cy="457200"/>
          </a:xfrm>
          <a:prstGeom prst="rect">
            <a:avLst/>
          </a:prstGeom>
          <a:noFill/>
          <a:ln/>
        </p:spPr>
        <p:txBody>
          <a:bodyPr wrap="square" lIns="0" tIns="0" rIns="0" bIns="0" rtlCol="0" anchor="t"/>
          <a:lstStyle/>
          <a:p>
            <a:pPr indent="0" marL="0">
              <a:buNone/>
            </a:pPr>
            <a:r>
              <a:rPr lang="en-US" sz="2000" b="1" dirty="0">
                <a:solidFill>
                  <a:schemeClr val="accent4"/>
                </a:solidFill>
              </a:rPr>
              <a:t>Guardrail</a:t>
            </a:r>
            <a:endParaRPr lang="en-US" sz="2000" dirty="0"/>
          </a:p>
        </p:txBody>
      </p:sp>
      <p:sp>
        <p:nvSpPr>
          <p:cNvPr id="16" name="Text 13"/>
          <p:cNvSpPr txBox="1"/>
          <p:nvPr/>
        </p:nvSpPr>
        <p:spPr>
          <a:xfrm>
            <a:off x="3840480" y="4416552"/>
            <a:ext cx="4389120" cy="457200"/>
          </a:xfrm>
          <a:prstGeom prst="rect">
            <a:avLst/>
          </a:prstGeom>
          <a:noFill/>
          <a:ln/>
        </p:spPr>
        <p:txBody>
          <a:bodyPr wrap="square" lIns="0" tIns="0" rIns="0" bIns="0" rtlCol="0" anchor="t"/>
          <a:lstStyle/>
          <a:p>
            <a:pPr indent="0" marL="0">
              <a:buNone/>
            </a:pPr>
            <a:r>
              <a:rPr lang="en-US" sz="1500" dirty="0">
                <a:solidFill>
                  <a:schemeClr val="tx1"/>
                </a:solidFill>
              </a:rPr>
              <a:t>넘으면 안 되는 침범 금지선</a:t>
            </a:r>
            <a:endParaRPr lang="en-US" sz="1500" dirty="0"/>
          </a:p>
        </p:txBody>
      </p:sp>
      <p:sp>
        <p:nvSpPr>
          <p:cNvPr id="17" name="Text 14"/>
          <p:cNvSpPr txBox="1"/>
          <p:nvPr/>
        </p:nvSpPr>
        <p:spPr>
          <a:xfrm>
            <a:off x="8503920" y="4416552"/>
            <a:ext cx="3108960" cy="457200"/>
          </a:xfrm>
          <a:prstGeom prst="rect">
            <a:avLst/>
          </a:prstGeom>
          <a:noFill/>
          <a:ln/>
        </p:spPr>
        <p:txBody>
          <a:bodyPr wrap="square" lIns="0" tIns="0" rIns="0" bIns="0" rtlCol="0" anchor="t"/>
          <a:lstStyle/>
          <a:p>
            <a:pPr indent="0" marL="0">
              <a:buNone/>
            </a:pPr>
            <a:r>
              <a:rPr lang="en-US" sz="1500" dirty="0">
                <a:solidFill>
                  <a:schemeClr val="tx2"/>
                </a:solidFill>
              </a:rPr>
              <a:t>취소율, 오류율</a:t>
            </a:r>
            <a:endParaRPr lang="en-US" sz="1500" dirty="0"/>
          </a:p>
        </p:txBody>
      </p:sp>
      <p:sp>
        <p:nvSpPr>
          <p:cNvPr id="18" name="Text 15"/>
          <p:cNvSpPr txBox="1"/>
          <p:nvPr/>
        </p:nvSpPr>
        <p:spPr>
          <a:xfrm>
            <a:off x="640080" y="5166360"/>
            <a:ext cx="2743200" cy="320040"/>
          </a:xfrm>
          <a:prstGeom prst="rect">
            <a:avLst/>
          </a:prstGeom>
          <a:noFill/>
          <a:ln/>
        </p:spPr>
        <p:txBody>
          <a:bodyPr wrap="square" lIns="0" tIns="0" rIns="0" bIns="0" rtlCol="0" anchor="t"/>
          <a:lstStyle/>
          <a:p>
            <a:pPr indent="0" marL="0">
              <a:buNone/>
            </a:pPr>
            <a:r>
              <a:rPr lang="en-US" sz="1400" b="1" dirty="0">
                <a:solidFill>
                  <a:schemeClr val="accent6"/>
                </a:solidFill>
              </a:rPr>
              <a:t>결과는 이 순서로 읽는다</a:t>
            </a:r>
            <a:endParaRPr lang="en-US" sz="1400" dirty="0"/>
          </a:p>
        </p:txBody>
      </p:sp>
      <p:sp>
        <p:nvSpPr>
          <p:cNvPr id="19" name="Text 16"/>
          <p:cNvSpPr txBox="1"/>
          <p:nvPr/>
        </p:nvSpPr>
        <p:spPr>
          <a:xfrm>
            <a:off x="640080" y="5440680"/>
            <a:ext cx="3108960" cy="685800"/>
          </a:xfrm>
          <a:prstGeom prst="rect">
            <a:avLst/>
          </a:prstGeom>
          <a:noFill/>
          <a:ln/>
        </p:spPr>
        <p:txBody>
          <a:bodyPr wrap="square" lIns="0" tIns="0" rIns="0" bIns="0" rtlCol="0" anchor="t"/>
          <a:lstStyle/>
          <a:p>
            <a:pPr indent="0" marL="0">
              <a:buNone/>
            </a:pPr>
            <a:r>
              <a:rPr lang="en-US" sz="1500" b="1" dirty="0">
                <a:solidFill>
                  <a:schemeClr val="accent1"/>
                </a:solidFill>
              </a:rPr>
              <a:t>① Primary</a:t>
            </a:r>
            <a:endParaRPr lang="en-US" sz="1500" dirty="0"/>
          </a:p>
          <a:p>
            <a:pPr indent="0" marL="0">
              <a:buNone/>
            </a:pPr>
            <a:r>
              <a:rPr lang="en-US" sz="1500" dirty="0">
                <a:solidFill>
                  <a:schemeClr val="tx1"/>
                </a:solidFill>
              </a:rPr>
              <a:t>핵심 가설은 지지되는가?</a:t>
            </a:r>
            <a:endParaRPr lang="en-US" sz="1500" dirty="0"/>
          </a:p>
        </p:txBody>
      </p:sp>
      <p:sp>
        <p:nvSpPr>
          <p:cNvPr id="20" name="Shape 17"/>
          <p:cNvSpPr/>
          <p:nvPr/>
        </p:nvSpPr>
        <p:spPr>
          <a:xfrm>
            <a:off x="3749040" y="5577840"/>
            <a:ext cx="457200" cy="0"/>
          </a:xfrm>
          <a:prstGeom prst="line">
            <a:avLst/>
          </a:prstGeom>
          <a:noFill/>
          <a:ln w="19050">
            <a:solidFill>
              <a:srgbClr val="8A90A8"/>
            </a:solidFill>
            <a:prstDash val="solid"/>
            <a:tailEnd type="triangle"/>
          </a:ln>
        </p:spPr>
      </p:sp>
      <p:sp>
        <p:nvSpPr>
          <p:cNvPr id="21" name="Text 18"/>
          <p:cNvSpPr txBox="1"/>
          <p:nvPr/>
        </p:nvSpPr>
        <p:spPr>
          <a:xfrm>
            <a:off x="4343400" y="5440680"/>
            <a:ext cx="3108960" cy="685800"/>
          </a:xfrm>
          <a:prstGeom prst="rect">
            <a:avLst/>
          </a:prstGeom>
          <a:noFill/>
          <a:ln/>
        </p:spPr>
        <p:txBody>
          <a:bodyPr wrap="square" lIns="0" tIns="0" rIns="0" bIns="0" rtlCol="0" anchor="t"/>
          <a:lstStyle/>
          <a:p>
            <a:pPr indent="0" marL="0">
              <a:buNone/>
            </a:pPr>
            <a:r>
              <a:rPr lang="en-US" sz="1500" b="1" dirty="0">
                <a:solidFill>
                  <a:schemeClr val="accent1"/>
                </a:solidFill>
              </a:rPr>
              <a:t>② Secondary · Driver</a:t>
            </a:r>
            <a:endParaRPr lang="en-US" sz="1500" dirty="0"/>
          </a:p>
          <a:p>
            <a:pPr indent="0" marL="0">
              <a:buNone/>
            </a:pPr>
            <a:r>
              <a:rPr lang="en-US" sz="1500" dirty="0">
                <a:solidFill>
                  <a:schemeClr val="tx1"/>
                </a:solidFill>
              </a:rPr>
              <a:t>왜 그런 결과가 나왔나?</a:t>
            </a:r>
            <a:endParaRPr lang="en-US" sz="1500" dirty="0"/>
          </a:p>
        </p:txBody>
      </p:sp>
      <p:sp>
        <p:nvSpPr>
          <p:cNvPr id="22" name="Shape 19"/>
          <p:cNvSpPr/>
          <p:nvPr/>
        </p:nvSpPr>
        <p:spPr>
          <a:xfrm>
            <a:off x="7452360" y="5577840"/>
            <a:ext cx="457200" cy="0"/>
          </a:xfrm>
          <a:prstGeom prst="line">
            <a:avLst/>
          </a:prstGeom>
          <a:noFill/>
          <a:ln w="19050">
            <a:solidFill>
              <a:srgbClr val="8A90A8"/>
            </a:solidFill>
            <a:prstDash val="solid"/>
            <a:tailEnd type="triangle"/>
          </a:ln>
        </p:spPr>
      </p:sp>
      <p:sp>
        <p:nvSpPr>
          <p:cNvPr id="23" name="Text 20"/>
          <p:cNvSpPr txBox="1"/>
          <p:nvPr/>
        </p:nvSpPr>
        <p:spPr>
          <a:xfrm>
            <a:off x="8046720" y="5440680"/>
            <a:ext cx="3108960" cy="685800"/>
          </a:xfrm>
          <a:prstGeom prst="rect">
            <a:avLst/>
          </a:prstGeom>
          <a:noFill/>
          <a:ln/>
        </p:spPr>
        <p:txBody>
          <a:bodyPr wrap="square" lIns="0" tIns="0" rIns="0" bIns="0" rtlCol="0" anchor="t"/>
          <a:lstStyle/>
          <a:p>
            <a:pPr indent="0" marL="0">
              <a:buNone/>
            </a:pPr>
            <a:r>
              <a:rPr lang="en-US" sz="1500" b="1" dirty="0">
                <a:solidFill>
                  <a:schemeClr val="accent1"/>
                </a:solidFill>
              </a:rPr>
              <a:t>③ Guardrail</a:t>
            </a:r>
            <a:endParaRPr lang="en-US" sz="1500" dirty="0"/>
          </a:p>
          <a:p>
            <a:pPr indent="0" marL="0">
              <a:buNone/>
            </a:pPr>
            <a:r>
              <a:rPr lang="en-US" sz="1500" dirty="0">
                <a:solidFill>
                  <a:schemeClr val="tx1"/>
                </a:solidFill>
              </a:rPr>
              <a:t>부작용은 없는가?</a:t>
            </a:r>
            <a:endParaRPr lang="en-US" sz="15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Ch2 · OEC</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좋은 OEC는 지금 잴 수 있고, 장기 목표를 가리킨다</a:t>
            </a:r>
            <a:endParaRPr lang="en-US" sz="2000" dirty="0"/>
          </a:p>
        </p:txBody>
      </p:sp>
      <p:sp>
        <p:nvSpPr>
          <p:cNvPr id="5" name="Text 2"/>
          <p:cNvSpPr txBox="1"/>
          <p:nvPr/>
        </p:nvSpPr>
        <p:spPr>
          <a:xfrm>
            <a:off x="640080" y="1783080"/>
            <a:ext cx="914400" cy="548640"/>
          </a:xfrm>
          <a:prstGeom prst="rect">
            <a:avLst/>
          </a:prstGeom>
          <a:noFill/>
          <a:ln/>
        </p:spPr>
        <p:txBody>
          <a:bodyPr wrap="square" lIns="0" tIns="0" rIns="0" bIns="0" rtlCol="0" anchor="t"/>
          <a:lstStyle/>
          <a:p>
            <a:pPr indent="0" marL="0">
              <a:buNone/>
            </a:pPr>
            <a:r>
              <a:rPr lang="en-US" sz="3000" b="1" dirty="0">
                <a:solidFill>
                  <a:schemeClr val="accent1"/>
                </a:solidFill>
              </a:rPr>
              <a:t>01</a:t>
            </a:r>
            <a:endParaRPr lang="en-US" sz="3000" dirty="0"/>
          </a:p>
        </p:txBody>
      </p:sp>
      <p:sp>
        <p:nvSpPr>
          <p:cNvPr id="6" name="Text 3"/>
          <p:cNvSpPr txBox="1"/>
          <p:nvPr/>
        </p:nvSpPr>
        <p:spPr>
          <a:xfrm>
            <a:off x="640080" y="2377440"/>
            <a:ext cx="5120640" cy="2286000"/>
          </a:xfrm>
          <a:prstGeom prst="rect">
            <a:avLst/>
          </a:prstGeom>
          <a:noFill/>
          <a:ln/>
        </p:spPr>
        <p:txBody>
          <a:bodyPr wrap="square" lIns="0" tIns="0" rIns="0" bIns="0" rtlCol="0" anchor="t"/>
          <a:lstStyle/>
          <a:p>
            <a:pPr indent="0" marL="0">
              <a:spcAft>
                <a:spcPts val="800"/>
              </a:spcAft>
              <a:buNone/>
            </a:pPr>
            <a:r>
              <a:rPr lang="en-US" sz="2000" b="1" dirty="0">
                <a:solidFill>
                  <a:schemeClr val="tx1"/>
                </a:solidFill>
              </a:rPr>
              <a:t>실험 기간 안에 측정되고, 민감하다</a:t>
            </a:r>
            <a:endParaRPr lang="en-US" sz="1500" dirty="0"/>
          </a:p>
          <a:p>
            <a:pPr marL="342900" indent="-342900">
              <a:spcAft>
                <a:spcPts val="600"/>
              </a:spcAft>
              <a:buSzPct val="100000"/>
              <a:buChar char="•"/>
            </a:pPr>
            <a:r>
              <a:rPr lang="en-US" sz="1500" dirty="0">
                <a:solidFill>
                  <a:schemeClr val="tx1"/>
                </a:solidFill>
              </a:rPr>
              <a:t>2주 실험인데 성공 여부를 3년 뒤에 안다면 쓸 수 없다</a:t>
            </a:r>
            <a:endParaRPr lang="en-US" sz="1500" dirty="0"/>
          </a:p>
          <a:p>
            <a:pPr marL="342900" indent="-342900">
              <a:spcAft>
                <a:spcPts val="600"/>
              </a:spcAft>
              <a:buSzPct val="100000"/>
              <a:buChar char="•"/>
            </a:pPr>
            <a:r>
              <a:rPr lang="en-US" sz="1500" dirty="0">
                <a:solidFill>
                  <a:schemeClr val="tx1"/>
                </a:solidFill>
              </a:rPr>
              <a:t>노이즈에 묻혀 변화가 안 보이면 아무것도 판단할 수 없다</a:t>
            </a:r>
            <a:endParaRPr lang="en-US" sz="1500" dirty="0"/>
          </a:p>
        </p:txBody>
      </p:sp>
      <p:sp>
        <p:nvSpPr>
          <p:cNvPr id="7" name="Text 4"/>
          <p:cNvSpPr txBox="1"/>
          <p:nvPr/>
        </p:nvSpPr>
        <p:spPr>
          <a:xfrm>
            <a:off x="6355080" y="1783080"/>
            <a:ext cx="914400" cy="548640"/>
          </a:xfrm>
          <a:prstGeom prst="rect">
            <a:avLst/>
          </a:prstGeom>
          <a:noFill/>
          <a:ln/>
        </p:spPr>
        <p:txBody>
          <a:bodyPr wrap="square" lIns="0" tIns="0" rIns="0" bIns="0" rtlCol="0" anchor="t"/>
          <a:lstStyle/>
          <a:p>
            <a:pPr indent="0" marL="0">
              <a:buNone/>
            </a:pPr>
            <a:r>
              <a:rPr lang="en-US" sz="3000" b="1" dirty="0">
                <a:solidFill>
                  <a:schemeClr val="accent1"/>
                </a:solidFill>
              </a:rPr>
              <a:t>02</a:t>
            </a:r>
            <a:endParaRPr lang="en-US" sz="3000" dirty="0"/>
          </a:p>
        </p:txBody>
      </p:sp>
      <p:sp>
        <p:nvSpPr>
          <p:cNvPr id="8" name="Text 5"/>
          <p:cNvSpPr txBox="1"/>
          <p:nvPr/>
        </p:nvSpPr>
        <p:spPr>
          <a:xfrm>
            <a:off x="6355080" y="2377440"/>
            <a:ext cx="5120640" cy="2286000"/>
          </a:xfrm>
          <a:prstGeom prst="rect">
            <a:avLst/>
          </a:prstGeom>
          <a:noFill/>
          <a:ln/>
        </p:spPr>
        <p:txBody>
          <a:bodyPr wrap="square" lIns="0" tIns="0" rIns="0" bIns="0" rtlCol="0" anchor="t"/>
          <a:lstStyle/>
          <a:p>
            <a:pPr indent="0" marL="0">
              <a:spcAft>
                <a:spcPts val="800"/>
              </a:spcAft>
              <a:buNone/>
            </a:pPr>
            <a:r>
              <a:rPr lang="en-US" sz="2000" b="1" dirty="0">
                <a:solidFill>
                  <a:schemeClr val="tx1"/>
                </a:solidFill>
              </a:rPr>
              <a:t>제품의 장기 목표와 연결된다</a:t>
            </a:r>
            <a:endParaRPr lang="en-US" sz="1500" dirty="0"/>
          </a:p>
          <a:p>
            <a:pPr marL="342900" indent="-342900">
              <a:spcAft>
                <a:spcPts val="600"/>
              </a:spcAft>
              <a:buSzPct val="100000"/>
              <a:buChar char="•"/>
            </a:pPr>
            <a:r>
              <a:rPr lang="en-US" sz="1500" dirty="0">
                <a:solidFill>
                  <a:schemeClr val="tx1"/>
                </a:solidFill>
              </a:rPr>
              <a:t>가격 인상 → 단기 수익은 오르지만 장기 이탈로 이어질 수 있다</a:t>
            </a:r>
            <a:endParaRPr lang="en-US" sz="1500" dirty="0"/>
          </a:p>
          <a:p>
            <a:pPr marL="342900" indent="-342900">
              <a:spcAft>
                <a:spcPts val="600"/>
              </a:spcAft>
              <a:buSzPct val="100000"/>
              <a:buChar char="•"/>
            </a:pPr>
            <a:r>
              <a:rPr lang="en-US" sz="1500" dirty="0">
                <a:solidFill>
                  <a:schemeClr val="tx1"/>
                </a:solidFill>
              </a:rPr>
              <a:t>후보: 재방문율, 반복 구매, 사용자당 활동일 수</a:t>
            </a:r>
            <a:endParaRPr lang="en-US" sz="1500" dirty="0"/>
          </a:p>
          <a:p>
            <a:pPr marL="342900" indent="-342900">
              <a:spcAft>
                <a:spcPts val="600"/>
              </a:spcAft>
              <a:buSzPct val="100000"/>
              <a:buChar char="•"/>
            </a:pPr>
            <a:r>
              <a:rPr lang="en-US" sz="1500" dirty="0">
                <a:solidFill>
                  <a:schemeClr val="tx1"/>
                </a:solidFill>
              </a:rPr>
              <a:t>연결은 리서치·상관 분석·실험으로 검증한다</a:t>
            </a:r>
            <a:endParaRPr lang="en-US" sz="1500" dirty="0"/>
          </a:p>
        </p:txBody>
      </p:sp>
      <p:sp>
        <p:nvSpPr>
          <p:cNvPr id="9" name="Shape 6"/>
          <p:cNvSpPr/>
          <p:nvPr/>
        </p:nvSpPr>
        <p:spPr>
          <a:xfrm>
            <a:off x="5989320" y="1828800"/>
            <a:ext cx="0" cy="2743200"/>
          </a:xfrm>
          <a:prstGeom prst="line">
            <a:avLst/>
          </a:prstGeom>
          <a:noFill/>
          <a:ln w="12700">
            <a:solidFill>
              <a:srgbClr val="E3E7F1"/>
            </a:solidFill>
            <a:prstDash val="solid"/>
          </a:ln>
        </p:spPr>
      </p:sp>
      <p:sp>
        <p:nvSpPr>
          <p:cNvPr id="10" name="Text 7"/>
          <p:cNvSpPr txBox="1"/>
          <p:nvPr/>
        </p:nvSpPr>
        <p:spPr>
          <a:xfrm>
            <a:off x="640080" y="4937760"/>
            <a:ext cx="10911535" cy="548640"/>
          </a:xfrm>
          <a:prstGeom prst="rect">
            <a:avLst/>
          </a:prstGeom>
          <a:noFill/>
          <a:ln/>
        </p:spPr>
        <p:txBody>
          <a:bodyPr wrap="square" lIns="0" tIns="0" rIns="0" bIns="0" rtlCol="0" anchor="t"/>
          <a:lstStyle/>
          <a:p>
            <a:pPr indent="0" marL="0">
              <a:buNone/>
            </a:pPr>
            <a:r>
              <a:rPr lang="en-US" sz="1500" b="1" dirty="0">
                <a:solidFill>
                  <a:schemeClr val="accent1"/>
                </a:solidFill>
              </a:rPr>
              <a:t>OEC는 하나여야 하나?  </a:t>
            </a:r>
            <a:pPr indent="0" marL="0">
              <a:buNone/>
            </a:pPr>
            <a:r>
              <a:rPr lang="en-US" sz="1500" dirty="0">
                <a:solidFill>
                  <a:schemeClr val="tx1"/>
                </a:solidFill>
              </a:rPr>
              <a:t>가능하면 하나. 품질·사용량·광고 수익처럼 균형이 필요하면 실험 전에 정한 가중치로 조합</a:t>
            </a:r>
            <a:endParaRPr lang="en-US" sz="15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Ch2 · OEC와 North Star Metric</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노스스타는 방향을, OEC는 이번 실험을 판단한다</a:t>
            </a:r>
            <a:endParaRPr lang="en-US" sz="2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11535" cy="914400"/>
        </p:xfrm>
        <a:graphic>
          <a:graphicData uri="http://schemas.openxmlformats.org/drawingml/2006/table">
            <a:tbl>
              <a:tblPr/>
              <a:tblGrid>
                <a:gridCol w="2377440"/>
                <a:gridCol w="4297680"/>
                <a:gridCol w="4233672"/>
              </a:tblGrid>
              <a:tr h="566928">
                <a:tc>
                  <a:txBody>
                    <a:bodyPr/>
                    <a:lstStyle/>
                    <a:p>
                      <a:pPr indent="0" marL="0">
                        <a:buNone/>
                      </a:pPr>
                      <a:endParaRPr lang="en-US" sz="14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400" b="1" dirty="0">
                          <a:solidFill>
                            <a:srgbClr val="555C7A"/>
                          </a:solidFill>
                        </a:rPr>
                        <a:t>North Star Metric</a:t>
                      </a:r>
                      <a:endParaRPr lang="en-US" sz="14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400" b="1" dirty="0">
                          <a:solidFill>
                            <a:srgbClr val="555C7A"/>
                          </a:solidFill>
                        </a:rPr>
                        <a:t>OEC</a:t>
                      </a:r>
                      <a:endParaRPr lang="en-US" sz="14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r>
              <a:tr h="566928">
                <a:tc>
                  <a:txBody>
                    <a:bodyPr/>
                    <a:lstStyle/>
                    <a:p>
                      <a:pPr indent="0" marL="0">
                        <a:buNone/>
                      </a:pPr>
                      <a:r>
                        <a:rPr lang="en-US" sz="1500" b="1" dirty="0">
                          <a:solidFill>
                            <a:srgbClr val="1B1F3B"/>
                          </a:solidFill>
                        </a:rPr>
                        <a:t>핵심 질문</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제품이 어떤 핵심 가치를 계속 만들어야 하나?</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이 실험이 전체적으로 좋은 변화인가?</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566928">
                <a:tc>
                  <a:txBody>
                    <a:bodyPr/>
                    <a:lstStyle/>
                    <a:p>
                      <a:pPr indent="0" marL="0">
                        <a:buNone/>
                      </a:pPr>
                      <a:r>
                        <a:rPr lang="en-US" sz="1500" b="1" dirty="0">
                          <a:solidFill>
                            <a:srgbClr val="1B1F3B"/>
                          </a:solidFill>
                        </a:rPr>
                        <a:t>적용 범위</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제품 · 조직</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개별 실험</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566928">
                <a:tc>
                  <a:txBody>
                    <a:bodyPr/>
                    <a:lstStyle/>
                    <a:p>
                      <a:pPr indent="0" marL="0">
                        <a:buNone/>
                      </a:pPr>
                      <a:r>
                        <a:rPr lang="en-US" sz="1500" b="1" dirty="0">
                          <a:solidFill>
                            <a:srgbClr val="1B1F3B"/>
                          </a:solidFill>
                        </a:rPr>
                        <a:t>역할</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여러 팀의 장기 방향을 정렬한다</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Treatment의 성공 여부를 판단한다</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566928">
                <a:tc>
                  <a:txBody>
                    <a:bodyPr/>
                    <a:lstStyle/>
                    <a:p>
                      <a:pPr indent="0" marL="0">
                        <a:buNone/>
                      </a:pPr>
                      <a:r>
                        <a:rPr lang="en-US" sz="1500" b="1" dirty="0">
                          <a:solidFill>
                            <a:srgbClr val="1B1F3B"/>
                          </a:solidFill>
                        </a:rPr>
                        <a:t>측정 조건</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핵심 사용자 가치를 대표한다</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실험 기간 안에 충분히 측정된다</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566928">
                <a:tc>
                  <a:txBody>
                    <a:bodyPr/>
                    <a:lstStyle/>
                    <a:p>
                      <a:pPr indent="0" marL="0">
                        <a:buNone/>
                      </a:pPr>
                      <a:r>
                        <a:rPr lang="en-US" sz="1500" b="1" dirty="0">
                          <a:solidFill>
                            <a:srgbClr val="1B1F3B"/>
                          </a:solidFill>
                        </a:rPr>
                        <a:t>장기 목표와의 관계</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장기 목표 자체를 대표한다</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장기 목표를 예측·추진할 수 있어야 한다</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bl>
          </a:graphicData>
        </a:graphic>
      </p:graphicFrame>
      <p:sp>
        <p:nvSpPr>
          <p:cNvPr id="6" name="Text 2"/>
          <p:cNvSpPr txBox="1"/>
          <p:nvPr/>
        </p:nvSpPr>
        <p:spPr>
          <a:xfrm>
            <a:off x="640080" y="5486400"/>
            <a:ext cx="10911535" cy="548640"/>
          </a:xfrm>
          <a:prstGeom prst="rect">
            <a:avLst/>
          </a:prstGeom>
          <a:noFill/>
          <a:ln/>
        </p:spPr>
        <p:txBody>
          <a:bodyPr wrap="square" lIns="0" tIns="0" rIns="0" bIns="0" rtlCol="0" anchor="t"/>
          <a:lstStyle/>
          <a:p>
            <a:pPr indent="0" marL="0">
              <a:buNone/>
            </a:pPr>
            <a:r>
              <a:rPr lang="en-US" sz="1500" b="1" dirty="0">
                <a:solidFill>
                  <a:schemeClr val="accent1"/>
                </a:solidFill>
              </a:rPr>
              <a:t>← 그로스 세션 노스스타  </a:t>
            </a:r>
            <a:pPr indent="0" marL="0">
              <a:buNone/>
            </a:pPr>
            <a:r>
              <a:rPr lang="en-US" sz="1500" dirty="0">
                <a:solidFill>
                  <a:schemeClr val="tx1"/>
                </a:solidFill>
              </a:rPr>
              <a:t>노스스타가 '어느 방향으로 갈까'를 정하면, OEC는 '이번 실험이 그 방향으로 움직였나'를 판단합니다</a:t>
            </a:r>
            <a:endParaRPr lang="en-US" sz="15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Ch2 · Primary Metric</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Primary는 정의까지 정해야 쓸 수 있다</a:t>
            </a:r>
            <a:endParaRPr lang="en-US" sz="2000" dirty="0"/>
          </a:p>
        </p:txBody>
      </p:sp>
      <p:sp>
        <p:nvSpPr>
          <p:cNvPr id="5" name="Shape 2"/>
          <p:cNvSpPr/>
          <p:nvPr/>
        </p:nvSpPr>
        <p:spPr>
          <a:xfrm>
            <a:off x="731520" y="2057400"/>
            <a:ext cx="10607040" cy="0"/>
          </a:xfrm>
          <a:prstGeom prst="line">
            <a:avLst/>
          </a:prstGeom>
          <a:noFill/>
          <a:ln w="38100">
            <a:solidFill>
              <a:srgbClr val="E3E7F1"/>
            </a:solidFill>
            <a:prstDash val="solid"/>
          </a:ln>
        </p:spPr>
      </p:sp>
      <p:sp>
        <p:nvSpPr>
          <p:cNvPr id="6" name="Shape 3"/>
          <p:cNvSpPr/>
          <p:nvPr/>
        </p:nvSpPr>
        <p:spPr>
          <a:xfrm>
            <a:off x="621792" y="1947672"/>
            <a:ext cx="219456" cy="219456"/>
          </a:xfrm>
          <a:prstGeom prst="ellipse">
            <a:avLst/>
          </a:prstGeom>
          <a:solidFill>
            <a:srgbClr val="8A90A8"/>
          </a:solidFill>
          <a:ln w="12700">
            <a:solidFill>
              <a:srgbClr val="8A90A8"/>
            </a:solidFill>
            <a:prstDash val="solid"/>
          </a:ln>
        </p:spPr>
      </p:sp>
      <p:sp>
        <p:nvSpPr>
          <p:cNvPr id="7" name="Text 4"/>
          <p:cNvSpPr txBox="1"/>
          <p:nvPr/>
        </p:nvSpPr>
        <p:spPr>
          <a:xfrm>
            <a:off x="640080" y="2286000"/>
            <a:ext cx="3291840" cy="731520"/>
          </a:xfrm>
          <a:prstGeom prst="rect">
            <a:avLst/>
          </a:prstGeom>
          <a:noFill/>
          <a:ln/>
        </p:spPr>
        <p:txBody>
          <a:bodyPr wrap="square" lIns="0" tIns="0" rIns="0" bIns="0" rtlCol="0" anchor="t"/>
          <a:lstStyle/>
          <a:p>
            <a:pPr algn="l" indent="0" marL="0">
              <a:buNone/>
            </a:pPr>
            <a:r>
              <a:rPr lang="en-US" sz="1500" b="1" dirty="0">
                <a:solidFill>
                  <a:schemeClr val="tx1"/>
                </a:solidFill>
              </a:rPr>
              <a:t>추천 CTR</a:t>
            </a:r>
            <a:endParaRPr lang="en-US" sz="1500" dirty="0"/>
          </a:p>
          <a:p>
            <a:pPr algn="l" indent="0" marL="0">
              <a:buNone/>
            </a:pPr>
            <a:r>
              <a:rPr lang="en-US" sz="1400" dirty="0">
                <a:solidFill>
                  <a:schemeClr val="tx2"/>
                </a:solidFill>
              </a:rPr>
              <a:t>가깝다 · 민감하지만 가치와 멀 수 있다</a:t>
            </a:r>
            <a:endParaRPr lang="en-US" sz="1500" dirty="0"/>
          </a:p>
        </p:txBody>
      </p:sp>
      <p:sp>
        <p:nvSpPr>
          <p:cNvPr id="8" name="Shape 5"/>
          <p:cNvSpPr/>
          <p:nvPr/>
        </p:nvSpPr>
        <p:spPr>
          <a:xfrm>
            <a:off x="5925312" y="1947672"/>
            <a:ext cx="219456" cy="219456"/>
          </a:xfrm>
          <a:prstGeom prst="ellipse">
            <a:avLst/>
          </a:prstGeom>
          <a:solidFill>
            <a:srgbClr val="3A5BFF"/>
          </a:solidFill>
          <a:ln w="12700">
            <a:solidFill>
              <a:srgbClr val="3A5BFF"/>
            </a:solidFill>
            <a:prstDash val="solid"/>
          </a:ln>
        </p:spPr>
      </p:sp>
      <p:sp>
        <p:nvSpPr>
          <p:cNvPr id="9" name="Text 6"/>
          <p:cNvSpPr txBox="1"/>
          <p:nvPr/>
        </p:nvSpPr>
        <p:spPr>
          <a:xfrm>
            <a:off x="4389120" y="2286000"/>
            <a:ext cx="3291840" cy="731520"/>
          </a:xfrm>
          <a:prstGeom prst="rect">
            <a:avLst/>
          </a:prstGeom>
          <a:noFill/>
          <a:ln/>
        </p:spPr>
        <p:txBody>
          <a:bodyPr wrap="square" lIns="0" tIns="0" rIns="0" bIns="0" rtlCol="0" anchor="t"/>
          <a:lstStyle/>
          <a:p>
            <a:pPr algn="ctr" indent="0" marL="0">
              <a:buNone/>
            </a:pPr>
            <a:r>
              <a:rPr lang="en-US" sz="1500" b="1" dirty="0">
                <a:solidFill>
                  <a:schemeClr val="accent1"/>
                </a:solidFill>
              </a:rPr>
              <a:t>검색 → 예약완료 CVR</a:t>
            </a:r>
            <a:endParaRPr lang="en-US" sz="1500" dirty="0"/>
          </a:p>
          <a:p>
            <a:pPr algn="ctr" indent="0" marL="0">
              <a:buNone/>
            </a:pPr>
            <a:r>
              <a:rPr lang="en-US" sz="1400" dirty="0">
                <a:solidFill>
                  <a:schemeClr val="tx2"/>
                </a:solidFill>
              </a:rPr>
              <a:t>영향을 반영하면서 가치와도 가깝다</a:t>
            </a:r>
            <a:endParaRPr lang="en-US" sz="1500" dirty="0"/>
          </a:p>
        </p:txBody>
      </p:sp>
      <p:sp>
        <p:nvSpPr>
          <p:cNvPr id="10" name="Shape 7"/>
          <p:cNvSpPr/>
          <p:nvPr/>
        </p:nvSpPr>
        <p:spPr>
          <a:xfrm>
            <a:off x="11228832" y="1947672"/>
            <a:ext cx="219456" cy="219456"/>
          </a:xfrm>
          <a:prstGeom prst="ellipse">
            <a:avLst/>
          </a:prstGeom>
          <a:solidFill>
            <a:srgbClr val="8A90A8"/>
          </a:solidFill>
          <a:ln w="12700">
            <a:solidFill>
              <a:srgbClr val="8A90A8"/>
            </a:solidFill>
            <a:prstDash val="solid"/>
          </a:ln>
        </p:spPr>
      </p:sp>
      <p:sp>
        <p:nvSpPr>
          <p:cNvPr id="11" name="Text 8"/>
          <p:cNvSpPr txBox="1"/>
          <p:nvPr/>
        </p:nvSpPr>
        <p:spPr>
          <a:xfrm>
            <a:off x="8259775" y="2286000"/>
            <a:ext cx="3291840" cy="731520"/>
          </a:xfrm>
          <a:prstGeom prst="rect">
            <a:avLst/>
          </a:prstGeom>
          <a:noFill/>
          <a:ln/>
        </p:spPr>
        <p:txBody>
          <a:bodyPr wrap="square" lIns="0" tIns="0" rIns="0" bIns="0" rtlCol="0" anchor="t"/>
          <a:lstStyle/>
          <a:p>
            <a:pPr algn="r" indent="0" marL="0">
              <a:buNone/>
            </a:pPr>
            <a:r>
              <a:rPr lang="en-US" sz="1500" b="1" dirty="0">
                <a:solidFill>
                  <a:schemeClr val="tx1"/>
                </a:solidFill>
              </a:rPr>
              <a:t>LTV</a:t>
            </a:r>
            <a:endParaRPr lang="en-US" sz="1500" dirty="0"/>
          </a:p>
          <a:p>
            <a:pPr algn="r" indent="0" marL="0">
              <a:buNone/>
            </a:pPr>
            <a:r>
              <a:rPr lang="en-US" sz="1400" dirty="0">
                <a:solidFill>
                  <a:schemeClr val="tx2"/>
                </a:solidFill>
              </a:rPr>
              <a:t>중요하지만 실험 기간 안에 잘 안 움직인다</a:t>
            </a:r>
            <a:endParaRPr lang="en-US" sz="15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40080" y="3246120"/>
          <a:ext cx="6766560" cy="914400"/>
        </p:xfrm>
        <a:graphic>
          <a:graphicData uri="http://schemas.openxmlformats.org/drawingml/2006/table">
            <a:tbl>
              <a:tblPr/>
              <a:tblGrid>
                <a:gridCol w="1371600"/>
                <a:gridCol w="3017520"/>
                <a:gridCol w="2377440"/>
              </a:tblGrid>
              <a:tr h="457200">
                <a:tc>
                  <a:txBody>
                    <a:bodyPr/>
                    <a:lstStyle/>
                    <a:p>
                      <a:pPr indent="0" marL="0">
                        <a:buNone/>
                      </a:pPr>
                      <a:r>
                        <a:rPr lang="en-US" sz="1400" b="1" dirty="0">
                          <a:solidFill>
                            <a:srgbClr val="555C7A"/>
                          </a:solidFill>
                        </a:rPr>
                        <a:t>요소</a:t>
                      </a:r>
                      <a:endParaRPr lang="en-US" sz="14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400" b="1" dirty="0">
                          <a:solidFill>
                            <a:srgbClr val="555C7A"/>
                          </a:solidFill>
                        </a:rPr>
                        <a:t>질문</a:t>
                      </a:r>
                      <a:endParaRPr lang="en-US" sz="14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400" b="1" dirty="0">
                          <a:solidFill>
                            <a:srgbClr val="555C7A"/>
                          </a:solidFill>
                        </a:rPr>
                        <a:t>예: 예약완료 CVR</a:t>
                      </a:r>
                      <a:endParaRPr lang="en-US" sz="14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r>
              <a:tr h="457200">
                <a:tc>
                  <a:txBody>
                    <a:bodyPr/>
                    <a:lstStyle/>
                    <a:p>
                      <a:pPr indent="0" marL="0">
                        <a:buNone/>
                      </a:pPr>
                      <a:r>
                        <a:rPr lang="en-US" sz="1400" b="1" dirty="0">
                          <a:solidFill>
                            <a:srgbClr val="1B1F3B"/>
                          </a:solidFill>
                        </a:rPr>
                        <a:t>분자</a:t>
                      </a:r>
                      <a:endParaRPr lang="en-US" sz="14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400" dirty="0">
                          <a:solidFill>
                            <a:srgbClr val="1B1F3B"/>
                          </a:solidFill>
                        </a:rPr>
                        <a:t>무엇을 성공 행동으로 볼까?</a:t>
                      </a:r>
                      <a:endParaRPr lang="en-US" sz="14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400" dirty="0">
                          <a:solidFill>
                            <a:srgbClr val="1B1F3B"/>
                          </a:solidFill>
                        </a:rPr>
                        <a:t>예약을 완료한 사용자</a:t>
                      </a:r>
                      <a:endParaRPr lang="en-US" sz="14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457200">
                <a:tc>
                  <a:txBody>
                    <a:bodyPr/>
                    <a:lstStyle/>
                    <a:p>
                      <a:pPr indent="0" marL="0">
                        <a:buNone/>
                      </a:pPr>
                      <a:r>
                        <a:rPr lang="en-US" sz="1400" b="1" dirty="0">
                          <a:solidFill>
                            <a:srgbClr val="1B1F3B"/>
                          </a:solidFill>
                        </a:rPr>
                        <a:t>분모</a:t>
                      </a:r>
                      <a:endParaRPr lang="en-US" sz="14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400" dirty="0">
                          <a:solidFill>
                            <a:srgbClr val="1B1F3B"/>
                          </a:solidFill>
                        </a:rPr>
                        <a:t>누구를 비교 대상으로 볼까?</a:t>
                      </a:r>
                      <a:endParaRPr lang="en-US" sz="14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400" dirty="0">
                          <a:solidFill>
                            <a:srgbClr val="1B1F3B"/>
                          </a:solidFill>
                        </a:rPr>
                        <a:t>검색한 사용자</a:t>
                      </a:r>
                      <a:endParaRPr lang="en-US" sz="14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457200">
                <a:tc>
                  <a:txBody>
                    <a:bodyPr/>
                    <a:lstStyle/>
                    <a:p>
                      <a:pPr indent="0" marL="0">
                        <a:buNone/>
                      </a:pPr>
                      <a:r>
                        <a:rPr lang="en-US" sz="1400" b="1" dirty="0">
                          <a:solidFill>
                            <a:srgbClr val="1B1F3B"/>
                          </a:solidFill>
                        </a:rPr>
                        <a:t>집계 단위</a:t>
                      </a:r>
                      <a:endParaRPr lang="en-US" sz="14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400" dirty="0">
                          <a:solidFill>
                            <a:srgbClr val="1B1F3B"/>
                          </a:solidFill>
                        </a:rPr>
                        <a:t>User / Session / Event?</a:t>
                      </a:r>
                      <a:endParaRPr lang="en-US" sz="14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400" dirty="0">
                          <a:solidFill>
                            <a:srgbClr val="1B1F3B"/>
                          </a:solidFill>
                        </a:rPr>
                        <a:t>User</a:t>
                      </a:r>
                      <a:endParaRPr lang="en-US" sz="14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457200">
                <a:tc>
                  <a:txBody>
                    <a:bodyPr/>
                    <a:lstStyle/>
                    <a:p>
                      <a:pPr indent="0" marL="0">
                        <a:buNone/>
                      </a:pPr>
                      <a:r>
                        <a:rPr lang="en-US" sz="1400" b="1" dirty="0">
                          <a:solidFill>
                            <a:srgbClr val="1B1F3B"/>
                          </a:solidFill>
                        </a:rPr>
                        <a:t>기간</a:t>
                      </a:r>
                      <a:endParaRPr lang="en-US" sz="14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400" dirty="0">
                          <a:solidFill>
                            <a:srgbClr val="1B1F3B"/>
                          </a:solidFill>
                        </a:rPr>
                        <a:t>언제까지 일어나야 전환인가?</a:t>
                      </a:r>
                      <a:endParaRPr lang="en-US" sz="14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400" dirty="0">
                          <a:solidFill>
                            <a:srgbClr val="1B1F3B"/>
                          </a:solidFill>
                        </a:rPr>
                        <a:t>검색 후 7일 안</a:t>
                      </a:r>
                      <a:endParaRPr lang="en-US" sz="14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bl>
          </a:graphicData>
        </a:graphic>
      </p:graphicFrame>
      <p:sp>
        <p:nvSpPr>
          <p:cNvPr id="13" name="Text 9"/>
          <p:cNvSpPr txBox="1"/>
          <p:nvPr/>
        </p:nvSpPr>
        <p:spPr>
          <a:xfrm>
            <a:off x="7772400" y="3200400"/>
            <a:ext cx="3794760" cy="2743200"/>
          </a:xfrm>
          <a:prstGeom prst="rect">
            <a:avLst/>
          </a:prstGeom>
          <a:noFill/>
          <a:ln/>
        </p:spPr>
        <p:txBody>
          <a:bodyPr wrap="square" lIns="0" tIns="0" rIns="0" bIns="0" rtlCol="0" anchor="t"/>
          <a:lstStyle/>
          <a:p>
            <a:pPr indent="0" marL="0">
              <a:spcAft>
                <a:spcPts val="400"/>
              </a:spcAft>
              <a:buNone/>
            </a:pPr>
            <a:r>
              <a:rPr lang="en-US" sz="1500" b="1" dirty="0">
                <a:solidFill>
                  <a:schemeClr val="tx1"/>
                </a:solidFill>
              </a:rPr>
              <a:t>좋은 Primary의 조건</a:t>
            </a:r>
            <a:endParaRPr lang="en-US" sz="1400" dirty="0"/>
          </a:p>
          <a:p>
            <a:pPr marL="342900" indent="-342900">
              <a:spcAft>
                <a:spcPts val="200"/>
              </a:spcAft>
              <a:buSzPct val="100000"/>
              <a:buChar char="•"/>
            </a:pPr>
            <a:r>
              <a:rPr lang="en-US" sz="1400" dirty="0">
                <a:solidFill>
                  <a:schemeClr val="tx1"/>
                </a:solidFill>
              </a:rPr>
              <a:t>가설과 직접 연결된다</a:t>
            </a:r>
            <a:endParaRPr lang="en-US" sz="1400" dirty="0"/>
          </a:p>
          <a:p>
            <a:pPr marL="342900" indent="-342900">
              <a:spcAft>
                <a:spcPts val="200"/>
              </a:spcAft>
              <a:buSzPct val="100000"/>
              <a:buChar char="•"/>
            </a:pPr>
            <a:r>
              <a:rPr lang="en-US" sz="1400" dirty="0">
                <a:solidFill>
                  <a:schemeClr val="tx1"/>
                </a:solidFill>
              </a:rPr>
              <a:t>결과를 보기 전에 정한다</a:t>
            </a:r>
            <a:endParaRPr lang="en-US" sz="1400" dirty="0"/>
          </a:p>
          <a:p>
            <a:pPr marL="342900" indent="-342900">
              <a:spcAft>
                <a:spcPts val="200"/>
              </a:spcAft>
              <a:buSzPct val="100000"/>
              <a:buChar char="•"/>
            </a:pPr>
            <a:r>
              <a:rPr lang="en-US" sz="1400" dirty="0">
                <a:solidFill>
                  <a:schemeClr val="tx1"/>
                </a:solidFill>
              </a:rPr>
              <a:t>실험 기간 안에 측정된다</a:t>
            </a:r>
            <a:endParaRPr lang="en-US" sz="1400" dirty="0"/>
          </a:p>
          <a:p>
            <a:pPr marL="342900" indent="-342900">
              <a:spcAft>
                <a:spcPts val="200"/>
              </a:spcAft>
              <a:buSzPct val="100000"/>
              <a:buChar char="•"/>
            </a:pPr>
            <a:r>
              <a:rPr lang="en-US" sz="1400" dirty="0">
                <a:solidFill>
                  <a:schemeClr val="tx1"/>
                </a:solidFill>
              </a:rPr>
              <a:t>Treatment에 민감하고 노이즈가 작다</a:t>
            </a:r>
            <a:endParaRPr lang="en-US" sz="1400" dirty="0"/>
          </a:p>
          <a:p>
            <a:pPr marL="342900" indent="-342900">
              <a:spcAft>
                <a:spcPts val="200"/>
              </a:spcAft>
              <a:buSzPct val="100000"/>
              <a:buChar char="•"/>
            </a:pPr>
            <a:r>
              <a:rPr lang="en-US" sz="1400" dirty="0">
                <a:solidFill>
                  <a:schemeClr val="tx1"/>
                </a:solidFill>
              </a:rPr>
              <a:t>분자·분모·단위·기간이 명확하다</a:t>
            </a:r>
            <a:endParaRPr lang="en-US" sz="1400" dirty="0"/>
          </a:p>
          <a:p>
            <a:pPr marL="342900" indent="-342900">
              <a:spcAft>
                <a:spcPts val="200"/>
              </a:spcAft>
              <a:buSzPct val="100000"/>
              <a:buChar char="•"/>
            </a:pPr>
            <a:r>
              <a:rPr lang="en-US" sz="1400" dirty="0">
                <a:solidFill>
                  <a:schemeClr val="tx1"/>
                </a:solidFill>
              </a:rPr>
              <a:t>올라가면 좋은지 해석 방향이 분명하다</a:t>
            </a:r>
            <a:endParaRPr lang="en-US" sz="1400" dirty="0"/>
          </a:p>
          <a:p>
            <a:pPr marL="342900" indent="-342900">
              <a:spcAft>
                <a:spcPts val="200"/>
              </a:spcAft>
              <a:buSzPct val="100000"/>
              <a:buChar char="•"/>
            </a:pPr>
            <a:r>
              <a:rPr lang="en-US" sz="1400" dirty="0">
                <a:solidFill>
                  <a:schemeClr val="tx1"/>
                </a:solidFill>
              </a:rPr>
              <a:t>숫자만 올리는 쉬운 꼼수가 없다</a:t>
            </a:r>
            <a:endParaRPr lang="en-US" sz="14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Ch2 · Secondary · Driver Metric</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Driver 지표는 Primary가 움직인 경로를 보여준다</a:t>
            </a:r>
            <a:endParaRPr lang="en-US" sz="2000" dirty="0"/>
          </a:p>
        </p:txBody>
      </p:sp>
      <p:sp>
        <p:nvSpPr>
          <p:cNvPr id="5" name="Text 2"/>
          <p:cNvSpPr txBox="1"/>
          <p:nvPr/>
        </p:nvSpPr>
        <p:spPr>
          <a:xfrm>
            <a:off x="640080" y="1783080"/>
            <a:ext cx="1965960" cy="822960"/>
          </a:xfrm>
          <a:prstGeom prst="rect">
            <a:avLst/>
          </a:prstGeom>
          <a:noFill/>
          <a:ln/>
        </p:spPr>
        <p:txBody>
          <a:bodyPr wrap="square" lIns="0" tIns="0" rIns="0" bIns="0" rtlCol="0" anchor="t"/>
          <a:lstStyle/>
          <a:p>
            <a:pPr indent="0" marL="0">
              <a:buNone/>
            </a:pPr>
            <a:r>
              <a:rPr lang="en-US" sz="1400" b="1" dirty="0">
                <a:solidFill>
                  <a:schemeClr val="tx2"/>
                </a:solidFill>
              </a:rPr>
              <a:t>Treatment</a:t>
            </a:r>
            <a:endParaRPr lang="en-US" sz="1500" dirty="0"/>
          </a:p>
          <a:p>
            <a:pPr indent="0" marL="0">
              <a:buNone/>
            </a:pPr>
            <a:r>
              <a:rPr lang="en-US" sz="1500" b="1" dirty="0">
                <a:solidFill>
                  <a:schemeClr val="tx1"/>
                </a:solidFill>
              </a:rPr>
              <a:t>개인화 추천 적용</a:t>
            </a:r>
            <a:endParaRPr lang="en-US" sz="1500" dirty="0"/>
          </a:p>
        </p:txBody>
      </p:sp>
      <p:sp>
        <p:nvSpPr>
          <p:cNvPr id="6" name="Shape 3"/>
          <p:cNvSpPr/>
          <p:nvPr/>
        </p:nvSpPr>
        <p:spPr>
          <a:xfrm>
            <a:off x="2468880" y="2331720"/>
            <a:ext cx="365760" cy="0"/>
          </a:xfrm>
          <a:prstGeom prst="line">
            <a:avLst/>
          </a:prstGeom>
          <a:noFill/>
          <a:ln w="19050">
            <a:solidFill>
              <a:srgbClr val="8A90A8"/>
            </a:solidFill>
            <a:prstDash val="solid"/>
            <a:tailEnd type="triangle"/>
          </a:ln>
        </p:spPr>
      </p:sp>
      <p:sp>
        <p:nvSpPr>
          <p:cNvPr id="7" name="Text 4"/>
          <p:cNvSpPr txBox="1"/>
          <p:nvPr/>
        </p:nvSpPr>
        <p:spPr>
          <a:xfrm>
            <a:off x="2889504" y="1783080"/>
            <a:ext cx="1965960" cy="822960"/>
          </a:xfrm>
          <a:prstGeom prst="rect">
            <a:avLst/>
          </a:prstGeom>
          <a:noFill/>
          <a:ln/>
        </p:spPr>
        <p:txBody>
          <a:bodyPr wrap="square" lIns="0" tIns="0" rIns="0" bIns="0" rtlCol="0" anchor="t"/>
          <a:lstStyle/>
          <a:p>
            <a:pPr indent="0" marL="0">
              <a:buNone/>
            </a:pPr>
            <a:r>
              <a:rPr lang="en-US" sz="1400" b="1" dirty="0">
                <a:solidFill>
                  <a:schemeClr val="accent2"/>
                </a:solidFill>
              </a:rPr>
              <a:t>Driver</a:t>
            </a:r>
            <a:endParaRPr lang="en-US" sz="1500" dirty="0"/>
          </a:p>
          <a:p>
            <a:pPr indent="0" marL="0">
              <a:buNone/>
            </a:pPr>
            <a:r>
              <a:rPr lang="en-US" sz="1500" b="1" dirty="0">
                <a:solidFill>
                  <a:schemeClr val="tx1"/>
                </a:solidFill>
              </a:rPr>
              <a:t>추천 CTR</a:t>
            </a:r>
            <a:endParaRPr lang="en-US" sz="1500" dirty="0"/>
          </a:p>
        </p:txBody>
      </p:sp>
      <p:sp>
        <p:nvSpPr>
          <p:cNvPr id="8" name="Shape 5"/>
          <p:cNvSpPr/>
          <p:nvPr/>
        </p:nvSpPr>
        <p:spPr>
          <a:xfrm>
            <a:off x="4718304" y="2331720"/>
            <a:ext cx="365760" cy="0"/>
          </a:xfrm>
          <a:prstGeom prst="line">
            <a:avLst/>
          </a:prstGeom>
          <a:noFill/>
          <a:ln w="19050">
            <a:solidFill>
              <a:srgbClr val="8A90A8"/>
            </a:solidFill>
            <a:prstDash val="solid"/>
            <a:tailEnd type="triangle"/>
          </a:ln>
        </p:spPr>
      </p:sp>
      <p:sp>
        <p:nvSpPr>
          <p:cNvPr id="9" name="Text 6"/>
          <p:cNvSpPr txBox="1"/>
          <p:nvPr/>
        </p:nvSpPr>
        <p:spPr>
          <a:xfrm>
            <a:off x="5138928" y="1783080"/>
            <a:ext cx="1965960" cy="822960"/>
          </a:xfrm>
          <a:prstGeom prst="rect">
            <a:avLst/>
          </a:prstGeom>
          <a:noFill/>
          <a:ln/>
        </p:spPr>
        <p:txBody>
          <a:bodyPr wrap="square" lIns="0" tIns="0" rIns="0" bIns="0" rtlCol="0" anchor="t"/>
          <a:lstStyle/>
          <a:p>
            <a:pPr indent="0" marL="0">
              <a:buNone/>
            </a:pPr>
            <a:r>
              <a:rPr lang="en-US" sz="1400" b="1" dirty="0">
                <a:solidFill>
                  <a:schemeClr val="accent2"/>
                </a:solidFill>
              </a:rPr>
              <a:t>Driver</a:t>
            </a:r>
            <a:endParaRPr lang="en-US" sz="1500" dirty="0"/>
          </a:p>
          <a:p>
            <a:pPr indent="0" marL="0">
              <a:buNone/>
            </a:pPr>
            <a:r>
              <a:rPr lang="en-US" sz="1500" b="1" dirty="0">
                <a:solidFill>
                  <a:schemeClr val="tx1"/>
                </a:solidFill>
              </a:rPr>
              <a:t>상세페이지 도달률</a:t>
            </a:r>
            <a:endParaRPr lang="en-US" sz="1500" dirty="0"/>
          </a:p>
        </p:txBody>
      </p:sp>
      <p:sp>
        <p:nvSpPr>
          <p:cNvPr id="10" name="Shape 7"/>
          <p:cNvSpPr/>
          <p:nvPr/>
        </p:nvSpPr>
        <p:spPr>
          <a:xfrm>
            <a:off x="6967728" y="2331720"/>
            <a:ext cx="365760" cy="0"/>
          </a:xfrm>
          <a:prstGeom prst="line">
            <a:avLst/>
          </a:prstGeom>
          <a:noFill/>
          <a:ln w="19050">
            <a:solidFill>
              <a:srgbClr val="8A90A8"/>
            </a:solidFill>
            <a:prstDash val="solid"/>
            <a:tailEnd type="triangle"/>
          </a:ln>
        </p:spPr>
      </p:sp>
      <p:sp>
        <p:nvSpPr>
          <p:cNvPr id="11" name="Text 8"/>
          <p:cNvSpPr txBox="1"/>
          <p:nvPr/>
        </p:nvSpPr>
        <p:spPr>
          <a:xfrm>
            <a:off x="7388352" y="1783080"/>
            <a:ext cx="1965960" cy="822960"/>
          </a:xfrm>
          <a:prstGeom prst="rect">
            <a:avLst/>
          </a:prstGeom>
          <a:noFill/>
          <a:ln/>
        </p:spPr>
        <p:txBody>
          <a:bodyPr wrap="square" lIns="0" tIns="0" rIns="0" bIns="0" rtlCol="0" anchor="t"/>
          <a:lstStyle/>
          <a:p>
            <a:pPr indent="0" marL="0">
              <a:buNone/>
            </a:pPr>
            <a:r>
              <a:rPr lang="en-US" sz="1400" b="1" dirty="0">
                <a:solidFill>
                  <a:schemeClr val="accent2"/>
                </a:solidFill>
              </a:rPr>
              <a:t>Driver</a:t>
            </a:r>
            <a:endParaRPr lang="en-US" sz="1500" dirty="0"/>
          </a:p>
          <a:p>
            <a:pPr indent="0" marL="0">
              <a:buNone/>
            </a:pPr>
            <a:r>
              <a:rPr lang="en-US" sz="1500" b="1" dirty="0">
                <a:solidFill>
                  <a:schemeClr val="tx1"/>
                </a:solidFill>
              </a:rPr>
              <a:t>장바구니 추가율</a:t>
            </a:r>
            <a:endParaRPr lang="en-US" sz="1500" dirty="0"/>
          </a:p>
        </p:txBody>
      </p:sp>
      <p:sp>
        <p:nvSpPr>
          <p:cNvPr id="12" name="Shape 9"/>
          <p:cNvSpPr/>
          <p:nvPr/>
        </p:nvSpPr>
        <p:spPr>
          <a:xfrm>
            <a:off x="9217152" y="2331720"/>
            <a:ext cx="365760" cy="0"/>
          </a:xfrm>
          <a:prstGeom prst="line">
            <a:avLst/>
          </a:prstGeom>
          <a:noFill/>
          <a:ln w="19050">
            <a:solidFill>
              <a:srgbClr val="8A90A8"/>
            </a:solidFill>
            <a:prstDash val="solid"/>
            <a:tailEnd type="triangle"/>
          </a:ln>
        </p:spPr>
      </p:sp>
      <p:sp>
        <p:nvSpPr>
          <p:cNvPr id="13" name="Text 10"/>
          <p:cNvSpPr txBox="1"/>
          <p:nvPr/>
        </p:nvSpPr>
        <p:spPr>
          <a:xfrm>
            <a:off x="9637776" y="1783080"/>
            <a:ext cx="1965960" cy="822960"/>
          </a:xfrm>
          <a:prstGeom prst="rect">
            <a:avLst/>
          </a:prstGeom>
          <a:noFill/>
          <a:ln/>
        </p:spPr>
        <p:txBody>
          <a:bodyPr wrap="square" lIns="0" tIns="0" rIns="0" bIns="0" rtlCol="0" anchor="t"/>
          <a:lstStyle/>
          <a:p>
            <a:pPr indent="0" marL="0">
              <a:buNone/>
            </a:pPr>
            <a:r>
              <a:rPr lang="en-US" sz="1400" b="1" dirty="0">
                <a:solidFill>
                  <a:schemeClr val="accent1"/>
                </a:solidFill>
              </a:rPr>
              <a:t>Primary</a:t>
            </a:r>
            <a:endParaRPr lang="en-US" sz="1500" dirty="0"/>
          </a:p>
          <a:p>
            <a:pPr indent="0" marL="0">
              <a:buNone/>
            </a:pPr>
            <a:r>
              <a:rPr lang="en-US" sz="1500" b="1" dirty="0">
                <a:solidFill>
                  <a:schemeClr val="tx1"/>
                </a:solidFill>
              </a:rPr>
              <a:t>구매전환율</a:t>
            </a:r>
            <a:endParaRPr lang="en-US" sz="15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40080" y="2971800"/>
          <a:ext cx="6949440" cy="914400"/>
        </p:xfrm>
        <a:graphic>
          <a:graphicData uri="http://schemas.openxmlformats.org/drawingml/2006/table">
            <a:tbl>
              <a:tblPr/>
              <a:tblGrid>
                <a:gridCol w="1645920"/>
                <a:gridCol w="2651760"/>
                <a:gridCol w="2651760"/>
              </a:tblGrid>
              <a:tr h="457200">
                <a:tc>
                  <a:txBody>
                    <a:bodyPr/>
                    <a:lstStyle/>
                    <a:p>
                      <a:pPr indent="0" marL="0">
                        <a:buNone/>
                      </a:pPr>
                      <a:endParaRPr lang="en-US" sz="14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400" b="1" dirty="0">
                          <a:solidFill>
                            <a:srgbClr val="555C7A"/>
                          </a:solidFill>
                        </a:rPr>
                        <a:t>Secondary</a:t>
                      </a:r>
                      <a:endParaRPr lang="en-US" sz="14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400" b="1" dirty="0">
                          <a:solidFill>
                            <a:srgbClr val="555C7A"/>
                          </a:solidFill>
                        </a:rPr>
                        <a:t>Driver</a:t>
                      </a:r>
                      <a:endParaRPr lang="en-US" sz="14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r>
              <a:tr h="457200">
                <a:tc>
                  <a:txBody>
                    <a:bodyPr/>
                    <a:lstStyle/>
                    <a:p>
                      <a:pPr indent="0" marL="0">
                        <a:buNone/>
                      </a:pPr>
                      <a:r>
                        <a:rPr lang="en-US" sz="1500" b="1" dirty="0">
                          <a:solidFill>
                            <a:srgbClr val="1B1F3B"/>
                          </a:solidFill>
                        </a:rPr>
                        <a:t>핵심 질문</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또 어떤 변화가 있었나?</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왜 Primary가 움직였나?</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457200">
                <a:tc>
                  <a:txBody>
                    <a:bodyPr/>
                    <a:lstStyle/>
                    <a:p>
                      <a:pPr indent="0" marL="0">
                        <a:buNone/>
                      </a:pPr>
                      <a:r>
                        <a:rPr lang="en-US" sz="1500" b="1" dirty="0">
                          <a:solidFill>
                            <a:srgbClr val="1B1F3B"/>
                          </a:solidFill>
                        </a:rPr>
                        <a:t>역할</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보조 Outcome</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메커니즘 설명</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457200">
                <a:tc>
                  <a:txBody>
                    <a:bodyPr/>
                    <a:lstStyle/>
                    <a:p>
                      <a:pPr indent="0" marL="0">
                        <a:buNone/>
                      </a:pPr>
                      <a:r>
                        <a:rPr lang="en-US" sz="1500" b="1" dirty="0">
                          <a:solidFill>
                            <a:srgbClr val="1B1F3B"/>
                          </a:solidFill>
                        </a:rPr>
                        <a:t>예</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평균 주문액, 세션 시간</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추천 CTR, 상세 조회율</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bl>
          </a:graphicData>
        </a:graphic>
      </p:graphicFrame>
      <p:sp>
        <p:nvSpPr>
          <p:cNvPr id="15" name="Text 11"/>
          <p:cNvSpPr txBox="1"/>
          <p:nvPr/>
        </p:nvSpPr>
        <p:spPr>
          <a:xfrm>
            <a:off x="7955280" y="2971800"/>
            <a:ext cx="3611880" cy="2560320"/>
          </a:xfrm>
          <a:prstGeom prst="rect">
            <a:avLst/>
          </a:prstGeom>
          <a:noFill/>
          <a:ln/>
        </p:spPr>
        <p:txBody>
          <a:bodyPr wrap="square" lIns="0" tIns="0" rIns="0" bIns="0" rtlCol="0" anchor="t"/>
          <a:lstStyle/>
          <a:p>
            <a:pPr indent="0" marL="0">
              <a:buNone/>
            </a:pPr>
            <a:r>
              <a:rPr lang="en-US" sz="1500" b="1" dirty="0">
                <a:solidFill>
                  <a:schemeClr val="accent4"/>
                </a:solidFill>
              </a:rPr>
              <a:t>주의 1</a:t>
            </a:r>
            <a:endParaRPr lang="en-US" sz="1500" dirty="0"/>
          </a:p>
          <a:p>
            <a:pPr indent="0" marL="0">
              <a:spcAft>
                <a:spcPts val="1200"/>
              </a:spcAft>
              <a:buNone/>
            </a:pPr>
            <a:r>
              <a:rPr lang="en-US" sz="1500" dirty="0">
                <a:solidFill>
                  <a:schemeClr val="tx1"/>
                </a:solidFill>
              </a:rPr>
              <a:t>Driver는 진단용입니다. 중간 단계의 인과를 증명하지 않습니다</a:t>
            </a:r>
            <a:endParaRPr lang="en-US" sz="1500" dirty="0"/>
          </a:p>
          <a:p>
            <a:pPr indent="0" marL="0">
              <a:buNone/>
            </a:pPr>
            <a:r>
              <a:rPr lang="en-US" sz="1500" b="1" dirty="0">
                <a:solidFill>
                  <a:schemeClr val="accent4"/>
                </a:solidFill>
              </a:rPr>
              <a:t>주의 2</a:t>
            </a:r>
            <a:endParaRPr lang="en-US" sz="1500" dirty="0"/>
          </a:p>
          <a:p>
            <a:pPr indent="0" marL="0">
              <a:buNone/>
            </a:pPr>
            <a:r>
              <a:rPr lang="en-US" sz="1500" dirty="0">
                <a:solidFill>
                  <a:schemeClr val="tx1"/>
                </a:solidFill>
              </a:rPr>
              <a:t>Secondary가 많을수록 우연히 '유의'가 나옵니다. 메커니즘에 따라 미리 고릅니다</a:t>
            </a:r>
            <a:endParaRPr lang="en-US" sz="15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Ch2 · 비율 지표</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CTR이 올랐다: 더 눌러서인가, 덜 보여줘서인가</a:t>
            </a:r>
            <a:endParaRPr lang="en-US" sz="20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40080" y="1828800"/>
          <a:ext cx="6400800" cy="914400"/>
        </p:xfrm>
        <a:graphic>
          <a:graphicData uri="http://schemas.openxmlformats.org/drawingml/2006/table">
            <a:tbl>
              <a:tblPr/>
              <a:tblGrid>
                <a:gridCol w="1737360"/>
                <a:gridCol w="1554480"/>
                <a:gridCol w="1554480"/>
                <a:gridCol w="1554480"/>
              </a:tblGrid>
              <a:tr h="548640">
                <a:tc>
                  <a:txBody>
                    <a:bodyPr/>
                    <a:lstStyle/>
                    <a:p>
                      <a:pPr indent="0" marL="0">
                        <a:buNone/>
                      </a:pPr>
                      <a:endParaRPr lang="en-US" sz="14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400" b="1" dirty="0">
                          <a:solidFill>
                            <a:srgbClr val="555C7A"/>
                          </a:solidFill>
                        </a:rPr>
                        <a:t>노출 (분모)</a:t>
                      </a:r>
                      <a:endParaRPr lang="en-US" sz="14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400" b="1" dirty="0">
                          <a:solidFill>
                            <a:srgbClr val="555C7A"/>
                          </a:solidFill>
                        </a:rPr>
                        <a:t>클릭 (분자)</a:t>
                      </a:r>
                      <a:endParaRPr lang="en-US" sz="14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400" b="1" dirty="0">
                          <a:solidFill>
                            <a:srgbClr val="555C7A"/>
                          </a:solidFill>
                        </a:rPr>
                        <a:t>CTR</a:t>
                      </a:r>
                      <a:endParaRPr lang="en-US" sz="14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r>
              <a:tr h="548640">
                <a:tc>
                  <a:txBody>
                    <a:bodyPr/>
                    <a:lstStyle/>
                    <a:p>
                      <a:pPr indent="0" marL="0">
                        <a:buNone/>
                      </a:pPr>
                      <a:r>
                        <a:rPr lang="en-US" sz="2000" b="1" dirty="0">
                          <a:solidFill>
                            <a:srgbClr val="1B1F3B"/>
                          </a:solidFill>
                        </a:rPr>
                        <a:t>A 대조군</a:t>
                      </a:r>
                      <a:endParaRPr lang="en-US" sz="20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2000" dirty="0">
                          <a:solidFill>
                            <a:srgbClr val="1B1F3B"/>
                          </a:solidFill>
                        </a:rPr>
                        <a:t>100</a:t>
                      </a:r>
                      <a:endParaRPr lang="en-US" sz="20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2000" dirty="0">
                          <a:solidFill>
                            <a:srgbClr val="1B1F3B"/>
                          </a:solidFill>
                        </a:rPr>
                        <a:t>12.0</a:t>
                      </a:r>
                      <a:endParaRPr lang="en-US" sz="20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2000" b="1" dirty="0">
                          <a:solidFill>
                            <a:srgbClr val="1B1F3B"/>
                          </a:solidFill>
                        </a:rPr>
                        <a:t>12.0%</a:t>
                      </a:r>
                      <a:endParaRPr lang="en-US" sz="20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548640">
                <a:tc>
                  <a:txBody>
                    <a:bodyPr/>
                    <a:lstStyle/>
                    <a:p>
                      <a:pPr indent="0" marL="0">
                        <a:buNone/>
                      </a:pPr>
                      <a:r>
                        <a:rPr lang="en-US" sz="2000" b="1" dirty="0">
                          <a:solidFill>
                            <a:srgbClr val="1B1F3B"/>
                          </a:solidFill>
                        </a:rPr>
                        <a:t>B 실험군</a:t>
                      </a:r>
                      <a:endParaRPr lang="en-US" sz="20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2000" dirty="0">
                          <a:solidFill>
                            <a:srgbClr val="1B1F3B"/>
                          </a:solidFill>
                        </a:rPr>
                        <a:t>75</a:t>
                      </a:r>
                      <a:endParaRPr lang="en-US" sz="20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2000" dirty="0">
                          <a:solidFill>
                            <a:srgbClr val="1B1F3B"/>
                          </a:solidFill>
                        </a:rPr>
                        <a:t>11.5</a:t>
                      </a:r>
                      <a:endParaRPr lang="en-US" sz="20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2000" b="1" dirty="0">
                          <a:solidFill>
                            <a:srgbClr val="3A5BFF"/>
                          </a:solidFill>
                        </a:rPr>
                        <a:t>15.3%</a:t>
                      </a:r>
                      <a:endParaRPr lang="en-US" sz="20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548640">
                <a:tc>
                  <a:txBody>
                    <a:bodyPr/>
                    <a:lstStyle/>
                    <a:p>
                      <a:pPr indent="0" marL="0">
                        <a:buNone/>
                      </a:pPr>
                      <a:r>
                        <a:rPr lang="en-US" sz="2000" b="1" dirty="0">
                          <a:solidFill>
                            <a:srgbClr val="1B1F3B"/>
                          </a:solidFill>
                        </a:rPr>
                        <a:t>변화</a:t>
                      </a:r>
                      <a:endParaRPr lang="en-US" sz="20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2000" b="1" dirty="0">
                          <a:solidFill>
                            <a:srgbClr val="B87700"/>
                          </a:solidFill>
                        </a:rPr>
                        <a:t>-25%</a:t>
                      </a:r>
                      <a:endParaRPr lang="en-US" sz="20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2000" b="1" dirty="0">
                          <a:solidFill>
                            <a:srgbClr val="D93B41"/>
                          </a:solidFill>
                        </a:rPr>
                        <a:t>-4%</a:t>
                      </a:r>
                      <a:endParaRPr lang="en-US" sz="20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2000" b="1" dirty="0">
                          <a:solidFill>
                            <a:srgbClr val="3A5BFF"/>
                          </a:solidFill>
                        </a:rPr>
                        <a:t>+3.3%p</a:t>
                      </a:r>
                      <a:endParaRPr lang="en-US" sz="20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bl>
          </a:graphicData>
        </a:graphic>
      </p:graphicFrame>
      <p:sp>
        <p:nvSpPr>
          <p:cNvPr id="6" name="Text 2"/>
          <p:cNvSpPr txBox="1"/>
          <p:nvPr/>
        </p:nvSpPr>
        <p:spPr>
          <a:xfrm>
            <a:off x="640080" y="4114800"/>
            <a:ext cx="6400800" cy="320040"/>
          </a:xfrm>
          <a:prstGeom prst="rect">
            <a:avLst/>
          </a:prstGeom>
          <a:noFill/>
          <a:ln/>
        </p:spPr>
        <p:txBody>
          <a:bodyPr wrap="square" lIns="0" tIns="0" rIns="0" bIns="0" rtlCol="0" anchor="t"/>
          <a:lstStyle/>
          <a:p>
            <a:pPr indent="0" marL="0">
              <a:buNone/>
            </a:pPr>
            <a:r>
              <a:rPr lang="en-US" sz="1400" dirty="0">
                <a:solidFill>
                  <a:schemeClr val="accent6"/>
                </a:solidFill>
              </a:rPr>
              <a:t>사용자 1명당 · 반응이 낮던 노출 25개를 뺀 경우 (교육용 예시)</a:t>
            </a:r>
            <a:endParaRPr lang="en-US" sz="1400" dirty="0"/>
          </a:p>
        </p:txBody>
      </p:sp>
      <p:sp>
        <p:nvSpPr>
          <p:cNvPr id="7" name="Text 3"/>
          <p:cNvSpPr txBox="1"/>
          <p:nvPr/>
        </p:nvSpPr>
        <p:spPr>
          <a:xfrm>
            <a:off x="7498080" y="1828800"/>
            <a:ext cx="4069080" cy="3931920"/>
          </a:xfrm>
          <a:prstGeom prst="rect">
            <a:avLst/>
          </a:prstGeom>
          <a:noFill/>
          <a:ln/>
        </p:spPr>
        <p:txBody>
          <a:bodyPr wrap="square" lIns="0" tIns="0" rIns="0" bIns="0" rtlCol="0" anchor="t"/>
          <a:lstStyle/>
          <a:p>
            <a:pPr indent="0" marL="0">
              <a:spcAft>
                <a:spcPts val="800"/>
              </a:spcAft>
              <a:buNone/>
            </a:pPr>
            <a:r>
              <a:rPr lang="en-US" sz="2000" b="1" dirty="0">
                <a:solidFill>
                  <a:schemeClr val="tx1"/>
                </a:solidFill>
              </a:rPr>
              <a:t>CTR 변화 = 두 효과의 합</a:t>
            </a:r>
            <a:endParaRPr lang="en-US" sz="1500" dirty="0"/>
          </a:p>
          <a:p>
            <a:pPr indent="0" marL="0">
              <a:buNone/>
            </a:pPr>
            <a:r>
              <a:rPr lang="en-US" sz="1500" b="1" dirty="0">
                <a:solidFill>
                  <a:schemeClr val="accent5"/>
                </a:solidFill>
              </a:rPr>
              <a:t>구성 효과  </a:t>
            </a:r>
            <a:pPr indent="0" marL="0">
              <a:spcAft>
                <a:spcPts val="600"/>
              </a:spcAft>
              <a:buNone/>
            </a:pPr>
            <a:r>
              <a:rPr lang="en-US" sz="1500" dirty="0">
                <a:solidFill>
                  <a:schemeClr val="tx1"/>
                </a:solidFill>
              </a:rPr>
              <a:t>원래 안 누르던 노출이 분모에서 빠짐</a:t>
            </a:r>
            <a:endParaRPr lang="en-US" sz="1500" dirty="0"/>
          </a:p>
          <a:p>
            <a:pPr indent="0" marL="0">
              <a:buNone/>
            </a:pPr>
            <a:r>
              <a:rPr lang="en-US" sz="1500" b="1" dirty="0">
                <a:solidFill>
                  <a:schemeClr val="accent1"/>
                </a:solidFill>
              </a:rPr>
              <a:t>행동 효과  </a:t>
            </a:r>
            <a:pPr indent="0" marL="0">
              <a:spcAft>
                <a:spcPts val="1400"/>
              </a:spcAft>
              <a:buNone/>
            </a:pPr>
            <a:r>
              <a:rPr lang="en-US" sz="1500" dirty="0">
                <a:solidFill>
                  <a:schemeClr val="tx1"/>
                </a:solidFill>
              </a:rPr>
              <a:t>남은 노출에 실제로 더 반응함</a:t>
            </a:r>
            <a:endParaRPr lang="en-US" sz="1500" dirty="0"/>
          </a:p>
          <a:p>
            <a:pPr indent="0" marL="0">
              <a:buNone/>
            </a:pPr>
            <a:r>
              <a:rPr lang="en-US" sz="1500" b="1" dirty="0">
                <a:solidFill>
                  <a:schemeClr val="tx1"/>
                </a:solidFill>
              </a:rPr>
              <a:t>처방</a:t>
            </a:r>
            <a:endParaRPr lang="en-US" sz="1500" dirty="0"/>
          </a:p>
          <a:p>
            <a:pPr marL="342900" indent="-342900">
              <a:buSzPct val="100000"/>
              <a:buChar char="•"/>
            </a:pPr>
            <a:r>
              <a:rPr lang="en-US" sz="1500" dirty="0">
                <a:solidFill>
                  <a:schemeClr val="tx1"/>
                </a:solidFill>
              </a:rPr>
              <a:t>분자·분모를 따로 지표로 둔다 (인당 클릭, 인당 노출)</a:t>
            </a:r>
            <a:endParaRPr lang="en-US" sz="1500" dirty="0"/>
          </a:p>
          <a:p>
            <a:pPr marL="342900" indent="-342900">
              <a:buSzPct val="100000"/>
              <a:buChar char="•"/>
            </a:pPr>
            <a:r>
              <a:rPr lang="en-US" sz="1500" dirty="0">
                <a:solidFill>
                  <a:schemeClr val="tx1"/>
                </a:solidFill>
              </a:rPr>
              <a:t>배정은 사용자, 분석은 노출 단위면 Delta Method</a:t>
            </a:r>
            <a:endParaRPr lang="en-US" sz="1500" dirty="0"/>
          </a:p>
        </p:txBody>
      </p:sp>
      <p:sp>
        <p:nvSpPr>
          <p:cNvPr id="8" name="Text 4"/>
          <p:cNvSpPr txBox="1"/>
          <p:nvPr/>
        </p:nvSpPr>
        <p:spPr>
          <a:xfrm>
            <a:off x="640080" y="4937760"/>
            <a:ext cx="6583680" cy="731520"/>
          </a:xfrm>
          <a:prstGeom prst="rect">
            <a:avLst/>
          </a:prstGeom>
          <a:noFill/>
          <a:ln/>
        </p:spPr>
        <p:txBody>
          <a:bodyPr wrap="square" lIns="0" tIns="0" rIns="0" bIns="0" rtlCol="0" anchor="t"/>
          <a:lstStyle/>
          <a:p>
            <a:pPr indent="0" marL="0">
              <a:buNone/>
            </a:pPr>
            <a:r>
              <a:rPr lang="en-US" sz="1500" b="1" dirty="0">
                <a:solidFill>
                  <a:schemeClr val="accent1"/>
                </a:solidFill>
              </a:rPr>
              <a:t>실무에서 이렇게 말한다  </a:t>
            </a:r>
            <a:pPr indent="0" marL="0">
              <a:buNone/>
            </a:pPr>
            <a:r>
              <a:rPr lang="en-US" sz="1500" dirty="0">
                <a:solidFill>
                  <a:schemeClr val="tx1"/>
                </a:solidFill>
              </a:rPr>
              <a:t>"CTR은 올랐지만 인당 클릭은 줄었습니다. 덜 보여줘서 오른 것입니다"</a:t>
            </a:r>
            <a:endParaRPr lang="en-US" sz="15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Ch2 · Guardrail Metric</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가드레일은 개선 대상이 아니라 침범 금지선이다</a:t>
            </a:r>
            <a:endParaRPr lang="en-US" sz="2000" dirty="0"/>
          </a:p>
        </p:txBody>
      </p:sp>
      <p:sp>
        <p:nvSpPr>
          <p:cNvPr id="5" name="Text 2"/>
          <p:cNvSpPr txBox="1"/>
          <p:nvPr/>
        </p:nvSpPr>
        <p:spPr>
          <a:xfrm>
            <a:off x="640080" y="1828800"/>
            <a:ext cx="2560320" cy="2103120"/>
          </a:xfrm>
          <a:prstGeom prst="rect">
            <a:avLst/>
          </a:prstGeom>
          <a:noFill/>
          <a:ln/>
        </p:spPr>
        <p:txBody>
          <a:bodyPr wrap="square" lIns="0" tIns="0" rIns="0" bIns="0" rtlCol="0" anchor="t"/>
          <a:lstStyle/>
          <a:p>
            <a:pPr indent="0" marL="0">
              <a:spcAft>
                <a:spcPts val="800"/>
              </a:spcAft>
              <a:buNone/>
            </a:pPr>
            <a:r>
              <a:rPr lang="en-US" sz="2000" b="1" dirty="0">
                <a:solidFill>
                  <a:schemeClr val="accent4"/>
                </a:solidFill>
              </a:rPr>
              <a:t>사용자 경험</a:t>
            </a:r>
            <a:endParaRPr lang="en-US" sz="1500" dirty="0"/>
          </a:p>
          <a:p>
            <a:pPr marL="342900" indent="-342900">
              <a:spcAft>
                <a:spcPts val="600"/>
              </a:spcAft>
              <a:buSzPct val="100000"/>
              <a:buChar char="•"/>
            </a:pPr>
            <a:r>
              <a:rPr lang="en-US" sz="1500" dirty="0">
                <a:solidFill>
                  <a:schemeClr val="tx1"/>
                </a:solidFill>
              </a:rPr>
              <a:t>이탈률</a:t>
            </a:r>
            <a:endParaRPr lang="en-US" sz="1500" dirty="0"/>
          </a:p>
          <a:p>
            <a:pPr marL="342900" indent="-342900">
              <a:spcAft>
                <a:spcPts val="600"/>
              </a:spcAft>
              <a:buSzPct val="100000"/>
              <a:buChar char="•"/>
            </a:pPr>
            <a:r>
              <a:rPr lang="en-US" sz="1500" dirty="0">
                <a:solidFill>
                  <a:schemeClr val="tx1"/>
                </a:solidFill>
              </a:rPr>
              <a:t>앱 삭제율</a:t>
            </a:r>
            <a:endParaRPr lang="en-US" sz="1500" dirty="0"/>
          </a:p>
          <a:p>
            <a:pPr marL="342900" indent="-342900">
              <a:spcAft>
                <a:spcPts val="600"/>
              </a:spcAft>
              <a:buSzPct val="100000"/>
              <a:buChar char="•"/>
            </a:pPr>
            <a:r>
              <a:rPr lang="en-US" sz="1500" dirty="0">
                <a:solidFill>
                  <a:schemeClr val="tx1"/>
                </a:solidFill>
              </a:rPr>
              <a:t>알림 차단율</a:t>
            </a:r>
            <a:endParaRPr lang="en-US" sz="1500" dirty="0"/>
          </a:p>
        </p:txBody>
      </p:sp>
      <p:sp>
        <p:nvSpPr>
          <p:cNvPr id="6" name="Text 3"/>
          <p:cNvSpPr txBox="1"/>
          <p:nvPr/>
        </p:nvSpPr>
        <p:spPr>
          <a:xfrm>
            <a:off x="3429000" y="1828800"/>
            <a:ext cx="2560320" cy="2103120"/>
          </a:xfrm>
          <a:prstGeom prst="rect">
            <a:avLst/>
          </a:prstGeom>
          <a:noFill/>
          <a:ln/>
        </p:spPr>
        <p:txBody>
          <a:bodyPr wrap="square" lIns="0" tIns="0" rIns="0" bIns="0" rtlCol="0" anchor="t"/>
          <a:lstStyle/>
          <a:p>
            <a:pPr indent="0" marL="0">
              <a:spcAft>
                <a:spcPts val="800"/>
              </a:spcAft>
              <a:buNone/>
            </a:pPr>
            <a:r>
              <a:rPr lang="en-US" sz="2000" b="1" dirty="0">
                <a:solidFill>
                  <a:schemeClr val="accent5"/>
                </a:solidFill>
              </a:rPr>
              <a:t>제품 안정성</a:t>
            </a:r>
            <a:endParaRPr lang="en-US" sz="1500" dirty="0"/>
          </a:p>
          <a:p>
            <a:pPr marL="342900" indent="-342900">
              <a:spcAft>
                <a:spcPts val="600"/>
              </a:spcAft>
              <a:buSzPct val="100000"/>
              <a:buChar char="•"/>
            </a:pPr>
            <a:r>
              <a:rPr lang="en-US" sz="1500" dirty="0">
                <a:solidFill>
                  <a:schemeClr val="tx1"/>
                </a:solidFill>
              </a:rPr>
              <a:t>오류율</a:t>
            </a:r>
            <a:endParaRPr lang="en-US" sz="1500" dirty="0"/>
          </a:p>
          <a:p>
            <a:pPr marL="342900" indent="-342900">
              <a:spcAft>
                <a:spcPts val="600"/>
              </a:spcAft>
              <a:buSzPct val="100000"/>
              <a:buChar char="•"/>
            </a:pPr>
            <a:r>
              <a:rPr lang="en-US" sz="1500" dirty="0">
                <a:solidFill>
                  <a:schemeClr val="tx1"/>
                </a:solidFill>
              </a:rPr>
              <a:t>Crash Rate</a:t>
            </a:r>
            <a:endParaRPr lang="en-US" sz="1500" dirty="0"/>
          </a:p>
          <a:p>
            <a:pPr marL="342900" indent="-342900">
              <a:spcAft>
                <a:spcPts val="600"/>
              </a:spcAft>
              <a:buSzPct val="100000"/>
              <a:buChar char="•"/>
            </a:pPr>
            <a:r>
              <a:rPr lang="en-US" sz="1500" dirty="0">
                <a:solidFill>
                  <a:schemeClr val="tx1"/>
                </a:solidFill>
              </a:rPr>
              <a:t>페이지 로딩 시간</a:t>
            </a:r>
            <a:endParaRPr lang="en-US" sz="1500" dirty="0"/>
          </a:p>
        </p:txBody>
      </p:sp>
      <p:sp>
        <p:nvSpPr>
          <p:cNvPr id="7" name="Text 4"/>
          <p:cNvSpPr txBox="1"/>
          <p:nvPr/>
        </p:nvSpPr>
        <p:spPr>
          <a:xfrm>
            <a:off x="6217920" y="1828800"/>
            <a:ext cx="2560320" cy="2103120"/>
          </a:xfrm>
          <a:prstGeom prst="rect">
            <a:avLst/>
          </a:prstGeom>
          <a:noFill/>
          <a:ln/>
        </p:spPr>
        <p:txBody>
          <a:bodyPr wrap="square" lIns="0" tIns="0" rIns="0" bIns="0" rtlCol="0" anchor="t"/>
          <a:lstStyle/>
          <a:p>
            <a:pPr indent="0" marL="0">
              <a:spcAft>
                <a:spcPts val="800"/>
              </a:spcAft>
              <a:buNone/>
            </a:pPr>
            <a:r>
              <a:rPr lang="en-US" sz="2000" b="1" dirty="0">
                <a:solidFill>
                  <a:schemeClr val="accent1"/>
                </a:solidFill>
              </a:rPr>
              <a:t>비즈니스 안정성</a:t>
            </a:r>
            <a:endParaRPr lang="en-US" sz="1500" dirty="0"/>
          </a:p>
          <a:p>
            <a:pPr marL="342900" indent="-342900">
              <a:spcAft>
                <a:spcPts val="600"/>
              </a:spcAft>
              <a:buSzPct val="100000"/>
              <a:buChar char="•"/>
            </a:pPr>
            <a:r>
              <a:rPr lang="en-US" sz="1500" dirty="0">
                <a:solidFill>
                  <a:schemeClr val="tx1"/>
                </a:solidFill>
              </a:rPr>
              <a:t>매출, 평균 주문 금액</a:t>
            </a:r>
            <a:endParaRPr lang="en-US" sz="1500" dirty="0"/>
          </a:p>
          <a:p>
            <a:pPr marL="342900" indent="-342900">
              <a:spcAft>
                <a:spcPts val="600"/>
              </a:spcAft>
              <a:buSzPct val="100000"/>
              <a:buChar char="•"/>
            </a:pPr>
            <a:r>
              <a:rPr lang="en-US" sz="1500" dirty="0">
                <a:solidFill>
                  <a:schemeClr val="tx1"/>
                </a:solidFill>
              </a:rPr>
              <a:t>취소율</a:t>
            </a:r>
            <a:endParaRPr lang="en-US" sz="1500" dirty="0"/>
          </a:p>
          <a:p>
            <a:pPr marL="342900" indent="-342900">
              <a:spcAft>
                <a:spcPts val="600"/>
              </a:spcAft>
              <a:buSzPct val="100000"/>
              <a:buChar char="•"/>
            </a:pPr>
            <a:r>
              <a:rPr lang="en-US" sz="1500" dirty="0">
                <a:solidFill>
                  <a:schemeClr val="tx1"/>
                </a:solidFill>
              </a:rPr>
              <a:t>환불률</a:t>
            </a:r>
            <a:endParaRPr lang="en-US" sz="1500" dirty="0"/>
          </a:p>
        </p:txBody>
      </p:sp>
      <p:sp>
        <p:nvSpPr>
          <p:cNvPr id="8" name="Text 5"/>
          <p:cNvSpPr txBox="1"/>
          <p:nvPr/>
        </p:nvSpPr>
        <p:spPr>
          <a:xfrm>
            <a:off x="9006840" y="1828800"/>
            <a:ext cx="2560320" cy="2103120"/>
          </a:xfrm>
          <a:prstGeom prst="rect">
            <a:avLst/>
          </a:prstGeom>
          <a:noFill/>
          <a:ln/>
        </p:spPr>
        <p:txBody>
          <a:bodyPr wrap="square" lIns="0" tIns="0" rIns="0" bIns="0" rtlCol="0" anchor="t"/>
          <a:lstStyle/>
          <a:p>
            <a:pPr indent="0" marL="0">
              <a:spcAft>
                <a:spcPts val="800"/>
              </a:spcAft>
              <a:buNone/>
            </a:pPr>
            <a:r>
              <a:rPr lang="en-US" sz="2000" b="1" dirty="0">
                <a:solidFill>
                  <a:schemeClr val="accent2"/>
                </a:solidFill>
              </a:rPr>
              <a:t>장기 가치</a:t>
            </a:r>
            <a:endParaRPr lang="en-US" sz="1500" dirty="0"/>
          </a:p>
          <a:p>
            <a:pPr marL="342900" indent="-342900">
              <a:spcAft>
                <a:spcPts val="600"/>
              </a:spcAft>
              <a:buSzPct val="100000"/>
              <a:buChar char="•"/>
            </a:pPr>
            <a:r>
              <a:rPr lang="en-US" sz="1500" dirty="0">
                <a:solidFill>
                  <a:schemeClr val="tx1"/>
                </a:solidFill>
              </a:rPr>
              <a:t>재방문율</a:t>
            </a:r>
            <a:endParaRPr lang="en-US" sz="1500" dirty="0"/>
          </a:p>
          <a:p>
            <a:pPr marL="342900" indent="-342900">
              <a:spcAft>
                <a:spcPts val="600"/>
              </a:spcAft>
              <a:buSzPct val="100000"/>
              <a:buChar char="•"/>
            </a:pPr>
            <a:r>
              <a:rPr lang="en-US" sz="1500" dirty="0">
                <a:solidFill>
                  <a:schemeClr val="tx1"/>
                </a:solidFill>
              </a:rPr>
              <a:t>재구매율</a:t>
            </a:r>
            <a:endParaRPr lang="en-US" sz="1500" dirty="0"/>
          </a:p>
        </p:txBody>
      </p:sp>
      <p:sp>
        <p:nvSpPr>
          <p:cNvPr id="9" name="Text 6"/>
          <p:cNvSpPr txBox="1"/>
          <p:nvPr/>
        </p:nvSpPr>
        <p:spPr>
          <a:xfrm>
            <a:off x="640080" y="4343400"/>
            <a:ext cx="10911535" cy="640080"/>
          </a:xfrm>
          <a:prstGeom prst="rect">
            <a:avLst/>
          </a:prstGeom>
          <a:noFill/>
          <a:ln/>
        </p:spPr>
        <p:txBody>
          <a:bodyPr wrap="square" lIns="0" tIns="0" rIns="0" bIns="0" rtlCol="0" anchor="t"/>
          <a:lstStyle/>
          <a:p>
            <a:pPr indent="0" marL="0">
              <a:buNone/>
            </a:pPr>
            <a:r>
              <a:rPr lang="en-US" sz="1500" b="1" dirty="0">
                <a:solidFill>
                  <a:schemeClr val="accent1"/>
                </a:solidFill>
              </a:rPr>
              <a:t>고르는 기준  </a:t>
            </a:r>
            <a:pPr indent="0" marL="0">
              <a:buNone/>
            </a:pPr>
            <a:r>
              <a:rPr lang="en-US" sz="1500" dirty="0">
                <a:solidFill>
                  <a:schemeClr val="tx1"/>
                </a:solidFill>
              </a:rPr>
              <a:t>이번 Treatment가 부작용을 낼 만한 영역만 둡니다. 신뢰성 가드레일(SRM, 로그 누락)은 Ch3·Ch4에서</a:t>
            </a:r>
            <a:endParaRPr lang="en-US" sz="1500" dirty="0"/>
          </a:p>
        </p:txBody>
      </p:sp>
      <p:sp>
        <p:nvSpPr>
          <p:cNvPr id="10" name="Text 7"/>
          <p:cNvSpPr txBox="1"/>
          <p:nvPr/>
        </p:nvSpPr>
        <p:spPr>
          <a:xfrm>
            <a:off x="640080" y="5212080"/>
            <a:ext cx="10911535" cy="457200"/>
          </a:xfrm>
          <a:prstGeom prst="rect">
            <a:avLst/>
          </a:prstGeom>
          <a:noFill/>
          <a:ln/>
        </p:spPr>
        <p:txBody>
          <a:bodyPr wrap="square" lIns="0" tIns="0" rIns="0" bIns="0" rtlCol="0" anchor="t"/>
          <a:lstStyle/>
          <a:p>
            <a:pPr indent="0" marL="0">
              <a:buNone/>
            </a:pPr>
            <a:r>
              <a:rPr lang="en-US" sz="1500" b="1" dirty="0">
                <a:solidFill>
                  <a:schemeClr val="accent1"/>
                </a:solidFill>
              </a:rPr>
              <a:t>실무에서 이렇게 말한다  </a:t>
            </a:r>
            <a:pPr indent="0" marL="0">
              <a:buNone/>
            </a:pPr>
            <a:r>
              <a:rPr lang="en-US" sz="1500" dirty="0">
                <a:solidFill>
                  <a:schemeClr val="tx1"/>
                </a:solidFill>
              </a:rPr>
              <a:t>"전환율은 올랐지만 로딩 시간이 200ms 늘어서 배포는 보류합니다"</a:t>
            </a:r>
            <a:endParaRPr lang="en-US" sz="15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Ch2 · Goodhart's Law</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지표는 목표가 아니라 가치를 대신 재는 숫자다</a:t>
            </a:r>
            <a:endParaRPr lang="en-US" sz="2000" dirty="0"/>
          </a:p>
        </p:txBody>
      </p:sp>
      <p:sp>
        <p:nvSpPr>
          <p:cNvPr id="5" name="Text 2"/>
          <p:cNvSpPr txBox="1"/>
          <p:nvPr/>
        </p:nvSpPr>
        <p:spPr>
          <a:xfrm>
            <a:off x="640080" y="1783080"/>
            <a:ext cx="10911535" cy="548640"/>
          </a:xfrm>
          <a:prstGeom prst="rect">
            <a:avLst/>
          </a:prstGeom>
          <a:noFill/>
          <a:ln/>
        </p:spPr>
        <p:txBody>
          <a:bodyPr wrap="square" lIns="0" tIns="0" rIns="0" bIns="0" rtlCol="0" anchor="t"/>
          <a:lstStyle/>
          <a:p>
            <a:pPr indent="0" marL="0">
              <a:buNone/>
            </a:pPr>
            <a:r>
              <a:rPr lang="en-US" sz="2000" i="1" dirty="0">
                <a:solidFill>
                  <a:schemeClr val="tx1"/>
                </a:solidFill>
              </a:rPr>
              <a:t>"어떤 지표가 목표가 되면, 그것은 더 이상 좋은 지표가 아니게 된다."</a:t>
            </a:r>
            <a:endParaRPr lang="en-US" sz="2000" dirty="0"/>
          </a:p>
        </p:txBody>
      </p:sp>
      <p:sp>
        <p:nvSpPr>
          <p:cNvPr id="6" name="Text 3"/>
          <p:cNvSpPr txBox="1"/>
          <p:nvPr/>
        </p:nvSpPr>
        <p:spPr>
          <a:xfrm>
            <a:off x="640080" y="2377440"/>
            <a:ext cx="5486400" cy="320040"/>
          </a:xfrm>
          <a:prstGeom prst="rect">
            <a:avLst/>
          </a:prstGeom>
          <a:noFill/>
          <a:ln/>
        </p:spPr>
        <p:txBody>
          <a:bodyPr wrap="square" lIns="0" tIns="0" rIns="0" bIns="0" rtlCol="0" anchor="t"/>
          <a:lstStyle/>
          <a:p>
            <a:pPr indent="0" marL="0">
              <a:buNone/>
            </a:pPr>
            <a:r>
              <a:rPr lang="en-US" sz="1400" dirty="0">
                <a:solidFill>
                  <a:schemeClr val="accent6"/>
                </a:solidFill>
              </a:rPr>
              <a:t>Goodhart's Law · 찰스 굿하트</a:t>
            </a:r>
            <a:endParaRPr lang="en-US" sz="1400" dirty="0"/>
          </a:p>
        </p:txBody>
      </p:sp>
      <p:sp>
        <p:nvSpPr>
          <p:cNvPr id="7" name="Text 4"/>
          <p:cNvSpPr txBox="1"/>
          <p:nvPr/>
        </p:nvSpPr>
        <p:spPr>
          <a:xfrm>
            <a:off x="640080" y="3108960"/>
            <a:ext cx="2926080" cy="914400"/>
          </a:xfrm>
          <a:prstGeom prst="rect">
            <a:avLst/>
          </a:prstGeom>
          <a:noFill/>
          <a:ln/>
        </p:spPr>
        <p:txBody>
          <a:bodyPr wrap="square" lIns="0" tIns="0" rIns="0" bIns="0" rtlCol="0" anchor="t"/>
          <a:lstStyle/>
          <a:p>
            <a:pPr indent="0" marL="0">
              <a:buNone/>
            </a:pPr>
            <a:r>
              <a:rPr lang="en-US" sz="5400" b="1" dirty="0">
                <a:solidFill>
                  <a:schemeClr val="accent1"/>
                </a:solidFill>
              </a:rPr>
              <a:t>CTR ↑</a:t>
            </a:r>
            <a:endParaRPr lang="en-US" sz="5400" dirty="0"/>
          </a:p>
        </p:txBody>
      </p:sp>
      <p:sp>
        <p:nvSpPr>
          <p:cNvPr id="8" name="Text 5"/>
          <p:cNvSpPr txBox="1"/>
          <p:nvPr/>
        </p:nvSpPr>
        <p:spPr>
          <a:xfrm>
            <a:off x="3566160" y="3108960"/>
            <a:ext cx="4389120" cy="914400"/>
          </a:xfrm>
          <a:prstGeom prst="rect">
            <a:avLst/>
          </a:prstGeom>
          <a:noFill/>
          <a:ln/>
        </p:spPr>
        <p:txBody>
          <a:bodyPr wrap="square" lIns="0" tIns="0" rIns="0" bIns="0" rtlCol="0" anchor="t"/>
          <a:lstStyle/>
          <a:p>
            <a:pPr indent="0" marL="0">
              <a:buNone/>
            </a:pPr>
            <a:r>
              <a:rPr lang="en-US" sz="5400" b="1" dirty="0">
                <a:solidFill>
                  <a:schemeClr val="accent4"/>
                </a:solidFill>
              </a:rPr>
              <a:t>사용자 가치 ↓</a:t>
            </a:r>
            <a:endParaRPr lang="en-US" sz="5400" dirty="0"/>
          </a:p>
        </p:txBody>
      </p:sp>
      <p:sp>
        <p:nvSpPr>
          <p:cNvPr id="9" name="Text 6"/>
          <p:cNvSpPr txBox="1"/>
          <p:nvPr/>
        </p:nvSpPr>
        <p:spPr>
          <a:xfrm>
            <a:off x="640080" y="4069080"/>
            <a:ext cx="7315200" cy="731520"/>
          </a:xfrm>
          <a:prstGeom prst="rect">
            <a:avLst/>
          </a:prstGeom>
          <a:noFill/>
          <a:ln/>
        </p:spPr>
        <p:txBody>
          <a:bodyPr wrap="square" lIns="0" tIns="0" rIns="0" bIns="0" rtlCol="0" anchor="t"/>
          <a:lstStyle/>
          <a:p>
            <a:pPr indent="0" marL="0">
              <a:buNone/>
            </a:pPr>
            <a:r>
              <a:rPr lang="en-US" sz="1500" dirty="0">
                <a:solidFill>
                  <a:schemeClr val="tx2"/>
                </a:solidFill>
              </a:rPr>
              <a:t>"무조건 CTR 최대화" → 숫자는 오르는데 그 숫자가 대변하던 가치는 떨어질 수 있다</a:t>
            </a:r>
            <a:endParaRPr lang="en-US" sz="1500" dirty="0"/>
          </a:p>
        </p:txBody>
      </p:sp>
      <p:sp>
        <p:nvSpPr>
          <p:cNvPr id="10" name="Text 7"/>
          <p:cNvSpPr txBox="1"/>
          <p:nvPr/>
        </p:nvSpPr>
        <p:spPr>
          <a:xfrm>
            <a:off x="8412480" y="3063240"/>
            <a:ext cx="3154680" cy="256032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지표는 proxy</a:t>
            </a:r>
            <a:endParaRPr lang="en-US" sz="1500" dirty="0"/>
          </a:p>
          <a:p>
            <a:pPr indent="0" marL="0">
              <a:spcAft>
                <a:spcPts val="1400"/>
              </a:spcAft>
              <a:buNone/>
            </a:pPr>
            <a:r>
              <a:rPr lang="en-US" sz="1500" dirty="0">
                <a:solidFill>
                  <a:schemeClr val="tx2"/>
                </a:solidFill>
              </a:rPr>
              <a:t>진짜 가치를 대신 재는 숫자</a:t>
            </a:r>
            <a:endParaRPr lang="en-US" sz="1500" dirty="0"/>
          </a:p>
          <a:p>
            <a:pPr indent="0" marL="0">
              <a:spcAft>
                <a:spcPts val="400"/>
              </a:spcAft>
              <a:buNone/>
            </a:pPr>
            <a:r>
              <a:rPr lang="en-US" sz="2000" b="1" dirty="0">
                <a:solidFill>
                  <a:schemeClr val="tx1"/>
                </a:solidFill>
              </a:rPr>
              <a:t>유의성의 한계</a:t>
            </a:r>
            <a:endParaRPr lang="en-US" sz="1500" dirty="0"/>
          </a:p>
          <a:p>
            <a:pPr indent="0" marL="0">
              <a:buNone/>
            </a:pPr>
            <a:r>
              <a:rPr lang="en-US" sz="1500" dirty="0">
                <a:solidFill>
                  <a:schemeClr val="tx2"/>
                </a:solidFill>
              </a:rPr>
              <a:t>유의하다 ≠ 지표를 잘 골랐다</a:t>
            </a:r>
            <a:endParaRPr lang="en-US" sz="15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Ch2 · 사전 정의</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지표와 판단 기준은 실험 전에 적어 둔다</a:t>
            </a:r>
            <a:endParaRPr lang="en-US" sz="2000" dirty="0"/>
          </a:p>
        </p:txBody>
      </p:sp>
      <p:sp>
        <p:nvSpPr>
          <p:cNvPr id="5" name="Text 2"/>
          <p:cNvSpPr txBox="1"/>
          <p:nvPr/>
        </p:nvSpPr>
        <p:spPr>
          <a:xfrm>
            <a:off x="640080" y="1783080"/>
            <a:ext cx="4754880" cy="2377440"/>
          </a:xfrm>
          <a:prstGeom prst="rect">
            <a:avLst/>
          </a:prstGeom>
          <a:noFill/>
          <a:ln/>
        </p:spPr>
        <p:txBody>
          <a:bodyPr wrap="square" lIns="0" tIns="0" rIns="0" bIns="0" rtlCol="0" anchor="t"/>
          <a:lstStyle/>
          <a:p>
            <a:pPr indent="0" marL="0">
              <a:spcAft>
                <a:spcPts val="800"/>
              </a:spcAft>
              <a:buNone/>
            </a:pPr>
            <a:r>
              <a:rPr lang="en-US" sz="1400" b="1" dirty="0">
                <a:solidFill>
                  <a:schemeClr val="accent6"/>
                </a:solidFill>
              </a:rPr>
              <a:t>실험 전에 적어 둘 것</a:t>
            </a:r>
            <a:endParaRPr lang="en-US" sz="1500" dirty="0"/>
          </a:p>
          <a:p>
            <a:pPr indent="0" marL="0">
              <a:buNone/>
            </a:pPr>
            <a:r>
              <a:rPr lang="en-US" sz="1500" b="1" dirty="0">
                <a:solidFill>
                  <a:schemeClr val="tx1"/>
                </a:solidFill>
              </a:rPr>
              <a:t>가설  </a:t>
            </a:r>
            <a:pPr indent="0" marL="0">
              <a:spcAft>
                <a:spcPts val="600"/>
              </a:spcAft>
              <a:buNone/>
            </a:pPr>
            <a:r>
              <a:rPr lang="en-US" sz="1500" dirty="0">
                <a:solidFill>
                  <a:schemeClr val="tx1"/>
                </a:solidFill>
              </a:rPr>
              <a:t>개인화 추천이 예약전환율을 높인다</a:t>
            </a:r>
            <a:endParaRPr lang="en-US" sz="1500" dirty="0"/>
          </a:p>
          <a:p>
            <a:pPr indent="0" marL="0">
              <a:buNone/>
            </a:pPr>
            <a:r>
              <a:rPr lang="en-US" sz="1500" b="1" dirty="0">
                <a:solidFill>
                  <a:schemeClr val="accent1"/>
                </a:solidFill>
              </a:rPr>
              <a:t>Primary  </a:t>
            </a:r>
            <a:pPr indent="0" marL="0">
              <a:spcAft>
                <a:spcPts val="600"/>
              </a:spcAft>
              <a:buNone/>
            </a:pPr>
            <a:r>
              <a:rPr lang="en-US" sz="1500" dirty="0">
                <a:solidFill>
                  <a:schemeClr val="tx1"/>
                </a:solidFill>
              </a:rPr>
              <a:t>검색 → 예약완료 CVR</a:t>
            </a:r>
            <a:endParaRPr lang="en-US" sz="1500" dirty="0"/>
          </a:p>
          <a:p>
            <a:pPr indent="0" marL="0">
              <a:buNone/>
            </a:pPr>
            <a:r>
              <a:rPr lang="en-US" sz="1500" b="1" dirty="0">
                <a:solidFill>
                  <a:schemeClr val="accent2"/>
                </a:solidFill>
              </a:rPr>
              <a:t>Secondary  </a:t>
            </a:r>
            <a:pPr indent="0" marL="0">
              <a:spcAft>
                <a:spcPts val="600"/>
              </a:spcAft>
              <a:buNone/>
            </a:pPr>
            <a:r>
              <a:rPr lang="en-US" sz="1500" dirty="0">
                <a:solidFill>
                  <a:schemeClr val="tx1"/>
                </a:solidFill>
              </a:rPr>
              <a:t>추천 CTR, 상세페이지 도달률</a:t>
            </a:r>
            <a:endParaRPr lang="en-US" sz="1500" dirty="0"/>
          </a:p>
          <a:p>
            <a:pPr indent="0" marL="0">
              <a:buNone/>
            </a:pPr>
            <a:r>
              <a:rPr lang="en-US" sz="1500" b="1" dirty="0">
                <a:solidFill>
                  <a:schemeClr val="accent4"/>
                </a:solidFill>
              </a:rPr>
              <a:t>Guardrail  </a:t>
            </a:r>
            <a:pPr indent="0" marL="0">
              <a:buNone/>
            </a:pPr>
            <a:r>
              <a:rPr lang="en-US" sz="1500" dirty="0">
                <a:solidFill>
                  <a:schemeClr val="tx1"/>
                </a:solidFill>
              </a:rPr>
              <a:t>취소율, 오류율</a:t>
            </a:r>
            <a:endParaRPr lang="en-US" sz="1500" dirty="0"/>
          </a:p>
        </p:txBody>
      </p:sp>
      <p:sp>
        <p:nvSpPr>
          <p:cNvPr id="6" name="Shape 3"/>
          <p:cNvSpPr/>
          <p:nvPr/>
        </p:nvSpPr>
        <p:spPr>
          <a:xfrm>
            <a:off x="5669280" y="1828800"/>
            <a:ext cx="0" cy="2377440"/>
          </a:xfrm>
          <a:prstGeom prst="line">
            <a:avLst/>
          </a:prstGeom>
          <a:noFill/>
          <a:ln w="12700">
            <a:solidFill>
              <a:srgbClr val="E3E7F1"/>
            </a:solidFill>
            <a:prstDash val="solid"/>
          </a:ln>
        </p:spPr>
      </p:sp>
      <p:sp>
        <p:nvSpPr>
          <p:cNvPr id="7" name="Text 4"/>
          <p:cNvSpPr txBox="1"/>
          <p:nvPr/>
        </p:nvSpPr>
        <p:spPr>
          <a:xfrm>
            <a:off x="6035040" y="1783080"/>
            <a:ext cx="5486400" cy="320040"/>
          </a:xfrm>
          <a:prstGeom prst="rect">
            <a:avLst/>
          </a:prstGeom>
          <a:noFill/>
          <a:ln/>
        </p:spPr>
        <p:txBody>
          <a:bodyPr wrap="square" lIns="0" tIns="0" rIns="0" bIns="0" rtlCol="0" anchor="t"/>
          <a:lstStyle/>
          <a:p>
            <a:pPr indent="0" marL="0">
              <a:buNone/>
            </a:pPr>
            <a:r>
              <a:rPr lang="en-US" sz="1400" b="1" dirty="0">
                <a:solidFill>
                  <a:schemeClr val="accent6"/>
                </a:solidFill>
              </a:rPr>
              <a:t>핵심 지표가 여러 개일 때 판단 규칙</a:t>
            </a:r>
            <a:endParaRPr lang="en-US" sz="1400" dirty="0"/>
          </a:p>
        </p:txBody>
      </p:sp>
      <p:sp>
        <p:nvSpPr>
          <p:cNvPr id="8" name="Text 5"/>
          <p:cNvSpPr txBox="1"/>
          <p:nvPr/>
        </p:nvSpPr>
        <p:spPr>
          <a:xfrm>
            <a:off x="6035040" y="2194560"/>
            <a:ext cx="3474720" cy="457200"/>
          </a:xfrm>
          <a:prstGeom prst="rect">
            <a:avLst/>
          </a:prstGeom>
          <a:noFill/>
          <a:ln/>
        </p:spPr>
        <p:txBody>
          <a:bodyPr wrap="square" lIns="0" tIns="0" rIns="0" bIns="0" rtlCol="0" anchor="t"/>
          <a:lstStyle/>
          <a:p>
            <a:pPr indent="0" marL="0">
              <a:buNone/>
            </a:pPr>
            <a:r>
              <a:rPr lang="en-US" sz="1400" dirty="0">
                <a:solidFill>
                  <a:schemeClr val="tx1"/>
                </a:solidFill>
              </a:rPr>
              <a:t>모두 중립 이상, 하나 이상 유의하게 긍정</a:t>
            </a:r>
            <a:endParaRPr lang="en-US" sz="1400" dirty="0"/>
          </a:p>
        </p:txBody>
      </p:sp>
      <p:sp>
        <p:nvSpPr>
          <p:cNvPr id="9" name="Text 6"/>
          <p:cNvSpPr txBox="1"/>
          <p:nvPr/>
        </p:nvSpPr>
        <p:spPr>
          <a:xfrm>
            <a:off x="9555480" y="2194560"/>
            <a:ext cx="2011680" cy="457200"/>
          </a:xfrm>
          <a:prstGeom prst="rect">
            <a:avLst/>
          </a:prstGeom>
          <a:noFill/>
          <a:ln/>
        </p:spPr>
        <p:txBody>
          <a:bodyPr wrap="square" lIns="0" tIns="0" rIns="0" bIns="0" rtlCol="0" anchor="t"/>
          <a:lstStyle/>
          <a:p>
            <a:pPr indent="0" marL="0">
              <a:buNone/>
            </a:pPr>
            <a:r>
              <a:rPr lang="en-US" sz="1400" b="1" dirty="0">
                <a:solidFill>
                  <a:schemeClr val="accent3"/>
                </a:solidFill>
              </a:rPr>
              <a:t>변경을 고려</a:t>
            </a:r>
            <a:endParaRPr lang="en-US" sz="1400" dirty="0"/>
          </a:p>
        </p:txBody>
      </p:sp>
      <p:sp>
        <p:nvSpPr>
          <p:cNvPr id="10" name="Text 7"/>
          <p:cNvSpPr txBox="1"/>
          <p:nvPr/>
        </p:nvSpPr>
        <p:spPr>
          <a:xfrm>
            <a:off x="6035040" y="2697480"/>
            <a:ext cx="3474720" cy="457200"/>
          </a:xfrm>
          <a:prstGeom prst="rect">
            <a:avLst/>
          </a:prstGeom>
          <a:noFill/>
          <a:ln/>
        </p:spPr>
        <p:txBody>
          <a:bodyPr wrap="square" lIns="0" tIns="0" rIns="0" bIns="0" rtlCol="0" anchor="t"/>
          <a:lstStyle/>
          <a:p>
            <a:pPr indent="0" marL="0">
              <a:buNone/>
            </a:pPr>
            <a:r>
              <a:rPr lang="en-US" sz="1400" dirty="0">
                <a:solidFill>
                  <a:schemeClr val="tx1"/>
                </a:solidFill>
              </a:rPr>
              <a:t>모두 중립 이하, 하나 이상 유의하게 부정</a:t>
            </a:r>
            <a:endParaRPr lang="en-US" sz="1400" dirty="0"/>
          </a:p>
        </p:txBody>
      </p:sp>
      <p:sp>
        <p:nvSpPr>
          <p:cNvPr id="11" name="Text 8"/>
          <p:cNvSpPr txBox="1"/>
          <p:nvPr/>
        </p:nvSpPr>
        <p:spPr>
          <a:xfrm>
            <a:off x="9555480" y="2697480"/>
            <a:ext cx="2011680" cy="457200"/>
          </a:xfrm>
          <a:prstGeom prst="rect">
            <a:avLst/>
          </a:prstGeom>
          <a:noFill/>
          <a:ln/>
        </p:spPr>
        <p:txBody>
          <a:bodyPr wrap="square" lIns="0" tIns="0" rIns="0" bIns="0" rtlCol="0" anchor="t"/>
          <a:lstStyle/>
          <a:p>
            <a:pPr indent="0" marL="0">
              <a:buNone/>
            </a:pPr>
            <a:r>
              <a:rPr lang="en-US" sz="1400" b="1" dirty="0">
                <a:solidFill>
                  <a:schemeClr val="accent4"/>
                </a:solidFill>
              </a:rPr>
              <a:t>변경하지 않음</a:t>
            </a:r>
            <a:endParaRPr lang="en-US" sz="1400" dirty="0"/>
          </a:p>
        </p:txBody>
      </p:sp>
      <p:sp>
        <p:nvSpPr>
          <p:cNvPr id="12" name="Text 9"/>
          <p:cNvSpPr txBox="1"/>
          <p:nvPr/>
        </p:nvSpPr>
        <p:spPr>
          <a:xfrm>
            <a:off x="6035040" y="3200400"/>
            <a:ext cx="3474720" cy="457200"/>
          </a:xfrm>
          <a:prstGeom prst="rect">
            <a:avLst/>
          </a:prstGeom>
          <a:noFill/>
          <a:ln/>
        </p:spPr>
        <p:txBody>
          <a:bodyPr wrap="square" lIns="0" tIns="0" rIns="0" bIns="0" rtlCol="0" anchor="t"/>
          <a:lstStyle/>
          <a:p>
            <a:pPr indent="0" marL="0">
              <a:buNone/>
            </a:pPr>
            <a:r>
              <a:rPr lang="en-US" sz="1400" dirty="0">
                <a:solidFill>
                  <a:schemeClr val="tx1"/>
                </a:solidFill>
              </a:rPr>
              <a:t>모두 뚜렷한 변화 없음</a:t>
            </a:r>
            <a:endParaRPr lang="en-US" sz="1400" dirty="0"/>
          </a:p>
        </p:txBody>
      </p:sp>
      <p:sp>
        <p:nvSpPr>
          <p:cNvPr id="13" name="Text 10"/>
          <p:cNvSpPr txBox="1"/>
          <p:nvPr/>
        </p:nvSpPr>
        <p:spPr>
          <a:xfrm>
            <a:off x="9555480" y="3200400"/>
            <a:ext cx="2011680" cy="457200"/>
          </a:xfrm>
          <a:prstGeom prst="rect">
            <a:avLst/>
          </a:prstGeom>
          <a:noFill/>
          <a:ln/>
        </p:spPr>
        <p:txBody>
          <a:bodyPr wrap="square" lIns="0" tIns="0" rIns="0" bIns="0" rtlCol="0" anchor="t"/>
          <a:lstStyle/>
          <a:p>
            <a:pPr indent="0" marL="0">
              <a:buNone/>
            </a:pPr>
            <a:r>
              <a:rPr lang="en-US" sz="1400" b="1" dirty="0">
                <a:solidFill>
                  <a:schemeClr val="accent5"/>
                </a:solidFill>
              </a:rPr>
              <a:t>검정력 확보 또는 방향 전환</a:t>
            </a:r>
            <a:endParaRPr lang="en-US" sz="1400" dirty="0"/>
          </a:p>
        </p:txBody>
      </p:sp>
      <p:sp>
        <p:nvSpPr>
          <p:cNvPr id="14" name="Text 11"/>
          <p:cNvSpPr txBox="1"/>
          <p:nvPr/>
        </p:nvSpPr>
        <p:spPr>
          <a:xfrm>
            <a:off x="6035040" y="3703320"/>
            <a:ext cx="3474720" cy="457200"/>
          </a:xfrm>
          <a:prstGeom prst="rect">
            <a:avLst/>
          </a:prstGeom>
          <a:noFill/>
          <a:ln/>
        </p:spPr>
        <p:txBody>
          <a:bodyPr wrap="square" lIns="0" tIns="0" rIns="0" bIns="0" rtlCol="0" anchor="t"/>
          <a:lstStyle/>
          <a:p>
            <a:pPr indent="0" marL="0">
              <a:buNone/>
            </a:pPr>
            <a:r>
              <a:rPr lang="en-US" sz="1400" dirty="0">
                <a:solidFill>
                  <a:schemeClr val="tx1"/>
                </a:solidFill>
              </a:rPr>
              <a:t>일부 긍정, 일부 부정</a:t>
            </a:r>
            <a:endParaRPr lang="en-US" sz="1400" dirty="0"/>
          </a:p>
        </p:txBody>
      </p:sp>
      <p:sp>
        <p:nvSpPr>
          <p:cNvPr id="15" name="Text 12"/>
          <p:cNvSpPr txBox="1"/>
          <p:nvPr/>
        </p:nvSpPr>
        <p:spPr>
          <a:xfrm>
            <a:off x="9555480" y="3703320"/>
            <a:ext cx="2011680" cy="457200"/>
          </a:xfrm>
          <a:prstGeom prst="rect">
            <a:avLst/>
          </a:prstGeom>
          <a:noFill/>
          <a:ln/>
        </p:spPr>
        <p:txBody>
          <a:bodyPr wrap="square" lIns="0" tIns="0" rIns="0" bIns="0" rtlCol="0" anchor="t"/>
          <a:lstStyle/>
          <a:p>
            <a:pPr indent="0" marL="0">
              <a:buNone/>
            </a:pPr>
            <a:r>
              <a:rPr lang="en-US" sz="1400" b="1" dirty="0">
                <a:solidFill>
                  <a:schemeClr val="accent1"/>
                </a:solidFill>
              </a:rPr>
              <a:t>미리 정한 trade-off로 판단</a:t>
            </a:r>
            <a:endParaRPr lang="en-US" sz="1400" dirty="0"/>
          </a:p>
        </p:txBody>
      </p:sp>
      <p:sp>
        <p:nvSpPr>
          <p:cNvPr id="16" name="Text 13"/>
          <p:cNvSpPr txBox="1"/>
          <p:nvPr/>
        </p:nvSpPr>
        <p:spPr>
          <a:xfrm>
            <a:off x="640080" y="4526280"/>
            <a:ext cx="10911535" cy="731520"/>
          </a:xfrm>
          <a:prstGeom prst="rect">
            <a:avLst/>
          </a:prstGeom>
          <a:noFill/>
          <a:ln/>
        </p:spPr>
        <p:txBody>
          <a:bodyPr wrap="square" lIns="0" tIns="0" rIns="0" bIns="0" rtlCol="0" anchor="t"/>
          <a:lstStyle/>
          <a:p>
            <a:pPr indent="0" marL="0">
              <a:buNone/>
            </a:pPr>
            <a:r>
              <a:rPr lang="en-US" sz="1500" b="1" dirty="0">
                <a:solidFill>
                  <a:schemeClr val="accent1"/>
                </a:solidFill>
              </a:rPr>
              <a:t>trade-off도 미리  </a:t>
            </a:r>
            <a:pPr indent="0" marL="0">
              <a:buNone/>
            </a:pPr>
            <a:r>
              <a:rPr lang="en-US" sz="1500" dirty="0">
                <a:solidFill>
                  <a:schemeClr val="tx1"/>
                </a:solidFill>
              </a:rPr>
              <a:t>구매전환율 +4%, 취소율 +15%라면? → "취소율이 X 이상 나빠지면 배포 안 함"을 실험 전에</a:t>
            </a:r>
            <a:endParaRPr lang="en-US" sz="1500" dirty="0"/>
          </a:p>
        </p:txBody>
      </p:sp>
      <p:sp>
        <p:nvSpPr>
          <p:cNvPr id="17" name="Text 14"/>
          <p:cNvSpPr txBox="1"/>
          <p:nvPr/>
        </p:nvSpPr>
        <p:spPr>
          <a:xfrm>
            <a:off x="640080" y="5349240"/>
            <a:ext cx="10911535" cy="365760"/>
          </a:xfrm>
          <a:prstGeom prst="rect">
            <a:avLst/>
          </a:prstGeom>
          <a:noFill/>
          <a:ln/>
        </p:spPr>
        <p:txBody>
          <a:bodyPr wrap="square" lIns="0" tIns="0" rIns="0" bIns="0" rtlCol="0" anchor="t"/>
          <a:lstStyle/>
          <a:p>
            <a:pPr indent="0" marL="0">
              <a:buNone/>
            </a:pPr>
            <a:r>
              <a:rPr lang="en-US" sz="1400" dirty="0">
                <a:solidFill>
                  <a:schemeClr val="tx2"/>
                </a:solidFill>
              </a:rPr>
              <a:t>다른 지표를 보지 말라는 게 아니다 · 나중에 찾은 패턴은 탐색적 결과로 구분</a:t>
            </a:r>
            <a:endParaRPr lang="en-US" sz="14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Ch2 · 대조군·실험군과 대표성</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실험 대상은 출시 대상을 닮아야 한다</a:t>
            </a:r>
            <a:endParaRPr lang="en-US" sz="2000" dirty="0"/>
          </a:p>
        </p:txBody>
      </p:sp>
      <p:sp>
        <p:nvSpPr>
          <p:cNvPr id="5" name="Shape 2"/>
          <p:cNvSpPr/>
          <p:nvPr/>
        </p:nvSpPr>
        <p:spPr>
          <a:xfrm>
            <a:off x="640080" y="1920240"/>
            <a:ext cx="137160" cy="137160"/>
          </a:xfrm>
          <a:prstGeom prst="ellipse">
            <a:avLst/>
          </a:prstGeom>
          <a:solidFill>
            <a:srgbClr val="3A5BFF"/>
          </a:solidFill>
          <a:ln w="12700">
            <a:solidFill>
              <a:srgbClr val="3A5BFF"/>
            </a:solidFill>
            <a:prstDash val="solid"/>
          </a:ln>
        </p:spPr>
      </p:sp>
      <p:sp>
        <p:nvSpPr>
          <p:cNvPr id="6" name="Shape 3"/>
          <p:cNvSpPr/>
          <p:nvPr/>
        </p:nvSpPr>
        <p:spPr>
          <a:xfrm>
            <a:off x="914400" y="1920240"/>
            <a:ext cx="137160" cy="137160"/>
          </a:xfrm>
          <a:prstGeom prst="ellipse">
            <a:avLst/>
          </a:prstGeom>
          <a:solidFill>
            <a:srgbClr val="3A5BFF"/>
          </a:solidFill>
          <a:ln w="12700">
            <a:solidFill>
              <a:srgbClr val="3A5BFF"/>
            </a:solidFill>
            <a:prstDash val="solid"/>
          </a:ln>
        </p:spPr>
      </p:sp>
      <p:sp>
        <p:nvSpPr>
          <p:cNvPr id="7" name="Shape 4"/>
          <p:cNvSpPr/>
          <p:nvPr/>
        </p:nvSpPr>
        <p:spPr>
          <a:xfrm>
            <a:off x="1188720" y="1920240"/>
            <a:ext cx="137160" cy="137160"/>
          </a:xfrm>
          <a:prstGeom prst="ellipse">
            <a:avLst/>
          </a:prstGeom>
          <a:solidFill>
            <a:srgbClr val="3A5BFF"/>
          </a:solidFill>
          <a:ln w="12700">
            <a:solidFill>
              <a:srgbClr val="3A5BFF"/>
            </a:solidFill>
            <a:prstDash val="solid"/>
          </a:ln>
        </p:spPr>
      </p:sp>
      <p:sp>
        <p:nvSpPr>
          <p:cNvPr id="8" name="Shape 5"/>
          <p:cNvSpPr/>
          <p:nvPr/>
        </p:nvSpPr>
        <p:spPr>
          <a:xfrm>
            <a:off x="1463040" y="1920240"/>
            <a:ext cx="137160" cy="137160"/>
          </a:xfrm>
          <a:prstGeom prst="ellipse">
            <a:avLst/>
          </a:prstGeom>
          <a:solidFill>
            <a:srgbClr val="3A5BFF"/>
          </a:solidFill>
          <a:ln w="12700">
            <a:solidFill>
              <a:srgbClr val="3A5BFF"/>
            </a:solidFill>
            <a:prstDash val="solid"/>
          </a:ln>
        </p:spPr>
      </p:sp>
      <p:sp>
        <p:nvSpPr>
          <p:cNvPr id="9" name="Shape 6"/>
          <p:cNvSpPr/>
          <p:nvPr/>
        </p:nvSpPr>
        <p:spPr>
          <a:xfrm>
            <a:off x="1737360" y="1920240"/>
            <a:ext cx="137160" cy="137160"/>
          </a:xfrm>
          <a:prstGeom prst="ellipse">
            <a:avLst/>
          </a:prstGeom>
          <a:solidFill>
            <a:srgbClr val="D5D9E6"/>
          </a:solidFill>
          <a:ln w="12700">
            <a:solidFill>
              <a:srgbClr val="D5D9E6"/>
            </a:solidFill>
            <a:prstDash val="solid"/>
          </a:ln>
        </p:spPr>
      </p:sp>
      <p:sp>
        <p:nvSpPr>
          <p:cNvPr id="10" name="Shape 7"/>
          <p:cNvSpPr/>
          <p:nvPr/>
        </p:nvSpPr>
        <p:spPr>
          <a:xfrm>
            <a:off x="2011680" y="1920240"/>
            <a:ext cx="137160" cy="137160"/>
          </a:xfrm>
          <a:prstGeom prst="ellipse">
            <a:avLst/>
          </a:prstGeom>
          <a:solidFill>
            <a:srgbClr val="D5D9E6"/>
          </a:solidFill>
          <a:ln w="12700">
            <a:solidFill>
              <a:srgbClr val="D5D9E6"/>
            </a:solidFill>
            <a:prstDash val="solid"/>
          </a:ln>
        </p:spPr>
      </p:sp>
      <p:sp>
        <p:nvSpPr>
          <p:cNvPr id="11" name="Shape 8"/>
          <p:cNvSpPr/>
          <p:nvPr/>
        </p:nvSpPr>
        <p:spPr>
          <a:xfrm>
            <a:off x="2286000" y="1920240"/>
            <a:ext cx="137160" cy="137160"/>
          </a:xfrm>
          <a:prstGeom prst="ellipse">
            <a:avLst/>
          </a:prstGeom>
          <a:solidFill>
            <a:srgbClr val="D5D9E6"/>
          </a:solidFill>
          <a:ln w="12700">
            <a:solidFill>
              <a:srgbClr val="D5D9E6"/>
            </a:solidFill>
            <a:prstDash val="solid"/>
          </a:ln>
        </p:spPr>
      </p:sp>
      <p:sp>
        <p:nvSpPr>
          <p:cNvPr id="12" name="Shape 9"/>
          <p:cNvSpPr/>
          <p:nvPr/>
        </p:nvSpPr>
        <p:spPr>
          <a:xfrm>
            <a:off x="2560320" y="1920240"/>
            <a:ext cx="137160" cy="137160"/>
          </a:xfrm>
          <a:prstGeom prst="ellipse">
            <a:avLst/>
          </a:prstGeom>
          <a:solidFill>
            <a:srgbClr val="D5D9E6"/>
          </a:solidFill>
          <a:ln w="12700">
            <a:solidFill>
              <a:srgbClr val="D5D9E6"/>
            </a:solidFill>
            <a:prstDash val="solid"/>
          </a:ln>
        </p:spPr>
      </p:sp>
      <p:sp>
        <p:nvSpPr>
          <p:cNvPr id="13" name="Shape 10"/>
          <p:cNvSpPr/>
          <p:nvPr/>
        </p:nvSpPr>
        <p:spPr>
          <a:xfrm>
            <a:off x="2834640" y="1920240"/>
            <a:ext cx="137160" cy="137160"/>
          </a:xfrm>
          <a:prstGeom prst="ellipse">
            <a:avLst/>
          </a:prstGeom>
          <a:solidFill>
            <a:srgbClr val="D5D9E6"/>
          </a:solidFill>
          <a:ln w="12700">
            <a:solidFill>
              <a:srgbClr val="D5D9E6"/>
            </a:solidFill>
            <a:prstDash val="solid"/>
          </a:ln>
        </p:spPr>
      </p:sp>
      <p:sp>
        <p:nvSpPr>
          <p:cNvPr id="14" name="Shape 11"/>
          <p:cNvSpPr/>
          <p:nvPr/>
        </p:nvSpPr>
        <p:spPr>
          <a:xfrm>
            <a:off x="3108960" y="1920240"/>
            <a:ext cx="137160" cy="137160"/>
          </a:xfrm>
          <a:prstGeom prst="ellipse">
            <a:avLst/>
          </a:prstGeom>
          <a:solidFill>
            <a:srgbClr val="D5D9E6"/>
          </a:solidFill>
          <a:ln w="12700">
            <a:solidFill>
              <a:srgbClr val="D5D9E6"/>
            </a:solidFill>
            <a:prstDash val="solid"/>
          </a:ln>
        </p:spPr>
      </p:sp>
      <p:sp>
        <p:nvSpPr>
          <p:cNvPr id="15" name="Shape 12"/>
          <p:cNvSpPr/>
          <p:nvPr/>
        </p:nvSpPr>
        <p:spPr>
          <a:xfrm>
            <a:off x="640080" y="2194560"/>
            <a:ext cx="137160" cy="137160"/>
          </a:xfrm>
          <a:prstGeom prst="ellipse">
            <a:avLst/>
          </a:prstGeom>
          <a:solidFill>
            <a:srgbClr val="3A5BFF"/>
          </a:solidFill>
          <a:ln w="12700">
            <a:solidFill>
              <a:srgbClr val="3A5BFF"/>
            </a:solidFill>
            <a:prstDash val="solid"/>
          </a:ln>
        </p:spPr>
      </p:sp>
      <p:sp>
        <p:nvSpPr>
          <p:cNvPr id="16" name="Shape 13"/>
          <p:cNvSpPr/>
          <p:nvPr/>
        </p:nvSpPr>
        <p:spPr>
          <a:xfrm>
            <a:off x="914400" y="2194560"/>
            <a:ext cx="137160" cy="137160"/>
          </a:xfrm>
          <a:prstGeom prst="ellipse">
            <a:avLst/>
          </a:prstGeom>
          <a:solidFill>
            <a:srgbClr val="3A5BFF"/>
          </a:solidFill>
          <a:ln w="12700">
            <a:solidFill>
              <a:srgbClr val="3A5BFF"/>
            </a:solidFill>
            <a:prstDash val="solid"/>
          </a:ln>
        </p:spPr>
      </p:sp>
      <p:sp>
        <p:nvSpPr>
          <p:cNvPr id="17" name="Shape 14"/>
          <p:cNvSpPr/>
          <p:nvPr/>
        </p:nvSpPr>
        <p:spPr>
          <a:xfrm>
            <a:off x="1188720" y="2194560"/>
            <a:ext cx="137160" cy="137160"/>
          </a:xfrm>
          <a:prstGeom prst="ellipse">
            <a:avLst/>
          </a:prstGeom>
          <a:solidFill>
            <a:srgbClr val="3A5BFF"/>
          </a:solidFill>
          <a:ln w="12700">
            <a:solidFill>
              <a:srgbClr val="3A5BFF"/>
            </a:solidFill>
            <a:prstDash val="solid"/>
          </a:ln>
        </p:spPr>
      </p:sp>
      <p:sp>
        <p:nvSpPr>
          <p:cNvPr id="18" name="Shape 15"/>
          <p:cNvSpPr/>
          <p:nvPr/>
        </p:nvSpPr>
        <p:spPr>
          <a:xfrm>
            <a:off x="1463040" y="2194560"/>
            <a:ext cx="137160" cy="137160"/>
          </a:xfrm>
          <a:prstGeom prst="ellipse">
            <a:avLst/>
          </a:prstGeom>
          <a:solidFill>
            <a:srgbClr val="3A5BFF"/>
          </a:solidFill>
          <a:ln w="12700">
            <a:solidFill>
              <a:srgbClr val="3A5BFF"/>
            </a:solidFill>
            <a:prstDash val="solid"/>
          </a:ln>
        </p:spPr>
      </p:sp>
      <p:sp>
        <p:nvSpPr>
          <p:cNvPr id="19" name="Shape 16"/>
          <p:cNvSpPr/>
          <p:nvPr/>
        </p:nvSpPr>
        <p:spPr>
          <a:xfrm>
            <a:off x="1737360" y="2194560"/>
            <a:ext cx="137160" cy="137160"/>
          </a:xfrm>
          <a:prstGeom prst="ellipse">
            <a:avLst/>
          </a:prstGeom>
          <a:solidFill>
            <a:srgbClr val="D5D9E6"/>
          </a:solidFill>
          <a:ln w="12700">
            <a:solidFill>
              <a:srgbClr val="D5D9E6"/>
            </a:solidFill>
            <a:prstDash val="solid"/>
          </a:ln>
        </p:spPr>
      </p:sp>
      <p:sp>
        <p:nvSpPr>
          <p:cNvPr id="20" name="Shape 17"/>
          <p:cNvSpPr/>
          <p:nvPr/>
        </p:nvSpPr>
        <p:spPr>
          <a:xfrm>
            <a:off x="2011680" y="2194560"/>
            <a:ext cx="137160" cy="137160"/>
          </a:xfrm>
          <a:prstGeom prst="ellipse">
            <a:avLst/>
          </a:prstGeom>
          <a:solidFill>
            <a:srgbClr val="D5D9E6"/>
          </a:solidFill>
          <a:ln w="12700">
            <a:solidFill>
              <a:srgbClr val="D5D9E6"/>
            </a:solidFill>
            <a:prstDash val="solid"/>
          </a:ln>
        </p:spPr>
      </p:sp>
      <p:sp>
        <p:nvSpPr>
          <p:cNvPr id="21" name="Shape 18"/>
          <p:cNvSpPr/>
          <p:nvPr/>
        </p:nvSpPr>
        <p:spPr>
          <a:xfrm>
            <a:off x="2286000" y="2194560"/>
            <a:ext cx="137160" cy="137160"/>
          </a:xfrm>
          <a:prstGeom prst="ellipse">
            <a:avLst/>
          </a:prstGeom>
          <a:solidFill>
            <a:srgbClr val="D5D9E6"/>
          </a:solidFill>
          <a:ln w="12700">
            <a:solidFill>
              <a:srgbClr val="D5D9E6"/>
            </a:solidFill>
            <a:prstDash val="solid"/>
          </a:ln>
        </p:spPr>
      </p:sp>
      <p:sp>
        <p:nvSpPr>
          <p:cNvPr id="22" name="Shape 19"/>
          <p:cNvSpPr/>
          <p:nvPr/>
        </p:nvSpPr>
        <p:spPr>
          <a:xfrm>
            <a:off x="2560320" y="2194560"/>
            <a:ext cx="137160" cy="137160"/>
          </a:xfrm>
          <a:prstGeom prst="ellipse">
            <a:avLst/>
          </a:prstGeom>
          <a:solidFill>
            <a:srgbClr val="D5D9E6"/>
          </a:solidFill>
          <a:ln w="12700">
            <a:solidFill>
              <a:srgbClr val="D5D9E6"/>
            </a:solidFill>
            <a:prstDash val="solid"/>
          </a:ln>
        </p:spPr>
      </p:sp>
      <p:sp>
        <p:nvSpPr>
          <p:cNvPr id="23" name="Shape 20"/>
          <p:cNvSpPr/>
          <p:nvPr/>
        </p:nvSpPr>
        <p:spPr>
          <a:xfrm>
            <a:off x="2834640" y="2194560"/>
            <a:ext cx="137160" cy="137160"/>
          </a:xfrm>
          <a:prstGeom prst="ellipse">
            <a:avLst/>
          </a:prstGeom>
          <a:solidFill>
            <a:srgbClr val="D5D9E6"/>
          </a:solidFill>
          <a:ln w="12700">
            <a:solidFill>
              <a:srgbClr val="D5D9E6"/>
            </a:solidFill>
            <a:prstDash val="solid"/>
          </a:ln>
        </p:spPr>
      </p:sp>
      <p:sp>
        <p:nvSpPr>
          <p:cNvPr id="24" name="Shape 21"/>
          <p:cNvSpPr/>
          <p:nvPr/>
        </p:nvSpPr>
        <p:spPr>
          <a:xfrm>
            <a:off x="3108960" y="2194560"/>
            <a:ext cx="137160" cy="137160"/>
          </a:xfrm>
          <a:prstGeom prst="ellipse">
            <a:avLst/>
          </a:prstGeom>
          <a:solidFill>
            <a:srgbClr val="D5D9E6"/>
          </a:solidFill>
          <a:ln w="12700">
            <a:solidFill>
              <a:srgbClr val="D5D9E6"/>
            </a:solidFill>
            <a:prstDash val="solid"/>
          </a:ln>
        </p:spPr>
      </p:sp>
      <p:sp>
        <p:nvSpPr>
          <p:cNvPr id="25" name="Shape 22"/>
          <p:cNvSpPr/>
          <p:nvPr/>
        </p:nvSpPr>
        <p:spPr>
          <a:xfrm>
            <a:off x="640080" y="2468880"/>
            <a:ext cx="137160" cy="137160"/>
          </a:xfrm>
          <a:prstGeom prst="ellipse">
            <a:avLst/>
          </a:prstGeom>
          <a:solidFill>
            <a:srgbClr val="3A5BFF"/>
          </a:solidFill>
          <a:ln w="12700">
            <a:solidFill>
              <a:srgbClr val="3A5BFF"/>
            </a:solidFill>
            <a:prstDash val="solid"/>
          </a:ln>
        </p:spPr>
      </p:sp>
      <p:sp>
        <p:nvSpPr>
          <p:cNvPr id="26" name="Shape 23"/>
          <p:cNvSpPr/>
          <p:nvPr/>
        </p:nvSpPr>
        <p:spPr>
          <a:xfrm>
            <a:off x="914400" y="2468880"/>
            <a:ext cx="137160" cy="137160"/>
          </a:xfrm>
          <a:prstGeom prst="ellipse">
            <a:avLst/>
          </a:prstGeom>
          <a:solidFill>
            <a:srgbClr val="3A5BFF"/>
          </a:solidFill>
          <a:ln w="12700">
            <a:solidFill>
              <a:srgbClr val="3A5BFF"/>
            </a:solidFill>
            <a:prstDash val="solid"/>
          </a:ln>
        </p:spPr>
      </p:sp>
      <p:sp>
        <p:nvSpPr>
          <p:cNvPr id="27" name="Shape 24"/>
          <p:cNvSpPr/>
          <p:nvPr/>
        </p:nvSpPr>
        <p:spPr>
          <a:xfrm>
            <a:off x="1188720" y="2468880"/>
            <a:ext cx="137160" cy="137160"/>
          </a:xfrm>
          <a:prstGeom prst="ellipse">
            <a:avLst/>
          </a:prstGeom>
          <a:solidFill>
            <a:srgbClr val="3A5BFF"/>
          </a:solidFill>
          <a:ln w="12700">
            <a:solidFill>
              <a:srgbClr val="3A5BFF"/>
            </a:solidFill>
            <a:prstDash val="solid"/>
          </a:ln>
        </p:spPr>
      </p:sp>
      <p:sp>
        <p:nvSpPr>
          <p:cNvPr id="28" name="Shape 25"/>
          <p:cNvSpPr/>
          <p:nvPr/>
        </p:nvSpPr>
        <p:spPr>
          <a:xfrm>
            <a:off x="1463040" y="2468880"/>
            <a:ext cx="137160" cy="137160"/>
          </a:xfrm>
          <a:prstGeom prst="ellipse">
            <a:avLst/>
          </a:prstGeom>
          <a:solidFill>
            <a:srgbClr val="3A5BFF"/>
          </a:solidFill>
          <a:ln w="12700">
            <a:solidFill>
              <a:srgbClr val="3A5BFF"/>
            </a:solidFill>
            <a:prstDash val="solid"/>
          </a:ln>
        </p:spPr>
      </p:sp>
      <p:sp>
        <p:nvSpPr>
          <p:cNvPr id="29" name="Shape 26"/>
          <p:cNvSpPr/>
          <p:nvPr/>
        </p:nvSpPr>
        <p:spPr>
          <a:xfrm>
            <a:off x="1737360" y="2468880"/>
            <a:ext cx="137160" cy="137160"/>
          </a:xfrm>
          <a:prstGeom prst="ellipse">
            <a:avLst/>
          </a:prstGeom>
          <a:solidFill>
            <a:srgbClr val="D5D9E6"/>
          </a:solidFill>
          <a:ln w="12700">
            <a:solidFill>
              <a:srgbClr val="D5D9E6"/>
            </a:solidFill>
            <a:prstDash val="solid"/>
          </a:ln>
        </p:spPr>
      </p:sp>
      <p:sp>
        <p:nvSpPr>
          <p:cNvPr id="30" name="Shape 27"/>
          <p:cNvSpPr/>
          <p:nvPr/>
        </p:nvSpPr>
        <p:spPr>
          <a:xfrm>
            <a:off x="2011680" y="2468880"/>
            <a:ext cx="137160" cy="137160"/>
          </a:xfrm>
          <a:prstGeom prst="ellipse">
            <a:avLst/>
          </a:prstGeom>
          <a:solidFill>
            <a:srgbClr val="D5D9E6"/>
          </a:solidFill>
          <a:ln w="12700">
            <a:solidFill>
              <a:srgbClr val="D5D9E6"/>
            </a:solidFill>
            <a:prstDash val="solid"/>
          </a:ln>
        </p:spPr>
      </p:sp>
      <p:sp>
        <p:nvSpPr>
          <p:cNvPr id="31" name="Shape 28"/>
          <p:cNvSpPr/>
          <p:nvPr/>
        </p:nvSpPr>
        <p:spPr>
          <a:xfrm>
            <a:off x="2286000" y="2468880"/>
            <a:ext cx="137160" cy="137160"/>
          </a:xfrm>
          <a:prstGeom prst="ellipse">
            <a:avLst/>
          </a:prstGeom>
          <a:solidFill>
            <a:srgbClr val="D5D9E6"/>
          </a:solidFill>
          <a:ln w="12700">
            <a:solidFill>
              <a:srgbClr val="D5D9E6"/>
            </a:solidFill>
            <a:prstDash val="solid"/>
          </a:ln>
        </p:spPr>
      </p:sp>
      <p:sp>
        <p:nvSpPr>
          <p:cNvPr id="32" name="Shape 29"/>
          <p:cNvSpPr/>
          <p:nvPr/>
        </p:nvSpPr>
        <p:spPr>
          <a:xfrm>
            <a:off x="2560320" y="2468880"/>
            <a:ext cx="137160" cy="137160"/>
          </a:xfrm>
          <a:prstGeom prst="ellipse">
            <a:avLst/>
          </a:prstGeom>
          <a:solidFill>
            <a:srgbClr val="D5D9E6"/>
          </a:solidFill>
          <a:ln w="12700">
            <a:solidFill>
              <a:srgbClr val="D5D9E6"/>
            </a:solidFill>
            <a:prstDash val="solid"/>
          </a:ln>
        </p:spPr>
      </p:sp>
      <p:sp>
        <p:nvSpPr>
          <p:cNvPr id="33" name="Shape 30"/>
          <p:cNvSpPr/>
          <p:nvPr/>
        </p:nvSpPr>
        <p:spPr>
          <a:xfrm>
            <a:off x="2834640" y="2468880"/>
            <a:ext cx="137160" cy="137160"/>
          </a:xfrm>
          <a:prstGeom prst="ellipse">
            <a:avLst/>
          </a:prstGeom>
          <a:solidFill>
            <a:srgbClr val="D5D9E6"/>
          </a:solidFill>
          <a:ln w="12700">
            <a:solidFill>
              <a:srgbClr val="D5D9E6"/>
            </a:solidFill>
            <a:prstDash val="solid"/>
          </a:ln>
        </p:spPr>
      </p:sp>
      <p:sp>
        <p:nvSpPr>
          <p:cNvPr id="34" name="Shape 31"/>
          <p:cNvSpPr/>
          <p:nvPr/>
        </p:nvSpPr>
        <p:spPr>
          <a:xfrm>
            <a:off x="3108960" y="2468880"/>
            <a:ext cx="137160" cy="137160"/>
          </a:xfrm>
          <a:prstGeom prst="ellipse">
            <a:avLst/>
          </a:prstGeom>
          <a:solidFill>
            <a:srgbClr val="D5D9E6"/>
          </a:solidFill>
          <a:ln w="12700">
            <a:solidFill>
              <a:srgbClr val="D5D9E6"/>
            </a:solidFill>
            <a:prstDash val="solid"/>
          </a:ln>
        </p:spPr>
      </p:sp>
      <p:sp>
        <p:nvSpPr>
          <p:cNvPr id="35" name="Shape 32"/>
          <p:cNvSpPr/>
          <p:nvPr/>
        </p:nvSpPr>
        <p:spPr>
          <a:xfrm>
            <a:off x="640080" y="2743200"/>
            <a:ext cx="137160" cy="137160"/>
          </a:xfrm>
          <a:prstGeom prst="ellipse">
            <a:avLst/>
          </a:prstGeom>
          <a:solidFill>
            <a:srgbClr val="3A5BFF"/>
          </a:solidFill>
          <a:ln w="12700">
            <a:solidFill>
              <a:srgbClr val="3A5BFF"/>
            </a:solidFill>
            <a:prstDash val="solid"/>
          </a:ln>
        </p:spPr>
      </p:sp>
      <p:sp>
        <p:nvSpPr>
          <p:cNvPr id="36" name="Shape 33"/>
          <p:cNvSpPr/>
          <p:nvPr/>
        </p:nvSpPr>
        <p:spPr>
          <a:xfrm>
            <a:off x="914400" y="2743200"/>
            <a:ext cx="137160" cy="137160"/>
          </a:xfrm>
          <a:prstGeom prst="ellipse">
            <a:avLst/>
          </a:prstGeom>
          <a:solidFill>
            <a:srgbClr val="3A5BFF"/>
          </a:solidFill>
          <a:ln w="12700">
            <a:solidFill>
              <a:srgbClr val="3A5BFF"/>
            </a:solidFill>
            <a:prstDash val="solid"/>
          </a:ln>
        </p:spPr>
      </p:sp>
      <p:sp>
        <p:nvSpPr>
          <p:cNvPr id="37" name="Shape 34"/>
          <p:cNvSpPr/>
          <p:nvPr/>
        </p:nvSpPr>
        <p:spPr>
          <a:xfrm>
            <a:off x="1188720" y="2743200"/>
            <a:ext cx="137160" cy="137160"/>
          </a:xfrm>
          <a:prstGeom prst="ellipse">
            <a:avLst/>
          </a:prstGeom>
          <a:solidFill>
            <a:srgbClr val="3A5BFF"/>
          </a:solidFill>
          <a:ln w="12700">
            <a:solidFill>
              <a:srgbClr val="3A5BFF"/>
            </a:solidFill>
            <a:prstDash val="solid"/>
          </a:ln>
        </p:spPr>
      </p:sp>
      <p:sp>
        <p:nvSpPr>
          <p:cNvPr id="38" name="Shape 35"/>
          <p:cNvSpPr/>
          <p:nvPr/>
        </p:nvSpPr>
        <p:spPr>
          <a:xfrm>
            <a:off x="1463040" y="2743200"/>
            <a:ext cx="137160" cy="137160"/>
          </a:xfrm>
          <a:prstGeom prst="ellipse">
            <a:avLst/>
          </a:prstGeom>
          <a:solidFill>
            <a:srgbClr val="3A5BFF"/>
          </a:solidFill>
          <a:ln w="12700">
            <a:solidFill>
              <a:srgbClr val="3A5BFF"/>
            </a:solidFill>
            <a:prstDash val="solid"/>
          </a:ln>
        </p:spPr>
      </p:sp>
      <p:sp>
        <p:nvSpPr>
          <p:cNvPr id="39" name="Shape 36"/>
          <p:cNvSpPr/>
          <p:nvPr/>
        </p:nvSpPr>
        <p:spPr>
          <a:xfrm>
            <a:off x="1737360" y="2743200"/>
            <a:ext cx="137160" cy="137160"/>
          </a:xfrm>
          <a:prstGeom prst="ellipse">
            <a:avLst/>
          </a:prstGeom>
          <a:solidFill>
            <a:srgbClr val="D5D9E6"/>
          </a:solidFill>
          <a:ln w="12700">
            <a:solidFill>
              <a:srgbClr val="D5D9E6"/>
            </a:solidFill>
            <a:prstDash val="solid"/>
          </a:ln>
        </p:spPr>
      </p:sp>
      <p:sp>
        <p:nvSpPr>
          <p:cNvPr id="40" name="Shape 37"/>
          <p:cNvSpPr/>
          <p:nvPr/>
        </p:nvSpPr>
        <p:spPr>
          <a:xfrm>
            <a:off x="2011680" y="2743200"/>
            <a:ext cx="137160" cy="137160"/>
          </a:xfrm>
          <a:prstGeom prst="ellipse">
            <a:avLst/>
          </a:prstGeom>
          <a:solidFill>
            <a:srgbClr val="D5D9E6"/>
          </a:solidFill>
          <a:ln w="12700">
            <a:solidFill>
              <a:srgbClr val="D5D9E6"/>
            </a:solidFill>
            <a:prstDash val="solid"/>
          </a:ln>
        </p:spPr>
      </p:sp>
      <p:sp>
        <p:nvSpPr>
          <p:cNvPr id="41" name="Shape 38"/>
          <p:cNvSpPr/>
          <p:nvPr/>
        </p:nvSpPr>
        <p:spPr>
          <a:xfrm>
            <a:off x="2286000" y="2743200"/>
            <a:ext cx="137160" cy="137160"/>
          </a:xfrm>
          <a:prstGeom prst="ellipse">
            <a:avLst/>
          </a:prstGeom>
          <a:solidFill>
            <a:srgbClr val="D5D9E6"/>
          </a:solidFill>
          <a:ln w="12700">
            <a:solidFill>
              <a:srgbClr val="D5D9E6"/>
            </a:solidFill>
            <a:prstDash val="solid"/>
          </a:ln>
        </p:spPr>
      </p:sp>
      <p:sp>
        <p:nvSpPr>
          <p:cNvPr id="42" name="Shape 39"/>
          <p:cNvSpPr/>
          <p:nvPr/>
        </p:nvSpPr>
        <p:spPr>
          <a:xfrm>
            <a:off x="2560320" y="2743200"/>
            <a:ext cx="137160" cy="137160"/>
          </a:xfrm>
          <a:prstGeom prst="ellipse">
            <a:avLst/>
          </a:prstGeom>
          <a:solidFill>
            <a:srgbClr val="D5D9E6"/>
          </a:solidFill>
          <a:ln w="12700">
            <a:solidFill>
              <a:srgbClr val="D5D9E6"/>
            </a:solidFill>
            <a:prstDash val="solid"/>
          </a:ln>
        </p:spPr>
      </p:sp>
      <p:sp>
        <p:nvSpPr>
          <p:cNvPr id="43" name="Shape 40"/>
          <p:cNvSpPr/>
          <p:nvPr/>
        </p:nvSpPr>
        <p:spPr>
          <a:xfrm>
            <a:off x="2834640" y="2743200"/>
            <a:ext cx="137160" cy="137160"/>
          </a:xfrm>
          <a:prstGeom prst="ellipse">
            <a:avLst/>
          </a:prstGeom>
          <a:solidFill>
            <a:srgbClr val="D5D9E6"/>
          </a:solidFill>
          <a:ln w="12700">
            <a:solidFill>
              <a:srgbClr val="D5D9E6"/>
            </a:solidFill>
            <a:prstDash val="solid"/>
          </a:ln>
        </p:spPr>
      </p:sp>
      <p:sp>
        <p:nvSpPr>
          <p:cNvPr id="44" name="Shape 41"/>
          <p:cNvSpPr/>
          <p:nvPr/>
        </p:nvSpPr>
        <p:spPr>
          <a:xfrm>
            <a:off x="3108960" y="2743200"/>
            <a:ext cx="137160" cy="137160"/>
          </a:xfrm>
          <a:prstGeom prst="ellipse">
            <a:avLst/>
          </a:prstGeom>
          <a:solidFill>
            <a:srgbClr val="D5D9E6"/>
          </a:solidFill>
          <a:ln w="12700">
            <a:solidFill>
              <a:srgbClr val="D5D9E6"/>
            </a:solidFill>
            <a:prstDash val="solid"/>
          </a:ln>
        </p:spPr>
      </p:sp>
      <p:sp>
        <p:nvSpPr>
          <p:cNvPr id="45" name="Shape 42"/>
          <p:cNvSpPr/>
          <p:nvPr/>
        </p:nvSpPr>
        <p:spPr>
          <a:xfrm>
            <a:off x="640080" y="3017520"/>
            <a:ext cx="137160" cy="137160"/>
          </a:xfrm>
          <a:prstGeom prst="ellipse">
            <a:avLst/>
          </a:prstGeom>
          <a:solidFill>
            <a:srgbClr val="3A5BFF"/>
          </a:solidFill>
          <a:ln w="12700">
            <a:solidFill>
              <a:srgbClr val="3A5BFF"/>
            </a:solidFill>
            <a:prstDash val="solid"/>
          </a:ln>
        </p:spPr>
      </p:sp>
      <p:sp>
        <p:nvSpPr>
          <p:cNvPr id="46" name="Shape 43"/>
          <p:cNvSpPr/>
          <p:nvPr/>
        </p:nvSpPr>
        <p:spPr>
          <a:xfrm>
            <a:off x="914400" y="3017520"/>
            <a:ext cx="137160" cy="137160"/>
          </a:xfrm>
          <a:prstGeom prst="ellipse">
            <a:avLst/>
          </a:prstGeom>
          <a:solidFill>
            <a:srgbClr val="3A5BFF"/>
          </a:solidFill>
          <a:ln w="12700">
            <a:solidFill>
              <a:srgbClr val="3A5BFF"/>
            </a:solidFill>
            <a:prstDash val="solid"/>
          </a:ln>
        </p:spPr>
      </p:sp>
      <p:sp>
        <p:nvSpPr>
          <p:cNvPr id="47" name="Shape 44"/>
          <p:cNvSpPr/>
          <p:nvPr/>
        </p:nvSpPr>
        <p:spPr>
          <a:xfrm>
            <a:off x="1188720" y="3017520"/>
            <a:ext cx="137160" cy="137160"/>
          </a:xfrm>
          <a:prstGeom prst="ellipse">
            <a:avLst/>
          </a:prstGeom>
          <a:solidFill>
            <a:srgbClr val="3A5BFF"/>
          </a:solidFill>
          <a:ln w="12700">
            <a:solidFill>
              <a:srgbClr val="3A5BFF"/>
            </a:solidFill>
            <a:prstDash val="solid"/>
          </a:ln>
        </p:spPr>
      </p:sp>
      <p:sp>
        <p:nvSpPr>
          <p:cNvPr id="48" name="Shape 45"/>
          <p:cNvSpPr/>
          <p:nvPr/>
        </p:nvSpPr>
        <p:spPr>
          <a:xfrm>
            <a:off x="1463040" y="3017520"/>
            <a:ext cx="137160" cy="137160"/>
          </a:xfrm>
          <a:prstGeom prst="ellipse">
            <a:avLst/>
          </a:prstGeom>
          <a:solidFill>
            <a:srgbClr val="3A5BFF"/>
          </a:solidFill>
          <a:ln w="12700">
            <a:solidFill>
              <a:srgbClr val="3A5BFF"/>
            </a:solidFill>
            <a:prstDash val="solid"/>
          </a:ln>
        </p:spPr>
      </p:sp>
      <p:sp>
        <p:nvSpPr>
          <p:cNvPr id="49" name="Shape 46"/>
          <p:cNvSpPr/>
          <p:nvPr/>
        </p:nvSpPr>
        <p:spPr>
          <a:xfrm>
            <a:off x="1737360" y="3017520"/>
            <a:ext cx="137160" cy="137160"/>
          </a:xfrm>
          <a:prstGeom prst="ellipse">
            <a:avLst/>
          </a:prstGeom>
          <a:solidFill>
            <a:srgbClr val="D5D9E6"/>
          </a:solidFill>
          <a:ln w="12700">
            <a:solidFill>
              <a:srgbClr val="D5D9E6"/>
            </a:solidFill>
            <a:prstDash val="solid"/>
          </a:ln>
        </p:spPr>
      </p:sp>
      <p:sp>
        <p:nvSpPr>
          <p:cNvPr id="50" name="Shape 47"/>
          <p:cNvSpPr/>
          <p:nvPr/>
        </p:nvSpPr>
        <p:spPr>
          <a:xfrm>
            <a:off x="2011680" y="3017520"/>
            <a:ext cx="137160" cy="137160"/>
          </a:xfrm>
          <a:prstGeom prst="ellipse">
            <a:avLst/>
          </a:prstGeom>
          <a:solidFill>
            <a:srgbClr val="D5D9E6"/>
          </a:solidFill>
          <a:ln w="12700">
            <a:solidFill>
              <a:srgbClr val="D5D9E6"/>
            </a:solidFill>
            <a:prstDash val="solid"/>
          </a:ln>
        </p:spPr>
      </p:sp>
      <p:sp>
        <p:nvSpPr>
          <p:cNvPr id="51" name="Shape 48"/>
          <p:cNvSpPr/>
          <p:nvPr/>
        </p:nvSpPr>
        <p:spPr>
          <a:xfrm>
            <a:off x="2286000" y="3017520"/>
            <a:ext cx="137160" cy="137160"/>
          </a:xfrm>
          <a:prstGeom prst="ellipse">
            <a:avLst/>
          </a:prstGeom>
          <a:solidFill>
            <a:srgbClr val="D5D9E6"/>
          </a:solidFill>
          <a:ln w="12700">
            <a:solidFill>
              <a:srgbClr val="D5D9E6"/>
            </a:solidFill>
            <a:prstDash val="solid"/>
          </a:ln>
        </p:spPr>
      </p:sp>
      <p:sp>
        <p:nvSpPr>
          <p:cNvPr id="52" name="Shape 49"/>
          <p:cNvSpPr/>
          <p:nvPr/>
        </p:nvSpPr>
        <p:spPr>
          <a:xfrm>
            <a:off x="2560320" y="3017520"/>
            <a:ext cx="137160" cy="137160"/>
          </a:xfrm>
          <a:prstGeom prst="ellipse">
            <a:avLst/>
          </a:prstGeom>
          <a:solidFill>
            <a:srgbClr val="D5D9E6"/>
          </a:solidFill>
          <a:ln w="12700">
            <a:solidFill>
              <a:srgbClr val="D5D9E6"/>
            </a:solidFill>
            <a:prstDash val="solid"/>
          </a:ln>
        </p:spPr>
      </p:sp>
      <p:sp>
        <p:nvSpPr>
          <p:cNvPr id="53" name="Shape 50"/>
          <p:cNvSpPr/>
          <p:nvPr/>
        </p:nvSpPr>
        <p:spPr>
          <a:xfrm>
            <a:off x="2834640" y="3017520"/>
            <a:ext cx="137160" cy="137160"/>
          </a:xfrm>
          <a:prstGeom prst="ellipse">
            <a:avLst/>
          </a:prstGeom>
          <a:solidFill>
            <a:srgbClr val="D5D9E6"/>
          </a:solidFill>
          <a:ln w="12700">
            <a:solidFill>
              <a:srgbClr val="D5D9E6"/>
            </a:solidFill>
            <a:prstDash val="solid"/>
          </a:ln>
        </p:spPr>
      </p:sp>
      <p:sp>
        <p:nvSpPr>
          <p:cNvPr id="54" name="Shape 51"/>
          <p:cNvSpPr/>
          <p:nvPr/>
        </p:nvSpPr>
        <p:spPr>
          <a:xfrm>
            <a:off x="3108960" y="3017520"/>
            <a:ext cx="137160" cy="137160"/>
          </a:xfrm>
          <a:prstGeom prst="ellipse">
            <a:avLst/>
          </a:prstGeom>
          <a:solidFill>
            <a:srgbClr val="D5D9E6"/>
          </a:solidFill>
          <a:ln w="12700">
            <a:solidFill>
              <a:srgbClr val="D5D9E6"/>
            </a:solidFill>
            <a:prstDash val="solid"/>
          </a:ln>
        </p:spPr>
      </p:sp>
      <p:sp>
        <p:nvSpPr>
          <p:cNvPr id="55" name="Shape 52"/>
          <p:cNvSpPr/>
          <p:nvPr/>
        </p:nvSpPr>
        <p:spPr>
          <a:xfrm>
            <a:off x="640080" y="3291840"/>
            <a:ext cx="137160" cy="137160"/>
          </a:xfrm>
          <a:prstGeom prst="ellipse">
            <a:avLst/>
          </a:prstGeom>
          <a:solidFill>
            <a:srgbClr val="3A5BFF"/>
          </a:solidFill>
          <a:ln w="12700">
            <a:solidFill>
              <a:srgbClr val="3A5BFF"/>
            </a:solidFill>
            <a:prstDash val="solid"/>
          </a:ln>
        </p:spPr>
      </p:sp>
      <p:sp>
        <p:nvSpPr>
          <p:cNvPr id="56" name="Shape 53"/>
          <p:cNvSpPr/>
          <p:nvPr/>
        </p:nvSpPr>
        <p:spPr>
          <a:xfrm>
            <a:off x="914400" y="3291840"/>
            <a:ext cx="137160" cy="137160"/>
          </a:xfrm>
          <a:prstGeom prst="ellipse">
            <a:avLst/>
          </a:prstGeom>
          <a:solidFill>
            <a:srgbClr val="3A5BFF"/>
          </a:solidFill>
          <a:ln w="12700">
            <a:solidFill>
              <a:srgbClr val="3A5BFF"/>
            </a:solidFill>
            <a:prstDash val="solid"/>
          </a:ln>
        </p:spPr>
      </p:sp>
      <p:sp>
        <p:nvSpPr>
          <p:cNvPr id="57" name="Shape 54"/>
          <p:cNvSpPr/>
          <p:nvPr/>
        </p:nvSpPr>
        <p:spPr>
          <a:xfrm>
            <a:off x="1188720" y="3291840"/>
            <a:ext cx="137160" cy="137160"/>
          </a:xfrm>
          <a:prstGeom prst="ellipse">
            <a:avLst/>
          </a:prstGeom>
          <a:solidFill>
            <a:srgbClr val="3A5BFF"/>
          </a:solidFill>
          <a:ln w="12700">
            <a:solidFill>
              <a:srgbClr val="3A5BFF"/>
            </a:solidFill>
            <a:prstDash val="solid"/>
          </a:ln>
        </p:spPr>
      </p:sp>
      <p:sp>
        <p:nvSpPr>
          <p:cNvPr id="58" name="Shape 55"/>
          <p:cNvSpPr/>
          <p:nvPr/>
        </p:nvSpPr>
        <p:spPr>
          <a:xfrm>
            <a:off x="1463040" y="3291840"/>
            <a:ext cx="137160" cy="137160"/>
          </a:xfrm>
          <a:prstGeom prst="ellipse">
            <a:avLst/>
          </a:prstGeom>
          <a:solidFill>
            <a:srgbClr val="3A5BFF"/>
          </a:solidFill>
          <a:ln w="12700">
            <a:solidFill>
              <a:srgbClr val="3A5BFF"/>
            </a:solidFill>
            <a:prstDash val="solid"/>
          </a:ln>
        </p:spPr>
      </p:sp>
      <p:sp>
        <p:nvSpPr>
          <p:cNvPr id="59" name="Shape 56"/>
          <p:cNvSpPr/>
          <p:nvPr/>
        </p:nvSpPr>
        <p:spPr>
          <a:xfrm>
            <a:off x="1737360" y="3291840"/>
            <a:ext cx="137160" cy="137160"/>
          </a:xfrm>
          <a:prstGeom prst="ellipse">
            <a:avLst/>
          </a:prstGeom>
          <a:solidFill>
            <a:srgbClr val="D5D9E6"/>
          </a:solidFill>
          <a:ln w="12700">
            <a:solidFill>
              <a:srgbClr val="D5D9E6"/>
            </a:solidFill>
            <a:prstDash val="solid"/>
          </a:ln>
        </p:spPr>
      </p:sp>
      <p:sp>
        <p:nvSpPr>
          <p:cNvPr id="60" name="Shape 57"/>
          <p:cNvSpPr/>
          <p:nvPr/>
        </p:nvSpPr>
        <p:spPr>
          <a:xfrm>
            <a:off x="2011680" y="3291840"/>
            <a:ext cx="137160" cy="137160"/>
          </a:xfrm>
          <a:prstGeom prst="ellipse">
            <a:avLst/>
          </a:prstGeom>
          <a:solidFill>
            <a:srgbClr val="D5D9E6"/>
          </a:solidFill>
          <a:ln w="12700">
            <a:solidFill>
              <a:srgbClr val="D5D9E6"/>
            </a:solidFill>
            <a:prstDash val="solid"/>
          </a:ln>
        </p:spPr>
      </p:sp>
      <p:sp>
        <p:nvSpPr>
          <p:cNvPr id="61" name="Shape 58"/>
          <p:cNvSpPr/>
          <p:nvPr/>
        </p:nvSpPr>
        <p:spPr>
          <a:xfrm>
            <a:off x="2286000" y="3291840"/>
            <a:ext cx="137160" cy="137160"/>
          </a:xfrm>
          <a:prstGeom prst="ellipse">
            <a:avLst/>
          </a:prstGeom>
          <a:solidFill>
            <a:srgbClr val="D5D9E6"/>
          </a:solidFill>
          <a:ln w="12700">
            <a:solidFill>
              <a:srgbClr val="D5D9E6"/>
            </a:solidFill>
            <a:prstDash val="solid"/>
          </a:ln>
        </p:spPr>
      </p:sp>
      <p:sp>
        <p:nvSpPr>
          <p:cNvPr id="62" name="Shape 59"/>
          <p:cNvSpPr/>
          <p:nvPr/>
        </p:nvSpPr>
        <p:spPr>
          <a:xfrm>
            <a:off x="2560320" y="3291840"/>
            <a:ext cx="137160" cy="137160"/>
          </a:xfrm>
          <a:prstGeom prst="ellipse">
            <a:avLst/>
          </a:prstGeom>
          <a:solidFill>
            <a:srgbClr val="D5D9E6"/>
          </a:solidFill>
          <a:ln w="12700">
            <a:solidFill>
              <a:srgbClr val="D5D9E6"/>
            </a:solidFill>
            <a:prstDash val="solid"/>
          </a:ln>
        </p:spPr>
      </p:sp>
      <p:sp>
        <p:nvSpPr>
          <p:cNvPr id="63" name="Shape 60"/>
          <p:cNvSpPr/>
          <p:nvPr/>
        </p:nvSpPr>
        <p:spPr>
          <a:xfrm>
            <a:off x="2834640" y="3291840"/>
            <a:ext cx="137160" cy="137160"/>
          </a:xfrm>
          <a:prstGeom prst="ellipse">
            <a:avLst/>
          </a:prstGeom>
          <a:solidFill>
            <a:srgbClr val="D5D9E6"/>
          </a:solidFill>
          <a:ln w="12700">
            <a:solidFill>
              <a:srgbClr val="D5D9E6"/>
            </a:solidFill>
            <a:prstDash val="solid"/>
          </a:ln>
        </p:spPr>
      </p:sp>
      <p:sp>
        <p:nvSpPr>
          <p:cNvPr id="64" name="Shape 61"/>
          <p:cNvSpPr/>
          <p:nvPr/>
        </p:nvSpPr>
        <p:spPr>
          <a:xfrm>
            <a:off x="3108960" y="3291840"/>
            <a:ext cx="137160" cy="137160"/>
          </a:xfrm>
          <a:prstGeom prst="ellipse">
            <a:avLst/>
          </a:prstGeom>
          <a:solidFill>
            <a:srgbClr val="D5D9E6"/>
          </a:solidFill>
          <a:ln w="12700">
            <a:solidFill>
              <a:srgbClr val="D5D9E6"/>
            </a:solidFill>
            <a:prstDash val="solid"/>
          </a:ln>
        </p:spPr>
      </p:sp>
      <p:sp>
        <p:nvSpPr>
          <p:cNvPr id="65" name="Shape 62"/>
          <p:cNvSpPr/>
          <p:nvPr/>
        </p:nvSpPr>
        <p:spPr>
          <a:xfrm>
            <a:off x="640080" y="3566160"/>
            <a:ext cx="137160" cy="137160"/>
          </a:xfrm>
          <a:prstGeom prst="ellipse">
            <a:avLst/>
          </a:prstGeom>
          <a:solidFill>
            <a:srgbClr val="D5D9E6"/>
          </a:solidFill>
          <a:ln w="12700">
            <a:solidFill>
              <a:srgbClr val="D5D9E6"/>
            </a:solidFill>
            <a:prstDash val="solid"/>
          </a:ln>
        </p:spPr>
      </p:sp>
      <p:sp>
        <p:nvSpPr>
          <p:cNvPr id="66" name="Shape 63"/>
          <p:cNvSpPr/>
          <p:nvPr/>
        </p:nvSpPr>
        <p:spPr>
          <a:xfrm>
            <a:off x="914400" y="3566160"/>
            <a:ext cx="137160" cy="137160"/>
          </a:xfrm>
          <a:prstGeom prst="ellipse">
            <a:avLst/>
          </a:prstGeom>
          <a:solidFill>
            <a:srgbClr val="D5D9E6"/>
          </a:solidFill>
          <a:ln w="12700">
            <a:solidFill>
              <a:srgbClr val="D5D9E6"/>
            </a:solidFill>
            <a:prstDash val="solid"/>
          </a:ln>
        </p:spPr>
      </p:sp>
      <p:sp>
        <p:nvSpPr>
          <p:cNvPr id="67" name="Shape 64"/>
          <p:cNvSpPr/>
          <p:nvPr/>
        </p:nvSpPr>
        <p:spPr>
          <a:xfrm>
            <a:off x="1188720" y="3566160"/>
            <a:ext cx="137160" cy="137160"/>
          </a:xfrm>
          <a:prstGeom prst="ellipse">
            <a:avLst/>
          </a:prstGeom>
          <a:solidFill>
            <a:srgbClr val="D5D9E6"/>
          </a:solidFill>
          <a:ln w="12700">
            <a:solidFill>
              <a:srgbClr val="D5D9E6"/>
            </a:solidFill>
            <a:prstDash val="solid"/>
          </a:ln>
        </p:spPr>
      </p:sp>
      <p:sp>
        <p:nvSpPr>
          <p:cNvPr id="68" name="Shape 65"/>
          <p:cNvSpPr/>
          <p:nvPr/>
        </p:nvSpPr>
        <p:spPr>
          <a:xfrm>
            <a:off x="1463040" y="3566160"/>
            <a:ext cx="137160" cy="137160"/>
          </a:xfrm>
          <a:prstGeom prst="ellipse">
            <a:avLst/>
          </a:prstGeom>
          <a:solidFill>
            <a:srgbClr val="D5D9E6"/>
          </a:solidFill>
          <a:ln w="12700">
            <a:solidFill>
              <a:srgbClr val="D5D9E6"/>
            </a:solidFill>
            <a:prstDash val="solid"/>
          </a:ln>
        </p:spPr>
      </p:sp>
      <p:sp>
        <p:nvSpPr>
          <p:cNvPr id="69" name="Shape 66"/>
          <p:cNvSpPr/>
          <p:nvPr/>
        </p:nvSpPr>
        <p:spPr>
          <a:xfrm>
            <a:off x="1737360" y="3566160"/>
            <a:ext cx="137160" cy="137160"/>
          </a:xfrm>
          <a:prstGeom prst="ellipse">
            <a:avLst/>
          </a:prstGeom>
          <a:solidFill>
            <a:srgbClr val="D5D9E6"/>
          </a:solidFill>
          <a:ln w="12700">
            <a:solidFill>
              <a:srgbClr val="D5D9E6"/>
            </a:solidFill>
            <a:prstDash val="solid"/>
          </a:ln>
        </p:spPr>
      </p:sp>
      <p:sp>
        <p:nvSpPr>
          <p:cNvPr id="70" name="Shape 67"/>
          <p:cNvSpPr/>
          <p:nvPr/>
        </p:nvSpPr>
        <p:spPr>
          <a:xfrm>
            <a:off x="2011680" y="3566160"/>
            <a:ext cx="137160" cy="137160"/>
          </a:xfrm>
          <a:prstGeom prst="ellipse">
            <a:avLst/>
          </a:prstGeom>
          <a:solidFill>
            <a:srgbClr val="D5D9E6"/>
          </a:solidFill>
          <a:ln w="12700">
            <a:solidFill>
              <a:srgbClr val="D5D9E6"/>
            </a:solidFill>
            <a:prstDash val="solid"/>
          </a:ln>
        </p:spPr>
      </p:sp>
      <p:sp>
        <p:nvSpPr>
          <p:cNvPr id="71" name="Shape 68"/>
          <p:cNvSpPr/>
          <p:nvPr/>
        </p:nvSpPr>
        <p:spPr>
          <a:xfrm>
            <a:off x="2286000" y="3566160"/>
            <a:ext cx="137160" cy="137160"/>
          </a:xfrm>
          <a:prstGeom prst="ellipse">
            <a:avLst/>
          </a:prstGeom>
          <a:solidFill>
            <a:srgbClr val="D5D9E6"/>
          </a:solidFill>
          <a:ln w="12700">
            <a:solidFill>
              <a:srgbClr val="D5D9E6"/>
            </a:solidFill>
            <a:prstDash val="solid"/>
          </a:ln>
        </p:spPr>
      </p:sp>
      <p:sp>
        <p:nvSpPr>
          <p:cNvPr id="72" name="Shape 69"/>
          <p:cNvSpPr/>
          <p:nvPr/>
        </p:nvSpPr>
        <p:spPr>
          <a:xfrm>
            <a:off x="2560320" y="3566160"/>
            <a:ext cx="137160" cy="137160"/>
          </a:xfrm>
          <a:prstGeom prst="ellipse">
            <a:avLst/>
          </a:prstGeom>
          <a:solidFill>
            <a:srgbClr val="D5D9E6"/>
          </a:solidFill>
          <a:ln w="12700">
            <a:solidFill>
              <a:srgbClr val="D5D9E6"/>
            </a:solidFill>
            <a:prstDash val="solid"/>
          </a:ln>
        </p:spPr>
      </p:sp>
      <p:sp>
        <p:nvSpPr>
          <p:cNvPr id="73" name="Shape 70"/>
          <p:cNvSpPr/>
          <p:nvPr/>
        </p:nvSpPr>
        <p:spPr>
          <a:xfrm>
            <a:off x="2834640" y="3566160"/>
            <a:ext cx="137160" cy="137160"/>
          </a:xfrm>
          <a:prstGeom prst="ellipse">
            <a:avLst/>
          </a:prstGeom>
          <a:solidFill>
            <a:srgbClr val="D5D9E6"/>
          </a:solidFill>
          <a:ln w="12700">
            <a:solidFill>
              <a:srgbClr val="D5D9E6"/>
            </a:solidFill>
            <a:prstDash val="solid"/>
          </a:ln>
        </p:spPr>
      </p:sp>
      <p:sp>
        <p:nvSpPr>
          <p:cNvPr id="74" name="Shape 71"/>
          <p:cNvSpPr/>
          <p:nvPr/>
        </p:nvSpPr>
        <p:spPr>
          <a:xfrm>
            <a:off x="3108960" y="3566160"/>
            <a:ext cx="137160" cy="137160"/>
          </a:xfrm>
          <a:prstGeom prst="ellipse">
            <a:avLst/>
          </a:prstGeom>
          <a:solidFill>
            <a:srgbClr val="D5D9E6"/>
          </a:solidFill>
          <a:ln w="12700">
            <a:solidFill>
              <a:srgbClr val="D5D9E6"/>
            </a:solidFill>
            <a:prstDash val="solid"/>
          </a:ln>
        </p:spPr>
      </p:sp>
      <p:sp>
        <p:nvSpPr>
          <p:cNvPr id="75" name="Shape 72"/>
          <p:cNvSpPr/>
          <p:nvPr/>
        </p:nvSpPr>
        <p:spPr>
          <a:xfrm>
            <a:off x="640080" y="3840480"/>
            <a:ext cx="137160" cy="137160"/>
          </a:xfrm>
          <a:prstGeom prst="ellipse">
            <a:avLst/>
          </a:prstGeom>
          <a:solidFill>
            <a:srgbClr val="D5D9E6"/>
          </a:solidFill>
          <a:ln w="12700">
            <a:solidFill>
              <a:srgbClr val="D5D9E6"/>
            </a:solidFill>
            <a:prstDash val="solid"/>
          </a:ln>
        </p:spPr>
      </p:sp>
      <p:sp>
        <p:nvSpPr>
          <p:cNvPr id="76" name="Shape 73"/>
          <p:cNvSpPr/>
          <p:nvPr/>
        </p:nvSpPr>
        <p:spPr>
          <a:xfrm>
            <a:off x="914400" y="3840480"/>
            <a:ext cx="137160" cy="137160"/>
          </a:xfrm>
          <a:prstGeom prst="ellipse">
            <a:avLst/>
          </a:prstGeom>
          <a:solidFill>
            <a:srgbClr val="D5D9E6"/>
          </a:solidFill>
          <a:ln w="12700">
            <a:solidFill>
              <a:srgbClr val="D5D9E6"/>
            </a:solidFill>
            <a:prstDash val="solid"/>
          </a:ln>
        </p:spPr>
      </p:sp>
      <p:sp>
        <p:nvSpPr>
          <p:cNvPr id="77" name="Shape 74"/>
          <p:cNvSpPr/>
          <p:nvPr/>
        </p:nvSpPr>
        <p:spPr>
          <a:xfrm>
            <a:off x="1188720" y="3840480"/>
            <a:ext cx="137160" cy="137160"/>
          </a:xfrm>
          <a:prstGeom prst="ellipse">
            <a:avLst/>
          </a:prstGeom>
          <a:solidFill>
            <a:srgbClr val="D5D9E6"/>
          </a:solidFill>
          <a:ln w="12700">
            <a:solidFill>
              <a:srgbClr val="D5D9E6"/>
            </a:solidFill>
            <a:prstDash val="solid"/>
          </a:ln>
        </p:spPr>
      </p:sp>
      <p:sp>
        <p:nvSpPr>
          <p:cNvPr id="78" name="Shape 75"/>
          <p:cNvSpPr/>
          <p:nvPr/>
        </p:nvSpPr>
        <p:spPr>
          <a:xfrm>
            <a:off x="1463040" y="3840480"/>
            <a:ext cx="137160" cy="137160"/>
          </a:xfrm>
          <a:prstGeom prst="ellipse">
            <a:avLst/>
          </a:prstGeom>
          <a:solidFill>
            <a:srgbClr val="D5D9E6"/>
          </a:solidFill>
          <a:ln w="12700">
            <a:solidFill>
              <a:srgbClr val="D5D9E6"/>
            </a:solidFill>
            <a:prstDash val="solid"/>
          </a:ln>
        </p:spPr>
      </p:sp>
      <p:sp>
        <p:nvSpPr>
          <p:cNvPr id="79" name="Shape 76"/>
          <p:cNvSpPr/>
          <p:nvPr/>
        </p:nvSpPr>
        <p:spPr>
          <a:xfrm>
            <a:off x="1737360" y="3840480"/>
            <a:ext cx="137160" cy="137160"/>
          </a:xfrm>
          <a:prstGeom prst="ellipse">
            <a:avLst/>
          </a:prstGeom>
          <a:solidFill>
            <a:srgbClr val="D5D9E6"/>
          </a:solidFill>
          <a:ln w="12700">
            <a:solidFill>
              <a:srgbClr val="D5D9E6"/>
            </a:solidFill>
            <a:prstDash val="solid"/>
          </a:ln>
        </p:spPr>
      </p:sp>
      <p:sp>
        <p:nvSpPr>
          <p:cNvPr id="80" name="Shape 77"/>
          <p:cNvSpPr/>
          <p:nvPr/>
        </p:nvSpPr>
        <p:spPr>
          <a:xfrm>
            <a:off x="2011680" y="3840480"/>
            <a:ext cx="137160" cy="137160"/>
          </a:xfrm>
          <a:prstGeom prst="ellipse">
            <a:avLst/>
          </a:prstGeom>
          <a:solidFill>
            <a:srgbClr val="D5D9E6"/>
          </a:solidFill>
          <a:ln w="12700">
            <a:solidFill>
              <a:srgbClr val="D5D9E6"/>
            </a:solidFill>
            <a:prstDash val="solid"/>
          </a:ln>
        </p:spPr>
      </p:sp>
      <p:sp>
        <p:nvSpPr>
          <p:cNvPr id="81" name="Shape 78"/>
          <p:cNvSpPr/>
          <p:nvPr/>
        </p:nvSpPr>
        <p:spPr>
          <a:xfrm>
            <a:off x="2286000" y="3840480"/>
            <a:ext cx="137160" cy="137160"/>
          </a:xfrm>
          <a:prstGeom prst="ellipse">
            <a:avLst/>
          </a:prstGeom>
          <a:solidFill>
            <a:srgbClr val="D5D9E6"/>
          </a:solidFill>
          <a:ln w="12700">
            <a:solidFill>
              <a:srgbClr val="D5D9E6"/>
            </a:solidFill>
            <a:prstDash val="solid"/>
          </a:ln>
        </p:spPr>
      </p:sp>
      <p:sp>
        <p:nvSpPr>
          <p:cNvPr id="82" name="Shape 79"/>
          <p:cNvSpPr/>
          <p:nvPr/>
        </p:nvSpPr>
        <p:spPr>
          <a:xfrm>
            <a:off x="2560320" y="3840480"/>
            <a:ext cx="137160" cy="137160"/>
          </a:xfrm>
          <a:prstGeom prst="ellipse">
            <a:avLst/>
          </a:prstGeom>
          <a:solidFill>
            <a:srgbClr val="D5D9E6"/>
          </a:solidFill>
          <a:ln w="12700">
            <a:solidFill>
              <a:srgbClr val="D5D9E6"/>
            </a:solidFill>
            <a:prstDash val="solid"/>
          </a:ln>
        </p:spPr>
      </p:sp>
      <p:sp>
        <p:nvSpPr>
          <p:cNvPr id="83" name="Shape 80"/>
          <p:cNvSpPr/>
          <p:nvPr/>
        </p:nvSpPr>
        <p:spPr>
          <a:xfrm>
            <a:off x="2834640" y="3840480"/>
            <a:ext cx="137160" cy="137160"/>
          </a:xfrm>
          <a:prstGeom prst="ellipse">
            <a:avLst/>
          </a:prstGeom>
          <a:solidFill>
            <a:srgbClr val="D5D9E6"/>
          </a:solidFill>
          <a:ln w="12700">
            <a:solidFill>
              <a:srgbClr val="D5D9E6"/>
            </a:solidFill>
            <a:prstDash val="solid"/>
          </a:ln>
        </p:spPr>
      </p:sp>
      <p:sp>
        <p:nvSpPr>
          <p:cNvPr id="84" name="Shape 81"/>
          <p:cNvSpPr/>
          <p:nvPr/>
        </p:nvSpPr>
        <p:spPr>
          <a:xfrm>
            <a:off x="3108960" y="3840480"/>
            <a:ext cx="137160" cy="137160"/>
          </a:xfrm>
          <a:prstGeom prst="ellipse">
            <a:avLst/>
          </a:prstGeom>
          <a:solidFill>
            <a:srgbClr val="D5D9E6"/>
          </a:solidFill>
          <a:ln w="12700">
            <a:solidFill>
              <a:srgbClr val="D5D9E6"/>
            </a:solidFill>
            <a:prstDash val="solid"/>
          </a:ln>
        </p:spPr>
      </p:sp>
      <p:sp>
        <p:nvSpPr>
          <p:cNvPr id="85" name="Text 82"/>
          <p:cNvSpPr txBox="1"/>
          <p:nvPr/>
        </p:nvSpPr>
        <p:spPr>
          <a:xfrm>
            <a:off x="640080" y="4251960"/>
            <a:ext cx="4114800" cy="365760"/>
          </a:xfrm>
          <a:prstGeom prst="rect">
            <a:avLst/>
          </a:prstGeom>
          <a:noFill/>
          <a:ln/>
        </p:spPr>
        <p:txBody>
          <a:bodyPr wrap="square" lIns="0" tIns="0" rIns="0" bIns="0" rtlCol="0" anchor="t"/>
          <a:lstStyle/>
          <a:p>
            <a:pPr indent="0" marL="0">
              <a:buNone/>
            </a:pPr>
            <a:r>
              <a:rPr lang="en-US" sz="1400" dirty="0">
                <a:solidFill>
                  <a:schemeClr val="accent1"/>
                </a:solidFill>
              </a:rPr>
              <a:t>●</a:t>
            </a:r>
            <a:pPr indent="0" marL="0">
              <a:buNone/>
            </a:pPr>
            <a:r>
              <a:rPr lang="en-US" sz="1400" dirty="0">
                <a:solidFill>
                  <a:schemeClr val="tx2"/>
                </a:solidFill>
              </a:rPr>
              <a:t> 실험에 들어온 사용자   </a:t>
            </a:r>
            <a:pPr indent="0" marL="0">
              <a:buNone/>
            </a:pPr>
            <a:r>
              <a:rPr lang="en-US" sz="1400" dirty="0">
                <a:solidFill>
                  <a:srgbClr val="D5D9E6"/>
                </a:solidFill>
              </a:rPr>
              <a:t>●</a:t>
            </a:r>
            <a:pPr indent="0" marL="0">
              <a:buNone/>
            </a:pPr>
            <a:r>
              <a:rPr lang="en-US" sz="1400" dirty="0">
                <a:solidFill>
                  <a:schemeClr val="tx2"/>
                </a:solidFill>
              </a:rPr>
              <a:t> 실제 출시 대상</a:t>
            </a:r>
            <a:endParaRPr lang="en-US" sz="1400" dirty="0"/>
          </a:p>
        </p:txBody>
      </p:sp>
      <p:sp>
        <p:nvSpPr>
          <p:cNvPr id="86" name="Text 83"/>
          <p:cNvSpPr txBox="1"/>
          <p:nvPr/>
        </p:nvSpPr>
        <p:spPr>
          <a:xfrm>
            <a:off x="4206240" y="1874520"/>
            <a:ext cx="7315200" cy="2743200"/>
          </a:xfrm>
          <a:prstGeom prst="rect">
            <a:avLst/>
          </a:prstGeom>
          <a:noFill/>
          <a:ln/>
        </p:spPr>
        <p:txBody>
          <a:bodyPr wrap="square" lIns="0" tIns="0" rIns="0" bIns="0" rtlCol="0" anchor="t"/>
          <a:lstStyle/>
          <a:p>
            <a:pPr indent="0" marL="0">
              <a:spcAft>
                <a:spcPts val="1000"/>
              </a:spcAft>
              <a:buNone/>
            </a:pPr>
            <a:r>
              <a:rPr lang="en-US" sz="2000" b="1" dirty="0">
                <a:solidFill>
                  <a:schemeClr val="tx1"/>
                </a:solidFill>
              </a:rPr>
              <a:t>실험 전에 확인할 질문</a:t>
            </a:r>
            <a:endParaRPr lang="en-US" sz="1500" dirty="0"/>
          </a:p>
          <a:p>
            <a:pPr marL="342900" indent="-342900">
              <a:spcAft>
                <a:spcPts val="800"/>
              </a:spcAft>
              <a:buSzPct val="100000"/>
              <a:buChar char="•"/>
            </a:pPr>
            <a:r>
              <a:rPr lang="en-US" sz="1500" dirty="0">
                <a:solidFill>
                  <a:schemeClr val="tx1"/>
                </a:solidFill>
              </a:rPr>
              <a:t>기간: 주중만 돌리고 주말 사용자를 빼지 않았나?</a:t>
            </a:r>
            <a:endParaRPr lang="en-US" sz="1500" dirty="0"/>
          </a:p>
          <a:p>
            <a:pPr marL="342900" indent="-342900">
              <a:spcAft>
                <a:spcPts val="800"/>
              </a:spcAft>
              <a:buSzPct val="100000"/>
              <a:buChar char="•"/>
            </a:pPr>
            <a:r>
              <a:rPr lang="en-US" sz="1500" dirty="0">
                <a:solidFill>
                  <a:schemeClr val="tx1"/>
                </a:solidFill>
              </a:rPr>
              <a:t>플랫폼: iOS에서만 노출되지 않았나?</a:t>
            </a:r>
            <a:endParaRPr lang="en-US" sz="1500" dirty="0"/>
          </a:p>
          <a:p>
            <a:pPr marL="342900" indent="-342900">
              <a:spcAft>
                <a:spcPts val="800"/>
              </a:spcAft>
              <a:buSzPct val="100000"/>
              <a:buChar char="•"/>
            </a:pPr>
            <a:r>
              <a:rPr lang="en-US" sz="1500" dirty="0">
                <a:solidFill>
                  <a:schemeClr val="tx1"/>
                </a:solidFill>
              </a:rPr>
              <a:t>사용자: 신규 사용자만 들어오지 않았나?</a:t>
            </a:r>
            <a:endParaRPr lang="en-US" sz="1500" dirty="0"/>
          </a:p>
          <a:p>
            <a:pPr marL="342900" indent="-342900">
              <a:spcAft>
                <a:spcPts val="800"/>
              </a:spcAft>
              <a:buSzPct val="100000"/>
              <a:buChar char="•"/>
            </a:pPr>
            <a:r>
              <a:rPr lang="en-US" sz="1500" dirty="0">
                <a:solidFill>
                  <a:schemeClr val="tx1"/>
                </a:solidFill>
              </a:rPr>
              <a:t>대조군: 기존 경험 그대로인가? (다른 실험이 섞이지 않았나)</a:t>
            </a:r>
            <a:endParaRPr lang="en-US" sz="1500" dirty="0"/>
          </a:p>
        </p:txBody>
      </p:sp>
      <p:sp>
        <p:nvSpPr>
          <p:cNvPr id="87" name="Text 84"/>
          <p:cNvSpPr txBox="1"/>
          <p:nvPr/>
        </p:nvSpPr>
        <p:spPr>
          <a:xfrm>
            <a:off x="640080" y="5166360"/>
            <a:ext cx="10911535" cy="457200"/>
          </a:xfrm>
          <a:prstGeom prst="rect">
            <a:avLst/>
          </a:prstGeom>
          <a:noFill/>
          <a:ln/>
        </p:spPr>
        <p:txBody>
          <a:bodyPr wrap="square" lIns="0" tIns="0" rIns="0" bIns="0" rtlCol="0" anchor="t"/>
          <a:lstStyle/>
          <a:p>
            <a:pPr indent="0" marL="0">
              <a:buNone/>
            </a:pPr>
            <a:r>
              <a:rPr lang="en-US" sz="1500" b="1" dirty="0">
                <a:solidFill>
                  <a:schemeClr val="accent1"/>
                </a:solidFill>
              </a:rPr>
              <a:t>실무에서 이렇게 말한다  </a:t>
            </a:r>
            <a:pPr indent="0" marL="0">
              <a:buNone/>
            </a:pPr>
            <a:r>
              <a:rPr lang="en-US" sz="1500" dirty="0">
                <a:solidFill>
                  <a:schemeClr val="tx1"/>
                </a:solidFill>
              </a:rPr>
              <a:t>"이번 실험은 앱 사용자만 대상이라 웹에는 따로 확인이 필요합니다"</a:t>
            </a:r>
            <a:endParaRPr lang="en-US" sz="15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Ch2 · 실험 단위</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사용자 단위에서 시작하고, 다른 단위는 이유를 댄다</a:t>
            </a:r>
            <a:endParaRPr lang="en-US" sz="2000" dirty="0"/>
          </a:p>
        </p:txBody>
      </p:sp>
      <p:sp>
        <p:nvSpPr>
          <p:cNvPr id="5" name="Text 2"/>
          <p:cNvSpPr txBox="1"/>
          <p:nvPr/>
        </p:nvSpPr>
        <p:spPr>
          <a:xfrm>
            <a:off x="640080" y="1737360"/>
            <a:ext cx="10911535" cy="365760"/>
          </a:xfrm>
          <a:prstGeom prst="rect">
            <a:avLst/>
          </a:prstGeom>
          <a:noFill/>
          <a:ln/>
        </p:spPr>
        <p:txBody>
          <a:bodyPr wrap="square" lIns="0" tIns="0" rIns="0" bIns="0" rtlCol="0" anchor="t"/>
          <a:lstStyle/>
          <a:p>
            <a:pPr indent="0" marL="0">
              <a:buNone/>
            </a:pPr>
            <a:r>
              <a:rPr lang="en-US" sz="1400" b="1" dirty="0">
                <a:solidFill>
                  <a:schemeClr val="tx1"/>
                </a:solidFill>
              </a:rPr>
              <a:t>Experimental Unit</a:t>
            </a:r>
            <a:pPr indent="0" marL="0">
              <a:buNone/>
            </a:pPr>
            <a:r>
              <a:rPr lang="en-US" sz="1400" dirty="0">
                <a:solidFill>
                  <a:schemeClr val="tx1"/>
                </a:solidFill>
              </a:rPr>
              <a:t> 처치를 독립적으로 받는 단위   </a:t>
            </a:r>
            <a:pPr indent="0" marL="0">
              <a:buNone/>
            </a:pPr>
            <a:r>
              <a:rPr lang="en-US" sz="1400" b="1" dirty="0">
                <a:solidFill>
                  <a:schemeClr val="tx1"/>
                </a:solidFill>
              </a:rPr>
              <a:t>Randomization Unit</a:t>
            </a:r>
            <a:pPr indent="0" marL="0">
              <a:buNone/>
            </a:pPr>
            <a:r>
              <a:rPr lang="en-US" sz="1400" dirty="0">
                <a:solidFill>
                  <a:schemeClr val="tx2"/>
                </a:solidFill>
              </a:rPr>
              <a:t> 무작위 배정 단위  →  온라인 실험에서는 보통 같다</a:t>
            </a:r>
            <a:endParaRPr lang="en-US" sz="14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640080" y="2194560"/>
          <a:ext cx="10911535" cy="914400"/>
        </p:xfrm>
        <a:graphic>
          <a:graphicData uri="http://schemas.openxmlformats.org/drawingml/2006/table">
            <a:tbl>
              <a:tblPr/>
              <a:tblGrid>
                <a:gridCol w="1828800"/>
                <a:gridCol w="4206240"/>
                <a:gridCol w="4873752"/>
              </a:tblGrid>
              <a:tr h="640080">
                <a:tc>
                  <a:txBody>
                    <a:bodyPr/>
                    <a:lstStyle/>
                    <a:p>
                      <a:pPr indent="0" marL="0">
                        <a:buNone/>
                      </a:pPr>
                      <a:r>
                        <a:rPr lang="en-US" sz="1400" b="1" dirty="0">
                          <a:solidFill>
                            <a:srgbClr val="555C7A"/>
                          </a:solidFill>
                        </a:rPr>
                        <a:t>단위</a:t>
                      </a:r>
                      <a:endParaRPr lang="en-US" sz="14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400" b="1" dirty="0">
                          <a:solidFill>
                            <a:srgbClr val="555C7A"/>
                          </a:solidFill>
                        </a:rPr>
                        <a:t>이럴 때 쓴다</a:t>
                      </a:r>
                      <a:endParaRPr lang="en-US" sz="14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400" b="1" dirty="0">
                          <a:solidFill>
                            <a:srgbClr val="555C7A"/>
                          </a:solidFill>
                        </a:rPr>
                        <a:t>주의할 점</a:t>
                      </a:r>
                      <a:endParaRPr lang="en-US" sz="14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r>
              <a:tr h="640080">
                <a:tc>
                  <a:txBody>
                    <a:bodyPr/>
                    <a:lstStyle/>
                    <a:p>
                      <a:pPr indent="0" marL="0">
                        <a:buNone/>
                      </a:pPr>
                      <a:r>
                        <a:rPr lang="en-US" sz="1400" b="1" dirty="0">
                          <a:solidFill>
                            <a:srgbClr val="1B1F3B"/>
                          </a:solidFill>
                        </a:rPr>
                        <a:t>사용자 (기본값)</a:t>
                      </a:r>
                      <a:endParaRPr lang="en-US" sz="14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400" dirty="0">
                          <a:solidFill>
                            <a:srgbClr val="1B1F3B"/>
                          </a:solidFill>
                        </a:rPr>
                        <a:t>일관된 경험, 리텐션·재구매 같은 누적 지표가 중요할 때</a:t>
                      </a:r>
                      <a:endParaRPr lang="en-US" sz="14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400" dirty="0">
                          <a:solidFill>
                            <a:srgbClr val="1B1F3B"/>
                          </a:solidFill>
                        </a:rPr>
                        <a:t>식별자를 계속 유지해야 하고 표본이 느리게 쌓인다</a:t>
                      </a:r>
                      <a:endParaRPr lang="en-US" sz="14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640080">
                <a:tc>
                  <a:txBody>
                    <a:bodyPr/>
                    <a:lstStyle/>
                    <a:p>
                      <a:pPr indent="0" marL="0">
                        <a:buNone/>
                      </a:pPr>
                      <a:r>
                        <a:rPr lang="en-US" sz="1400" b="1" dirty="0">
                          <a:solidFill>
                            <a:srgbClr val="1B1F3B"/>
                          </a:solidFill>
                        </a:rPr>
                        <a:t>세션</a:t>
                      </a:r>
                      <a:endParaRPr lang="en-US" sz="14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400" dirty="0">
                          <a:solidFill>
                            <a:srgbClr val="1B1F3B"/>
                          </a:solidFill>
                        </a:rPr>
                        <a:t>본 변화가 다음 방문에 영향을 주지 않을 때 (이월 효과 낮음)</a:t>
                      </a:r>
                      <a:endParaRPr lang="en-US" sz="14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400" dirty="0">
                          <a:solidFill>
                            <a:srgbClr val="1B1F3B"/>
                          </a:solidFill>
                        </a:rPr>
                        <a:t>결론이 '평균적인 세션'에 대한 것. 이월 효과로 차이가 작게 측정된다</a:t>
                      </a:r>
                      <a:endParaRPr lang="en-US" sz="14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640080">
                <a:tc>
                  <a:txBody>
                    <a:bodyPr/>
                    <a:lstStyle/>
                    <a:p>
                      <a:pPr indent="0" marL="0">
                        <a:buNone/>
                      </a:pPr>
                      <a:r>
                        <a:rPr lang="en-US" sz="1400" b="1" dirty="0">
                          <a:solidFill>
                            <a:srgbClr val="1B1F3B"/>
                          </a:solidFill>
                        </a:rPr>
                        <a:t>페이지 · 요청</a:t>
                      </a:r>
                      <a:endParaRPr lang="en-US" sz="14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400" dirty="0">
                          <a:solidFill>
                            <a:srgbClr val="1B1F3B"/>
                          </a:solidFill>
                        </a:rPr>
                        <a:t>응답 속도처럼 요청 하나의 성능을 볼 때</a:t>
                      </a:r>
                      <a:endParaRPr lang="en-US" sz="14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400" dirty="0">
                          <a:solidFill>
                            <a:srgbClr val="1B1F3B"/>
                          </a:solidFill>
                        </a:rPr>
                        <a:t>지표도 같은 단위로. 같은 사용자 관측은 닮아 있어 불확실성이 과소평가된다</a:t>
                      </a:r>
                      <a:endParaRPr lang="en-US" sz="14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bl>
          </a:graphicData>
        </a:graphic>
      </p:graphicFrame>
      <p:sp>
        <p:nvSpPr>
          <p:cNvPr id="7" name="Text 3"/>
          <p:cNvSpPr txBox="1"/>
          <p:nvPr/>
        </p:nvSpPr>
        <p:spPr>
          <a:xfrm>
            <a:off x="640080" y="5074920"/>
            <a:ext cx="10911535" cy="365760"/>
          </a:xfrm>
          <a:prstGeom prst="rect">
            <a:avLst/>
          </a:prstGeom>
          <a:noFill/>
          <a:ln/>
        </p:spPr>
        <p:txBody>
          <a:bodyPr wrap="square" lIns="0" tIns="0" rIns="0" bIns="0" rtlCol="0" anchor="t"/>
          <a:lstStyle/>
          <a:p>
            <a:pPr indent="0" marL="0">
              <a:buNone/>
            </a:pPr>
            <a:r>
              <a:rPr lang="en-US" sz="1500" b="1" dirty="0">
                <a:solidFill>
                  <a:schemeClr val="accent1"/>
                </a:solidFill>
              </a:rPr>
              <a:t>세션 단위를 고를 때 묻기  </a:t>
            </a:r>
            <a:pPr indent="0" marL="0">
              <a:buNone/>
            </a:pPr>
            <a:r>
              <a:rPr lang="en-US" sz="1500" dirty="0">
                <a:solidFill>
                  <a:schemeClr val="tx1"/>
                </a:solidFill>
              </a:rPr>
              <a:t>"이 변화를 본 사용자가 다음 방문에서 행동이 달라질 가능성이 있는가?"</a:t>
            </a:r>
            <a:endParaRPr lang="en-US" sz="1500" dirty="0"/>
          </a:p>
        </p:txBody>
      </p:sp>
      <p:sp>
        <p:nvSpPr>
          <p:cNvPr id="8" name="Text 4"/>
          <p:cNvSpPr txBox="1"/>
          <p:nvPr/>
        </p:nvSpPr>
        <p:spPr>
          <a:xfrm>
            <a:off x="640080" y="5486400"/>
            <a:ext cx="10911535" cy="640080"/>
          </a:xfrm>
          <a:prstGeom prst="rect">
            <a:avLst/>
          </a:prstGeom>
          <a:noFill/>
          <a:ln/>
        </p:spPr>
        <p:txBody>
          <a:bodyPr wrap="square" lIns="0" tIns="0" rIns="0" bIns="0" rtlCol="0" anchor="t"/>
          <a:lstStyle/>
          <a:p>
            <a:pPr indent="0" marL="0">
              <a:buNone/>
            </a:pPr>
            <a:r>
              <a:rPr lang="en-US" sz="1400" b="1" dirty="0">
                <a:solidFill>
                  <a:schemeClr val="accent1"/>
                </a:solidFill>
              </a:rPr>
              <a:t>원칙  </a:t>
            </a:r>
            <a:pPr indent="0" marL="0">
              <a:buNone/>
            </a:pPr>
            <a:r>
              <a:rPr lang="en-US" sz="1400" dirty="0">
                <a:solidFill>
                  <a:schemeClr val="tx1"/>
                </a:solidFill>
              </a:rPr>
              <a:t>User-level에서 시작, 다른 단위는 이유를 댈 수 있을 때만 · 배정 ≠ 분석 단위면 분산 보정 (Ch3)</a:t>
            </a:r>
            <a:endParaRPr lang="en-US" sz="14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Ch2 · 사용자 식별자</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식별자는 사람의 근사치다</a:t>
            </a:r>
            <a:endParaRPr lang="en-US" sz="20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5486400" cy="914400"/>
        </p:xfrm>
        <a:graphic>
          <a:graphicData uri="http://schemas.openxmlformats.org/drawingml/2006/table">
            <a:tbl>
              <a:tblPr/>
              <a:tblGrid>
                <a:gridCol w="2743200"/>
                <a:gridCol w="2743200"/>
              </a:tblGrid>
              <a:tr h="548640">
                <a:tc>
                  <a:txBody>
                    <a:bodyPr/>
                    <a:lstStyle/>
                    <a:p>
                      <a:pPr indent="0" marL="0">
                        <a:buNone/>
                      </a:pPr>
                      <a:r>
                        <a:rPr lang="en-US" sz="1400" b="1" dirty="0">
                          <a:solidFill>
                            <a:srgbClr val="555C7A"/>
                          </a:solidFill>
                        </a:rPr>
                        <a:t>식별자</a:t>
                      </a:r>
                      <a:endParaRPr lang="en-US" sz="14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400" b="1" dirty="0">
                          <a:solidFill>
                            <a:srgbClr val="555C7A"/>
                          </a:solidFill>
                        </a:rPr>
                        <a:t>사용 상황</a:t>
                      </a:r>
                      <a:endParaRPr lang="en-US" sz="14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r>
              <a:tr h="548640">
                <a:tc>
                  <a:txBody>
                    <a:bodyPr/>
                    <a:lstStyle/>
                    <a:p>
                      <a:pPr indent="0" marL="0">
                        <a:buNone/>
                      </a:pPr>
                      <a:r>
                        <a:rPr lang="en-US" sz="1500" b="1" dirty="0">
                          <a:solidFill>
                            <a:srgbClr val="1B1F3B"/>
                          </a:solidFill>
                          <a:latin typeface="Courier New" pitchFamily="34" charset="0"/>
                          <a:ea typeface="Courier New" pitchFamily="34" charset="-122"/>
                          <a:cs typeface="Courier New" pitchFamily="34" charset="-120"/>
                        </a:rPr>
                        <a:t>user_id / account_id</a:t>
                      </a:r>
                      <a:endParaRPr lang="en-US" sz="1500" dirty="0">
                        <a:latin typeface="Courier New" charset="0"/>
                        <a:ea typeface="Courier New" charset="0"/>
                        <a:cs typeface="Courier New" charset="0"/>
                      </a:endParaRPr>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로그인 사용자</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548640">
                <a:tc>
                  <a:txBody>
                    <a:bodyPr/>
                    <a:lstStyle/>
                    <a:p>
                      <a:pPr indent="0" marL="0">
                        <a:buNone/>
                      </a:pPr>
                      <a:r>
                        <a:rPr lang="en-US" sz="1500" b="1" dirty="0">
                          <a:solidFill>
                            <a:srgbClr val="1B1F3B"/>
                          </a:solidFill>
                          <a:latin typeface="Courier New" pitchFamily="34" charset="0"/>
                          <a:ea typeface="Courier New" pitchFamily="34" charset="-122"/>
                          <a:cs typeface="Courier New" pitchFamily="34" charset="-120"/>
                        </a:rPr>
                        <a:t>device_id</a:t>
                      </a:r>
                      <a:endParaRPr lang="en-US" sz="1500" dirty="0">
                        <a:latin typeface="Courier New" charset="0"/>
                        <a:ea typeface="Courier New" charset="0"/>
                        <a:cs typeface="Courier New" charset="0"/>
                      </a:endParaRPr>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앱의 비로그인 사용자</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548640">
                <a:tc>
                  <a:txBody>
                    <a:bodyPr/>
                    <a:lstStyle/>
                    <a:p>
                      <a:pPr indent="0" marL="0">
                        <a:buNone/>
                      </a:pPr>
                      <a:r>
                        <a:rPr lang="en-US" sz="1500" b="1" dirty="0">
                          <a:solidFill>
                            <a:srgbClr val="1B1F3B"/>
                          </a:solidFill>
                          <a:latin typeface="Courier New" pitchFamily="34" charset="0"/>
                          <a:ea typeface="Courier New" pitchFamily="34" charset="-122"/>
                          <a:cs typeface="Courier New" pitchFamily="34" charset="-120"/>
                        </a:rPr>
                        <a:t>Cookie ID</a:t>
                      </a:r>
                      <a:endParaRPr lang="en-US" sz="1500" dirty="0">
                        <a:latin typeface="Courier New" charset="0"/>
                        <a:ea typeface="Courier New" charset="0"/>
                        <a:cs typeface="Courier New" charset="0"/>
                      </a:endParaRPr>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웹 비로그인 사용자</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548640">
                <a:tc>
                  <a:txBody>
                    <a:bodyPr/>
                    <a:lstStyle/>
                    <a:p>
                      <a:pPr indent="0" marL="0">
                        <a:buNone/>
                      </a:pPr>
                      <a:r>
                        <a:rPr lang="en-US" sz="1500" b="1" dirty="0">
                          <a:solidFill>
                            <a:srgbClr val="1B1F3B"/>
                          </a:solidFill>
                          <a:latin typeface="Courier New" pitchFamily="34" charset="0"/>
                          <a:ea typeface="Courier New" pitchFamily="34" charset="-122"/>
                          <a:cs typeface="Courier New" pitchFamily="34" charset="-120"/>
                        </a:rPr>
                        <a:t>anonymous_id</a:t>
                      </a:r>
                      <a:endParaRPr lang="en-US" sz="1500" dirty="0">
                        <a:latin typeface="Courier New" charset="0"/>
                        <a:ea typeface="Courier New" charset="0"/>
                        <a:cs typeface="Courier New" charset="0"/>
                      </a:endParaRPr>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로그인 전 사용자 추적</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bl>
          </a:graphicData>
        </a:graphic>
      </p:graphicFrame>
      <p:sp>
        <p:nvSpPr>
          <p:cNvPr id="6" name="Text 2"/>
          <p:cNvSpPr txBox="1"/>
          <p:nvPr/>
        </p:nvSpPr>
        <p:spPr>
          <a:xfrm>
            <a:off x="6675120" y="1783080"/>
            <a:ext cx="4892040" cy="3291840"/>
          </a:xfrm>
          <a:prstGeom prst="rect">
            <a:avLst/>
          </a:prstGeom>
          <a:noFill/>
          <a:ln/>
        </p:spPr>
        <p:txBody>
          <a:bodyPr wrap="square" lIns="0" tIns="0" rIns="0" bIns="0" rtlCol="0" anchor="t"/>
          <a:lstStyle/>
          <a:p>
            <a:pPr indent="0" marL="0">
              <a:spcAft>
                <a:spcPts val="400"/>
              </a:spcAft>
              <a:buNone/>
            </a:pPr>
            <a:r>
              <a:rPr lang="en-US" sz="2000" b="1" dirty="0">
                <a:solidFill>
                  <a:schemeClr val="accent1"/>
                </a:solidFill>
              </a:rPr>
              <a:t>Sticky Assignment</a:t>
            </a:r>
            <a:endParaRPr lang="en-US" sz="1500" dirty="0"/>
          </a:p>
          <a:p>
            <a:pPr indent="0" marL="0">
              <a:spcAft>
                <a:spcPts val="1400"/>
              </a:spcAft>
              <a:buNone/>
            </a:pPr>
            <a:r>
              <a:rPr lang="en-US" sz="1500" dirty="0">
                <a:solidFill>
                  <a:schemeClr val="tx1"/>
                </a:solidFill>
              </a:rPr>
              <a:t>같은 사용자 → 실험 내내 같은 Variant</a:t>
            </a:r>
            <a:endParaRPr lang="en-US" sz="1500" dirty="0"/>
          </a:p>
          <a:p>
            <a:pPr indent="0" marL="0">
              <a:spcAft>
                <a:spcPts val="400"/>
              </a:spcAft>
              <a:buNone/>
            </a:pPr>
            <a:r>
              <a:rPr lang="en-US" sz="1500" b="1" dirty="0">
                <a:solidFill>
                  <a:schemeClr val="tx1"/>
                </a:solidFill>
              </a:rPr>
              <a:t>같은 사람이 두 그룹에 걸치는 경우</a:t>
            </a:r>
            <a:endParaRPr lang="en-US" sz="1500" dirty="0"/>
          </a:p>
          <a:p>
            <a:pPr marL="342900" indent="-342900">
              <a:spcAft>
                <a:spcPts val="400"/>
              </a:spcAft>
              <a:buSzPct val="100000"/>
              <a:buChar char="•"/>
            </a:pPr>
            <a:r>
              <a:rPr lang="en-US" sz="1500" dirty="0">
                <a:solidFill>
                  <a:schemeClr val="tx1"/>
                </a:solidFill>
              </a:rPr>
              <a:t>쿠키를 지우거나 브라우저·기기를 바꿈</a:t>
            </a:r>
            <a:endParaRPr lang="en-US" sz="1500" dirty="0"/>
          </a:p>
          <a:p>
            <a:pPr marL="342900" indent="-342900">
              <a:spcAft>
                <a:spcPts val="1000"/>
              </a:spcAft>
              <a:buSzPct val="100000"/>
              <a:buChar char="•"/>
            </a:pPr>
            <a:r>
              <a:rPr lang="en-US" sz="1500" dirty="0">
                <a:solidFill>
                  <a:schemeClr val="tx1"/>
                </a:solidFill>
              </a:rPr>
              <a:t>로그인 전후로 식별자가 달라짐</a:t>
            </a:r>
            <a:endParaRPr lang="en-US" sz="1500" dirty="0"/>
          </a:p>
          <a:p>
            <a:pPr indent="0" marL="0">
              <a:spcAft>
                <a:spcPts val="400"/>
              </a:spcAft>
              <a:buNone/>
            </a:pPr>
            <a:r>
              <a:rPr lang="en-US" sz="1500" dirty="0">
                <a:solidFill>
                  <a:schemeClr val="tx2"/>
                </a:solidFill>
              </a:rPr>
              <a:t>→ 두 그룹의 경험이 섞여 차이가 작게 측정됩니다</a:t>
            </a:r>
            <a:endParaRPr lang="en-US" sz="1500" dirty="0"/>
          </a:p>
        </p:txBody>
      </p:sp>
      <p:sp>
        <p:nvSpPr>
          <p:cNvPr id="7" name="Text 3"/>
          <p:cNvSpPr txBox="1"/>
          <p:nvPr/>
        </p:nvSpPr>
        <p:spPr>
          <a:xfrm>
            <a:off x="640080" y="5120640"/>
            <a:ext cx="10911535" cy="731520"/>
          </a:xfrm>
          <a:prstGeom prst="rect">
            <a:avLst/>
          </a:prstGeom>
          <a:noFill/>
          <a:ln/>
        </p:spPr>
        <p:txBody>
          <a:bodyPr wrap="square" lIns="0" tIns="0" rIns="0" bIns="0" rtlCol="0" anchor="t"/>
          <a:lstStyle/>
          <a:p>
            <a:pPr indent="0" marL="0">
              <a:buNone/>
            </a:pPr>
            <a:r>
              <a:rPr lang="en-US" sz="1500" b="1" dirty="0">
                <a:solidFill>
                  <a:schemeClr val="accent1"/>
                </a:solidFill>
              </a:rPr>
              <a:t>기억할 것  </a:t>
            </a:r>
            <a:pPr indent="0" marL="0">
              <a:buNone/>
            </a:pPr>
            <a:r>
              <a:rPr lang="en-US" sz="1500" dirty="0">
                <a:solidFill>
                  <a:schemeClr val="tx1"/>
                </a:solidFill>
              </a:rPr>
              <a:t>식별자는 사람의 근사치 · 배정 기준 식별자는 실험 전에 정하기 · 식별자 로그 = 개인정보</a:t>
            </a:r>
            <a:endParaRPr lang="en-US" sz="15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Ch2 · 세션 단위</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사람을 계속 알아보기 어렵다면 세션 단위를 쓴다</a:t>
            </a:r>
            <a:endParaRPr lang="en-US" sz="20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640080" y="1737360"/>
          <a:ext cx="6949440" cy="914400"/>
        </p:xfrm>
        <a:graphic>
          <a:graphicData uri="http://schemas.openxmlformats.org/drawingml/2006/table">
            <a:tbl>
              <a:tblPr/>
              <a:tblGrid>
                <a:gridCol w="3566160"/>
                <a:gridCol w="3383280"/>
              </a:tblGrid>
              <a:tr h="548640">
                <a:tc>
                  <a:txBody>
                    <a:bodyPr/>
                    <a:lstStyle/>
                    <a:p>
                      <a:pPr indent="0" marL="0">
                        <a:buNone/>
                      </a:pPr>
                      <a:r>
                        <a:rPr lang="en-US" sz="1400" b="1" dirty="0">
                          <a:solidFill>
                            <a:srgbClr val="555C7A"/>
                          </a:solidFill>
                        </a:rPr>
                        <a:t>상황</a:t>
                      </a:r>
                      <a:endParaRPr lang="en-US" sz="14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400" b="1" dirty="0">
                          <a:solidFill>
                            <a:srgbClr val="555C7A"/>
                          </a:solidFill>
                        </a:rPr>
                        <a:t>왜 식별이 어려운가</a:t>
                      </a:r>
                      <a:endParaRPr lang="en-US" sz="14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r>
              <a:tr h="548640">
                <a:tc>
                  <a:txBody>
                    <a:bodyPr/>
                    <a:lstStyle/>
                    <a:p>
                      <a:pPr indent="0" marL="0">
                        <a:buNone/>
                      </a:pPr>
                      <a:r>
                        <a:rPr lang="en-US" sz="1500" dirty="0">
                          <a:solidFill>
                            <a:srgbClr val="1B1F3B"/>
                          </a:solidFill>
                        </a:rPr>
                        <a:t>로그인이 없는 웹사이트 (뉴스, 정보성 페이지)</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사용자를 알아보는 수단이 쿠키뿐이다</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548640">
                <a:tc>
                  <a:txBody>
                    <a:bodyPr/>
                    <a:lstStyle/>
                    <a:p>
                      <a:pPr indent="0" marL="0">
                        <a:buNone/>
                      </a:pPr>
                      <a:r>
                        <a:rPr lang="en-US" sz="1500" dirty="0">
                          <a:solidFill>
                            <a:srgbClr val="1B1F3B"/>
                          </a:solidFill>
                        </a:rPr>
                        <a:t>쿠키를 거부하거나 자주 지우는 환경</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쿠키가 사라지면 같은 사람이 새 사용자로 보인다</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548640">
                <a:tc>
                  <a:txBody>
                    <a:bodyPr/>
                    <a:lstStyle/>
                    <a:p>
                      <a:pPr indent="0" marL="0">
                        <a:buNone/>
                      </a:pPr>
                      <a:r>
                        <a:rPr lang="en-US" sz="1500" dirty="0">
                          <a:solidFill>
                            <a:srgbClr val="1B1F3B"/>
                          </a:solidFill>
                        </a:rPr>
                        <a:t>시크릿 모드, 추적 방지 브라우저</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세션이 끝나면 식별 정보가 삭제된다</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548640">
                <a:tc>
                  <a:txBody>
                    <a:bodyPr/>
                    <a:lstStyle/>
                    <a:p>
                      <a:pPr indent="0" marL="0">
                        <a:buNone/>
                      </a:pPr>
                      <a:r>
                        <a:rPr lang="en-US" sz="1500" dirty="0">
                          <a:solidFill>
                            <a:srgbClr val="1B1F3B"/>
                          </a:solidFill>
                        </a:rPr>
                        <a:t>공용 기기 (키오스크, 매장 태블릿, 도서관 PC)</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한 기기를 여러 사람이 써서 개인을 알 수 없다</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548640">
                <a:tc>
                  <a:txBody>
                    <a:bodyPr/>
                    <a:lstStyle/>
                    <a:p>
                      <a:pPr indent="0" marL="0">
                        <a:buNone/>
                      </a:pPr>
                      <a:r>
                        <a:rPr lang="en-US" sz="1500" dirty="0">
                          <a:solidFill>
                            <a:srgbClr val="1B1F3B"/>
                          </a:solidFill>
                        </a:rPr>
                        <a:t>개인정보 수집을 제한하는 서비스</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식별자를 아예 저장하지 않는다</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bl>
          </a:graphicData>
        </a:graphic>
      </p:graphicFrame>
      <p:sp>
        <p:nvSpPr>
          <p:cNvPr id="6" name="Text 2"/>
          <p:cNvSpPr txBox="1"/>
          <p:nvPr/>
        </p:nvSpPr>
        <p:spPr>
          <a:xfrm>
            <a:off x="8001000" y="1737360"/>
            <a:ext cx="3566160" cy="4114800"/>
          </a:xfrm>
          <a:prstGeom prst="rect">
            <a:avLst/>
          </a:prstGeom>
          <a:noFill/>
          <a:ln/>
        </p:spPr>
        <p:txBody>
          <a:bodyPr wrap="square" lIns="0" tIns="0" rIns="0" bIns="0" rtlCol="0" anchor="t"/>
          <a:lstStyle/>
          <a:p>
            <a:pPr indent="0" marL="0">
              <a:buNone/>
            </a:pPr>
            <a:r>
              <a:rPr lang="en-US" sz="2000" b="1" dirty="0">
                <a:solidFill>
                  <a:schemeClr val="accent1"/>
                </a:solidFill>
              </a:rPr>
              <a:t>장점</a:t>
            </a:r>
            <a:endParaRPr lang="en-US" sz="1500" dirty="0"/>
          </a:p>
          <a:p>
            <a:pPr indent="0" marL="0">
              <a:spcAft>
                <a:spcPts val="400"/>
              </a:spcAft>
              <a:buNone/>
            </a:pPr>
            <a:r>
              <a:rPr lang="en-US" sz="1500" dirty="0">
                <a:solidFill>
                  <a:schemeClr val="tx1"/>
                </a:solidFill>
              </a:rPr>
              <a:t>단위 수가 빨리 는다. 하루 3번 오면 세션 3개</a:t>
            </a:r>
            <a:endParaRPr lang="en-US" sz="1500" dirty="0"/>
          </a:p>
          <a:p>
            <a:pPr indent="0" marL="0">
              <a:spcAft>
                <a:spcPts val="1400"/>
              </a:spcAft>
              <a:buNone/>
            </a:pPr>
            <a:r>
              <a:rPr lang="en-US" sz="1500" dirty="0">
                <a:solidFill>
                  <a:schemeClr val="tx1"/>
                </a:solidFill>
              </a:rPr>
              <a:t>영구적인 사용자 ID에 덜 의존한다</a:t>
            </a:r>
            <a:endParaRPr lang="en-US" sz="1500" dirty="0"/>
          </a:p>
          <a:p>
            <a:pPr indent="0" marL="0">
              <a:buNone/>
            </a:pPr>
            <a:r>
              <a:rPr lang="en-US" sz="2000" b="1" dirty="0">
                <a:solidFill>
                  <a:schemeClr val="accent4"/>
                </a:solidFill>
              </a:rPr>
              <a:t>주의</a:t>
            </a:r>
            <a:endParaRPr lang="en-US" sz="1500" dirty="0"/>
          </a:p>
          <a:p>
            <a:pPr indent="0" marL="0">
              <a:spcAft>
                <a:spcPts val="400"/>
              </a:spcAft>
              <a:buNone/>
            </a:pPr>
            <a:r>
              <a:rPr lang="en-US" sz="1500" dirty="0">
                <a:solidFill>
                  <a:schemeClr val="tx1"/>
                </a:solidFill>
              </a:rPr>
              <a:t>결론이 '평균적인 세션'에 대한 것이 된다</a:t>
            </a:r>
            <a:endParaRPr lang="en-US" sz="1500" dirty="0"/>
          </a:p>
          <a:p>
            <a:pPr indent="0" marL="0">
              <a:spcAft>
                <a:spcPts val="400"/>
              </a:spcAft>
              <a:buNone/>
            </a:pPr>
            <a:r>
              <a:rPr lang="en-US" sz="1500" dirty="0">
                <a:solidFill>
                  <a:schemeClr val="tx1"/>
                </a:solidFill>
              </a:rPr>
              <a:t>이월 효과: 앞 세션의 B 경험이 뒤 세션 A 성과로 섞인다</a:t>
            </a:r>
            <a:endParaRPr lang="en-US" sz="1500" dirty="0"/>
          </a:p>
          <a:p>
            <a:pPr indent="0" marL="0">
              <a:buNone/>
            </a:pPr>
            <a:r>
              <a:rPr lang="en-US" sz="1500" dirty="0">
                <a:solidFill>
                  <a:schemeClr val="tx1"/>
                </a:solidFill>
              </a:rPr>
              <a:t>세션마다 화면이 바뀌어도 괜찮은 기능인지 확인한다</a:t>
            </a:r>
            <a:endParaRPr lang="en-US" sz="1500" dirty="0"/>
          </a:p>
        </p:txBody>
      </p:sp>
      <p:sp>
        <p:nvSpPr>
          <p:cNvPr id="7" name="Text 3"/>
          <p:cNvSpPr txBox="1"/>
          <p:nvPr/>
        </p:nvSpPr>
        <p:spPr>
          <a:xfrm>
            <a:off x="640080" y="5897880"/>
            <a:ext cx="10911535" cy="274320"/>
          </a:xfrm>
          <a:prstGeom prst="rect">
            <a:avLst/>
          </a:prstGeom>
          <a:noFill/>
          <a:ln/>
        </p:spPr>
        <p:txBody>
          <a:bodyPr wrap="square" lIns="0" tIns="0" rIns="0" bIns="0" rtlCol="0" anchor="t"/>
          <a:lstStyle/>
          <a:p>
            <a:pPr indent="0" marL="0">
              <a:buNone/>
            </a:pPr>
            <a:r>
              <a:rPr lang="en-US" sz="1100" dirty="0">
                <a:solidFill>
                  <a:schemeClr val="accent6"/>
                </a:solidFill>
              </a:rPr>
              <a:t>위키 04편 3.3</a:t>
            </a:r>
            <a:endParaRPr lang="en-US" sz="11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Ch2 · 트리거 분석</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효과를 받을 수 있는 사람만 분석에 넣는다</a:t>
            </a:r>
            <a:endParaRPr lang="en-US" sz="2000" dirty="0"/>
          </a:p>
        </p:txBody>
      </p:sp>
      <p:sp>
        <p:nvSpPr>
          <p:cNvPr id="5" name="Shape 2"/>
          <p:cNvSpPr/>
          <p:nvPr/>
        </p:nvSpPr>
        <p:spPr>
          <a:xfrm>
            <a:off x="640080" y="1920240"/>
            <a:ext cx="137160" cy="137160"/>
          </a:xfrm>
          <a:prstGeom prst="ellipse">
            <a:avLst/>
          </a:prstGeom>
          <a:solidFill>
            <a:srgbClr val="D5D9E6"/>
          </a:solidFill>
          <a:ln w="12700">
            <a:solidFill>
              <a:srgbClr val="D5D9E6"/>
            </a:solidFill>
            <a:prstDash val="solid"/>
          </a:ln>
        </p:spPr>
      </p:sp>
      <p:sp>
        <p:nvSpPr>
          <p:cNvPr id="6" name="Shape 3"/>
          <p:cNvSpPr/>
          <p:nvPr/>
        </p:nvSpPr>
        <p:spPr>
          <a:xfrm>
            <a:off x="914400" y="1920240"/>
            <a:ext cx="137160" cy="137160"/>
          </a:xfrm>
          <a:prstGeom prst="ellipse">
            <a:avLst/>
          </a:prstGeom>
          <a:solidFill>
            <a:srgbClr val="D5D9E6"/>
          </a:solidFill>
          <a:ln w="12700">
            <a:solidFill>
              <a:srgbClr val="D5D9E6"/>
            </a:solidFill>
            <a:prstDash val="solid"/>
          </a:ln>
        </p:spPr>
      </p:sp>
      <p:sp>
        <p:nvSpPr>
          <p:cNvPr id="7" name="Shape 4"/>
          <p:cNvSpPr/>
          <p:nvPr/>
        </p:nvSpPr>
        <p:spPr>
          <a:xfrm>
            <a:off x="1188720" y="1920240"/>
            <a:ext cx="137160" cy="137160"/>
          </a:xfrm>
          <a:prstGeom prst="ellipse">
            <a:avLst/>
          </a:prstGeom>
          <a:solidFill>
            <a:srgbClr val="D5D9E6"/>
          </a:solidFill>
          <a:ln w="12700">
            <a:solidFill>
              <a:srgbClr val="D5D9E6"/>
            </a:solidFill>
            <a:prstDash val="solid"/>
          </a:ln>
        </p:spPr>
      </p:sp>
      <p:sp>
        <p:nvSpPr>
          <p:cNvPr id="8" name="Shape 5"/>
          <p:cNvSpPr/>
          <p:nvPr/>
        </p:nvSpPr>
        <p:spPr>
          <a:xfrm>
            <a:off x="1463040" y="1920240"/>
            <a:ext cx="137160" cy="137160"/>
          </a:xfrm>
          <a:prstGeom prst="ellipse">
            <a:avLst/>
          </a:prstGeom>
          <a:solidFill>
            <a:srgbClr val="D5D9E6"/>
          </a:solidFill>
          <a:ln w="12700">
            <a:solidFill>
              <a:srgbClr val="D5D9E6"/>
            </a:solidFill>
            <a:prstDash val="solid"/>
          </a:ln>
        </p:spPr>
      </p:sp>
      <p:sp>
        <p:nvSpPr>
          <p:cNvPr id="9" name="Shape 6"/>
          <p:cNvSpPr/>
          <p:nvPr/>
        </p:nvSpPr>
        <p:spPr>
          <a:xfrm>
            <a:off x="1737360" y="1920240"/>
            <a:ext cx="137160" cy="137160"/>
          </a:xfrm>
          <a:prstGeom prst="ellipse">
            <a:avLst/>
          </a:prstGeom>
          <a:solidFill>
            <a:srgbClr val="D5D9E6"/>
          </a:solidFill>
          <a:ln w="12700">
            <a:solidFill>
              <a:srgbClr val="D5D9E6"/>
            </a:solidFill>
            <a:prstDash val="solid"/>
          </a:ln>
        </p:spPr>
      </p:sp>
      <p:sp>
        <p:nvSpPr>
          <p:cNvPr id="10" name="Shape 7"/>
          <p:cNvSpPr/>
          <p:nvPr/>
        </p:nvSpPr>
        <p:spPr>
          <a:xfrm>
            <a:off x="2011680" y="1920240"/>
            <a:ext cx="137160" cy="137160"/>
          </a:xfrm>
          <a:prstGeom prst="ellipse">
            <a:avLst/>
          </a:prstGeom>
          <a:solidFill>
            <a:srgbClr val="D5D9E6"/>
          </a:solidFill>
          <a:ln w="12700">
            <a:solidFill>
              <a:srgbClr val="D5D9E6"/>
            </a:solidFill>
            <a:prstDash val="solid"/>
          </a:ln>
        </p:spPr>
      </p:sp>
      <p:sp>
        <p:nvSpPr>
          <p:cNvPr id="11" name="Shape 8"/>
          <p:cNvSpPr/>
          <p:nvPr/>
        </p:nvSpPr>
        <p:spPr>
          <a:xfrm>
            <a:off x="2286000" y="1920240"/>
            <a:ext cx="137160" cy="137160"/>
          </a:xfrm>
          <a:prstGeom prst="ellipse">
            <a:avLst/>
          </a:prstGeom>
          <a:solidFill>
            <a:srgbClr val="D5D9E6"/>
          </a:solidFill>
          <a:ln w="12700">
            <a:solidFill>
              <a:srgbClr val="D5D9E6"/>
            </a:solidFill>
            <a:prstDash val="solid"/>
          </a:ln>
        </p:spPr>
      </p:sp>
      <p:sp>
        <p:nvSpPr>
          <p:cNvPr id="12" name="Shape 9"/>
          <p:cNvSpPr/>
          <p:nvPr/>
        </p:nvSpPr>
        <p:spPr>
          <a:xfrm>
            <a:off x="2560320" y="1920240"/>
            <a:ext cx="137160" cy="137160"/>
          </a:xfrm>
          <a:prstGeom prst="ellipse">
            <a:avLst/>
          </a:prstGeom>
          <a:solidFill>
            <a:srgbClr val="D5D9E6"/>
          </a:solidFill>
          <a:ln w="12700">
            <a:solidFill>
              <a:srgbClr val="D5D9E6"/>
            </a:solidFill>
            <a:prstDash val="solid"/>
          </a:ln>
        </p:spPr>
      </p:sp>
      <p:sp>
        <p:nvSpPr>
          <p:cNvPr id="13" name="Shape 10"/>
          <p:cNvSpPr/>
          <p:nvPr/>
        </p:nvSpPr>
        <p:spPr>
          <a:xfrm>
            <a:off x="2834640" y="1920240"/>
            <a:ext cx="137160" cy="137160"/>
          </a:xfrm>
          <a:prstGeom prst="ellipse">
            <a:avLst/>
          </a:prstGeom>
          <a:solidFill>
            <a:srgbClr val="D5D9E6"/>
          </a:solidFill>
          <a:ln w="12700">
            <a:solidFill>
              <a:srgbClr val="D5D9E6"/>
            </a:solidFill>
            <a:prstDash val="solid"/>
          </a:ln>
        </p:spPr>
      </p:sp>
      <p:sp>
        <p:nvSpPr>
          <p:cNvPr id="14" name="Shape 11"/>
          <p:cNvSpPr/>
          <p:nvPr/>
        </p:nvSpPr>
        <p:spPr>
          <a:xfrm>
            <a:off x="3108960" y="1920240"/>
            <a:ext cx="137160" cy="137160"/>
          </a:xfrm>
          <a:prstGeom prst="ellipse">
            <a:avLst/>
          </a:prstGeom>
          <a:solidFill>
            <a:srgbClr val="D5D9E6"/>
          </a:solidFill>
          <a:ln w="12700">
            <a:solidFill>
              <a:srgbClr val="D5D9E6"/>
            </a:solidFill>
            <a:prstDash val="solid"/>
          </a:ln>
        </p:spPr>
      </p:sp>
      <p:sp>
        <p:nvSpPr>
          <p:cNvPr id="15" name="Shape 12"/>
          <p:cNvSpPr/>
          <p:nvPr/>
        </p:nvSpPr>
        <p:spPr>
          <a:xfrm>
            <a:off x="640080" y="2194560"/>
            <a:ext cx="137160" cy="137160"/>
          </a:xfrm>
          <a:prstGeom prst="ellipse">
            <a:avLst/>
          </a:prstGeom>
          <a:solidFill>
            <a:srgbClr val="D5D9E6"/>
          </a:solidFill>
          <a:ln w="12700">
            <a:solidFill>
              <a:srgbClr val="D5D9E6"/>
            </a:solidFill>
            <a:prstDash val="solid"/>
          </a:ln>
        </p:spPr>
      </p:sp>
      <p:sp>
        <p:nvSpPr>
          <p:cNvPr id="16" name="Shape 13"/>
          <p:cNvSpPr/>
          <p:nvPr/>
        </p:nvSpPr>
        <p:spPr>
          <a:xfrm>
            <a:off x="914400" y="2194560"/>
            <a:ext cx="137160" cy="137160"/>
          </a:xfrm>
          <a:prstGeom prst="ellipse">
            <a:avLst/>
          </a:prstGeom>
          <a:solidFill>
            <a:srgbClr val="D5D9E6"/>
          </a:solidFill>
          <a:ln w="12700">
            <a:solidFill>
              <a:srgbClr val="D5D9E6"/>
            </a:solidFill>
            <a:prstDash val="solid"/>
          </a:ln>
        </p:spPr>
      </p:sp>
      <p:sp>
        <p:nvSpPr>
          <p:cNvPr id="17" name="Shape 14"/>
          <p:cNvSpPr/>
          <p:nvPr/>
        </p:nvSpPr>
        <p:spPr>
          <a:xfrm>
            <a:off x="1188720" y="2194560"/>
            <a:ext cx="137160" cy="137160"/>
          </a:xfrm>
          <a:prstGeom prst="ellipse">
            <a:avLst/>
          </a:prstGeom>
          <a:solidFill>
            <a:srgbClr val="D5D9E6"/>
          </a:solidFill>
          <a:ln w="12700">
            <a:solidFill>
              <a:srgbClr val="D5D9E6"/>
            </a:solidFill>
            <a:prstDash val="solid"/>
          </a:ln>
        </p:spPr>
      </p:sp>
      <p:sp>
        <p:nvSpPr>
          <p:cNvPr id="18" name="Shape 15"/>
          <p:cNvSpPr/>
          <p:nvPr/>
        </p:nvSpPr>
        <p:spPr>
          <a:xfrm>
            <a:off x="1463040" y="2194560"/>
            <a:ext cx="137160" cy="137160"/>
          </a:xfrm>
          <a:prstGeom prst="ellipse">
            <a:avLst/>
          </a:prstGeom>
          <a:solidFill>
            <a:srgbClr val="D5D9E6"/>
          </a:solidFill>
          <a:ln w="12700">
            <a:solidFill>
              <a:srgbClr val="D5D9E6"/>
            </a:solidFill>
            <a:prstDash val="solid"/>
          </a:ln>
        </p:spPr>
      </p:sp>
      <p:sp>
        <p:nvSpPr>
          <p:cNvPr id="19" name="Shape 16"/>
          <p:cNvSpPr/>
          <p:nvPr/>
        </p:nvSpPr>
        <p:spPr>
          <a:xfrm>
            <a:off x="1737360" y="2194560"/>
            <a:ext cx="137160" cy="137160"/>
          </a:xfrm>
          <a:prstGeom prst="ellipse">
            <a:avLst/>
          </a:prstGeom>
          <a:solidFill>
            <a:srgbClr val="D5D9E6"/>
          </a:solidFill>
          <a:ln w="12700">
            <a:solidFill>
              <a:srgbClr val="D5D9E6"/>
            </a:solidFill>
            <a:prstDash val="solid"/>
          </a:ln>
        </p:spPr>
      </p:sp>
      <p:sp>
        <p:nvSpPr>
          <p:cNvPr id="20" name="Shape 17"/>
          <p:cNvSpPr/>
          <p:nvPr/>
        </p:nvSpPr>
        <p:spPr>
          <a:xfrm>
            <a:off x="2011680" y="2194560"/>
            <a:ext cx="137160" cy="137160"/>
          </a:xfrm>
          <a:prstGeom prst="ellipse">
            <a:avLst/>
          </a:prstGeom>
          <a:solidFill>
            <a:srgbClr val="D5D9E6"/>
          </a:solidFill>
          <a:ln w="12700">
            <a:solidFill>
              <a:srgbClr val="D5D9E6"/>
            </a:solidFill>
            <a:prstDash val="solid"/>
          </a:ln>
        </p:spPr>
      </p:sp>
      <p:sp>
        <p:nvSpPr>
          <p:cNvPr id="21" name="Shape 18"/>
          <p:cNvSpPr/>
          <p:nvPr/>
        </p:nvSpPr>
        <p:spPr>
          <a:xfrm>
            <a:off x="2286000" y="2194560"/>
            <a:ext cx="137160" cy="137160"/>
          </a:xfrm>
          <a:prstGeom prst="ellipse">
            <a:avLst/>
          </a:prstGeom>
          <a:solidFill>
            <a:srgbClr val="D5D9E6"/>
          </a:solidFill>
          <a:ln w="12700">
            <a:solidFill>
              <a:srgbClr val="D5D9E6"/>
            </a:solidFill>
            <a:prstDash val="solid"/>
          </a:ln>
        </p:spPr>
      </p:sp>
      <p:sp>
        <p:nvSpPr>
          <p:cNvPr id="22" name="Shape 19"/>
          <p:cNvSpPr/>
          <p:nvPr/>
        </p:nvSpPr>
        <p:spPr>
          <a:xfrm>
            <a:off x="2560320" y="2194560"/>
            <a:ext cx="137160" cy="137160"/>
          </a:xfrm>
          <a:prstGeom prst="ellipse">
            <a:avLst/>
          </a:prstGeom>
          <a:solidFill>
            <a:srgbClr val="D5D9E6"/>
          </a:solidFill>
          <a:ln w="12700">
            <a:solidFill>
              <a:srgbClr val="D5D9E6"/>
            </a:solidFill>
            <a:prstDash val="solid"/>
          </a:ln>
        </p:spPr>
      </p:sp>
      <p:sp>
        <p:nvSpPr>
          <p:cNvPr id="23" name="Shape 20"/>
          <p:cNvSpPr/>
          <p:nvPr/>
        </p:nvSpPr>
        <p:spPr>
          <a:xfrm>
            <a:off x="2834640" y="2194560"/>
            <a:ext cx="137160" cy="137160"/>
          </a:xfrm>
          <a:prstGeom prst="ellipse">
            <a:avLst/>
          </a:prstGeom>
          <a:solidFill>
            <a:srgbClr val="D5D9E6"/>
          </a:solidFill>
          <a:ln w="12700">
            <a:solidFill>
              <a:srgbClr val="D5D9E6"/>
            </a:solidFill>
            <a:prstDash val="solid"/>
          </a:ln>
        </p:spPr>
      </p:sp>
      <p:sp>
        <p:nvSpPr>
          <p:cNvPr id="24" name="Shape 21"/>
          <p:cNvSpPr/>
          <p:nvPr/>
        </p:nvSpPr>
        <p:spPr>
          <a:xfrm>
            <a:off x="3108960" y="2194560"/>
            <a:ext cx="137160" cy="137160"/>
          </a:xfrm>
          <a:prstGeom prst="ellipse">
            <a:avLst/>
          </a:prstGeom>
          <a:solidFill>
            <a:srgbClr val="D5D9E6"/>
          </a:solidFill>
          <a:ln w="12700">
            <a:solidFill>
              <a:srgbClr val="D5D9E6"/>
            </a:solidFill>
            <a:prstDash val="solid"/>
          </a:ln>
        </p:spPr>
      </p:sp>
      <p:sp>
        <p:nvSpPr>
          <p:cNvPr id="25" name="Shape 22"/>
          <p:cNvSpPr/>
          <p:nvPr/>
        </p:nvSpPr>
        <p:spPr>
          <a:xfrm>
            <a:off x="640080" y="2468880"/>
            <a:ext cx="137160" cy="137160"/>
          </a:xfrm>
          <a:prstGeom prst="ellipse">
            <a:avLst/>
          </a:prstGeom>
          <a:solidFill>
            <a:srgbClr val="D5D9E6"/>
          </a:solidFill>
          <a:ln w="12700">
            <a:solidFill>
              <a:srgbClr val="D5D9E6"/>
            </a:solidFill>
            <a:prstDash val="solid"/>
          </a:ln>
        </p:spPr>
      </p:sp>
      <p:sp>
        <p:nvSpPr>
          <p:cNvPr id="26" name="Shape 23"/>
          <p:cNvSpPr/>
          <p:nvPr/>
        </p:nvSpPr>
        <p:spPr>
          <a:xfrm>
            <a:off x="914400" y="2468880"/>
            <a:ext cx="137160" cy="137160"/>
          </a:xfrm>
          <a:prstGeom prst="ellipse">
            <a:avLst/>
          </a:prstGeom>
          <a:solidFill>
            <a:srgbClr val="D5D9E6"/>
          </a:solidFill>
          <a:ln w="12700">
            <a:solidFill>
              <a:srgbClr val="D5D9E6"/>
            </a:solidFill>
            <a:prstDash val="solid"/>
          </a:ln>
        </p:spPr>
      </p:sp>
      <p:sp>
        <p:nvSpPr>
          <p:cNvPr id="27" name="Shape 24"/>
          <p:cNvSpPr/>
          <p:nvPr/>
        </p:nvSpPr>
        <p:spPr>
          <a:xfrm>
            <a:off x="1188720" y="2468880"/>
            <a:ext cx="137160" cy="137160"/>
          </a:xfrm>
          <a:prstGeom prst="ellipse">
            <a:avLst/>
          </a:prstGeom>
          <a:solidFill>
            <a:srgbClr val="D5D9E6"/>
          </a:solidFill>
          <a:ln w="12700">
            <a:solidFill>
              <a:srgbClr val="D5D9E6"/>
            </a:solidFill>
            <a:prstDash val="solid"/>
          </a:ln>
        </p:spPr>
      </p:sp>
      <p:sp>
        <p:nvSpPr>
          <p:cNvPr id="28" name="Shape 25"/>
          <p:cNvSpPr/>
          <p:nvPr/>
        </p:nvSpPr>
        <p:spPr>
          <a:xfrm>
            <a:off x="1463040" y="2468880"/>
            <a:ext cx="137160" cy="137160"/>
          </a:xfrm>
          <a:prstGeom prst="ellipse">
            <a:avLst/>
          </a:prstGeom>
          <a:solidFill>
            <a:srgbClr val="3A5BFF"/>
          </a:solidFill>
          <a:ln w="12700">
            <a:solidFill>
              <a:srgbClr val="3A5BFF"/>
            </a:solidFill>
            <a:prstDash val="solid"/>
          </a:ln>
        </p:spPr>
      </p:sp>
      <p:sp>
        <p:nvSpPr>
          <p:cNvPr id="29" name="Shape 26"/>
          <p:cNvSpPr/>
          <p:nvPr/>
        </p:nvSpPr>
        <p:spPr>
          <a:xfrm>
            <a:off x="1737360" y="2468880"/>
            <a:ext cx="137160" cy="137160"/>
          </a:xfrm>
          <a:prstGeom prst="ellipse">
            <a:avLst/>
          </a:prstGeom>
          <a:solidFill>
            <a:srgbClr val="3A5BFF"/>
          </a:solidFill>
          <a:ln w="12700">
            <a:solidFill>
              <a:srgbClr val="3A5BFF"/>
            </a:solidFill>
            <a:prstDash val="solid"/>
          </a:ln>
        </p:spPr>
      </p:sp>
      <p:sp>
        <p:nvSpPr>
          <p:cNvPr id="30" name="Shape 27"/>
          <p:cNvSpPr/>
          <p:nvPr/>
        </p:nvSpPr>
        <p:spPr>
          <a:xfrm>
            <a:off x="2011680" y="2468880"/>
            <a:ext cx="137160" cy="137160"/>
          </a:xfrm>
          <a:prstGeom prst="ellipse">
            <a:avLst/>
          </a:prstGeom>
          <a:solidFill>
            <a:srgbClr val="3A5BFF"/>
          </a:solidFill>
          <a:ln w="12700">
            <a:solidFill>
              <a:srgbClr val="3A5BFF"/>
            </a:solidFill>
            <a:prstDash val="solid"/>
          </a:ln>
        </p:spPr>
      </p:sp>
      <p:sp>
        <p:nvSpPr>
          <p:cNvPr id="31" name="Shape 28"/>
          <p:cNvSpPr/>
          <p:nvPr/>
        </p:nvSpPr>
        <p:spPr>
          <a:xfrm>
            <a:off x="2286000" y="2468880"/>
            <a:ext cx="137160" cy="137160"/>
          </a:xfrm>
          <a:prstGeom prst="ellipse">
            <a:avLst/>
          </a:prstGeom>
          <a:solidFill>
            <a:srgbClr val="3A5BFF"/>
          </a:solidFill>
          <a:ln w="12700">
            <a:solidFill>
              <a:srgbClr val="3A5BFF"/>
            </a:solidFill>
            <a:prstDash val="solid"/>
          </a:ln>
        </p:spPr>
      </p:sp>
      <p:sp>
        <p:nvSpPr>
          <p:cNvPr id="32" name="Shape 29"/>
          <p:cNvSpPr/>
          <p:nvPr/>
        </p:nvSpPr>
        <p:spPr>
          <a:xfrm>
            <a:off x="2560320" y="2468880"/>
            <a:ext cx="137160" cy="137160"/>
          </a:xfrm>
          <a:prstGeom prst="ellipse">
            <a:avLst/>
          </a:prstGeom>
          <a:solidFill>
            <a:srgbClr val="D5D9E6"/>
          </a:solidFill>
          <a:ln w="12700">
            <a:solidFill>
              <a:srgbClr val="D5D9E6"/>
            </a:solidFill>
            <a:prstDash val="solid"/>
          </a:ln>
        </p:spPr>
      </p:sp>
      <p:sp>
        <p:nvSpPr>
          <p:cNvPr id="33" name="Shape 30"/>
          <p:cNvSpPr/>
          <p:nvPr/>
        </p:nvSpPr>
        <p:spPr>
          <a:xfrm>
            <a:off x="2834640" y="2468880"/>
            <a:ext cx="137160" cy="137160"/>
          </a:xfrm>
          <a:prstGeom prst="ellipse">
            <a:avLst/>
          </a:prstGeom>
          <a:solidFill>
            <a:srgbClr val="D5D9E6"/>
          </a:solidFill>
          <a:ln w="12700">
            <a:solidFill>
              <a:srgbClr val="D5D9E6"/>
            </a:solidFill>
            <a:prstDash val="solid"/>
          </a:ln>
        </p:spPr>
      </p:sp>
      <p:sp>
        <p:nvSpPr>
          <p:cNvPr id="34" name="Shape 31"/>
          <p:cNvSpPr/>
          <p:nvPr/>
        </p:nvSpPr>
        <p:spPr>
          <a:xfrm>
            <a:off x="3108960" y="2468880"/>
            <a:ext cx="137160" cy="137160"/>
          </a:xfrm>
          <a:prstGeom prst="ellipse">
            <a:avLst/>
          </a:prstGeom>
          <a:solidFill>
            <a:srgbClr val="D5D9E6"/>
          </a:solidFill>
          <a:ln w="12700">
            <a:solidFill>
              <a:srgbClr val="D5D9E6"/>
            </a:solidFill>
            <a:prstDash val="solid"/>
          </a:ln>
        </p:spPr>
      </p:sp>
      <p:sp>
        <p:nvSpPr>
          <p:cNvPr id="35" name="Shape 32"/>
          <p:cNvSpPr/>
          <p:nvPr/>
        </p:nvSpPr>
        <p:spPr>
          <a:xfrm>
            <a:off x="640080" y="2743200"/>
            <a:ext cx="137160" cy="137160"/>
          </a:xfrm>
          <a:prstGeom prst="ellipse">
            <a:avLst/>
          </a:prstGeom>
          <a:solidFill>
            <a:srgbClr val="D5D9E6"/>
          </a:solidFill>
          <a:ln w="12700">
            <a:solidFill>
              <a:srgbClr val="D5D9E6"/>
            </a:solidFill>
            <a:prstDash val="solid"/>
          </a:ln>
        </p:spPr>
      </p:sp>
      <p:sp>
        <p:nvSpPr>
          <p:cNvPr id="36" name="Shape 33"/>
          <p:cNvSpPr/>
          <p:nvPr/>
        </p:nvSpPr>
        <p:spPr>
          <a:xfrm>
            <a:off x="914400" y="2743200"/>
            <a:ext cx="137160" cy="137160"/>
          </a:xfrm>
          <a:prstGeom prst="ellipse">
            <a:avLst/>
          </a:prstGeom>
          <a:solidFill>
            <a:srgbClr val="D5D9E6"/>
          </a:solidFill>
          <a:ln w="12700">
            <a:solidFill>
              <a:srgbClr val="D5D9E6"/>
            </a:solidFill>
            <a:prstDash val="solid"/>
          </a:ln>
        </p:spPr>
      </p:sp>
      <p:sp>
        <p:nvSpPr>
          <p:cNvPr id="37" name="Shape 34"/>
          <p:cNvSpPr/>
          <p:nvPr/>
        </p:nvSpPr>
        <p:spPr>
          <a:xfrm>
            <a:off x="1188720" y="2743200"/>
            <a:ext cx="137160" cy="137160"/>
          </a:xfrm>
          <a:prstGeom prst="ellipse">
            <a:avLst/>
          </a:prstGeom>
          <a:solidFill>
            <a:srgbClr val="D5D9E6"/>
          </a:solidFill>
          <a:ln w="12700">
            <a:solidFill>
              <a:srgbClr val="D5D9E6"/>
            </a:solidFill>
            <a:prstDash val="solid"/>
          </a:ln>
        </p:spPr>
      </p:sp>
      <p:sp>
        <p:nvSpPr>
          <p:cNvPr id="38" name="Shape 35"/>
          <p:cNvSpPr/>
          <p:nvPr/>
        </p:nvSpPr>
        <p:spPr>
          <a:xfrm>
            <a:off x="1463040" y="2743200"/>
            <a:ext cx="137160" cy="137160"/>
          </a:xfrm>
          <a:prstGeom prst="ellipse">
            <a:avLst/>
          </a:prstGeom>
          <a:solidFill>
            <a:srgbClr val="3A5BFF"/>
          </a:solidFill>
          <a:ln w="12700">
            <a:solidFill>
              <a:srgbClr val="3A5BFF"/>
            </a:solidFill>
            <a:prstDash val="solid"/>
          </a:ln>
        </p:spPr>
      </p:sp>
      <p:sp>
        <p:nvSpPr>
          <p:cNvPr id="39" name="Shape 36"/>
          <p:cNvSpPr/>
          <p:nvPr/>
        </p:nvSpPr>
        <p:spPr>
          <a:xfrm>
            <a:off x="1737360" y="2743200"/>
            <a:ext cx="137160" cy="137160"/>
          </a:xfrm>
          <a:prstGeom prst="ellipse">
            <a:avLst/>
          </a:prstGeom>
          <a:solidFill>
            <a:srgbClr val="3A5BFF"/>
          </a:solidFill>
          <a:ln w="12700">
            <a:solidFill>
              <a:srgbClr val="3A5BFF"/>
            </a:solidFill>
            <a:prstDash val="solid"/>
          </a:ln>
        </p:spPr>
      </p:sp>
      <p:sp>
        <p:nvSpPr>
          <p:cNvPr id="40" name="Shape 37"/>
          <p:cNvSpPr/>
          <p:nvPr/>
        </p:nvSpPr>
        <p:spPr>
          <a:xfrm>
            <a:off x="2011680" y="2743200"/>
            <a:ext cx="137160" cy="137160"/>
          </a:xfrm>
          <a:prstGeom prst="ellipse">
            <a:avLst/>
          </a:prstGeom>
          <a:solidFill>
            <a:srgbClr val="3A5BFF"/>
          </a:solidFill>
          <a:ln w="12700">
            <a:solidFill>
              <a:srgbClr val="3A5BFF"/>
            </a:solidFill>
            <a:prstDash val="solid"/>
          </a:ln>
        </p:spPr>
      </p:sp>
      <p:sp>
        <p:nvSpPr>
          <p:cNvPr id="41" name="Shape 38"/>
          <p:cNvSpPr/>
          <p:nvPr/>
        </p:nvSpPr>
        <p:spPr>
          <a:xfrm>
            <a:off x="2286000" y="2743200"/>
            <a:ext cx="137160" cy="137160"/>
          </a:xfrm>
          <a:prstGeom prst="ellipse">
            <a:avLst/>
          </a:prstGeom>
          <a:solidFill>
            <a:srgbClr val="3A5BFF"/>
          </a:solidFill>
          <a:ln w="12700">
            <a:solidFill>
              <a:srgbClr val="3A5BFF"/>
            </a:solidFill>
            <a:prstDash val="solid"/>
          </a:ln>
        </p:spPr>
      </p:sp>
      <p:sp>
        <p:nvSpPr>
          <p:cNvPr id="42" name="Shape 39"/>
          <p:cNvSpPr/>
          <p:nvPr/>
        </p:nvSpPr>
        <p:spPr>
          <a:xfrm>
            <a:off x="2560320" y="2743200"/>
            <a:ext cx="137160" cy="137160"/>
          </a:xfrm>
          <a:prstGeom prst="ellipse">
            <a:avLst/>
          </a:prstGeom>
          <a:solidFill>
            <a:srgbClr val="D5D9E6"/>
          </a:solidFill>
          <a:ln w="12700">
            <a:solidFill>
              <a:srgbClr val="D5D9E6"/>
            </a:solidFill>
            <a:prstDash val="solid"/>
          </a:ln>
        </p:spPr>
      </p:sp>
      <p:sp>
        <p:nvSpPr>
          <p:cNvPr id="43" name="Shape 40"/>
          <p:cNvSpPr/>
          <p:nvPr/>
        </p:nvSpPr>
        <p:spPr>
          <a:xfrm>
            <a:off x="2834640" y="2743200"/>
            <a:ext cx="137160" cy="137160"/>
          </a:xfrm>
          <a:prstGeom prst="ellipse">
            <a:avLst/>
          </a:prstGeom>
          <a:solidFill>
            <a:srgbClr val="D5D9E6"/>
          </a:solidFill>
          <a:ln w="12700">
            <a:solidFill>
              <a:srgbClr val="D5D9E6"/>
            </a:solidFill>
            <a:prstDash val="solid"/>
          </a:ln>
        </p:spPr>
      </p:sp>
      <p:sp>
        <p:nvSpPr>
          <p:cNvPr id="44" name="Shape 41"/>
          <p:cNvSpPr/>
          <p:nvPr/>
        </p:nvSpPr>
        <p:spPr>
          <a:xfrm>
            <a:off x="3108960" y="2743200"/>
            <a:ext cx="137160" cy="137160"/>
          </a:xfrm>
          <a:prstGeom prst="ellipse">
            <a:avLst/>
          </a:prstGeom>
          <a:solidFill>
            <a:srgbClr val="D5D9E6"/>
          </a:solidFill>
          <a:ln w="12700">
            <a:solidFill>
              <a:srgbClr val="D5D9E6"/>
            </a:solidFill>
            <a:prstDash val="solid"/>
          </a:ln>
        </p:spPr>
      </p:sp>
      <p:sp>
        <p:nvSpPr>
          <p:cNvPr id="45" name="Shape 42"/>
          <p:cNvSpPr/>
          <p:nvPr/>
        </p:nvSpPr>
        <p:spPr>
          <a:xfrm>
            <a:off x="640080" y="3017520"/>
            <a:ext cx="137160" cy="137160"/>
          </a:xfrm>
          <a:prstGeom prst="ellipse">
            <a:avLst/>
          </a:prstGeom>
          <a:solidFill>
            <a:srgbClr val="D5D9E6"/>
          </a:solidFill>
          <a:ln w="12700">
            <a:solidFill>
              <a:srgbClr val="D5D9E6"/>
            </a:solidFill>
            <a:prstDash val="solid"/>
          </a:ln>
        </p:spPr>
      </p:sp>
      <p:sp>
        <p:nvSpPr>
          <p:cNvPr id="46" name="Shape 43"/>
          <p:cNvSpPr/>
          <p:nvPr/>
        </p:nvSpPr>
        <p:spPr>
          <a:xfrm>
            <a:off x="914400" y="3017520"/>
            <a:ext cx="137160" cy="137160"/>
          </a:xfrm>
          <a:prstGeom prst="ellipse">
            <a:avLst/>
          </a:prstGeom>
          <a:solidFill>
            <a:srgbClr val="D5D9E6"/>
          </a:solidFill>
          <a:ln w="12700">
            <a:solidFill>
              <a:srgbClr val="D5D9E6"/>
            </a:solidFill>
            <a:prstDash val="solid"/>
          </a:ln>
        </p:spPr>
      </p:sp>
      <p:sp>
        <p:nvSpPr>
          <p:cNvPr id="47" name="Shape 44"/>
          <p:cNvSpPr/>
          <p:nvPr/>
        </p:nvSpPr>
        <p:spPr>
          <a:xfrm>
            <a:off x="1188720" y="3017520"/>
            <a:ext cx="137160" cy="137160"/>
          </a:xfrm>
          <a:prstGeom prst="ellipse">
            <a:avLst/>
          </a:prstGeom>
          <a:solidFill>
            <a:srgbClr val="D5D9E6"/>
          </a:solidFill>
          <a:ln w="12700">
            <a:solidFill>
              <a:srgbClr val="D5D9E6"/>
            </a:solidFill>
            <a:prstDash val="solid"/>
          </a:ln>
        </p:spPr>
      </p:sp>
      <p:sp>
        <p:nvSpPr>
          <p:cNvPr id="48" name="Shape 45"/>
          <p:cNvSpPr/>
          <p:nvPr/>
        </p:nvSpPr>
        <p:spPr>
          <a:xfrm>
            <a:off x="1463040" y="3017520"/>
            <a:ext cx="137160" cy="137160"/>
          </a:xfrm>
          <a:prstGeom prst="ellipse">
            <a:avLst/>
          </a:prstGeom>
          <a:solidFill>
            <a:srgbClr val="3A5BFF"/>
          </a:solidFill>
          <a:ln w="12700">
            <a:solidFill>
              <a:srgbClr val="3A5BFF"/>
            </a:solidFill>
            <a:prstDash val="solid"/>
          </a:ln>
        </p:spPr>
      </p:sp>
      <p:sp>
        <p:nvSpPr>
          <p:cNvPr id="49" name="Shape 46"/>
          <p:cNvSpPr/>
          <p:nvPr/>
        </p:nvSpPr>
        <p:spPr>
          <a:xfrm>
            <a:off x="1737360" y="3017520"/>
            <a:ext cx="137160" cy="137160"/>
          </a:xfrm>
          <a:prstGeom prst="ellipse">
            <a:avLst/>
          </a:prstGeom>
          <a:solidFill>
            <a:srgbClr val="3A5BFF"/>
          </a:solidFill>
          <a:ln w="12700">
            <a:solidFill>
              <a:srgbClr val="3A5BFF"/>
            </a:solidFill>
            <a:prstDash val="solid"/>
          </a:ln>
        </p:spPr>
      </p:sp>
      <p:sp>
        <p:nvSpPr>
          <p:cNvPr id="50" name="Shape 47"/>
          <p:cNvSpPr/>
          <p:nvPr/>
        </p:nvSpPr>
        <p:spPr>
          <a:xfrm>
            <a:off x="2011680" y="3017520"/>
            <a:ext cx="137160" cy="137160"/>
          </a:xfrm>
          <a:prstGeom prst="ellipse">
            <a:avLst/>
          </a:prstGeom>
          <a:solidFill>
            <a:srgbClr val="3A5BFF"/>
          </a:solidFill>
          <a:ln w="12700">
            <a:solidFill>
              <a:srgbClr val="3A5BFF"/>
            </a:solidFill>
            <a:prstDash val="solid"/>
          </a:ln>
        </p:spPr>
      </p:sp>
      <p:sp>
        <p:nvSpPr>
          <p:cNvPr id="51" name="Shape 48"/>
          <p:cNvSpPr/>
          <p:nvPr/>
        </p:nvSpPr>
        <p:spPr>
          <a:xfrm>
            <a:off x="2286000" y="3017520"/>
            <a:ext cx="137160" cy="137160"/>
          </a:xfrm>
          <a:prstGeom prst="ellipse">
            <a:avLst/>
          </a:prstGeom>
          <a:solidFill>
            <a:srgbClr val="3A5BFF"/>
          </a:solidFill>
          <a:ln w="12700">
            <a:solidFill>
              <a:srgbClr val="3A5BFF"/>
            </a:solidFill>
            <a:prstDash val="solid"/>
          </a:ln>
        </p:spPr>
      </p:sp>
      <p:sp>
        <p:nvSpPr>
          <p:cNvPr id="52" name="Shape 49"/>
          <p:cNvSpPr/>
          <p:nvPr/>
        </p:nvSpPr>
        <p:spPr>
          <a:xfrm>
            <a:off x="2560320" y="3017520"/>
            <a:ext cx="137160" cy="137160"/>
          </a:xfrm>
          <a:prstGeom prst="ellipse">
            <a:avLst/>
          </a:prstGeom>
          <a:solidFill>
            <a:srgbClr val="D5D9E6"/>
          </a:solidFill>
          <a:ln w="12700">
            <a:solidFill>
              <a:srgbClr val="D5D9E6"/>
            </a:solidFill>
            <a:prstDash val="solid"/>
          </a:ln>
        </p:spPr>
      </p:sp>
      <p:sp>
        <p:nvSpPr>
          <p:cNvPr id="53" name="Shape 50"/>
          <p:cNvSpPr/>
          <p:nvPr/>
        </p:nvSpPr>
        <p:spPr>
          <a:xfrm>
            <a:off x="2834640" y="3017520"/>
            <a:ext cx="137160" cy="137160"/>
          </a:xfrm>
          <a:prstGeom prst="ellipse">
            <a:avLst/>
          </a:prstGeom>
          <a:solidFill>
            <a:srgbClr val="D5D9E6"/>
          </a:solidFill>
          <a:ln w="12700">
            <a:solidFill>
              <a:srgbClr val="D5D9E6"/>
            </a:solidFill>
            <a:prstDash val="solid"/>
          </a:ln>
        </p:spPr>
      </p:sp>
      <p:sp>
        <p:nvSpPr>
          <p:cNvPr id="54" name="Shape 51"/>
          <p:cNvSpPr/>
          <p:nvPr/>
        </p:nvSpPr>
        <p:spPr>
          <a:xfrm>
            <a:off x="3108960" y="3017520"/>
            <a:ext cx="137160" cy="137160"/>
          </a:xfrm>
          <a:prstGeom prst="ellipse">
            <a:avLst/>
          </a:prstGeom>
          <a:solidFill>
            <a:srgbClr val="D5D9E6"/>
          </a:solidFill>
          <a:ln w="12700">
            <a:solidFill>
              <a:srgbClr val="D5D9E6"/>
            </a:solidFill>
            <a:prstDash val="solid"/>
          </a:ln>
        </p:spPr>
      </p:sp>
      <p:sp>
        <p:nvSpPr>
          <p:cNvPr id="55" name="Shape 52"/>
          <p:cNvSpPr/>
          <p:nvPr/>
        </p:nvSpPr>
        <p:spPr>
          <a:xfrm>
            <a:off x="640080" y="3291840"/>
            <a:ext cx="137160" cy="137160"/>
          </a:xfrm>
          <a:prstGeom prst="ellipse">
            <a:avLst/>
          </a:prstGeom>
          <a:solidFill>
            <a:srgbClr val="D5D9E6"/>
          </a:solidFill>
          <a:ln w="12700">
            <a:solidFill>
              <a:srgbClr val="D5D9E6"/>
            </a:solidFill>
            <a:prstDash val="solid"/>
          </a:ln>
        </p:spPr>
      </p:sp>
      <p:sp>
        <p:nvSpPr>
          <p:cNvPr id="56" name="Shape 53"/>
          <p:cNvSpPr/>
          <p:nvPr/>
        </p:nvSpPr>
        <p:spPr>
          <a:xfrm>
            <a:off x="914400" y="3291840"/>
            <a:ext cx="137160" cy="137160"/>
          </a:xfrm>
          <a:prstGeom prst="ellipse">
            <a:avLst/>
          </a:prstGeom>
          <a:solidFill>
            <a:srgbClr val="D5D9E6"/>
          </a:solidFill>
          <a:ln w="12700">
            <a:solidFill>
              <a:srgbClr val="D5D9E6"/>
            </a:solidFill>
            <a:prstDash val="solid"/>
          </a:ln>
        </p:spPr>
      </p:sp>
      <p:sp>
        <p:nvSpPr>
          <p:cNvPr id="57" name="Shape 54"/>
          <p:cNvSpPr/>
          <p:nvPr/>
        </p:nvSpPr>
        <p:spPr>
          <a:xfrm>
            <a:off x="1188720" y="3291840"/>
            <a:ext cx="137160" cy="137160"/>
          </a:xfrm>
          <a:prstGeom prst="ellipse">
            <a:avLst/>
          </a:prstGeom>
          <a:solidFill>
            <a:srgbClr val="D5D9E6"/>
          </a:solidFill>
          <a:ln w="12700">
            <a:solidFill>
              <a:srgbClr val="D5D9E6"/>
            </a:solidFill>
            <a:prstDash val="solid"/>
          </a:ln>
        </p:spPr>
      </p:sp>
      <p:sp>
        <p:nvSpPr>
          <p:cNvPr id="58" name="Shape 55"/>
          <p:cNvSpPr/>
          <p:nvPr/>
        </p:nvSpPr>
        <p:spPr>
          <a:xfrm>
            <a:off x="1463040" y="3291840"/>
            <a:ext cx="137160" cy="137160"/>
          </a:xfrm>
          <a:prstGeom prst="ellipse">
            <a:avLst/>
          </a:prstGeom>
          <a:solidFill>
            <a:srgbClr val="3A5BFF"/>
          </a:solidFill>
          <a:ln w="12700">
            <a:solidFill>
              <a:srgbClr val="3A5BFF"/>
            </a:solidFill>
            <a:prstDash val="solid"/>
          </a:ln>
        </p:spPr>
      </p:sp>
      <p:sp>
        <p:nvSpPr>
          <p:cNvPr id="59" name="Shape 56"/>
          <p:cNvSpPr/>
          <p:nvPr/>
        </p:nvSpPr>
        <p:spPr>
          <a:xfrm>
            <a:off x="1737360" y="3291840"/>
            <a:ext cx="137160" cy="137160"/>
          </a:xfrm>
          <a:prstGeom prst="ellipse">
            <a:avLst/>
          </a:prstGeom>
          <a:solidFill>
            <a:srgbClr val="3A5BFF"/>
          </a:solidFill>
          <a:ln w="12700">
            <a:solidFill>
              <a:srgbClr val="3A5BFF"/>
            </a:solidFill>
            <a:prstDash val="solid"/>
          </a:ln>
        </p:spPr>
      </p:sp>
      <p:sp>
        <p:nvSpPr>
          <p:cNvPr id="60" name="Shape 57"/>
          <p:cNvSpPr/>
          <p:nvPr/>
        </p:nvSpPr>
        <p:spPr>
          <a:xfrm>
            <a:off x="2011680" y="3291840"/>
            <a:ext cx="137160" cy="137160"/>
          </a:xfrm>
          <a:prstGeom prst="ellipse">
            <a:avLst/>
          </a:prstGeom>
          <a:solidFill>
            <a:srgbClr val="3A5BFF"/>
          </a:solidFill>
          <a:ln w="12700">
            <a:solidFill>
              <a:srgbClr val="3A5BFF"/>
            </a:solidFill>
            <a:prstDash val="solid"/>
          </a:ln>
        </p:spPr>
      </p:sp>
      <p:sp>
        <p:nvSpPr>
          <p:cNvPr id="61" name="Shape 58"/>
          <p:cNvSpPr/>
          <p:nvPr/>
        </p:nvSpPr>
        <p:spPr>
          <a:xfrm>
            <a:off x="2286000" y="3291840"/>
            <a:ext cx="137160" cy="137160"/>
          </a:xfrm>
          <a:prstGeom prst="ellipse">
            <a:avLst/>
          </a:prstGeom>
          <a:solidFill>
            <a:srgbClr val="3A5BFF"/>
          </a:solidFill>
          <a:ln w="12700">
            <a:solidFill>
              <a:srgbClr val="3A5BFF"/>
            </a:solidFill>
            <a:prstDash val="solid"/>
          </a:ln>
        </p:spPr>
      </p:sp>
      <p:sp>
        <p:nvSpPr>
          <p:cNvPr id="62" name="Shape 59"/>
          <p:cNvSpPr/>
          <p:nvPr/>
        </p:nvSpPr>
        <p:spPr>
          <a:xfrm>
            <a:off x="2560320" y="3291840"/>
            <a:ext cx="137160" cy="137160"/>
          </a:xfrm>
          <a:prstGeom prst="ellipse">
            <a:avLst/>
          </a:prstGeom>
          <a:solidFill>
            <a:srgbClr val="D5D9E6"/>
          </a:solidFill>
          <a:ln w="12700">
            <a:solidFill>
              <a:srgbClr val="D5D9E6"/>
            </a:solidFill>
            <a:prstDash val="solid"/>
          </a:ln>
        </p:spPr>
      </p:sp>
      <p:sp>
        <p:nvSpPr>
          <p:cNvPr id="63" name="Shape 60"/>
          <p:cNvSpPr/>
          <p:nvPr/>
        </p:nvSpPr>
        <p:spPr>
          <a:xfrm>
            <a:off x="2834640" y="3291840"/>
            <a:ext cx="137160" cy="137160"/>
          </a:xfrm>
          <a:prstGeom prst="ellipse">
            <a:avLst/>
          </a:prstGeom>
          <a:solidFill>
            <a:srgbClr val="D5D9E6"/>
          </a:solidFill>
          <a:ln w="12700">
            <a:solidFill>
              <a:srgbClr val="D5D9E6"/>
            </a:solidFill>
            <a:prstDash val="solid"/>
          </a:ln>
        </p:spPr>
      </p:sp>
      <p:sp>
        <p:nvSpPr>
          <p:cNvPr id="64" name="Shape 61"/>
          <p:cNvSpPr/>
          <p:nvPr/>
        </p:nvSpPr>
        <p:spPr>
          <a:xfrm>
            <a:off x="3108960" y="3291840"/>
            <a:ext cx="137160" cy="137160"/>
          </a:xfrm>
          <a:prstGeom prst="ellipse">
            <a:avLst/>
          </a:prstGeom>
          <a:solidFill>
            <a:srgbClr val="D5D9E6"/>
          </a:solidFill>
          <a:ln w="12700">
            <a:solidFill>
              <a:srgbClr val="D5D9E6"/>
            </a:solidFill>
            <a:prstDash val="solid"/>
          </a:ln>
        </p:spPr>
      </p:sp>
      <p:sp>
        <p:nvSpPr>
          <p:cNvPr id="65" name="Shape 62"/>
          <p:cNvSpPr/>
          <p:nvPr/>
        </p:nvSpPr>
        <p:spPr>
          <a:xfrm>
            <a:off x="640080" y="3566160"/>
            <a:ext cx="137160" cy="137160"/>
          </a:xfrm>
          <a:prstGeom prst="ellipse">
            <a:avLst/>
          </a:prstGeom>
          <a:solidFill>
            <a:srgbClr val="D5D9E6"/>
          </a:solidFill>
          <a:ln w="12700">
            <a:solidFill>
              <a:srgbClr val="D5D9E6"/>
            </a:solidFill>
            <a:prstDash val="solid"/>
          </a:ln>
        </p:spPr>
      </p:sp>
      <p:sp>
        <p:nvSpPr>
          <p:cNvPr id="66" name="Shape 63"/>
          <p:cNvSpPr/>
          <p:nvPr/>
        </p:nvSpPr>
        <p:spPr>
          <a:xfrm>
            <a:off x="914400" y="3566160"/>
            <a:ext cx="137160" cy="137160"/>
          </a:xfrm>
          <a:prstGeom prst="ellipse">
            <a:avLst/>
          </a:prstGeom>
          <a:solidFill>
            <a:srgbClr val="D5D9E6"/>
          </a:solidFill>
          <a:ln w="12700">
            <a:solidFill>
              <a:srgbClr val="D5D9E6"/>
            </a:solidFill>
            <a:prstDash val="solid"/>
          </a:ln>
        </p:spPr>
      </p:sp>
      <p:sp>
        <p:nvSpPr>
          <p:cNvPr id="67" name="Shape 64"/>
          <p:cNvSpPr/>
          <p:nvPr/>
        </p:nvSpPr>
        <p:spPr>
          <a:xfrm>
            <a:off x="1188720" y="3566160"/>
            <a:ext cx="137160" cy="137160"/>
          </a:xfrm>
          <a:prstGeom prst="ellipse">
            <a:avLst/>
          </a:prstGeom>
          <a:solidFill>
            <a:srgbClr val="D5D9E6"/>
          </a:solidFill>
          <a:ln w="12700">
            <a:solidFill>
              <a:srgbClr val="D5D9E6"/>
            </a:solidFill>
            <a:prstDash val="solid"/>
          </a:ln>
        </p:spPr>
      </p:sp>
      <p:sp>
        <p:nvSpPr>
          <p:cNvPr id="68" name="Shape 65"/>
          <p:cNvSpPr/>
          <p:nvPr/>
        </p:nvSpPr>
        <p:spPr>
          <a:xfrm>
            <a:off x="1463040" y="3566160"/>
            <a:ext cx="137160" cy="137160"/>
          </a:xfrm>
          <a:prstGeom prst="ellipse">
            <a:avLst/>
          </a:prstGeom>
          <a:solidFill>
            <a:srgbClr val="D5D9E6"/>
          </a:solidFill>
          <a:ln w="12700">
            <a:solidFill>
              <a:srgbClr val="D5D9E6"/>
            </a:solidFill>
            <a:prstDash val="solid"/>
          </a:ln>
        </p:spPr>
      </p:sp>
      <p:sp>
        <p:nvSpPr>
          <p:cNvPr id="69" name="Shape 66"/>
          <p:cNvSpPr/>
          <p:nvPr/>
        </p:nvSpPr>
        <p:spPr>
          <a:xfrm>
            <a:off x="1737360" y="3566160"/>
            <a:ext cx="137160" cy="137160"/>
          </a:xfrm>
          <a:prstGeom prst="ellipse">
            <a:avLst/>
          </a:prstGeom>
          <a:solidFill>
            <a:srgbClr val="D5D9E6"/>
          </a:solidFill>
          <a:ln w="12700">
            <a:solidFill>
              <a:srgbClr val="D5D9E6"/>
            </a:solidFill>
            <a:prstDash val="solid"/>
          </a:ln>
        </p:spPr>
      </p:sp>
      <p:sp>
        <p:nvSpPr>
          <p:cNvPr id="70" name="Shape 67"/>
          <p:cNvSpPr/>
          <p:nvPr/>
        </p:nvSpPr>
        <p:spPr>
          <a:xfrm>
            <a:off x="2011680" y="3566160"/>
            <a:ext cx="137160" cy="137160"/>
          </a:xfrm>
          <a:prstGeom prst="ellipse">
            <a:avLst/>
          </a:prstGeom>
          <a:solidFill>
            <a:srgbClr val="D5D9E6"/>
          </a:solidFill>
          <a:ln w="12700">
            <a:solidFill>
              <a:srgbClr val="D5D9E6"/>
            </a:solidFill>
            <a:prstDash val="solid"/>
          </a:ln>
        </p:spPr>
      </p:sp>
      <p:sp>
        <p:nvSpPr>
          <p:cNvPr id="71" name="Shape 68"/>
          <p:cNvSpPr/>
          <p:nvPr/>
        </p:nvSpPr>
        <p:spPr>
          <a:xfrm>
            <a:off x="2286000" y="3566160"/>
            <a:ext cx="137160" cy="137160"/>
          </a:xfrm>
          <a:prstGeom prst="ellipse">
            <a:avLst/>
          </a:prstGeom>
          <a:solidFill>
            <a:srgbClr val="D5D9E6"/>
          </a:solidFill>
          <a:ln w="12700">
            <a:solidFill>
              <a:srgbClr val="D5D9E6"/>
            </a:solidFill>
            <a:prstDash val="solid"/>
          </a:ln>
        </p:spPr>
      </p:sp>
      <p:sp>
        <p:nvSpPr>
          <p:cNvPr id="72" name="Shape 69"/>
          <p:cNvSpPr/>
          <p:nvPr/>
        </p:nvSpPr>
        <p:spPr>
          <a:xfrm>
            <a:off x="2560320" y="3566160"/>
            <a:ext cx="137160" cy="137160"/>
          </a:xfrm>
          <a:prstGeom prst="ellipse">
            <a:avLst/>
          </a:prstGeom>
          <a:solidFill>
            <a:srgbClr val="D5D9E6"/>
          </a:solidFill>
          <a:ln w="12700">
            <a:solidFill>
              <a:srgbClr val="D5D9E6"/>
            </a:solidFill>
            <a:prstDash val="solid"/>
          </a:ln>
        </p:spPr>
      </p:sp>
      <p:sp>
        <p:nvSpPr>
          <p:cNvPr id="73" name="Shape 70"/>
          <p:cNvSpPr/>
          <p:nvPr/>
        </p:nvSpPr>
        <p:spPr>
          <a:xfrm>
            <a:off x="2834640" y="3566160"/>
            <a:ext cx="137160" cy="137160"/>
          </a:xfrm>
          <a:prstGeom prst="ellipse">
            <a:avLst/>
          </a:prstGeom>
          <a:solidFill>
            <a:srgbClr val="D5D9E6"/>
          </a:solidFill>
          <a:ln w="12700">
            <a:solidFill>
              <a:srgbClr val="D5D9E6"/>
            </a:solidFill>
            <a:prstDash val="solid"/>
          </a:ln>
        </p:spPr>
      </p:sp>
      <p:sp>
        <p:nvSpPr>
          <p:cNvPr id="74" name="Shape 71"/>
          <p:cNvSpPr/>
          <p:nvPr/>
        </p:nvSpPr>
        <p:spPr>
          <a:xfrm>
            <a:off x="3108960" y="3566160"/>
            <a:ext cx="137160" cy="137160"/>
          </a:xfrm>
          <a:prstGeom prst="ellipse">
            <a:avLst/>
          </a:prstGeom>
          <a:solidFill>
            <a:srgbClr val="D5D9E6"/>
          </a:solidFill>
          <a:ln w="12700">
            <a:solidFill>
              <a:srgbClr val="D5D9E6"/>
            </a:solidFill>
            <a:prstDash val="solid"/>
          </a:ln>
        </p:spPr>
      </p:sp>
      <p:sp>
        <p:nvSpPr>
          <p:cNvPr id="75" name="Shape 72"/>
          <p:cNvSpPr/>
          <p:nvPr/>
        </p:nvSpPr>
        <p:spPr>
          <a:xfrm>
            <a:off x="640080" y="3840480"/>
            <a:ext cx="137160" cy="137160"/>
          </a:xfrm>
          <a:prstGeom prst="ellipse">
            <a:avLst/>
          </a:prstGeom>
          <a:solidFill>
            <a:srgbClr val="D5D9E6"/>
          </a:solidFill>
          <a:ln w="12700">
            <a:solidFill>
              <a:srgbClr val="D5D9E6"/>
            </a:solidFill>
            <a:prstDash val="solid"/>
          </a:ln>
        </p:spPr>
      </p:sp>
      <p:sp>
        <p:nvSpPr>
          <p:cNvPr id="76" name="Shape 73"/>
          <p:cNvSpPr/>
          <p:nvPr/>
        </p:nvSpPr>
        <p:spPr>
          <a:xfrm>
            <a:off x="914400" y="3840480"/>
            <a:ext cx="137160" cy="137160"/>
          </a:xfrm>
          <a:prstGeom prst="ellipse">
            <a:avLst/>
          </a:prstGeom>
          <a:solidFill>
            <a:srgbClr val="D5D9E6"/>
          </a:solidFill>
          <a:ln w="12700">
            <a:solidFill>
              <a:srgbClr val="D5D9E6"/>
            </a:solidFill>
            <a:prstDash val="solid"/>
          </a:ln>
        </p:spPr>
      </p:sp>
      <p:sp>
        <p:nvSpPr>
          <p:cNvPr id="77" name="Shape 74"/>
          <p:cNvSpPr/>
          <p:nvPr/>
        </p:nvSpPr>
        <p:spPr>
          <a:xfrm>
            <a:off x="1188720" y="3840480"/>
            <a:ext cx="137160" cy="137160"/>
          </a:xfrm>
          <a:prstGeom prst="ellipse">
            <a:avLst/>
          </a:prstGeom>
          <a:solidFill>
            <a:srgbClr val="D5D9E6"/>
          </a:solidFill>
          <a:ln w="12700">
            <a:solidFill>
              <a:srgbClr val="D5D9E6"/>
            </a:solidFill>
            <a:prstDash val="solid"/>
          </a:ln>
        </p:spPr>
      </p:sp>
      <p:sp>
        <p:nvSpPr>
          <p:cNvPr id="78" name="Shape 75"/>
          <p:cNvSpPr/>
          <p:nvPr/>
        </p:nvSpPr>
        <p:spPr>
          <a:xfrm>
            <a:off x="1463040" y="3840480"/>
            <a:ext cx="137160" cy="137160"/>
          </a:xfrm>
          <a:prstGeom prst="ellipse">
            <a:avLst/>
          </a:prstGeom>
          <a:solidFill>
            <a:srgbClr val="D5D9E6"/>
          </a:solidFill>
          <a:ln w="12700">
            <a:solidFill>
              <a:srgbClr val="D5D9E6"/>
            </a:solidFill>
            <a:prstDash val="solid"/>
          </a:ln>
        </p:spPr>
      </p:sp>
      <p:sp>
        <p:nvSpPr>
          <p:cNvPr id="79" name="Shape 76"/>
          <p:cNvSpPr/>
          <p:nvPr/>
        </p:nvSpPr>
        <p:spPr>
          <a:xfrm>
            <a:off x="1737360" y="3840480"/>
            <a:ext cx="137160" cy="137160"/>
          </a:xfrm>
          <a:prstGeom prst="ellipse">
            <a:avLst/>
          </a:prstGeom>
          <a:solidFill>
            <a:srgbClr val="D5D9E6"/>
          </a:solidFill>
          <a:ln w="12700">
            <a:solidFill>
              <a:srgbClr val="D5D9E6"/>
            </a:solidFill>
            <a:prstDash val="solid"/>
          </a:ln>
        </p:spPr>
      </p:sp>
      <p:sp>
        <p:nvSpPr>
          <p:cNvPr id="80" name="Shape 77"/>
          <p:cNvSpPr/>
          <p:nvPr/>
        </p:nvSpPr>
        <p:spPr>
          <a:xfrm>
            <a:off x="2011680" y="3840480"/>
            <a:ext cx="137160" cy="137160"/>
          </a:xfrm>
          <a:prstGeom prst="ellipse">
            <a:avLst/>
          </a:prstGeom>
          <a:solidFill>
            <a:srgbClr val="D5D9E6"/>
          </a:solidFill>
          <a:ln w="12700">
            <a:solidFill>
              <a:srgbClr val="D5D9E6"/>
            </a:solidFill>
            <a:prstDash val="solid"/>
          </a:ln>
        </p:spPr>
      </p:sp>
      <p:sp>
        <p:nvSpPr>
          <p:cNvPr id="81" name="Shape 78"/>
          <p:cNvSpPr/>
          <p:nvPr/>
        </p:nvSpPr>
        <p:spPr>
          <a:xfrm>
            <a:off x="2286000" y="3840480"/>
            <a:ext cx="137160" cy="137160"/>
          </a:xfrm>
          <a:prstGeom prst="ellipse">
            <a:avLst/>
          </a:prstGeom>
          <a:solidFill>
            <a:srgbClr val="D5D9E6"/>
          </a:solidFill>
          <a:ln w="12700">
            <a:solidFill>
              <a:srgbClr val="D5D9E6"/>
            </a:solidFill>
            <a:prstDash val="solid"/>
          </a:ln>
        </p:spPr>
      </p:sp>
      <p:sp>
        <p:nvSpPr>
          <p:cNvPr id="82" name="Shape 79"/>
          <p:cNvSpPr/>
          <p:nvPr/>
        </p:nvSpPr>
        <p:spPr>
          <a:xfrm>
            <a:off x="2560320" y="3840480"/>
            <a:ext cx="137160" cy="137160"/>
          </a:xfrm>
          <a:prstGeom prst="ellipse">
            <a:avLst/>
          </a:prstGeom>
          <a:solidFill>
            <a:srgbClr val="D5D9E6"/>
          </a:solidFill>
          <a:ln w="12700">
            <a:solidFill>
              <a:srgbClr val="D5D9E6"/>
            </a:solidFill>
            <a:prstDash val="solid"/>
          </a:ln>
        </p:spPr>
      </p:sp>
      <p:sp>
        <p:nvSpPr>
          <p:cNvPr id="83" name="Shape 80"/>
          <p:cNvSpPr/>
          <p:nvPr/>
        </p:nvSpPr>
        <p:spPr>
          <a:xfrm>
            <a:off x="2834640" y="3840480"/>
            <a:ext cx="137160" cy="137160"/>
          </a:xfrm>
          <a:prstGeom prst="ellipse">
            <a:avLst/>
          </a:prstGeom>
          <a:solidFill>
            <a:srgbClr val="D5D9E6"/>
          </a:solidFill>
          <a:ln w="12700">
            <a:solidFill>
              <a:srgbClr val="D5D9E6"/>
            </a:solidFill>
            <a:prstDash val="solid"/>
          </a:ln>
        </p:spPr>
      </p:sp>
      <p:sp>
        <p:nvSpPr>
          <p:cNvPr id="84" name="Shape 81"/>
          <p:cNvSpPr/>
          <p:nvPr/>
        </p:nvSpPr>
        <p:spPr>
          <a:xfrm>
            <a:off x="3108960" y="3840480"/>
            <a:ext cx="137160" cy="137160"/>
          </a:xfrm>
          <a:prstGeom prst="ellipse">
            <a:avLst/>
          </a:prstGeom>
          <a:solidFill>
            <a:srgbClr val="D5D9E6"/>
          </a:solidFill>
          <a:ln w="12700">
            <a:solidFill>
              <a:srgbClr val="D5D9E6"/>
            </a:solidFill>
            <a:prstDash val="solid"/>
          </a:ln>
        </p:spPr>
      </p:sp>
      <p:sp>
        <p:nvSpPr>
          <p:cNvPr id="85" name="Text 82"/>
          <p:cNvSpPr txBox="1"/>
          <p:nvPr/>
        </p:nvSpPr>
        <p:spPr>
          <a:xfrm>
            <a:off x="640080" y="4251960"/>
            <a:ext cx="3931920" cy="320040"/>
          </a:xfrm>
          <a:prstGeom prst="rect">
            <a:avLst/>
          </a:prstGeom>
          <a:noFill/>
          <a:ln/>
        </p:spPr>
        <p:txBody>
          <a:bodyPr wrap="square" lIns="0" tIns="0" rIns="0" bIns="0" rtlCol="0" anchor="t"/>
          <a:lstStyle/>
          <a:p>
            <a:pPr indent="0" marL="0">
              <a:buNone/>
            </a:pPr>
            <a:r>
              <a:rPr lang="en-US" sz="1400" dirty="0">
                <a:solidFill>
                  <a:schemeClr val="accent1"/>
                </a:solidFill>
              </a:rPr>
              <a:t>●</a:t>
            </a:r>
            <a:pPr indent="0" marL="0">
              <a:buNone/>
            </a:pPr>
            <a:r>
              <a:rPr lang="en-US" sz="1400" dirty="0">
                <a:solidFill>
                  <a:schemeClr val="tx2"/>
                </a:solidFill>
              </a:rPr>
              <a:t> 트리거 충족 20%   </a:t>
            </a:r>
            <a:pPr indent="0" marL="0">
              <a:buNone/>
            </a:pPr>
            <a:r>
              <a:rPr lang="en-US" sz="1400" dirty="0">
                <a:solidFill>
                  <a:srgbClr val="D5D9E6"/>
                </a:solidFill>
              </a:rPr>
              <a:t>●</a:t>
            </a:r>
            <a:pPr indent="0" marL="0">
              <a:buNone/>
            </a:pPr>
            <a:r>
              <a:rPr lang="en-US" sz="1400" dirty="0">
                <a:solidFill>
                  <a:schemeClr val="tx2"/>
                </a:solidFill>
              </a:rPr>
              <a:t> 배정된 전원</a:t>
            </a:r>
            <a:endParaRPr lang="en-US" sz="1400" dirty="0"/>
          </a:p>
        </p:txBody>
      </p:sp>
      <p:sp>
        <p:nvSpPr>
          <p:cNvPr id="86" name="Text 83"/>
          <p:cNvSpPr txBox="1"/>
          <p:nvPr/>
        </p:nvSpPr>
        <p:spPr>
          <a:xfrm>
            <a:off x="4297680" y="1874520"/>
            <a:ext cx="3291840" cy="777240"/>
          </a:xfrm>
          <a:prstGeom prst="rect">
            <a:avLst/>
          </a:prstGeom>
          <a:noFill/>
          <a:ln/>
        </p:spPr>
        <p:txBody>
          <a:bodyPr wrap="square" lIns="0" tIns="0" rIns="0" bIns="0" rtlCol="0" anchor="t"/>
          <a:lstStyle/>
          <a:p>
            <a:pPr indent="0" marL="0">
              <a:buNone/>
            </a:pPr>
            <a:r>
              <a:rPr lang="en-US" sz="2000" b="1" dirty="0">
                <a:solidFill>
                  <a:schemeClr val="tx2"/>
                </a:solidFill>
              </a:rPr>
              <a:t>ITT</a:t>
            </a:r>
            <a:endParaRPr lang="en-US" sz="1500" dirty="0"/>
          </a:p>
          <a:p>
            <a:pPr indent="0" marL="0">
              <a:buNone/>
            </a:pPr>
            <a:r>
              <a:rPr lang="en-US" sz="1400" dirty="0">
                <a:solidFill>
                  <a:schemeClr val="tx2"/>
                </a:solidFill>
              </a:rPr>
              <a:t>배정된 전원 A vs B</a:t>
            </a:r>
            <a:endParaRPr lang="en-US" sz="1500" dirty="0"/>
          </a:p>
        </p:txBody>
      </p:sp>
      <p:sp>
        <p:nvSpPr>
          <p:cNvPr id="87" name="Text 84"/>
          <p:cNvSpPr txBox="1"/>
          <p:nvPr/>
        </p:nvSpPr>
        <p:spPr>
          <a:xfrm>
            <a:off x="7635240" y="1874520"/>
            <a:ext cx="1188720" cy="457200"/>
          </a:xfrm>
          <a:prstGeom prst="rect">
            <a:avLst/>
          </a:prstGeom>
          <a:noFill/>
          <a:ln/>
        </p:spPr>
        <p:txBody>
          <a:bodyPr wrap="square" lIns="0" tIns="0" rIns="0" bIns="0" rtlCol="0" anchor="t"/>
          <a:lstStyle/>
          <a:p>
            <a:pPr indent="0" marL="0">
              <a:buNone/>
            </a:pPr>
            <a:r>
              <a:rPr lang="en-US" sz="2000" b="1" dirty="0">
                <a:solidFill>
                  <a:schemeClr val="tx2"/>
                </a:solidFill>
              </a:rPr>
              <a:t>+0.4%p</a:t>
            </a:r>
            <a:endParaRPr lang="en-US" sz="2000" dirty="0"/>
          </a:p>
        </p:txBody>
      </p:sp>
      <p:sp>
        <p:nvSpPr>
          <p:cNvPr id="88" name="Text 85"/>
          <p:cNvSpPr txBox="1"/>
          <p:nvPr/>
        </p:nvSpPr>
        <p:spPr>
          <a:xfrm>
            <a:off x="8915400" y="1920240"/>
            <a:ext cx="2651760" cy="731520"/>
          </a:xfrm>
          <a:prstGeom prst="rect">
            <a:avLst/>
          </a:prstGeom>
          <a:noFill/>
          <a:ln/>
        </p:spPr>
        <p:txBody>
          <a:bodyPr wrap="square" lIns="0" tIns="0" rIns="0" bIns="0" rtlCol="0" anchor="t"/>
          <a:lstStyle/>
          <a:p>
            <a:pPr indent="0" marL="0">
              <a:buNone/>
            </a:pPr>
            <a:r>
              <a:rPr lang="en-US" sz="1400" dirty="0">
                <a:solidFill>
                  <a:schemeClr val="tx2"/>
                </a:solidFill>
              </a:rPr>
              <a:t>희석됨. 효과 × 트리거 비율</a:t>
            </a:r>
            <a:endParaRPr lang="en-US" sz="1400" dirty="0"/>
          </a:p>
        </p:txBody>
      </p:sp>
      <p:sp>
        <p:nvSpPr>
          <p:cNvPr id="89" name="Text 86"/>
          <p:cNvSpPr txBox="1"/>
          <p:nvPr/>
        </p:nvSpPr>
        <p:spPr>
          <a:xfrm>
            <a:off x="4297680" y="2788920"/>
            <a:ext cx="3291840" cy="777240"/>
          </a:xfrm>
          <a:prstGeom prst="rect">
            <a:avLst/>
          </a:prstGeom>
          <a:noFill/>
          <a:ln/>
        </p:spPr>
        <p:txBody>
          <a:bodyPr wrap="square" lIns="0" tIns="0" rIns="0" bIns="0" rtlCol="0" anchor="t"/>
          <a:lstStyle/>
          <a:p>
            <a:pPr indent="0" marL="0">
              <a:buNone/>
            </a:pPr>
            <a:r>
              <a:rPr lang="en-US" sz="2000" b="1" dirty="0">
                <a:solidFill>
                  <a:schemeClr val="accent1"/>
                </a:solidFill>
              </a:rPr>
              <a:t>트리거 분석</a:t>
            </a:r>
            <a:endParaRPr lang="en-US" sz="1500" dirty="0"/>
          </a:p>
          <a:p>
            <a:pPr indent="0" marL="0">
              <a:buNone/>
            </a:pPr>
            <a:r>
              <a:rPr lang="en-US" sz="1400" dirty="0">
                <a:solidFill>
                  <a:schemeClr val="tx2"/>
                </a:solidFill>
              </a:rPr>
              <a:t>조건 충족자 A vs B (같은 기준)</a:t>
            </a:r>
            <a:endParaRPr lang="en-US" sz="1500" dirty="0"/>
          </a:p>
        </p:txBody>
      </p:sp>
      <p:sp>
        <p:nvSpPr>
          <p:cNvPr id="90" name="Text 87"/>
          <p:cNvSpPr txBox="1"/>
          <p:nvPr/>
        </p:nvSpPr>
        <p:spPr>
          <a:xfrm>
            <a:off x="7635240" y="2788920"/>
            <a:ext cx="1188720" cy="457200"/>
          </a:xfrm>
          <a:prstGeom prst="rect">
            <a:avLst/>
          </a:prstGeom>
          <a:noFill/>
          <a:ln/>
        </p:spPr>
        <p:txBody>
          <a:bodyPr wrap="square" lIns="0" tIns="0" rIns="0" bIns="0" rtlCol="0" anchor="t"/>
          <a:lstStyle/>
          <a:p>
            <a:pPr indent="0" marL="0">
              <a:buNone/>
            </a:pPr>
            <a:r>
              <a:rPr lang="en-US" sz="2000" b="1" dirty="0">
                <a:solidFill>
                  <a:schemeClr val="accent1"/>
                </a:solidFill>
              </a:rPr>
              <a:t>+2.0%p</a:t>
            </a:r>
            <a:endParaRPr lang="en-US" sz="2000" dirty="0"/>
          </a:p>
        </p:txBody>
      </p:sp>
      <p:sp>
        <p:nvSpPr>
          <p:cNvPr id="91" name="Text 88"/>
          <p:cNvSpPr txBox="1"/>
          <p:nvPr/>
        </p:nvSpPr>
        <p:spPr>
          <a:xfrm>
            <a:off x="8915400" y="2834640"/>
            <a:ext cx="2651760" cy="731520"/>
          </a:xfrm>
          <a:prstGeom prst="rect">
            <a:avLst/>
          </a:prstGeom>
          <a:noFill/>
          <a:ln/>
        </p:spPr>
        <p:txBody>
          <a:bodyPr wrap="square" lIns="0" tIns="0" rIns="0" bIns="0" rtlCol="0" anchor="t"/>
          <a:lstStyle/>
          <a:p>
            <a:pPr indent="0" marL="0">
              <a:buNone/>
            </a:pPr>
            <a:r>
              <a:rPr lang="en-US" sz="1400" dirty="0">
                <a:solidFill>
                  <a:schemeClr val="tx2"/>
                </a:solidFill>
              </a:rPr>
              <a:t>희석 없음. A에도 조건을 로깅해야 가능</a:t>
            </a:r>
            <a:endParaRPr lang="en-US" sz="1400" dirty="0"/>
          </a:p>
        </p:txBody>
      </p:sp>
      <p:sp>
        <p:nvSpPr>
          <p:cNvPr id="92" name="Text 89"/>
          <p:cNvSpPr txBox="1"/>
          <p:nvPr/>
        </p:nvSpPr>
        <p:spPr>
          <a:xfrm>
            <a:off x="4297680" y="3703320"/>
            <a:ext cx="3291840" cy="777240"/>
          </a:xfrm>
          <a:prstGeom prst="rect">
            <a:avLst/>
          </a:prstGeom>
          <a:noFill/>
          <a:ln/>
        </p:spPr>
        <p:txBody>
          <a:bodyPr wrap="square" lIns="0" tIns="0" rIns="0" bIns="0" rtlCol="0" anchor="t"/>
          <a:lstStyle/>
          <a:p>
            <a:pPr indent="0" marL="0">
              <a:buNone/>
            </a:pPr>
            <a:r>
              <a:rPr lang="en-US" sz="2000" b="1" dirty="0">
                <a:solidFill>
                  <a:schemeClr val="accent4"/>
                </a:solidFill>
              </a:rPr>
              <a:t>잘못된 비교</a:t>
            </a:r>
            <a:endParaRPr lang="en-US" sz="1500" dirty="0"/>
          </a:p>
          <a:p>
            <a:pPr indent="0" marL="0">
              <a:buNone/>
            </a:pPr>
            <a:r>
              <a:rPr lang="en-US" sz="1400" dirty="0">
                <a:solidFill>
                  <a:schemeClr val="tx2"/>
                </a:solidFill>
              </a:rPr>
              <a:t>B 노출자 vs B 미노출자</a:t>
            </a:r>
            <a:endParaRPr lang="en-US" sz="1500" dirty="0"/>
          </a:p>
        </p:txBody>
      </p:sp>
      <p:sp>
        <p:nvSpPr>
          <p:cNvPr id="93" name="Text 90"/>
          <p:cNvSpPr txBox="1"/>
          <p:nvPr/>
        </p:nvSpPr>
        <p:spPr>
          <a:xfrm>
            <a:off x="7635240" y="3703320"/>
            <a:ext cx="1188720" cy="457200"/>
          </a:xfrm>
          <a:prstGeom prst="rect">
            <a:avLst/>
          </a:prstGeom>
          <a:noFill/>
          <a:ln/>
        </p:spPr>
        <p:txBody>
          <a:bodyPr wrap="square" lIns="0" tIns="0" rIns="0" bIns="0" rtlCol="0" anchor="t"/>
          <a:lstStyle/>
          <a:p>
            <a:pPr indent="0" marL="0">
              <a:buNone/>
            </a:pPr>
            <a:r>
              <a:rPr lang="en-US" sz="2000" b="1" dirty="0">
                <a:solidFill>
                  <a:schemeClr val="accent4"/>
                </a:solidFill>
              </a:rPr>
              <a:t>과대</a:t>
            </a:r>
            <a:endParaRPr lang="en-US" sz="2000" dirty="0"/>
          </a:p>
        </p:txBody>
      </p:sp>
      <p:sp>
        <p:nvSpPr>
          <p:cNvPr id="94" name="Text 91"/>
          <p:cNvSpPr txBox="1"/>
          <p:nvPr/>
        </p:nvSpPr>
        <p:spPr>
          <a:xfrm>
            <a:off x="8915400" y="3749040"/>
            <a:ext cx="2651760" cy="731520"/>
          </a:xfrm>
          <a:prstGeom prst="rect">
            <a:avLst/>
          </a:prstGeom>
          <a:noFill/>
          <a:ln/>
        </p:spPr>
        <p:txBody>
          <a:bodyPr wrap="square" lIns="0" tIns="0" rIns="0" bIns="0" rtlCol="0" anchor="t"/>
          <a:lstStyle/>
          <a:p>
            <a:pPr indent="0" marL="0">
              <a:buNone/>
            </a:pPr>
            <a:r>
              <a:rPr lang="en-US" sz="1400" dirty="0">
                <a:solidFill>
                  <a:schemeClr val="tx2"/>
                </a:solidFill>
              </a:rPr>
              <a:t>노출된 사람은 원래 다르다 → 선택 편향</a:t>
            </a:r>
            <a:endParaRPr lang="en-US" sz="1400" dirty="0"/>
          </a:p>
        </p:txBody>
      </p:sp>
      <p:sp>
        <p:nvSpPr>
          <p:cNvPr id="95" name="Text 92"/>
          <p:cNvSpPr txBox="1"/>
          <p:nvPr/>
        </p:nvSpPr>
        <p:spPr>
          <a:xfrm>
            <a:off x="640080" y="4846320"/>
            <a:ext cx="10911535" cy="457200"/>
          </a:xfrm>
          <a:prstGeom prst="rect">
            <a:avLst/>
          </a:prstGeom>
          <a:noFill/>
          <a:ln/>
        </p:spPr>
        <p:txBody>
          <a:bodyPr wrap="square" lIns="0" tIns="0" rIns="0" bIns="0" rtlCol="0" anchor="t"/>
          <a:lstStyle/>
          <a:p>
            <a:pPr indent="0" marL="0">
              <a:buNone/>
            </a:pPr>
            <a:r>
              <a:rPr lang="en-US" sz="1500" b="1" dirty="0">
                <a:solidFill>
                  <a:schemeClr val="accent1"/>
                </a:solidFill>
              </a:rPr>
              <a:t>설계에서 정할 것  </a:t>
            </a:r>
            <a:pPr indent="0" marL="0">
              <a:buNone/>
            </a:pPr>
            <a:r>
              <a:rPr lang="en-US" sz="1500" dirty="0">
                <a:solidFill>
                  <a:schemeClr val="tx1"/>
                </a:solidFill>
              </a:rPr>
              <a:t>언제 배정할지(트리거 시점), 누구를 분석할지, 대조군에도 트리거 조건을 기록할지</a:t>
            </a:r>
            <a:endParaRPr lang="en-US" sz="1500" dirty="0"/>
          </a:p>
        </p:txBody>
      </p:sp>
      <p:sp>
        <p:nvSpPr>
          <p:cNvPr id="96" name="Text 93"/>
          <p:cNvSpPr txBox="1"/>
          <p:nvPr/>
        </p:nvSpPr>
        <p:spPr>
          <a:xfrm>
            <a:off x="640080" y="5349240"/>
            <a:ext cx="10911535" cy="365760"/>
          </a:xfrm>
          <a:prstGeom prst="rect">
            <a:avLst/>
          </a:prstGeom>
          <a:noFill/>
          <a:ln/>
        </p:spPr>
        <p:txBody>
          <a:bodyPr wrap="square" lIns="0" tIns="0" rIns="0" bIns="0" rtlCol="0" anchor="t"/>
          <a:lstStyle/>
          <a:p>
            <a:pPr indent="0" marL="0">
              <a:buNone/>
            </a:pPr>
            <a:r>
              <a:rPr lang="en-US" sz="1400" dirty="0">
                <a:solidFill>
                  <a:schemeClr val="tx2"/>
                </a:solidFill>
              </a:rPr>
              <a:t>전체 영향 보고 = 트리거 효과 × 트리거 비율</a:t>
            </a:r>
            <a:endParaRPr lang="en-US" sz="14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Ch2 · 1종 오류와 2종 오류</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실험이 틀리는 두 가지 방식</a:t>
            </a:r>
            <a:endParaRPr lang="en-US" sz="20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640080" y="1828800"/>
          <a:ext cx="7498080" cy="914400"/>
        </p:xfrm>
        <a:graphic>
          <a:graphicData uri="http://schemas.openxmlformats.org/drawingml/2006/table">
            <a:tbl>
              <a:tblPr/>
              <a:tblGrid>
                <a:gridCol w="2194560"/>
                <a:gridCol w="2651760"/>
                <a:gridCol w="2651760"/>
              </a:tblGrid>
              <a:tr h="914400">
                <a:tc>
                  <a:txBody>
                    <a:bodyPr/>
                    <a:lstStyle/>
                    <a:p>
                      <a:pPr indent="0" marL="0">
                        <a:buNone/>
                      </a:pPr>
                      <a:endParaRPr lang="en-US" sz="14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400" b="1" dirty="0">
                          <a:solidFill>
                            <a:srgbClr val="555C7A"/>
                          </a:solidFill>
                        </a:rPr>
                        <a:t>결정: 배포한다</a:t>
                      </a:r>
                      <a:endParaRPr lang="en-US" sz="14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400" b="1" dirty="0">
                          <a:solidFill>
                            <a:srgbClr val="555C7A"/>
                          </a:solidFill>
                        </a:rPr>
                        <a:t>결정: 배포하지 않는다</a:t>
                      </a:r>
                      <a:endParaRPr lang="en-US" sz="14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r>
              <a:tr h="914400">
                <a:tc>
                  <a:txBody>
                    <a:bodyPr/>
                    <a:lstStyle/>
                    <a:p>
                      <a:pPr indent="0" marL="0">
                        <a:buNone/>
                      </a:pPr>
                      <a:r>
                        <a:rPr lang="en-US" sz="1500" b="1" dirty="0">
                          <a:solidFill>
                            <a:srgbClr val="1B1F3B"/>
                          </a:solidFill>
                        </a:rPr>
                        <a:t>실제로 효과 없음</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2000" b="1" dirty="0">
                          <a:solidFill>
                            <a:srgbClr val="D93B41"/>
                          </a:solidFill>
                        </a:rPr>
                        <a:t>1종 오류 (α)</a:t>
                      </a:r>
                      <a:endParaRPr lang="en-US" sz="1500" dirty="0"/>
                    </a:p>
                    <a:p>
                      <a:pPr indent="0" marL="0">
                        <a:buNone/>
                      </a:pPr>
                      <a:r>
                        <a:rPr lang="en-US" sz="1400" dirty="0">
                          <a:solidFill>
                            <a:srgbClr val="555C7A"/>
                          </a:solidFill>
                        </a:rPr>
                        <a:t>헛배포 · False Positive</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2000" b="1" dirty="0">
                          <a:solidFill>
                            <a:srgbClr val="8A90A8"/>
                          </a:solidFill>
                        </a:rPr>
                        <a:t>올바른 판단</a:t>
                      </a:r>
                      <a:endParaRPr lang="en-US" sz="1500" dirty="0"/>
                    </a:p>
                    <a:p>
                      <a:pPr indent="0" marL="0">
                        <a:buNone/>
                      </a:pP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914400">
                <a:tc>
                  <a:txBody>
                    <a:bodyPr/>
                    <a:lstStyle/>
                    <a:p>
                      <a:pPr indent="0" marL="0">
                        <a:buNone/>
                      </a:pPr>
                      <a:r>
                        <a:rPr lang="en-US" sz="1500" b="1" dirty="0">
                          <a:solidFill>
                            <a:srgbClr val="1B1F3B"/>
                          </a:solidFill>
                        </a:rPr>
                        <a:t>실제로 효과 있음</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2000" b="1" dirty="0">
                          <a:solidFill>
                            <a:srgbClr val="8A90A8"/>
                          </a:solidFill>
                        </a:rPr>
                        <a:t>올바른 판단</a:t>
                      </a:r>
                      <a:endParaRPr lang="en-US" sz="1500" dirty="0"/>
                    </a:p>
                    <a:p>
                      <a:pPr indent="0" marL="0">
                        <a:buNone/>
                      </a:pPr>
                      <a:r>
                        <a:rPr lang="en-US" sz="1400" dirty="0">
                          <a:solidFill>
                            <a:srgbClr val="555C7A"/>
                          </a:solidFill>
                        </a:rPr>
                        <a:t>검정력 = 1 - β</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2000" b="1" dirty="0">
                          <a:solidFill>
                            <a:srgbClr val="B87700"/>
                          </a:solidFill>
                        </a:rPr>
                        <a:t>2종 오류 (β)</a:t>
                      </a:r>
                      <a:endParaRPr lang="en-US" sz="1500" dirty="0"/>
                    </a:p>
                    <a:p>
                      <a:pPr indent="0" marL="0">
                        <a:buNone/>
                      </a:pPr>
                      <a:r>
                        <a:rPr lang="en-US" sz="1400" dirty="0">
                          <a:solidFill>
                            <a:srgbClr val="555C7A"/>
                          </a:solidFill>
                        </a:rPr>
                        <a:t>놓친 기회 · False Negative</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bl>
          </a:graphicData>
        </a:graphic>
      </p:graphicFrame>
      <p:sp>
        <p:nvSpPr>
          <p:cNvPr id="6" name="Text 2"/>
          <p:cNvSpPr txBox="1"/>
          <p:nvPr/>
        </p:nvSpPr>
        <p:spPr>
          <a:xfrm>
            <a:off x="8595360" y="1828800"/>
            <a:ext cx="2926080" cy="3291840"/>
          </a:xfrm>
          <a:prstGeom prst="rect">
            <a:avLst/>
          </a:prstGeom>
          <a:noFill/>
          <a:ln/>
        </p:spPr>
        <p:txBody>
          <a:bodyPr wrap="square" lIns="0" tIns="0" rIns="0" bIns="0" rtlCol="0" anchor="t"/>
          <a:lstStyle/>
          <a:p>
            <a:pPr indent="0" marL="0">
              <a:buNone/>
            </a:pPr>
            <a:r>
              <a:rPr lang="en-US" sz="1500" b="1" dirty="0">
                <a:solidFill>
                  <a:schemeClr val="tx2"/>
                </a:solidFill>
              </a:rPr>
              <a:t>관례</a:t>
            </a:r>
            <a:endParaRPr lang="en-US" sz="1500" dirty="0"/>
          </a:p>
          <a:p>
            <a:pPr indent="0" marL="0">
              <a:buNone/>
            </a:pPr>
            <a:r>
              <a:rPr lang="en-US" sz="3000" b="1" dirty="0">
                <a:solidFill>
                  <a:schemeClr val="accent4"/>
                </a:solidFill>
              </a:rPr>
              <a:t>α = 5%</a:t>
            </a:r>
            <a:endParaRPr lang="en-US" sz="1500" dirty="0"/>
          </a:p>
          <a:p>
            <a:pPr indent="0" marL="0">
              <a:spcAft>
                <a:spcPts val="1400"/>
              </a:spcAft>
              <a:buNone/>
            </a:pPr>
            <a:r>
              <a:rPr lang="en-US" sz="1400" dirty="0">
                <a:solidFill>
                  <a:schemeClr val="tx2"/>
                </a:solidFill>
              </a:rPr>
              <a:t>효과 없는데 배포할 위험을 5%까지 허용</a:t>
            </a:r>
            <a:endParaRPr lang="en-US" sz="1500" dirty="0"/>
          </a:p>
          <a:p>
            <a:pPr indent="0" marL="0">
              <a:buNone/>
            </a:pPr>
            <a:r>
              <a:rPr lang="en-US" sz="3000" b="1" dirty="0">
                <a:solidFill>
                  <a:schemeClr val="accent1"/>
                </a:solidFill>
              </a:rPr>
              <a:t>검정력 = 80%</a:t>
            </a:r>
            <a:endParaRPr lang="en-US" sz="1500" dirty="0"/>
          </a:p>
          <a:p>
            <a:pPr indent="0" marL="0">
              <a:buNone/>
            </a:pPr>
            <a:r>
              <a:rPr lang="en-US" sz="1400" dirty="0">
                <a:solidFill>
                  <a:schemeClr val="tx2"/>
                </a:solidFill>
              </a:rPr>
              <a:t>실제 효과가 MDE만큼 있을 때 잡아낼 확률</a:t>
            </a:r>
            <a:endParaRPr lang="en-US" sz="15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Ch2 · 표본 크기 산정 (Power Analysis)</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MDE를 절반으로 줄이면 필요한 사용자는 4배</a:t>
            </a:r>
            <a:endParaRPr lang="en-US" sz="2000" dirty="0"/>
          </a:p>
        </p:txBody>
      </p:sp>
      <p:graphicFrame>
        <p:nvGraphicFramePr>
          <p:cNvPr id="5" name="Chart 0" descr=""/>
          <p:cNvGraphicFramePr/>
          <p:nvPr/>
        </p:nvGraphicFramePr>
        <p:xfrm>
          <a:off x="640080" y="1737360"/>
          <a:ext cx="6583680" cy="402336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7680960" y="1828800"/>
            <a:ext cx="3840480" cy="3931920"/>
          </a:xfrm>
          <a:prstGeom prst="rect">
            <a:avLst/>
          </a:prstGeom>
          <a:noFill/>
          <a:ln/>
        </p:spPr>
        <p:txBody>
          <a:bodyPr wrap="square" lIns="0" tIns="0" rIns="0" bIns="0" rtlCol="0" anchor="t"/>
          <a:lstStyle/>
          <a:p>
            <a:pPr indent="0" marL="0">
              <a:spcAft>
                <a:spcPts val="400"/>
              </a:spcAft>
              <a:buNone/>
            </a:pPr>
            <a:r>
              <a:rPr lang="en-US" sz="3000" b="1" dirty="0">
                <a:solidFill>
                  <a:schemeClr val="accent1"/>
                </a:solidFill>
              </a:rPr>
              <a:t>n ≈ 16 · σ² / δ²</a:t>
            </a:r>
            <a:endParaRPr lang="en-US" sz="1500" dirty="0"/>
          </a:p>
          <a:p>
            <a:pPr indent="0" marL="0">
              <a:spcAft>
                <a:spcPts val="1600"/>
              </a:spcAft>
              <a:buNone/>
            </a:pPr>
            <a:r>
              <a:rPr lang="en-US" sz="1400" dirty="0">
                <a:solidFill>
                  <a:schemeClr val="tx2"/>
                </a:solidFill>
              </a:rPr>
              <a:t>그룹당 · α 5% · 검정력 80% 기준 어림식</a:t>
            </a:r>
            <a:endParaRPr lang="en-US" sz="1500" dirty="0"/>
          </a:p>
          <a:p>
            <a:pPr indent="0" marL="0">
              <a:buNone/>
            </a:pPr>
            <a:r>
              <a:rPr lang="en-US" sz="1500" b="1" dirty="0">
                <a:solidFill>
                  <a:schemeClr val="tx1"/>
                </a:solidFill>
              </a:rPr>
              <a:t>α  유의수준</a:t>
            </a:r>
            <a:endParaRPr lang="en-US" sz="1500" dirty="0"/>
          </a:p>
          <a:p>
            <a:pPr indent="0" marL="0">
              <a:spcAft>
                <a:spcPts val="800"/>
              </a:spcAft>
              <a:buNone/>
            </a:pPr>
            <a:r>
              <a:rPr lang="en-US" sz="1500" dirty="0">
                <a:solidFill>
                  <a:schemeClr val="tx2"/>
                </a:solidFill>
              </a:rPr>
              <a:t>헛배포를 얼마나 허용할까</a:t>
            </a:r>
            <a:endParaRPr lang="en-US" sz="1500" dirty="0"/>
          </a:p>
          <a:p>
            <a:pPr indent="0" marL="0">
              <a:buNone/>
            </a:pPr>
            <a:r>
              <a:rPr lang="en-US" sz="1500" b="1" dirty="0">
                <a:solidFill>
                  <a:schemeClr val="tx1"/>
                </a:solidFill>
              </a:rPr>
              <a:t>1 - β  검정력</a:t>
            </a:r>
            <a:endParaRPr lang="en-US" sz="1500" dirty="0"/>
          </a:p>
          <a:p>
            <a:pPr indent="0" marL="0">
              <a:spcAft>
                <a:spcPts val="800"/>
              </a:spcAft>
              <a:buNone/>
            </a:pPr>
            <a:r>
              <a:rPr lang="en-US" sz="1500" dirty="0">
                <a:solidFill>
                  <a:schemeClr val="tx2"/>
                </a:solidFill>
              </a:rPr>
              <a:t>진짜 효과를 얼마나 확실히 잡을까</a:t>
            </a:r>
            <a:endParaRPr lang="en-US" sz="1500" dirty="0"/>
          </a:p>
          <a:p>
            <a:pPr indent="0" marL="0">
              <a:buNone/>
            </a:pPr>
            <a:r>
              <a:rPr lang="en-US" sz="1500" b="1" dirty="0">
                <a:solidFill>
                  <a:schemeClr val="tx1"/>
                </a:solidFill>
              </a:rPr>
              <a:t>MDE  최소 탐지 효과</a:t>
            </a:r>
            <a:endParaRPr lang="en-US" sz="1500" dirty="0"/>
          </a:p>
          <a:p>
            <a:pPr indent="0" marL="0">
              <a:buNone/>
            </a:pPr>
            <a:r>
              <a:rPr lang="en-US" sz="1500" dirty="0">
                <a:solidFill>
                  <a:schemeClr val="tx2"/>
                </a:solidFill>
              </a:rPr>
              <a:t>이보다 작은 효과는 놓쳐도 괜찮다는 선언</a:t>
            </a:r>
            <a:endParaRPr lang="en-US" sz="15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Ch2 · α와 Power</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α와 Power를 엄격하게 잡을수록 실험은 길어진다</a:t>
            </a:r>
            <a:endParaRPr lang="en-US" sz="20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640080" y="1737360"/>
          <a:ext cx="6583680" cy="914400"/>
        </p:xfrm>
        <a:graphic>
          <a:graphicData uri="http://schemas.openxmlformats.org/drawingml/2006/table">
            <a:tbl>
              <a:tblPr/>
              <a:tblGrid>
                <a:gridCol w="1463040"/>
                <a:gridCol w="3566160"/>
                <a:gridCol w="1554480"/>
              </a:tblGrid>
              <a:tr h="512064">
                <a:tc>
                  <a:txBody>
                    <a:bodyPr/>
                    <a:lstStyle/>
                    <a:p>
                      <a:pPr indent="0" marL="0">
                        <a:buNone/>
                      </a:pPr>
                      <a:r>
                        <a:rPr lang="en-US" sz="1400" b="1" dirty="0">
                          <a:solidFill>
                            <a:srgbClr val="555C7A"/>
                          </a:solidFill>
                        </a:rPr>
                        <a:t>설계 변경</a:t>
                      </a:r>
                      <a:endParaRPr lang="en-US" sz="14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400" b="1" dirty="0">
                          <a:solidFill>
                            <a:srgbClr val="555C7A"/>
                          </a:solidFill>
                        </a:rPr>
                        <a:t>의미</a:t>
                      </a:r>
                      <a:endParaRPr lang="en-US" sz="14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400" b="1" dirty="0">
                          <a:solidFill>
                            <a:srgbClr val="555C7A"/>
                          </a:solidFill>
                        </a:rPr>
                        <a:t>필요한 표본 수</a:t>
                      </a:r>
                      <a:endParaRPr lang="en-US" sz="14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r>
              <a:tr h="512064">
                <a:tc>
                  <a:txBody>
                    <a:bodyPr/>
                    <a:lstStyle/>
                    <a:p>
                      <a:pPr indent="0" marL="0">
                        <a:buNone/>
                      </a:pPr>
                      <a:r>
                        <a:rPr lang="en-US" sz="1500" b="1" dirty="0">
                          <a:solidFill>
                            <a:srgbClr val="1B1F3B"/>
                          </a:solidFill>
                        </a:rPr>
                        <a:t>α ↓</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False Positive를 더 엄격하게 막는다</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b="1" dirty="0">
                          <a:solidFill>
                            <a:srgbClr val="D93B41"/>
                          </a:solidFill>
                        </a:rPr>
                        <a:t>증가</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512064">
                <a:tc>
                  <a:txBody>
                    <a:bodyPr/>
                    <a:lstStyle/>
                    <a:p>
                      <a:pPr indent="0" marL="0">
                        <a:buNone/>
                      </a:pPr>
                      <a:r>
                        <a:rPr lang="en-US" sz="1500" b="1" dirty="0">
                          <a:solidFill>
                            <a:srgbClr val="1B1F3B"/>
                          </a:solidFill>
                        </a:rPr>
                        <a:t>α ↑</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효과 있다고 판단하기 쉬워진다</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b="1" dirty="0">
                          <a:solidFill>
                            <a:srgbClr val="0F9D63"/>
                          </a:solidFill>
                        </a:rPr>
                        <a:t>감소</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512064">
                <a:tc>
                  <a:txBody>
                    <a:bodyPr/>
                    <a:lstStyle/>
                    <a:p>
                      <a:pPr indent="0" marL="0">
                        <a:buNone/>
                      </a:pPr>
                      <a:r>
                        <a:rPr lang="en-US" sz="1500" b="1" dirty="0">
                          <a:solidFill>
                            <a:srgbClr val="1B1F3B"/>
                          </a:solidFill>
                        </a:rPr>
                        <a:t>Power ↑</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실제 효과를 놓칠 가능성을 줄인다</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b="1" dirty="0">
                          <a:solidFill>
                            <a:srgbClr val="D93B41"/>
                          </a:solidFill>
                        </a:rPr>
                        <a:t>증가</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512064">
                <a:tc>
                  <a:txBody>
                    <a:bodyPr/>
                    <a:lstStyle/>
                    <a:p>
                      <a:pPr indent="0" marL="0">
                        <a:buNone/>
                      </a:pPr>
                      <a:r>
                        <a:rPr lang="en-US" sz="1500" b="1" dirty="0">
                          <a:solidFill>
                            <a:srgbClr val="1B1F3B"/>
                          </a:solidFill>
                        </a:rPr>
                        <a:t>Power ↓</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실제 효과를 놓칠 가능성을 더 허용한다</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b="1" dirty="0">
                          <a:solidFill>
                            <a:srgbClr val="0F9D63"/>
                          </a:solidFill>
                        </a:rPr>
                        <a:t>감소</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bl>
          </a:graphicData>
        </a:graphic>
      </p:graphicFrame>
      <p:sp>
        <p:nvSpPr>
          <p:cNvPr id="6" name="Text 2"/>
          <p:cNvSpPr txBox="1"/>
          <p:nvPr/>
        </p:nvSpPr>
        <p:spPr>
          <a:xfrm>
            <a:off x="7680960" y="1783080"/>
            <a:ext cx="3840480" cy="411480"/>
          </a:xfrm>
          <a:prstGeom prst="rect">
            <a:avLst/>
          </a:prstGeom>
          <a:noFill/>
          <a:ln/>
        </p:spPr>
        <p:txBody>
          <a:bodyPr wrap="square" lIns="0" tIns="0" rIns="0" bIns="0" rtlCol="0" anchor="t"/>
          <a:lstStyle/>
          <a:p>
            <a:pPr indent="0" marL="0">
              <a:buNone/>
            </a:pPr>
            <a:r>
              <a:rPr lang="en-US" sz="2000" b="1" dirty="0">
                <a:solidFill>
                  <a:schemeClr val="tx1"/>
                </a:solidFill>
              </a:rPr>
              <a:t>α · Power 결정</a:t>
            </a:r>
            <a:endParaRPr lang="en-US" sz="2000" dirty="0"/>
          </a:p>
        </p:txBody>
      </p:sp>
      <p:sp>
        <p:nvSpPr>
          <p:cNvPr id="7" name="Text 3"/>
          <p:cNvSpPr txBox="1"/>
          <p:nvPr/>
        </p:nvSpPr>
        <p:spPr>
          <a:xfrm>
            <a:off x="7680960" y="2167128"/>
            <a:ext cx="365760" cy="365760"/>
          </a:xfrm>
          <a:prstGeom prst="rect">
            <a:avLst/>
          </a:prstGeom>
          <a:noFill/>
          <a:ln/>
        </p:spPr>
        <p:txBody>
          <a:bodyPr wrap="square" lIns="0" tIns="0" rIns="0" bIns="0" rtlCol="0" anchor="t"/>
          <a:lstStyle/>
          <a:p>
            <a:pPr indent="0" marL="0">
              <a:buNone/>
            </a:pPr>
            <a:r>
              <a:rPr lang="en-US" sz="1500" dirty="0">
                <a:solidFill>
                  <a:schemeClr val="accent6"/>
                </a:solidFill>
              </a:rPr>
              <a:t>↓</a:t>
            </a:r>
            <a:endParaRPr lang="en-US" sz="1500" dirty="0"/>
          </a:p>
        </p:txBody>
      </p:sp>
      <p:sp>
        <p:nvSpPr>
          <p:cNvPr id="8" name="Text 4"/>
          <p:cNvSpPr txBox="1"/>
          <p:nvPr/>
        </p:nvSpPr>
        <p:spPr>
          <a:xfrm>
            <a:off x="7680960" y="2560320"/>
            <a:ext cx="3840480" cy="411480"/>
          </a:xfrm>
          <a:prstGeom prst="rect">
            <a:avLst/>
          </a:prstGeom>
          <a:noFill/>
          <a:ln/>
        </p:spPr>
        <p:txBody>
          <a:bodyPr wrap="square" lIns="0" tIns="0" rIns="0" bIns="0" rtlCol="0" anchor="t"/>
          <a:lstStyle/>
          <a:p>
            <a:pPr indent="0" marL="0">
              <a:buNone/>
            </a:pPr>
            <a:r>
              <a:rPr lang="en-US" sz="2000" b="1" dirty="0">
                <a:solidFill>
                  <a:schemeClr val="tx1"/>
                </a:solidFill>
              </a:rPr>
              <a:t>필요한 표본 수</a:t>
            </a:r>
            <a:endParaRPr lang="en-US" sz="2000" dirty="0"/>
          </a:p>
        </p:txBody>
      </p:sp>
      <p:sp>
        <p:nvSpPr>
          <p:cNvPr id="9" name="Text 5"/>
          <p:cNvSpPr txBox="1"/>
          <p:nvPr/>
        </p:nvSpPr>
        <p:spPr>
          <a:xfrm>
            <a:off x="7680960" y="2944368"/>
            <a:ext cx="365760" cy="365760"/>
          </a:xfrm>
          <a:prstGeom prst="rect">
            <a:avLst/>
          </a:prstGeom>
          <a:noFill/>
          <a:ln/>
        </p:spPr>
        <p:txBody>
          <a:bodyPr wrap="square" lIns="0" tIns="0" rIns="0" bIns="0" rtlCol="0" anchor="t"/>
          <a:lstStyle/>
          <a:p>
            <a:pPr indent="0" marL="0">
              <a:buNone/>
            </a:pPr>
            <a:r>
              <a:rPr lang="en-US" sz="1500" dirty="0">
                <a:solidFill>
                  <a:schemeClr val="accent6"/>
                </a:solidFill>
              </a:rPr>
              <a:t>↓</a:t>
            </a:r>
            <a:endParaRPr lang="en-US" sz="1500" dirty="0"/>
          </a:p>
        </p:txBody>
      </p:sp>
      <p:sp>
        <p:nvSpPr>
          <p:cNvPr id="10" name="Text 6"/>
          <p:cNvSpPr txBox="1"/>
          <p:nvPr/>
        </p:nvSpPr>
        <p:spPr>
          <a:xfrm>
            <a:off x="7680960" y="3337560"/>
            <a:ext cx="3840480" cy="411480"/>
          </a:xfrm>
          <a:prstGeom prst="rect">
            <a:avLst/>
          </a:prstGeom>
          <a:noFill/>
          <a:ln/>
        </p:spPr>
        <p:txBody>
          <a:bodyPr wrap="square" lIns="0" tIns="0" rIns="0" bIns="0" rtlCol="0" anchor="t"/>
          <a:lstStyle/>
          <a:p>
            <a:pPr indent="0" marL="0">
              <a:buNone/>
            </a:pPr>
            <a:r>
              <a:rPr lang="en-US" sz="2000" b="1" dirty="0">
                <a:solidFill>
                  <a:schemeClr val="tx1"/>
                </a:solidFill>
              </a:rPr>
              <a:t>서비스 트래픽과 결합</a:t>
            </a:r>
            <a:endParaRPr lang="en-US" sz="2000" dirty="0"/>
          </a:p>
        </p:txBody>
      </p:sp>
      <p:sp>
        <p:nvSpPr>
          <p:cNvPr id="11" name="Text 7"/>
          <p:cNvSpPr txBox="1"/>
          <p:nvPr/>
        </p:nvSpPr>
        <p:spPr>
          <a:xfrm>
            <a:off x="7680960" y="3721608"/>
            <a:ext cx="365760" cy="365760"/>
          </a:xfrm>
          <a:prstGeom prst="rect">
            <a:avLst/>
          </a:prstGeom>
          <a:noFill/>
          <a:ln/>
        </p:spPr>
        <p:txBody>
          <a:bodyPr wrap="square" lIns="0" tIns="0" rIns="0" bIns="0" rtlCol="0" anchor="t"/>
          <a:lstStyle/>
          <a:p>
            <a:pPr indent="0" marL="0">
              <a:buNone/>
            </a:pPr>
            <a:r>
              <a:rPr lang="en-US" sz="1500" dirty="0">
                <a:solidFill>
                  <a:schemeClr val="accent6"/>
                </a:solidFill>
              </a:rPr>
              <a:t>↓</a:t>
            </a:r>
            <a:endParaRPr lang="en-US" sz="1500" dirty="0"/>
          </a:p>
        </p:txBody>
      </p:sp>
      <p:sp>
        <p:nvSpPr>
          <p:cNvPr id="12" name="Text 8"/>
          <p:cNvSpPr txBox="1"/>
          <p:nvPr/>
        </p:nvSpPr>
        <p:spPr>
          <a:xfrm>
            <a:off x="7680960" y="4114800"/>
            <a:ext cx="3840480" cy="411480"/>
          </a:xfrm>
          <a:prstGeom prst="rect">
            <a:avLst/>
          </a:prstGeom>
          <a:noFill/>
          <a:ln/>
        </p:spPr>
        <p:txBody>
          <a:bodyPr wrap="square" lIns="0" tIns="0" rIns="0" bIns="0" rtlCol="0" anchor="t"/>
          <a:lstStyle/>
          <a:p>
            <a:pPr indent="0" marL="0">
              <a:buNone/>
            </a:pPr>
            <a:r>
              <a:rPr lang="en-US" sz="2000" b="1" dirty="0">
                <a:solidFill>
                  <a:schemeClr val="accent1"/>
                </a:solidFill>
              </a:rPr>
              <a:t>실험 기간</a:t>
            </a:r>
            <a:endParaRPr lang="en-US" sz="2000" dirty="0"/>
          </a:p>
        </p:txBody>
      </p:sp>
      <p:sp>
        <p:nvSpPr>
          <p:cNvPr id="13" name="Text 9"/>
          <p:cNvSpPr txBox="1"/>
          <p:nvPr/>
        </p:nvSpPr>
        <p:spPr>
          <a:xfrm>
            <a:off x="640080" y="4663440"/>
            <a:ext cx="6766560" cy="1188720"/>
          </a:xfrm>
          <a:prstGeom prst="rect">
            <a:avLst/>
          </a:prstGeom>
          <a:noFill/>
          <a:ln/>
        </p:spPr>
        <p:txBody>
          <a:bodyPr wrap="square" lIns="0" tIns="0" rIns="0" bIns="0" rtlCol="0" anchor="t"/>
          <a:lstStyle/>
          <a:p>
            <a:pPr indent="0" marL="0">
              <a:spcAft>
                <a:spcPts val="600"/>
              </a:spcAft>
              <a:buNone/>
            </a:pPr>
            <a:r>
              <a:rPr lang="en-US" sz="2000" b="1" dirty="0">
                <a:solidFill>
                  <a:schemeClr val="tx1"/>
                </a:solidFill>
              </a:rPr>
              <a:t>두 실수의 비용을 비교한다</a:t>
            </a:r>
            <a:endParaRPr lang="en-US" sz="1500" dirty="0"/>
          </a:p>
          <a:p>
            <a:pPr marL="342900" indent="-342900">
              <a:spcAft>
                <a:spcPts val="400"/>
              </a:spcAft>
              <a:buSzPct val="100000"/>
              <a:buChar char="•"/>
            </a:pPr>
            <a:r>
              <a:rPr lang="en-US" sz="1500" dirty="0">
                <a:solidFill>
                  <a:schemeClr val="tx1"/>
                </a:solidFill>
              </a:rPr>
              <a:t>False Positive: 효과 없는 기능을 배포하면 얼마나 큰 문제가 생기나?</a:t>
            </a:r>
            <a:endParaRPr lang="en-US" sz="1500" dirty="0"/>
          </a:p>
          <a:p>
            <a:pPr marL="342900" indent="-342900">
              <a:spcAft>
                <a:spcPts val="400"/>
              </a:spcAft>
              <a:buSzPct val="100000"/>
              <a:buChar char="•"/>
            </a:pPr>
            <a:r>
              <a:rPr lang="en-US" sz="1500" dirty="0">
                <a:solidFill>
                  <a:schemeClr val="tx1"/>
                </a:solidFill>
              </a:rPr>
              <a:t>False Negative: 좋은 기능을 버리면 얼마나 큰 기회를 잃나?</a:t>
            </a:r>
            <a:endParaRPr lang="en-US" sz="1500" dirty="0"/>
          </a:p>
        </p:txBody>
      </p:sp>
      <p:sp>
        <p:nvSpPr>
          <p:cNvPr id="14" name="Text 10"/>
          <p:cNvSpPr txBox="1"/>
          <p:nvPr/>
        </p:nvSpPr>
        <p:spPr>
          <a:xfrm>
            <a:off x="7680960" y="4937760"/>
            <a:ext cx="3886200" cy="457200"/>
          </a:xfrm>
          <a:prstGeom prst="rect">
            <a:avLst/>
          </a:prstGeom>
          <a:noFill/>
          <a:ln/>
        </p:spPr>
        <p:txBody>
          <a:bodyPr wrap="square" lIns="0" tIns="0" rIns="0" bIns="0" rtlCol="0" anchor="t"/>
          <a:lstStyle/>
          <a:p>
            <a:pPr indent="0" marL="0">
              <a:buNone/>
            </a:pPr>
            <a:r>
              <a:rPr lang="en-US" sz="1500" dirty="0">
                <a:solidFill>
                  <a:schemeClr val="tx2"/>
                </a:solidFill>
              </a:rPr>
              <a:t>예: 하루 10,000명, 필요 표본 140,000명 → 약 14일</a:t>
            </a:r>
            <a:endParaRPr lang="en-US" sz="1500" dirty="0"/>
          </a:p>
        </p:txBody>
      </p:sp>
      <p:sp>
        <p:nvSpPr>
          <p:cNvPr id="15" name="Text 11"/>
          <p:cNvSpPr txBox="1"/>
          <p:nvPr/>
        </p:nvSpPr>
        <p:spPr>
          <a:xfrm>
            <a:off x="640080" y="5897880"/>
            <a:ext cx="10911535" cy="274320"/>
          </a:xfrm>
          <a:prstGeom prst="rect">
            <a:avLst/>
          </a:prstGeom>
          <a:noFill/>
          <a:ln/>
        </p:spPr>
        <p:txBody>
          <a:bodyPr wrap="square" lIns="0" tIns="0" rIns="0" bIns="0" rtlCol="0" anchor="t"/>
          <a:lstStyle/>
          <a:p>
            <a:pPr indent="0" marL="0">
              <a:buNone/>
            </a:pPr>
            <a:r>
              <a:rPr lang="en-US" sz="1100" dirty="0">
                <a:solidFill>
                  <a:schemeClr val="accent6"/>
                </a:solidFill>
              </a:rPr>
              <a:t>위키 05편 4.1</a:t>
            </a:r>
            <a:endParaRPr lang="en-US" sz="11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Ch2 · MDE 정하기</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MDE는 통계가 아니라 비즈니스가 정한다</a:t>
            </a:r>
            <a:endParaRPr lang="en-US" sz="2000" dirty="0"/>
          </a:p>
        </p:txBody>
      </p:sp>
      <p:sp>
        <p:nvSpPr>
          <p:cNvPr id="5" name="Text 2"/>
          <p:cNvSpPr txBox="1"/>
          <p:nvPr/>
        </p:nvSpPr>
        <p:spPr>
          <a:xfrm>
            <a:off x="640080" y="1737360"/>
            <a:ext cx="10911535" cy="457200"/>
          </a:xfrm>
          <a:prstGeom prst="rect">
            <a:avLst/>
          </a:prstGeom>
          <a:noFill/>
          <a:ln/>
        </p:spPr>
        <p:txBody>
          <a:bodyPr wrap="square" lIns="0" tIns="0" rIns="0" bIns="0" rtlCol="0" anchor="t"/>
          <a:lstStyle/>
          <a:p>
            <a:pPr indent="0" marL="0">
              <a:buNone/>
            </a:pPr>
            <a:r>
              <a:rPr lang="en-US" sz="1500" b="1" dirty="0">
                <a:solidFill>
                  <a:schemeClr val="accent1"/>
                </a:solidFill>
              </a:rPr>
              <a:t>Baseline CVR 10% · MDE +1%p · Power 80%  </a:t>
            </a:r>
            <a:pPr indent="0" marL="0">
              <a:buNone/>
            </a:pPr>
            <a:r>
              <a:rPr lang="en-US" sz="1500" dirty="0">
                <a:solidFill>
                  <a:schemeClr val="tx1"/>
                </a:solidFill>
              </a:rPr>
              <a:t>→ 10%가 11%로 바뀌는 변화가 실제로 있을 때 80% 확률로 잡도록 설계한다</a:t>
            </a:r>
            <a:endParaRPr lang="en-US" sz="1500" dirty="0"/>
          </a:p>
        </p:txBody>
      </p:sp>
      <p:sp>
        <p:nvSpPr>
          <p:cNvPr id="6" name="Text 3"/>
          <p:cNvSpPr txBox="1"/>
          <p:nvPr/>
        </p:nvSpPr>
        <p:spPr>
          <a:xfrm>
            <a:off x="640080" y="2194560"/>
            <a:ext cx="10911535" cy="365760"/>
          </a:xfrm>
          <a:prstGeom prst="rect">
            <a:avLst/>
          </a:prstGeom>
          <a:noFill/>
          <a:ln/>
        </p:spPr>
        <p:txBody>
          <a:bodyPr wrap="square" lIns="0" tIns="0" rIns="0" bIns="0" rtlCol="0" anchor="t"/>
          <a:lstStyle/>
          <a:p>
            <a:pPr indent="0" marL="0">
              <a:buNone/>
            </a:pPr>
            <a:r>
              <a:rPr lang="en-US" sz="1400" dirty="0">
                <a:solidFill>
                  <a:schemeClr val="tx2"/>
                </a:solidFill>
              </a:rPr>
              <a:t>MDE보다 작은 효과가 절대 유의하게 나오지 않는다는 뜻은 아닙니다</a:t>
            </a:r>
            <a:endParaRPr lang="en-US" sz="1400" dirty="0"/>
          </a:p>
        </p:txBody>
      </p:sp>
      <p:sp>
        <p:nvSpPr>
          <p:cNvPr id="7" name="Text 4"/>
          <p:cNvSpPr txBox="1"/>
          <p:nvPr/>
        </p:nvSpPr>
        <p:spPr>
          <a:xfrm>
            <a:off x="640080" y="2834640"/>
            <a:ext cx="3429000" cy="1554480"/>
          </a:xfrm>
          <a:prstGeom prst="rect">
            <a:avLst/>
          </a:prstGeom>
          <a:noFill/>
          <a:ln/>
        </p:spPr>
        <p:txBody>
          <a:bodyPr wrap="square" lIns="0" tIns="0" rIns="0" bIns="0" rtlCol="0" anchor="t"/>
          <a:lstStyle/>
          <a:p>
            <a:pPr indent="0" marL="0">
              <a:buNone/>
            </a:pPr>
            <a:r>
              <a:rPr lang="en-US" sz="2000" b="1" dirty="0">
                <a:solidFill>
                  <a:schemeClr val="accent5"/>
                </a:solidFill>
              </a:rPr>
              <a:t>Overpowered</a:t>
            </a:r>
            <a:endParaRPr lang="en-US" sz="1500" dirty="0"/>
          </a:p>
          <a:p>
            <a:pPr indent="0" marL="0">
              <a:spcAft>
                <a:spcPts val="600"/>
              </a:spcAft>
              <a:buNone/>
            </a:pPr>
            <a:r>
              <a:rPr lang="en-US" sz="1500" dirty="0">
                <a:solidFill>
                  <a:schemeClr val="tx1"/>
                </a:solidFill>
              </a:rPr>
              <a:t>MDE를 너무 작게: 0.5%</a:t>
            </a:r>
            <a:endParaRPr lang="en-US" sz="1500" dirty="0"/>
          </a:p>
          <a:p>
            <a:pPr indent="0" marL="0">
              <a:buNone/>
            </a:pPr>
            <a:r>
              <a:rPr lang="en-US" sz="1400" dirty="0">
                <a:solidFill>
                  <a:schemeClr val="tx2"/>
                </a:solidFill>
              </a:rPr>
              <a:t>5%는 올라야 의미 있는데 0.5%까지 잡으려고 표본과 시간을 낭비한다</a:t>
            </a:r>
            <a:endParaRPr lang="en-US" sz="1500" dirty="0"/>
          </a:p>
        </p:txBody>
      </p:sp>
      <p:sp>
        <p:nvSpPr>
          <p:cNvPr id="8" name="Text 5"/>
          <p:cNvSpPr txBox="1"/>
          <p:nvPr/>
        </p:nvSpPr>
        <p:spPr>
          <a:xfrm>
            <a:off x="4343400" y="2834640"/>
            <a:ext cx="3429000" cy="1554480"/>
          </a:xfrm>
          <a:prstGeom prst="rect">
            <a:avLst/>
          </a:prstGeom>
          <a:noFill/>
          <a:ln/>
        </p:spPr>
        <p:txBody>
          <a:bodyPr wrap="square" lIns="0" tIns="0" rIns="0" bIns="0" rtlCol="0" anchor="t"/>
          <a:lstStyle/>
          <a:p>
            <a:pPr indent="0" marL="0">
              <a:buNone/>
            </a:pPr>
            <a:r>
              <a:rPr lang="en-US" sz="2000" b="1" dirty="0">
                <a:solidFill>
                  <a:schemeClr val="accent1"/>
                </a:solidFill>
              </a:rPr>
              <a:t>적절한 MDE</a:t>
            </a:r>
            <a:endParaRPr lang="en-US" sz="1500" dirty="0"/>
          </a:p>
          <a:p>
            <a:pPr indent="0" marL="0">
              <a:spcAft>
                <a:spcPts val="600"/>
              </a:spcAft>
              <a:buNone/>
            </a:pPr>
            <a:r>
              <a:rPr lang="en-US" sz="1500" dirty="0">
                <a:solidFill>
                  <a:schemeClr val="tx1"/>
                </a:solidFill>
              </a:rPr>
              <a:t>도입할 가치가 있는 최소 효과</a:t>
            </a:r>
            <a:endParaRPr lang="en-US" sz="1500" dirty="0"/>
          </a:p>
          <a:p>
            <a:pPr indent="0" marL="0">
              <a:buNone/>
            </a:pPr>
            <a:r>
              <a:rPr lang="en-US" sz="1400" dirty="0">
                <a:solidFill>
                  <a:schemeClr val="tx2"/>
                </a:solidFill>
              </a:rPr>
              <a:t>구현·운영 비용, 리스크, 기대 효과를 놓고 ROI로 정한다</a:t>
            </a:r>
            <a:endParaRPr lang="en-US" sz="1500" dirty="0"/>
          </a:p>
        </p:txBody>
      </p:sp>
      <p:sp>
        <p:nvSpPr>
          <p:cNvPr id="9" name="Text 6"/>
          <p:cNvSpPr txBox="1"/>
          <p:nvPr/>
        </p:nvSpPr>
        <p:spPr>
          <a:xfrm>
            <a:off x="8046720" y="2834640"/>
            <a:ext cx="3429000" cy="1554480"/>
          </a:xfrm>
          <a:prstGeom prst="rect">
            <a:avLst/>
          </a:prstGeom>
          <a:noFill/>
          <a:ln/>
        </p:spPr>
        <p:txBody>
          <a:bodyPr wrap="square" lIns="0" tIns="0" rIns="0" bIns="0" rtlCol="0" anchor="t"/>
          <a:lstStyle/>
          <a:p>
            <a:pPr indent="0" marL="0">
              <a:buNone/>
            </a:pPr>
            <a:r>
              <a:rPr lang="en-US" sz="2000" b="1" dirty="0">
                <a:solidFill>
                  <a:schemeClr val="accent4"/>
                </a:solidFill>
              </a:rPr>
              <a:t>Underpowered</a:t>
            </a:r>
            <a:endParaRPr lang="en-US" sz="1500" dirty="0"/>
          </a:p>
          <a:p>
            <a:pPr indent="0" marL="0">
              <a:spcAft>
                <a:spcPts val="600"/>
              </a:spcAft>
              <a:buNone/>
            </a:pPr>
            <a:r>
              <a:rPr lang="en-US" sz="1500" dirty="0">
                <a:solidFill>
                  <a:schemeClr val="tx1"/>
                </a:solidFill>
              </a:rPr>
              <a:t>MDE를 너무 크게: 50%</a:t>
            </a:r>
            <a:endParaRPr lang="en-US" sz="1500" dirty="0"/>
          </a:p>
          <a:p>
            <a:pPr indent="0" marL="0">
              <a:buNone/>
            </a:pPr>
            <a:r>
              <a:rPr lang="en-US" sz="1400" dirty="0">
                <a:solidFill>
                  <a:schemeClr val="tx2"/>
                </a:solidFill>
              </a:rPr>
              <a:t>실제로 20~30% 개선이 있어도 안정적으로 잡지 못한다</a:t>
            </a:r>
            <a:endParaRPr lang="en-US" sz="1500" dirty="0"/>
          </a:p>
        </p:txBody>
      </p:sp>
      <p:sp>
        <p:nvSpPr>
          <p:cNvPr id="10" name="Text 7"/>
          <p:cNvSpPr txBox="1"/>
          <p:nvPr/>
        </p:nvSpPr>
        <p:spPr>
          <a:xfrm>
            <a:off x="640080" y="4800600"/>
            <a:ext cx="1463040" cy="457200"/>
          </a:xfrm>
          <a:prstGeom prst="rect">
            <a:avLst/>
          </a:prstGeom>
          <a:noFill/>
          <a:ln/>
        </p:spPr>
        <p:txBody>
          <a:bodyPr wrap="square" lIns="0" tIns="0" rIns="0" bIns="0" rtlCol="0" anchor="t"/>
          <a:lstStyle/>
          <a:p>
            <a:pPr indent="0" marL="0">
              <a:buNone/>
            </a:pPr>
            <a:r>
              <a:rPr lang="en-US" sz="1500" b="1" dirty="0">
                <a:solidFill>
                  <a:schemeClr val="accent1"/>
                </a:solidFill>
              </a:rPr>
              <a:t>의미 있는 효과</a:t>
            </a:r>
            <a:endParaRPr lang="en-US" sz="1500" dirty="0"/>
          </a:p>
        </p:txBody>
      </p:sp>
      <p:sp>
        <p:nvSpPr>
          <p:cNvPr id="11" name="Shape 8"/>
          <p:cNvSpPr/>
          <p:nvPr/>
        </p:nvSpPr>
        <p:spPr>
          <a:xfrm>
            <a:off x="2011680" y="4983480"/>
            <a:ext cx="365760" cy="0"/>
          </a:xfrm>
          <a:prstGeom prst="line">
            <a:avLst/>
          </a:prstGeom>
          <a:noFill/>
          <a:ln w="19050">
            <a:solidFill>
              <a:srgbClr val="8A90A8"/>
            </a:solidFill>
            <a:prstDash val="solid"/>
            <a:tailEnd type="triangle"/>
          </a:ln>
        </p:spPr>
      </p:sp>
      <p:sp>
        <p:nvSpPr>
          <p:cNvPr id="12" name="Text 9"/>
          <p:cNvSpPr txBox="1"/>
          <p:nvPr/>
        </p:nvSpPr>
        <p:spPr>
          <a:xfrm>
            <a:off x="2468880" y="4800600"/>
            <a:ext cx="1463040" cy="457200"/>
          </a:xfrm>
          <a:prstGeom prst="rect">
            <a:avLst/>
          </a:prstGeom>
          <a:noFill/>
          <a:ln/>
        </p:spPr>
        <p:txBody>
          <a:bodyPr wrap="square" lIns="0" tIns="0" rIns="0" bIns="0" rtlCol="0" anchor="t"/>
          <a:lstStyle/>
          <a:p>
            <a:pPr indent="0" marL="0">
              <a:buNone/>
            </a:pPr>
            <a:r>
              <a:rPr lang="en-US" sz="1500" b="1" dirty="0">
                <a:solidFill>
                  <a:schemeClr val="tx1"/>
                </a:solidFill>
              </a:rPr>
              <a:t>MDE</a:t>
            </a:r>
            <a:endParaRPr lang="en-US" sz="1500" dirty="0"/>
          </a:p>
        </p:txBody>
      </p:sp>
      <p:sp>
        <p:nvSpPr>
          <p:cNvPr id="13" name="Shape 10"/>
          <p:cNvSpPr/>
          <p:nvPr/>
        </p:nvSpPr>
        <p:spPr>
          <a:xfrm>
            <a:off x="3840480" y="4983480"/>
            <a:ext cx="365760" cy="0"/>
          </a:xfrm>
          <a:prstGeom prst="line">
            <a:avLst/>
          </a:prstGeom>
          <a:noFill/>
          <a:ln w="19050">
            <a:solidFill>
              <a:srgbClr val="8A90A8"/>
            </a:solidFill>
            <a:prstDash val="solid"/>
            <a:tailEnd type="triangle"/>
          </a:ln>
        </p:spPr>
      </p:sp>
      <p:sp>
        <p:nvSpPr>
          <p:cNvPr id="14" name="Text 11"/>
          <p:cNvSpPr txBox="1"/>
          <p:nvPr/>
        </p:nvSpPr>
        <p:spPr>
          <a:xfrm>
            <a:off x="4297680" y="4800600"/>
            <a:ext cx="1463040" cy="457200"/>
          </a:xfrm>
          <a:prstGeom prst="rect">
            <a:avLst/>
          </a:prstGeom>
          <a:noFill/>
          <a:ln/>
        </p:spPr>
        <p:txBody>
          <a:bodyPr wrap="square" lIns="0" tIns="0" rIns="0" bIns="0" rtlCol="0" anchor="t"/>
          <a:lstStyle/>
          <a:p>
            <a:pPr indent="0" marL="0">
              <a:buNone/>
            </a:pPr>
            <a:r>
              <a:rPr lang="en-US" sz="1500" b="1" dirty="0">
                <a:solidFill>
                  <a:schemeClr val="tx1"/>
                </a:solidFill>
              </a:rPr>
              <a:t>α · Power</a:t>
            </a:r>
            <a:endParaRPr lang="en-US" sz="1500" dirty="0"/>
          </a:p>
        </p:txBody>
      </p:sp>
      <p:sp>
        <p:nvSpPr>
          <p:cNvPr id="15" name="Shape 12"/>
          <p:cNvSpPr/>
          <p:nvPr/>
        </p:nvSpPr>
        <p:spPr>
          <a:xfrm>
            <a:off x="5669280" y="4983480"/>
            <a:ext cx="365760" cy="0"/>
          </a:xfrm>
          <a:prstGeom prst="line">
            <a:avLst/>
          </a:prstGeom>
          <a:noFill/>
          <a:ln w="19050">
            <a:solidFill>
              <a:srgbClr val="8A90A8"/>
            </a:solidFill>
            <a:prstDash val="solid"/>
            <a:tailEnd type="triangle"/>
          </a:ln>
        </p:spPr>
      </p:sp>
      <p:sp>
        <p:nvSpPr>
          <p:cNvPr id="16" name="Text 13"/>
          <p:cNvSpPr txBox="1"/>
          <p:nvPr/>
        </p:nvSpPr>
        <p:spPr>
          <a:xfrm>
            <a:off x="6126480" y="4800600"/>
            <a:ext cx="1463040" cy="457200"/>
          </a:xfrm>
          <a:prstGeom prst="rect">
            <a:avLst/>
          </a:prstGeom>
          <a:noFill/>
          <a:ln/>
        </p:spPr>
        <p:txBody>
          <a:bodyPr wrap="square" lIns="0" tIns="0" rIns="0" bIns="0" rtlCol="0" anchor="t"/>
          <a:lstStyle/>
          <a:p>
            <a:pPr indent="0" marL="0">
              <a:buNone/>
            </a:pPr>
            <a:r>
              <a:rPr lang="en-US" sz="1500" b="1" dirty="0">
                <a:solidFill>
                  <a:schemeClr val="tx1"/>
                </a:solidFill>
              </a:rPr>
              <a:t>필요 표본 수</a:t>
            </a:r>
            <a:endParaRPr lang="en-US" sz="1500" dirty="0"/>
          </a:p>
        </p:txBody>
      </p:sp>
      <p:sp>
        <p:nvSpPr>
          <p:cNvPr id="17" name="Shape 14"/>
          <p:cNvSpPr/>
          <p:nvPr/>
        </p:nvSpPr>
        <p:spPr>
          <a:xfrm>
            <a:off x="7498080" y="4983480"/>
            <a:ext cx="365760" cy="0"/>
          </a:xfrm>
          <a:prstGeom prst="line">
            <a:avLst/>
          </a:prstGeom>
          <a:noFill/>
          <a:ln w="19050">
            <a:solidFill>
              <a:srgbClr val="8A90A8"/>
            </a:solidFill>
            <a:prstDash val="solid"/>
            <a:tailEnd type="triangle"/>
          </a:ln>
        </p:spPr>
      </p:sp>
      <p:sp>
        <p:nvSpPr>
          <p:cNvPr id="18" name="Text 15"/>
          <p:cNvSpPr txBox="1"/>
          <p:nvPr/>
        </p:nvSpPr>
        <p:spPr>
          <a:xfrm>
            <a:off x="7955280" y="4800600"/>
            <a:ext cx="1463040" cy="457200"/>
          </a:xfrm>
          <a:prstGeom prst="rect">
            <a:avLst/>
          </a:prstGeom>
          <a:noFill/>
          <a:ln/>
        </p:spPr>
        <p:txBody>
          <a:bodyPr wrap="square" lIns="0" tIns="0" rIns="0" bIns="0" rtlCol="0" anchor="t"/>
          <a:lstStyle/>
          <a:p>
            <a:pPr indent="0" marL="0">
              <a:buNone/>
            </a:pPr>
            <a:r>
              <a:rPr lang="en-US" sz="1500" b="1" dirty="0">
                <a:solidFill>
                  <a:schemeClr val="tx1"/>
                </a:solidFill>
              </a:rPr>
              <a:t>트래픽</a:t>
            </a:r>
            <a:endParaRPr lang="en-US" sz="1500" dirty="0"/>
          </a:p>
        </p:txBody>
      </p:sp>
      <p:sp>
        <p:nvSpPr>
          <p:cNvPr id="19" name="Shape 16"/>
          <p:cNvSpPr/>
          <p:nvPr/>
        </p:nvSpPr>
        <p:spPr>
          <a:xfrm>
            <a:off x="9326880" y="4983480"/>
            <a:ext cx="365760" cy="0"/>
          </a:xfrm>
          <a:prstGeom prst="line">
            <a:avLst/>
          </a:prstGeom>
          <a:noFill/>
          <a:ln w="19050">
            <a:solidFill>
              <a:srgbClr val="8A90A8"/>
            </a:solidFill>
            <a:prstDash val="solid"/>
            <a:tailEnd type="triangle"/>
          </a:ln>
        </p:spPr>
      </p:sp>
      <p:sp>
        <p:nvSpPr>
          <p:cNvPr id="20" name="Text 17"/>
          <p:cNvSpPr txBox="1"/>
          <p:nvPr/>
        </p:nvSpPr>
        <p:spPr>
          <a:xfrm>
            <a:off x="9784080" y="4800600"/>
            <a:ext cx="1463040" cy="457200"/>
          </a:xfrm>
          <a:prstGeom prst="rect">
            <a:avLst/>
          </a:prstGeom>
          <a:noFill/>
          <a:ln/>
        </p:spPr>
        <p:txBody>
          <a:bodyPr wrap="square" lIns="0" tIns="0" rIns="0" bIns="0" rtlCol="0" anchor="t"/>
          <a:lstStyle/>
          <a:p>
            <a:pPr indent="0" marL="0">
              <a:buNone/>
            </a:pPr>
            <a:r>
              <a:rPr lang="en-US" sz="1500" b="1" dirty="0">
                <a:solidFill>
                  <a:schemeClr val="tx1"/>
                </a:solidFill>
              </a:rPr>
              <a:t>실험 기간</a:t>
            </a:r>
            <a:endParaRPr lang="en-US" sz="1500" dirty="0"/>
          </a:p>
        </p:txBody>
      </p:sp>
      <p:sp>
        <p:nvSpPr>
          <p:cNvPr id="21" name="Text 18"/>
          <p:cNvSpPr txBox="1"/>
          <p:nvPr/>
        </p:nvSpPr>
        <p:spPr>
          <a:xfrm>
            <a:off x="640080" y="5349240"/>
            <a:ext cx="10911535" cy="365760"/>
          </a:xfrm>
          <a:prstGeom prst="rect">
            <a:avLst/>
          </a:prstGeom>
          <a:noFill/>
          <a:ln/>
        </p:spPr>
        <p:txBody>
          <a:bodyPr wrap="square" lIns="0" tIns="0" rIns="0" bIns="0" rtlCol="0" anchor="t"/>
          <a:lstStyle/>
          <a:p>
            <a:pPr indent="0" marL="0">
              <a:buNone/>
            </a:pPr>
            <a:r>
              <a:rPr lang="en-US" sz="1400" dirty="0">
                <a:solidFill>
                  <a:schemeClr val="tx2"/>
                </a:solidFill>
              </a:rPr>
              <a:t>기간부터 정하고 MDE를 역으로 맞추지 않는다</a:t>
            </a:r>
            <a:endParaRPr lang="en-US" sz="1400" dirty="0"/>
          </a:p>
        </p:txBody>
      </p:sp>
      <p:sp>
        <p:nvSpPr>
          <p:cNvPr id="22" name="Text 19"/>
          <p:cNvSpPr txBox="1"/>
          <p:nvPr/>
        </p:nvSpPr>
        <p:spPr>
          <a:xfrm>
            <a:off x="640080" y="5897880"/>
            <a:ext cx="10911535" cy="274320"/>
          </a:xfrm>
          <a:prstGeom prst="rect">
            <a:avLst/>
          </a:prstGeom>
          <a:noFill/>
          <a:ln/>
        </p:spPr>
        <p:txBody>
          <a:bodyPr wrap="square" lIns="0" tIns="0" rIns="0" bIns="0" rtlCol="0" anchor="t"/>
          <a:lstStyle/>
          <a:p>
            <a:pPr indent="0" marL="0">
              <a:buNone/>
            </a:pPr>
            <a:r>
              <a:rPr lang="en-US" sz="1100" dirty="0">
                <a:solidFill>
                  <a:schemeClr val="accent6"/>
                </a:solidFill>
              </a:rPr>
              <a:t>위키 05편 4.2</a:t>
            </a:r>
            <a:endParaRPr lang="en-US" sz="11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Ch2 · 무작위 배정</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단순 배정, 층화 배정, 해싱 배정</a:t>
            </a:r>
            <a:endParaRPr lang="en-US" sz="2000" dirty="0"/>
          </a:p>
        </p:txBody>
      </p:sp>
      <p:sp>
        <p:nvSpPr>
          <p:cNvPr id="5" name="Text 2"/>
          <p:cNvSpPr txBox="1"/>
          <p:nvPr/>
        </p:nvSpPr>
        <p:spPr>
          <a:xfrm>
            <a:off x="640080" y="1874520"/>
            <a:ext cx="3383280" cy="1828800"/>
          </a:xfrm>
          <a:prstGeom prst="rect">
            <a:avLst/>
          </a:prstGeom>
          <a:noFill/>
          <a:ln/>
        </p:spPr>
        <p:txBody>
          <a:bodyPr wrap="square" lIns="0" tIns="0" rIns="0" bIns="0" rtlCol="0" anchor="t"/>
          <a:lstStyle/>
          <a:p>
            <a:pPr indent="0" marL="0">
              <a:buNone/>
            </a:pPr>
            <a:r>
              <a:rPr lang="en-US" sz="2000" b="1" dirty="0">
                <a:solidFill>
                  <a:schemeClr val="tx1"/>
                </a:solidFill>
              </a:rPr>
              <a:t>단순 배정</a:t>
            </a:r>
            <a:endParaRPr lang="en-US" sz="1500" dirty="0"/>
          </a:p>
          <a:p>
            <a:pPr indent="0" marL="0">
              <a:spcAft>
                <a:spcPts val="800"/>
              </a:spcAft>
              <a:buNone/>
            </a:pPr>
            <a:r>
              <a:rPr lang="en-US" sz="1500" dirty="0">
                <a:solidFill>
                  <a:schemeClr val="tx1"/>
                </a:solidFill>
              </a:rPr>
              <a:t>사용자마다 동전 던지기</a:t>
            </a:r>
            <a:endParaRPr lang="en-US" sz="1500" dirty="0"/>
          </a:p>
          <a:p>
            <a:pPr indent="0" marL="0">
              <a:buNone/>
            </a:pPr>
            <a:r>
              <a:rPr lang="en-US" sz="1400" dirty="0">
                <a:solidFill>
                  <a:schemeClr val="tx2"/>
                </a:solidFill>
              </a:rPr>
              <a:t>표본이 크면 충분하다. 작으면 우연히 한쪽에 쏠릴 수 있다</a:t>
            </a:r>
            <a:endParaRPr lang="en-US" sz="1500" dirty="0"/>
          </a:p>
        </p:txBody>
      </p:sp>
      <p:sp>
        <p:nvSpPr>
          <p:cNvPr id="6" name="Text 3"/>
          <p:cNvSpPr txBox="1"/>
          <p:nvPr/>
        </p:nvSpPr>
        <p:spPr>
          <a:xfrm>
            <a:off x="4343400" y="1874520"/>
            <a:ext cx="3383280" cy="1828800"/>
          </a:xfrm>
          <a:prstGeom prst="rect">
            <a:avLst/>
          </a:prstGeom>
          <a:noFill/>
          <a:ln/>
        </p:spPr>
        <p:txBody>
          <a:bodyPr wrap="square" lIns="0" tIns="0" rIns="0" bIns="0" rtlCol="0" anchor="t"/>
          <a:lstStyle/>
          <a:p>
            <a:pPr indent="0" marL="0">
              <a:buNone/>
            </a:pPr>
            <a:r>
              <a:rPr lang="en-US" sz="2000" b="1" dirty="0">
                <a:solidFill>
                  <a:schemeClr val="tx1"/>
                </a:solidFill>
              </a:rPr>
              <a:t>층화 배정</a:t>
            </a:r>
            <a:endParaRPr lang="en-US" sz="1500" dirty="0"/>
          </a:p>
          <a:p>
            <a:pPr indent="0" marL="0">
              <a:spcAft>
                <a:spcPts val="800"/>
              </a:spcAft>
              <a:buNone/>
            </a:pPr>
            <a:r>
              <a:rPr lang="en-US" sz="1500" dirty="0">
                <a:solidFill>
                  <a:schemeClr val="tx1"/>
                </a:solidFill>
              </a:rPr>
              <a:t>플랫폼·신규 여부 같은 층 안에서 나눈다</a:t>
            </a:r>
            <a:endParaRPr lang="en-US" sz="1500" dirty="0"/>
          </a:p>
          <a:p>
            <a:pPr indent="0" marL="0">
              <a:buNone/>
            </a:pPr>
            <a:r>
              <a:rPr lang="en-US" sz="1400" dirty="0">
                <a:solidFill>
                  <a:schemeClr val="tx2"/>
                </a:solidFill>
              </a:rPr>
              <a:t>표본이 작거나 층 간 차이가 클 때 균형을 보장한다</a:t>
            </a:r>
            <a:endParaRPr lang="en-US" sz="1500" dirty="0"/>
          </a:p>
        </p:txBody>
      </p:sp>
      <p:sp>
        <p:nvSpPr>
          <p:cNvPr id="7" name="Text 4"/>
          <p:cNvSpPr txBox="1"/>
          <p:nvPr/>
        </p:nvSpPr>
        <p:spPr>
          <a:xfrm>
            <a:off x="8046720" y="1874520"/>
            <a:ext cx="3383280" cy="1828800"/>
          </a:xfrm>
          <a:prstGeom prst="rect">
            <a:avLst/>
          </a:prstGeom>
          <a:noFill/>
          <a:ln/>
        </p:spPr>
        <p:txBody>
          <a:bodyPr wrap="square" lIns="0" tIns="0" rIns="0" bIns="0" rtlCol="0" anchor="t"/>
          <a:lstStyle/>
          <a:p>
            <a:pPr indent="0" marL="0">
              <a:buNone/>
            </a:pPr>
            <a:r>
              <a:rPr lang="en-US" sz="2000" b="1" dirty="0">
                <a:solidFill>
                  <a:schemeClr val="accent1"/>
                </a:solidFill>
              </a:rPr>
              <a:t>해싱 배정</a:t>
            </a:r>
            <a:endParaRPr lang="en-US" sz="1500" dirty="0"/>
          </a:p>
          <a:p>
            <a:pPr indent="0" marL="0">
              <a:spcAft>
                <a:spcPts val="800"/>
              </a:spcAft>
              <a:buNone/>
            </a:pPr>
            <a:r>
              <a:rPr lang="en-US" sz="1500" dirty="0">
                <a:solidFill>
                  <a:schemeClr val="tx1"/>
                </a:solidFill>
              </a:rPr>
              <a:t>ID를 해시해 버킷을 정한다</a:t>
            </a:r>
            <a:endParaRPr lang="en-US" sz="1500" dirty="0"/>
          </a:p>
          <a:p>
            <a:pPr indent="0" marL="0">
              <a:buNone/>
            </a:pPr>
            <a:r>
              <a:rPr lang="en-US" sz="1400" dirty="0">
                <a:solidFill>
                  <a:schemeClr val="tx2"/>
                </a:solidFill>
              </a:rPr>
              <a:t>같은 사용자는 항상 같은 그룹. 실험 플랫폼의 기본값</a:t>
            </a:r>
            <a:endParaRPr lang="en-US" sz="1500" dirty="0"/>
          </a:p>
        </p:txBody>
      </p:sp>
      <p:sp>
        <p:nvSpPr>
          <p:cNvPr id="8" name="Text 5"/>
          <p:cNvSpPr txBox="1"/>
          <p:nvPr/>
        </p:nvSpPr>
        <p:spPr>
          <a:xfrm>
            <a:off x="640080" y="4206240"/>
            <a:ext cx="10911535" cy="914400"/>
          </a:xfrm>
          <a:prstGeom prst="rect">
            <a:avLst/>
          </a:prstGeom>
          <a:noFill/>
          <a:ln/>
        </p:spPr>
        <p:txBody>
          <a:bodyPr wrap="square" lIns="0" tIns="0" rIns="0" bIns="0" rtlCol="0" anchor="t"/>
          <a:lstStyle/>
          <a:p>
            <a:pPr indent="0" marL="0">
              <a:buNone/>
            </a:pPr>
            <a:r>
              <a:rPr lang="en-US" sz="2000" b="1" dirty="0">
                <a:solidFill>
                  <a:schemeClr val="tx1"/>
                </a:solidFill>
                <a:latin typeface="Courier New" pitchFamily="34" charset="0"/>
                <a:ea typeface="Courier New" pitchFamily="34" charset="-122"/>
                <a:cs typeface="Courier New" pitchFamily="34" charset="-120"/>
              </a:rPr>
              <a:t>bucket = hash(user_id + "exp_cart_v2") % 100</a:t>
            </a:r>
            <a:endParaRPr lang="en-US" sz="1500" dirty="0"/>
          </a:p>
          <a:p>
            <a:pPr indent="0" marL="0">
              <a:buNone/>
            </a:pPr>
            <a:r>
              <a:rPr lang="en-US" sz="2000" dirty="0">
                <a:solidFill>
                  <a:schemeClr val="tx2"/>
                </a:solidFill>
                <a:latin typeface="Courier New" pitchFamily="34" charset="0"/>
                <a:ea typeface="Courier New" pitchFamily="34" charset="-122"/>
                <a:cs typeface="Courier New" pitchFamily="34" charset="-120"/>
              </a:rPr>
              <a:t>0 – 49 → A 대조군      50 – 99 → B 실험군</a:t>
            </a:r>
            <a:endParaRPr lang="en-US" sz="1500" dirty="0"/>
          </a:p>
        </p:txBody>
      </p:sp>
      <p:sp>
        <p:nvSpPr>
          <p:cNvPr id="9" name="Text 6"/>
          <p:cNvSpPr txBox="1"/>
          <p:nvPr/>
        </p:nvSpPr>
        <p:spPr>
          <a:xfrm>
            <a:off x="640080" y="5257800"/>
            <a:ext cx="10911535" cy="365760"/>
          </a:xfrm>
          <a:prstGeom prst="rect">
            <a:avLst/>
          </a:prstGeom>
          <a:noFill/>
          <a:ln/>
        </p:spPr>
        <p:txBody>
          <a:bodyPr wrap="square" lIns="0" tIns="0" rIns="0" bIns="0" rtlCol="0" anchor="t"/>
          <a:lstStyle/>
          <a:p>
            <a:pPr indent="0" marL="0">
              <a:buNone/>
            </a:pPr>
            <a:r>
              <a:rPr lang="en-US" sz="1500" dirty="0">
                <a:solidFill>
                  <a:schemeClr val="tx2"/>
                </a:solidFill>
              </a:rPr>
              <a:t>실험마다 salt("exp_cart_v2")가 달라 여러 실험의 배정이 서로 엮이지 않습니다</a:t>
            </a:r>
            <a:endParaRPr lang="en-US" sz="15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Ch2 · 배정 비율</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50:50이 가장 효율적이고, 90:10은 위험 관리용이다</a:t>
            </a:r>
            <a:endParaRPr lang="en-US" sz="2000" dirty="0"/>
          </a:p>
        </p:txBody>
      </p:sp>
      <p:sp>
        <p:nvSpPr>
          <p:cNvPr id="5" name="Text 2"/>
          <p:cNvSpPr txBox="1"/>
          <p:nvPr/>
        </p:nvSpPr>
        <p:spPr>
          <a:xfrm>
            <a:off x="640080" y="1874520"/>
            <a:ext cx="1463040" cy="365760"/>
          </a:xfrm>
          <a:prstGeom prst="rect">
            <a:avLst/>
          </a:prstGeom>
          <a:noFill/>
          <a:ln/>
        </p:spPr>
        <p:txBody>
          <a:bodyPr wrap="square" lIns="0" tIns="0" rIns="0" bIns="0" rtlCol="0" anchor="t"/>
          <a:lstStyle/>
          <a:p>
            <a:pPr indent="0" marL="0">
              <a:buNone/>
            </a:pPr>
            <a:r>
              <a:rPr lang="en-US" sz="2000" b="1" dirty="0">
                <a:solidFill>
                  <a:schemeClr val="tx1"/>
                </a:solidFill>
              </a:rPr>
              <a:t>50 : 50</a:t>
            </a:r>
            <a:endParaRPr lang="en-US" sz="2000" dirty="0"/>
          </a:p>
        </p:txBody>
      </p:sp>
      <p:sp>
        <p:nvSpPr>
          <p:cNvPr id="6" name="Shape 3"/>
          <p:cNvSpPr/>
          <p:nvPr/>
        </p:nvSpPr>
        <p:spPr>
          <a:xfrm>
            <a:off x="2194560" y="1920240"/>
            <a:ext cx="182880" cy="182880"/>
          </a:xfrm>
          <a:prstGeom prst="ellipse">
            <a:avLst/>
          </a:prstGeom>
          <a:solidFill>
            <a:srgbClr val="3A5BFF"/>
          </a:solidFill>
          <a:ln w="12700">
            <a:solidFill>
              <a:srgbClr val="3A5BFF"/>
            </a:solidFill>
            <a:prstDash val="solid"/>
          </a:ln>
        </p:spPr>
      </p:sp>
      <p:sp>
        <p:nvSpPr>
          <p:cNvPr id="7" name="Shape 4"/>
          <p:cNvSpPr/>
          <p:nvPr/>
        </p:nvSpPr>
        <p:spPr>
          <a:xfrm>
            <a:off x="2487168" y="1920240"/>
            <a:ext cx="182880" cy="182880"/>
          </a:xfrm>
          <a:prstGeom prst="ellipse">
            <a:avLst/>
          </a:prstGeom>
          <a:solidFill>
            <a:srgbClr val="3A5BFF"/>
          </a:solidFill>
          <a:ln w="12700">
            <a:solidFill>
              <a:srgbClr val="3A5BFF"/>
            </a:solidFill>
            <a:prstDash val="solid"/>
          </a:ln>
        </p:spPr>
      </p:sp>
      <p:sp>
        <p:nvSpPr>
          <p:cNvPr id="8" name="Shape 5"/>
          <p:cNvSpPr/>
          <p:nvPr/>
        </p:nvSpPr>
        <p:spPr>
          <a:xfrm>
            <a:off x="2779776" y="1920240"/>
            <a:ext cx="182880" cy="182880"/>
          </a:xfrm>
          <a:prstGeom prst="ellipse">
            <a:avLst/>
          </a:prstGeom>
          <a:solidFill>
            <a:srgbClr val="3A5BFF"/>
          </a:solidFill>
          <a:ln w="12700">
            <a:solidFill>
              <a:srgbClr val="3A5BFF"/>
            </a:solidFill>
            <a:prstDash val="solid"/>
          </a:ln>
        </p:spPr>
      </p:sp>
      <p:sp>
        <p:nvSpPr>
          <p:cNvPr id="9" name="Shape 6"/>
          <p:cNvSpPr/>
          <p:nvPr/>
        </p:nvSpPr>
        <p:spPr>
          <a:xfrm>
            <a:off x="3072384" y="1920240"/>
            <a:ext cx="182880" cy="182880"/>
          </a:xfrm>
          <a:prstGeom prst="ellipse">
            <a:avLst/>
          </a:prstGeom>
          <a:solidFill>
            <a:srgbClr val="3A5BFF"/>
          </a:solidFill>
          <a:ln w="12700">
            <a:solidFill>
              <a:srgbClr val="3A5BFF"/>
            </a:solidFill>
            <a:prstDash val="solid"/>
          </a:ln>
        </p:spPr>
      </p:sp>
      <p:sp>
        <p:nvSpPr>
          <p:cNvPr id="10" name="Shape 7"/>
          <p:cNvSpPr/>
          <p:nvPr/>
        </p:nvSpPr>
        <p:spPr>
          <a:xfrm>
            <a:off x="3364992" y="1920240"/>
            <a:ext cx="182880" cy="182880"/>
          </a:xfrm>
          <a:prstGeom prst="ellipse">
            <a:avLst/>
          </a:prstGeom>
          <a:solidFill>
            <a:srgbClr val="3A5BFF"/>
          </a:solidFill>
          <a:ln w="12700">
            <a:solidFill>
              <a:srgbClr val="3A5BFF"/>
            </a:solidFill>
            <a:prstDash val="solid"/>
          </a:ln>
        </p:spPr>
      </p:sp>
      <p:sp>
        <p:nvSpPr>
          <p:cNvPr id="11" name="Shape 8"/>
          <p:cNvSpPr/>
          <p:nvPr/>
        </p:nvSpPr>
        <p:spPr>
          <a:xfrm>
            <a:off x="3657600" y="1920240"/>
            <a:ext cx="182880" cy="182880"/>
          </a:xfrm>
          <a:prstGeom prst="ellipse">
            <a:avLst/>
          </a:prstGeom>
          <a:solidFill>
            <a:srgbClr val="3A5BFF"/>
          </a:solidFill>
          <a:ln w="12700">
            <a:solidFill>
              <a:srgbClr val="3A5BFF"/>
            </a:solidFill>
            <a:prstDash val="solid"/>
          </a:ln>
        </p:spPr>
      </p:sp>
      <p:sp>
        <p:nvSpPr>
          <p:cNvPr id="12" name="Shape 9"/>
          <p:cNvSpPr/>
          <p:nvPr/>
        </p:nvSpPr>
        <p:spPr>
          <a:xfrm>
            <a:off x="3950208" y="1920240"/>
            <a:ext cx="182880" cy="182880"/>
          </a:xfrm>
          <a:prstGeom prst="ellipse">
            <a:avLst/>
          </a:prstGeom>
          <a:solidFill>
            <a:srgbClr val="3A5BFF"/>
          </a:solidFill>
          <a:ln w="12700">
            <a:solidFill>
              <a:srgbClr val="3A5BFF"/>
            </a:solidFill>
            <a:prstDash val="solid"/>
          </a:ln>
        </p:spPr>
      </p:sp>
      <p:sp>
        <p:nvSpPr>
          <p:cNvPr id="13" name="Shape 10"/>
          <p:cNvSpPr/>
          <p:nvPr/>
        </p:nvSpPr>
        <p:spPr>
          <a:xfrm>
            <a:off x="4242816" y="1920240"/>
            <a:ext cx="182880" cy="182880"/>
          </a:xfrm>
          <a:prstGeom prst="ellipse">
            <a:avLst/>
          </a:prstGeom>
          <a:solidFill>
            <a:srgbClr val="3A5BFF"/>
          </a:solidFill>
          <a:ln w="12700">
            <a:solidFill>
              <a:srgbClr val="3A5BFF"/>
            </a:solidFill>
            <a:prstDash val="solid"/>
          </a:ln>
        </p:spPr>
      </p:sp>
      <p:sp>
        <p:nvSpPr>
          <p:cNvPr id="14" name="Shape 11"/>
          <p:cNvSpPr/>
          <p:nvPr/>
        </p:nvSpPr>
        <p:spPr>
          <a:xfrm>
            <a:off x="4535424" y="1920240"/>
            <a:ext cx="182880" cy="182880"/>
          </a:xfrm>
          <a:prstGeom prst="ellipse">
            <a:avLst/>
          </a:prstGeom>
          <a:solidFill>
            <a:srgbClr val="3A5BFF"/>
          </a:solidFill>
          <a:ln w="12700">
            <a:solidFill>
              <a:srgbClr val="3A5BFF"/>
            </a:solidFill>
            <a:prstDash val="solid"/>
          </a:ln>
        </p:spPr>
      </p:sp>
      <p:sp>
        <p:nvSpPr>
          <p:cNvPr id="15" name="Shape 12"/>
          <p:cNvSpPr/>
          <p:nvPr/>
        </p:nvSpPr>
        <p:spPr>
          <a:xfrm>
            <a:off x="4828032" y="1920240"/>
            <a:ext cx="182880" cy="182880"/>
          </a:xfrm>
          <a:prstGeom prst="ellipse">
            <a:avLst/>
          </a:prstGeom>
          <a:solidFill>
            <a:srgbClr val="3A5BFF"/>
          </a:solidFill>
          <a:ln w="12700">
            <a:solidFill>
              <a:srgbClr val="3A5BFF"/>
            </a:solidFill>
            <a:prstDash val="solid"/>
          </a:ln>
        </p:spPr>
      </p:sp>
      <p:sp>
        <p:nvSpPr>
          <p:cNvPr id="16" name="Shape 13"/>
          <p:cNvSpPr/>
          <p:nvPr/>
        </p:nvSpPr>
        <p:spPr>
          <a:xfrm>
            <a:off x="5120640" y="1920240"/>
            <a:ext cx="182880" cy="182880"/>
          </a:xfrm>
          <a:prstGeom prst="ellipse">
            <a:avLst/>
          </a:prstGeom>
          <a:solidFill>
            <a:srgbClr val="0E9C9C"/>
          </a:solidFill>
          <a:ln w="12700">
            <a:solidFill>
              <a:srgbClr val="0E9C9C"/>
            </a:solidFill>
            <a:prstDash val="solid"/>
          </a:ln>
        </p:spPr>
      </p:sp>
      <p:sp>
        <p:nvSpPr>
          <p:cNvPr id="17" name="Shape 14"/>
          <p:cNvSpPr/>
          <p:nvPr/>
        </p:nvSpPr>
        <p:spPr>
          <a:xfrm>
            <a:off x="5413248" y="1920240"/>
            <a:ext cx="182880" cy="182880"/>
          </a:xfrm>
          <a:prstGeom prst="ellipse">
            <a:avLst/>
          </a:prstGeom>
          <a:solidFill>
            <a:srgbClr val="0E9C9C"/>
          </a:solidFill>
          <a:ln w="12700">
            <a:solidFill>
              <a:srgbClr val="0E9C9C"/>
            </a:solidFill>
            <a:prstDash val="solid"/>
          </a:ln>
        </p:spPr>
      </p:sp>
      <p:sp>
        <p:nvSpPr>
          <p:cNvPr id="18" name="Shape 15"/>
          <p:cNvSpPr/>
          <p:nvPr/>
        </p:nvSpPr>
        <p:spPr>
          <a:xfrm>
            <a:off x="5705856" y="1920240"/>
            <a:ext cx="182880" cy="182880"/>
          </a:xfrm>
          <a:prstGeom prst="ellipse">
            <a:avLst/>
          </a:prstGeom>
          <a:solidFill>
            <a:srgbClr val="0E9C9C"/>
          </a:solidFill>
          <a:ln w="12700">
            <a:solidFill>
              <a:srgbClr val="0E9C9C"/>
            </a:solidFill>
            <a:prstDash val="solid"/>
          </a:ln>
        </p:spPr>
      </p:sp>
      <p:sp>
        <p:nvSpPr>
          <p:cNvPr id="19" name="Shape 16"/>
          <p:cNvSpPr/>
          <p:nvPr/>
        </p:nvSpPr>
        <p:spPr>
          <a:xfrm>
            <a:off x="5998464" y="1920240"/>
            <a:ext cx="182880" cy="182880"/>
          </a:xfrm>
          <a:prstGeom prst="ellipse">
            <a:avLst/>
          </a:prstGeom>
          <a:solidFill>
            <a:srgbClr val="0E9C9C"/>
          </a:solidFill>
          <a:ln w="12700">
            <a:solidFill>
              <a:srgbClr val="0E9C9C"/>
            </a:solidFill>
            <a:prstDash val="solid"/>
          </a:ln>
        </p:spPr>
      </p:sp>
      <p:sp>
        <p:nvSpPr>
          <p:cNvPr id="20" name="Shape 17"/>
          <p:cNvSpPr/>
          <p:nvPr/>
        </p:nvSpPr>
        <p:spPr>
          <a:xfrm>
            <a:off x="6291072" y="1920240"/>
            <a:ext cx="182880" cy="182880"/>
          </a:xfrm>
          <a:prstGeom prst="ellipse">
            <a:avLst/>
          </a:prstGeom>
          <a:solidFill>
            <a:srgbClr val="0E9C9C"/>
          </a:solidFill>
          <a:ln w="12700">
            <a:solidFill>
              <a:srgbClr val="0E9C9C"/>
            </a:solidFill>
            <a:prstDash val="solid"/>
          </a:ln>
        </p:spPr>
      </p:sp>
      <p:sp>
        <p:nvSpPr>
          <p:cNvPr id="21" name="Shape 18"/>
          <p:cNvSpPr/>
          <p:nvPr/>
        </p:nvSpPr>
        <p:spPr>
          <a:xfrm>
            <a:off x="6583680" y="1920240"/>
            <a:ext cx="182880" cy="182880"/>
          </a:xfrm>
          <a:prstGeom prst="ellipse">
            <a:avLst/>
          </a:prstGeom>
          <a:solidFill>
            <a:srgbClr val="0E9C9C"/>
          </a:solidFill>
          <a:ln w="12700">
            <a:solidFill>
              <a:srgbClr val="0E9C9C"/>
            </a:solidFill>
            <a:prstDash val="solid"/>
          </a:ln>
        </p:spPr>
      </p:sp>
      <p:sp>
        <p:nvSpPr>
          <p:cNvPr id="22" name="Shape 19"/>
          <p:cNvSpPr/>
          <p:nvPr/>
        </p:nvSpPr>
        <p:spPr>
          <a:xfrm>
            <a:off x="6876288" y="1920240"/>
            <a:ext cx="182880" cy="182880"/>
          </a:xfrm>
          <a:prstGeom prst="ellipse">
            <a:avLst/>
          </a:prstGeom>
          <a:solidFill>
            <a:srgbClr val="0E9C9C"/>
          </a:solidFill>
          <a:ln w="12700">
            <a:solidFill>
              <a:srgbClr val="0E9C9C"/>
            </a:solidFill>
            <a:prstDash val="solid"/>
          </a:ln>
        </p:spPr>
      </p:sp>
      <p:sp>
        <p:nvSpPr>
          <p:cNvPr id="23" name="Shape 20"/>
          <p:cNvSpPr/>
          <p:nvPr/>
        </p:nvSpPr>
        <p:spPr>
          <a:xfrm>
            <a:off x="7168896" y="1920240"/>
            <a:ext cx="182880" cy="182880"/>
          </a:xfrm>
          <a:prstGeom prst="ellipse">
            <a:avLst/>
          </a:prstGeom>
          <a:solidFill>
            <a:srgbClr val="0E9C9C"/>
          </a:solidFill>
          <a:ln w="12700">
            <a:solidFill>
              <a:srgbClr val="0E9C9C"/>
            </a:solidFill>
            <a:prstDash val="solid"/>
          </a:ln>
        </p:spPr>
      </p:sp>
      <p:sp>
        <p:nvSpPr>
          <p:cNvPr id="24" name="Shape 21"/>
          <p:cNvSpPr/>
          <p:nvPr/>
        </p:nvSpPr>
        <p:spPr>
          <a:xfrm>
            <a:off x="7461504" y="1920240"/>
            <a:ext cx="182880" cy="182880"/>
          </a:xfrm>
          <a:prstGeom prst="ellipse">
            <a:avLst/>
          </a:prstGeom>
          <a:solidFill>
            <a:srgbClr val="0E9C9C"/>
          </a:solidFill>
          <a:ln w="12700">
            <a:solidFill>
              <a:srgbClr val="0E9C9C"/>
            </a:solidFill>
            <a:prstDash val="solid"/>
          </a:ln>
        </p:spPr>
      </p:sp>
      <p:sp>
        <p:nvSpPr>
          <p:cNvPr id="25" name="Shape 22"/>
          <p:cNvSpPr/>
          <p:nvPr/>
        </p:nvSpPr>
        <p:spPr>
          <a:xfrm>
            <a:off x="7754112" y="1920240"/>
            <a:ext cx="182880" cy="182880"/>
          </a:xfrm>
          <a:prstGeom prst="ellipse">
            <a:avLst/>
          </a:prstGeom>
          <a:solidFill>
            <a:srgbClr val="0E9C9C"/>
          </a:solidFill>
          <a:ln w="12700">
            <a:solidFill>
              <a:srgbClr val="0E9C9C"/>
            </a:solidFill>
            <a:prstDash val="solid"/>
          </a:ln>
        </p:spPr>
      </p:sp>
      <p:sp>
        <p:nvSpPr>
          <p:cNvPr id="26" name="Text 23"/>
          <p:cNvSpPr txBox="1"/>
          <p:nvPr/>
        </p:nvSpPr>
        <p:spPr>
          <a:xfrm>
            <a:off x="8229600" y="1874520"/>
            <a:ext cx="3337560" cy="640080"/>
          </a:xfrm>
          <a:prstGeom prst="rect">
            <a:avLst/>
          </a:prstGeom>
          <a:noFill/>
          <a:ln/>
        </p:spPr>
        <p:txBody>
          <a:bodyPr wrap="square" lIns="0" tIns="0" rIns="0" bIns="0" rtlCol="0" anchor="t"/>
          <a:lstStyle/>
          <a:p>
            <a:pPr indent="0" marL="0">
              <a:buNone/>
            </a:pPr>
            <a:r>
              <a:rPr lang="en-US" sz="1400" dirty="0">
                <a:solidFill>
                  <a:schemeClr val="tx2"/>
                </a:solidFill>
              </a:rPr>
              <a:t>같은 전체 표본에서 비교 효율이 가장 좋다</a:t>
            </a:r>
            <a:endParaRPr lang="en-US" sz="1400" dirty="0"/>
          </a:p>
        </p:txBody>
      </p:sp>
      <p:sp>
        <p:nvSpPr>
          <p:cNvPr id="27" name="Text 24"/>
          <p:cNvSpPr txBox="1"/>
          <p:nvPr/>
        </p:nvSpPr>
        <p:spPr>
          <a:xfrm>
            <a:off x="640080" y="2606040"/>
            <a:ext cx="1463040" cy="365760"/>
          </a:xfrm>
          <a:prstGeom prst="rect">
            <a:avLst/>
          </a:prstGeom>
          <a:noFill/>
          <a:ln/>
        </p:spPr>
        <p:txBody>
          <a:bodyPr wrap="square" lIns="0" tIns="0" rIns="0" bIns="0" rtlCol="0" anchor="t"/>
          <a:lstStyle/>
          <a:p>
            <a:pPr indent="0" marL="0">
              <a:buNone/>
            </a:pPr>
            <a:r>
              <a:rPr lang="en-US" sz="2000" b="1" dirty="0">
                <a:solidFill>
                  <a:schemeClr val="tx1"/>
                </a:solidFill>
              </a:rPr>
              <a:t>90 : 10</a:t>
            </a:r>
            <a:endParaRPr lang="en-US" sz="2000" dirty="0"/>
          </a:p>
        </p:txBody>
      </p:sp>
      <p:sp>
        <p:nvSpPr>
          <p:cNvPr id="28" name="Shape 25"/>
          <p:cNvSpPr/>
          <p:nvPr/>
        </p:nvSpPr>
        <p:spPr>
          <a:xfrm>
            <a:off x="2194560" y="2651760"/>
            <a:ext cx="182880" cy="182880"/>
          </a:xfrm>
          <a:prstGeom prst="ellipse">
            <a:avLst/>
          </a:prstGeom>
          <a:solidFill>
            <a:srgbClr val="3A5BFF"/>
          </a:solidFill>
          <a:ln w="12700">
            <a:solidFill>
              <a:srgbClr val="3A5BFF"/>
            </a:solidFill>
            <a:prstDash val="solid"/>
          </a:ln>
        </p:spPr>
      </p:sp>
      <p:sp>
        <p:nvSpPr>
          <p:cNvPr id="29" name="Shape 26"/>
          <p:cNvSpPr/>
          <p:nvPr/>
        </p:nvSpPr>
        <p:spPr>
          <a:xfrm>
            <a:off x="2487168" y="2651760"/>
            <a:ext cx="182880" cy="182880"/>
          </a:xfrm>
          <a:prstGeom prst="ellipse">
            <a:avLst/>
          </a:prstGeom>
          <a:solidFill>
            <a:srgbClr val="3A5BFF"/>
          </a:solidFill>
          <a:ln w="12700">
            <a:solidFill>
              <a:srgbClr val="3A5BFF"/>
            </a:solidFill>
            <a:prstDash val="solid"/>
          </a:ln>
        </p:spPr>
      </p:sp>
      <p:sp>
        <p:nvSpPr>
          <p:cNvPr id="30" name="Shape 27"/>
          <p:cNvSpPr/>
          <p:nvPr/>
        </p:nvSpPr>
        <p:spPr>
          <a:xfrm>
            <a:off x="2779776" y="2651760"/>
            <a:ext cx="182880" cy="182880"/>
          </a:xfrm>
          <a:prstGeom prst="ellipse">
            <a:avLst/>
          </a:prstGeom>
          <a:solidFill>
            <a:srgbClr val="3A5BFF"/>
          </a:solidFill>
          <a:ln w="12700">
            <a:solidFill>
              <a:srgbClr val="3A5BFF"/>
            </a:solidFill>
            <a:prstDash val="solid"/>
          </a:ln>
        </p:spPr>
      </p:sp>
      <p:sp>
        <p:nvSpPr>
          <p:cNvPr id="31" name="Shape 28"/>
          <p:cNvSpPr/>
          <p:nvPr/>
        </p:nvSpPr>
        <p:spPr>
          <a:xfrm>
            <a:off x="3072384" y="2651760"/>
            <a:ext cx="182880" cy="182880"/>
          </a:xfrm>
          <a:prstGeom prst="ellipse">
            <a:avLst/>
          </a:prstGeom>
          <a:solidFill>
            <a:srgbClr val="3A5BFF"/>
          </a:solidFill>
          <a:ln w="12700">
            <a:solidFill>
              <a:srgbClr val="3A5BFF"/>
            </a:solidFill>
            <a:prstDash val="solid"/>
          </a:ln>
        </p:spPr>
      </p:sp>
      <p:sp>
        <p:nvSpPr>
          <p:cNvPr id="32" name="Shape 29"/>
          <p:cNvSpPr/>
          <p:nvPr/>
        </p:nvSpPr>
        <p:spPr>
          <a:xfrm>
            <a:off x="3364992" y="2651760"/>
            <a:ext cx="182880" cy="182880"/>
          </a:xfrm>
          <a:prstGeom prst="ellipse">
            <a:avLst/>
          </a:prstGeom>
          <a:solidFill>
            <a:srgbClr val="3A5BFF"/>
          </a:solidFill>
          <a:ln w="12700">
            <a:solidFill>
              <a:srgbClr val="3A5BFF"/>
            </a:solidFill>
            <a:prstDash val="solid"/>
          </a:ln>
        </p:spPr>
      </p:sp>
      <p:sp>
        <p:nvSpPr>
          <p:cNvPr id="33" name="Shape 30"/>
          <p:cNvSpPr/>
          <p:nvPr/>
        </p:nvSpPr>
        <p:spPr>
          <a:xfrm>
            <a:off x="3657600" y="2651760"/>
            <a:ext cx="182880" cy="182880"/>
          </a:xfrm>
          <a:prstGeom prst="ellipse">
            <a:avLst/>
          </a:prstGeom>
          <a:solidFill>
            <a:srgbClr val="3A5BFF"/>
          </a:solidFill>
          <a:ln w="12700">
            <a:solidFill>
              <a:srgbClr val="3A5BFF"/>
            </a:solidFill>
            <a:prstDash val="solid"/>
          </a:ln>
        </p:spPr>
      </p:sp>
      <p:sp>
        <p:nvSpPr>
          <p:cNvPr id="34" name="Shape 31"/>
          <p:cNvSpPr/>
          <p:nvPr/>
        </p:nvSpPr>
        <p:spPr>
          <a:xfrm>
            <a:off x="3950208" y="2651760"/>
            <a:ext cx="182880" cy="182880"/>
          </a:xfrm>
          <a:prstGeom prst="ellipse">
            <a:avLst/>
          </a:prstGeom>
          <a:solidFill>
            <a:srgbClr val="3A5BFF"/>
          </a:solidFill>
          <a:ln w="12700">
            <a:solidFill>
              <a:srgbClr val="3A5BFF"/>
            </a:solidFill>
            <a:prstDash val="solid"/>
          </a:ln>
        </p:spPr>
      </p:sp>
      <p:sp>
        <p:nvSpPr>
          <p:cNvPr id="35" name="Shape 32"/>
          <p:cNvSpPr/>
          <p:nvPr/>
        </p:nvSpPr>
        <p:spPr>
          <a:xfrm>
            <a:off x="4242816" y="2651760"/>
            <a:ext cx="182880" cy="182880"/>
          </a:xfrm>
          <a:prstGeom prst="ellipse">
            <a:avLst/>
          </a:prstGeom>
          <a:solidFill>
            <a:srgbClr val="3A5BFF"/>
          </a:solidFill>
          <a:ln w="12700">
            <a:solidFill>
              <a:srgbClr val="3A5BFF"/>
            </a:solidFill>
            <a:prstDash val="solid"/>
          </a:ln>
        </p:spPr>
      </p:sp>
      <p:sp>
        <p:nvSpPr>
          <p:cNvPr id="36" name="Shape 33"/>
          <p:cNvSpPr/>
          <p:nvPr/>
        </p:nvSpPr>
        <p:spPr>
          <a:xfrm>
            <a:off x="4535424" y="2651760"/>
            <a:ext cx="182880" cy="182880"/>
          </a:xfrm>
          <a:prstGeom prst="ellipse">
            <a:avLst/>
          </a:prstGeom>
          <a:solidFill>
            <a:srgbClr val="3A5BFF"/>
          </a:solidFill>
          <a:ln w="12700">
            <a:solidFill>
              <a:srgbClr val="3A5BFF"/>
            </a:solidFill>
            <a:prstDash val="solid"/>
          </a:ln>
        </p:spPr>
      </p:sp>
      <p:sp>
        <p:nvSpPr>
          <p:cNvPr id="37" name="Shape 34"/>
          <p:cNvSpPr/>
          <p:nvPr/>
        </p:nvSpPr>
        <p:spPr>
          <a:xfrm>
            <a:off x="4828032" y="2651760"/>
            <a:ext cx="182880" cy="182880"/>
          </a:xfrm>
          <a:prstGeom prst="ellipse">
            <a:avLst/>
          </a:prstGeom>
          <a:solidFill>
            <a:srgbClr val="3A5BFF"/>
          </a:solidFill>
          <a:ln w="12700">
            <a:solidFill>
              <a:srgbClr val="3A5BFF"/>
            </a:solidFill>
            <a:prstDash val="solid"/>
          </a:ln>
        </p:spPr>
      </p:sp>
      <p:sp>
        <p:nvSpPr>
          <p:cNvPr id="38" name="Shape 35"/>
          <p:cNvSpPr/>
          <p:nvPr/>
        </p:nvSpPr>
        <p:spPr>
          <a:xfrm>
            <a:off x="5120640" y="2651760"/>
            <a:ext cx="182880" cy="182880"/>
          </a:xfrm>
          <a:prstGeom prst="ellipse">
            <a:avLst/>
          </a:prstGeom>
          <a:solidFill>
            <a:srgbClr val="3A5BFF"/>
          </a:solidFill>
          <a:ln w="12700">
            <a:solidFill>
              <a:srgbClr val="3A5BFF"/>
            </a:solidFill>
            <a:prstDash val="solid"/>
          </a:ln>
        </p:spPr>
      </p:sp>
      <p:sp>
        <p:nvSpPr>
          <p:cNvPr id="39" name="Shape 36"/>
          <p:cNvSpPr/>
          <p:nvPr/>
        </p:nvSpPr>
        <p:spPr>
          <a:xfrm>
            <a:off x="5413248" y="2651760"/>
            <a:ext cx="182880" cy="182880"/>
          </a:xfrm>
          <a:prstGeom prst="ellipse">
            <a:avLst/>
          </a:prstGeom>
          <a:solidFill>
            <a:srgbClr val="3A5BFF"/>
          </a:solidFill>
          <a:ln w="12700">
            <a:solidFill>
              <a:srgbClr val="3A5BFF"/>
            </a:solidFill>
            <a:prstDash val="solid"/>
          </a:ln>
        </p:spPr>
      </p:sp>
      <p:sp>
        <p:nvSpPr>
          <p:cNvPr id="40" name="Shape 37"/>
          <p:cNvSpPr/>
          <p:nvPr/>
        </p:nvSpPr>
        <p:spPr>
          <a:xfrm>
            <a:off x="5705856" y="2651760"/>
            <a:ext cx="182880" cy="182880"/>
          </a:xfrm>
          <a:prstGeom prst="ellipse">
            <a:avLst/>
          </a:prstGeom>
          <a:solidFill>
            <a:srgbClr val="3A5BFF"/>
          </a:solidFill>
          <a:ln w="12700">
            <a:solidFill>
              <a:srgbClr val="3A5BFF"/>
            </a:solidFill>
            <a:prstDash val="solid"/>
          </a:ln>
        </p:spPr>
      </p:sp>
      <p:sp>
        <p:nvSpPr>
          <p:cNvPr id="41" name="Shape 38"/>
          <p:cNvSpPr/>
          <p:nvPr/>
        </p:nvSpPr>
        <p:spPr>
          <a:xfrm>
            <a:off x="5998464" y="2651760"/>
            <a:ext cx="182880" cy="182880"/>
          </a:xfrm>
          <a:prstGeom prst="ellipse">
            <a:avLst/>
          </a:prstGeom>
          <a:solidFill>
            <a:srgbClr val="3A5BFF"/>
          </a:solidFill>
          <a:ln w="12700">
            <a:solidFill>
              <a:srgbClr val="3A5BFF"/>
            </a:solidFill>
            <a:prstDash val="solid"/>
          </a:ln>
        </p:spPr>
      </p:sp>
      <p:sp>
        <p:nvSpPr>
          <p:cNvPr id="42" name="Shape 39"/>
          <p:cNvSpPr/>
          <p:nvPr/>
        </p:nvSpPr>
        <p:spPr>
          <a:xfrm>
            <a:off x="6291072" y="2651760"/>
            <a:ext cx="182880" cy="182880"/>
          </a:xfrm>
          <a:prstGeom prst="ellipse">
            <a:avLst/>
          </a:prstGeom>
          <a:solidFill>
            <a:srgbClr val="3A5BFF"/>
          </a:solidFill>
          <a:ln w="12700">
            <a:solidFill>
              <a:srgbClr val="3A5BFF"/>
            </a:solidFill>
            <a:prstDash val="solid"/>
          </a:ln>
        </p:spPr>
      </p:sp>
      <p:sp>
        <p:nvSpPr>
          <p:cNvPr id="43" name="Shape 40"/>
          <p:cNvSpPr/>
          <p:nvPr/>
        </p:nvSpPr>
        <p:spPr>
          <a:xfrm>
            <a:off x="6583680" y="2651760"/>
            <a:ext cx="182880" cy="182880"/>
          </a:xfrm>
          <a:prstGeom prst="ellipse">
            <a:avLst/>
          </a:prstGeom>
          <a:solidFill>
            <a:srgbClr val="3A5BFF"/>
          </a:solidFill>
          <a:ln w="12700">
            <a:solidFill>
              <a:srgbClr val="3A5BFF"/>
            </a:solidFill>
            <a:prstDash val="solid"/>
          </a:ln>
        </p:spPr>
      </p:sp>
      <p:sp>
        <p:nvSpPr>
          <p:cNvPr id="44" name="Shape 41"/>
          <p:cNvSpPr/>
          <p:nvPr/>
        </p:nvSpPr>
        <p:spPr>
          <a:xfrm>
            <a:off x="6876288" y="2651760"/>
            <a:ext cx="182880" cy="182880"/>
          </a:xfrm>
          <a:prstGeom prst="ellipse">
            <a:avLst/>
          </a:prstGeom>
          <a:solidFill>
            <a:srgbClr val="3A5BFF"/>
          </a:solidFill>
          <a:ln w="12700">
            <a:solidFill>
              <a:srgbClr val="3A5BFF"/>
            </a:solidFill>
            <a:prstDash val="solid"/>
          </a:ln>
        </p:spPr>
      </p:sp>
      <p:sp>
        <p:nvSpPr>
          <p:cNvPr id="45" name="Shape 42"/>
          <p:cNvSpPr/>
          <p:nvPr/>
        </p:nvSpPr>
        <p:spPr>
          <a:xfrm>
            <a:off x="7168896" y="2651760"/>
            <a:ext cx="182880" cy="182880"/>
          </a:xfrm>
          <a:prstGeom prst="ellipse">
            <a:avLst/>
          </a:prstGeom>
          <a:solidFill>
            <a:srgbClr val="3A5BFF"/>
          </a:solidFill>
          <a:ln w="12700">
            <a:solidFill>
              <a:srgbClr val="3A5BFF"/>
            </a:solidFill>
            <a:prstDash val="solid"/>
          </a:ln>
        </p:spPr>
      </p:sp>
      <p:sp>
        <p:nvSpPr>
          <p:cNvPr id="46" name="Shape 43"/>
          <p:cNvSpPr/>
          <p:nvPr/>
        </p:nvSpPr>
        <p:spPr>
          <a:xfrm>
            <a:off x="7461504" y="2651760"/>
            <a:ext cx="182880" cy="182880"/>
          </a:xfrm>
          <a:prstGeom prst="ellipse">
            <a:avLst/>
          </a:prstGeom>
          <a:solidFill>
            <a:srgbClr val="0E9C9C"/>
          </a:solidFill>
          <a:ln w="12700">
            <a:solidFill>
              <a:srgbClr val="0E9C9C"/>
            </a:solidFill>
            <a:prstDash val="solid"/>
          </a:ln>
        </p:spPr>
      </p:sp>
      <p:sp>
        <p:nvSpPr>
          <p:cNvPr id="47" name="Shape 44"/>
          <p:cNvSpPr/>
          <p:nvPr/>
        </p:nvSpPr>
        <p:spPr>
          <a:xfrm>
            <a:off x="7754112" y="2651760"/>
            <a:ext cx="182880" cy="182880"/>
          </a:xfrm>
          <a:prstGeom prst="ellipse">
            <a:avLst/>
          </a:prstGeom>
          <a:solidFill>
            <a:srgbClr val="0E9C9C"/>
          </a:solidFill>
          <a:ln w="12700">
            <a:solidFill>
              <a:srgbClr val="0E9C9C"/>
            </a:solidFill>
            <a:prstDash val="solid"/>
          </a:ln>
        </p:spPr>
      </p:sp>
      <p:sp>
        <p:nvSpPr>
          <p:cNvPr id="48" name="Text 45"/>
          <p:cNvSpPr txBox="1"/>
          <p:nvPr/>
        </p:nvSpPr>
        <p:spPr>
          <a:xfrm>
            <a:off x="8229600" y="2606040"/>
            <a:ext cx="3337560" cy="640080"/>
          </a:xfrm>
          <a:prstGeom prst="rect">
            <a:avLst/>
          </a:prstGeom>
          <a:noFill/>
          <a:ln/>
        </p:spPr>
        <p:txBody>
          <a:bodyPr wrap="square" lIns="0" tIns="0" rIns="0" bIns="0" rtlCol="0" anchor="t"/>
          <a:lstStyle/>
          <a:p>
            <a:pPr indent="0" marL="0">
              <a:buNone/>
            </a:pPr>
            <a:r>
              <a:rPr lang="en-US" sz="1400" dirty="0">
                <a:solidFill>
                  <a:schemeClr val="tx2"/>
                </a:solidFill>
              </a:rPr>
              <a:t>장애 위험이 있을 때 일부에게 먼저. 실험군 표본이 느리게 쌓인다</a:t>
            </a:r>
            <a:endParaRPr lang="en-US" sz="1400" dirty="0"/>
          </a:p>
        </p:txBody>
      </p:sp>
      <p:sp>
        <p:nvSpPr>
          <p:cNvPr id="49" name="Text 46"/>
          <p:cNvSpPr txBox="1"/>
          <p:nvPr/>
        </p:nvSpPr>
        <p:spPr>
          <a:xfrm>
            <a:off x="2194560" y="3154680"/>
            <a:ext cx="3657600" cy="320040"/>
          </a:xfrm>
          <a:prstGeom prst="rect">
            <a:avLst/>
          </a:prstGeom>
          <a:noFill/>
          <a:ln/>
        </p:spPr>
        <p:txBody>
          <a:bodyPr wrap="square" lIns="0" tIns="0" rIns="0" bIns="0" rtlCol="0" anchor="t"/>
          <a:lstStyle/>
          <a:p>
            <a:pPr indent="0" marL="0">
              <a:buNone/>
            </a:pPr>
            <a:r>
              <a:rPr lang="en-US" sz="1400" dirty="0">
                <a:solidFill>
                  <a:schemeClr val="accent1"/>
                </a:solidFill>
              </a:rPr>
              <a:t>●</a:t>
            </a:r>
            <a:pPr indent="0" marL="0">
              <a:buNone/>
            </a:pPr>
            <a:r>
              <a:rPr lang="en-US" sz="1400" dirty="0">
                <a:solidFill>
                  <a:schemeClr val="tx2"/>
                </a:solidFill>
              </a:rPr>
              <a:t> 대조군   </a:t>
            </a:r>
            <a:pPr indent="0" marL="0">
              <a:buNone/>
            </a:pPr>
            <a:r>
              <a:rPr lang="en-US" sz="1400" dirty="0">
                <a:solidFill>
                  <a:schemeClr val="accent2"/>
                </a:solidFill>
              </a:rPr>
              <a:t>●</a:t>
            </a:r>
            <a:pPr indent="0" marL="0">
              <a:buNone/>
            </a:pPr>
            <a:r>
              <a:rPr lang="en-US" sz="1400" dirty="0">
                <a:solidFill>
                  <a:schemeClr val="tx2"/>
                </a:solidFill>
              </a:rPr>
              <a:t> 실험군</a:t>
            </a:r>
            <a:endParaRPr lang="en-US" sz="1400" dirty="0"/>
          </a:p>
        </p:txBody>
      </p:sp>
      <p:sp>
        <p:nvSpPr>
          <p:cNvPr id="50" name="Text 47"/>
          <p:cNvSpPr txBox="1"/>
          <p:nvPr/>
        </p:nvSpPr>
        <p:spPr>
          <a:xfrm>
            <a:off x="640080" y="3794760"/>
            <a:ext cx="5212080" cy="1463040"/>
          </a:xfrm>
          <a:prstGeom prst="rect">
            <a:avLst/>
          </a:prstGeom>
          <a:noFill/>
          <a:ln/>
        </p:spPr>
        <p:txBody>
          <a:bodyPr wrap="square" lIns="0" tIns="0" rIns="0" bIns="0" rtlCol="0" anchor="t"/>
          <a:lstStyle/>
          <a:p>
            <a:pPr indent="0" marL="0">
              <a:spcAft>
                <a:spcPts val="600"/>
              </a:spcAft>
              <a:buNone/>
            </a:pPr>
            <a:r>
              <a:rPr lang="en-US" sz="2000" b="1" dirty="0">
                <a:solidFill>
                  <a:schemeClr val="tx1"/>
                </a:solidFill>
              </a:rPr>
              <a:t>좋은 배정이란</a:t>
            </a:r>
            <a:endParaRPr lang="en-US" sz="1500" dirty="0"/>
          </a:p>
          <a:p>
            <a:pPr indent="0" marL="0">
              <a:buNone/>
            </a:pPr>
            <a:r>
              <a:rPr lang="en-US" sz="1500" dirty="0">
                <a:solidFill>
                  <a:schemeClr val="tx1"/>
                </a:solidFill>
              </a:rPr>
              <a:t>A와 B의 사용자 수를 맞추는 것이 아니라, 처치 여부와 사용자 특성이 체계적으로 연결되지 않게 하는 것</a:t>
            </a:r>
            <a:endParaRPr lang="en-US" sz="1500" dirty="0"/>
          </a:p>
        </p:txBody>
      </p:sp>
      <p:sp>
        <p:nvSpPr>
          <p:cNvPr id="51" name="Shape 48"/>
          <p:cNvSpPr/>
          <p:nvPr/>
        </p:nvSpPr>
        <p:spPr>
          <a:xfrm>
            <a:off x="5989320" y="3840480"/>
            <a:ext cx="0" cy="1554480"/>
          </a:xfrm>
          <a:prstGeom prst="line">
            <a:avLst/>
          </a:prstGeom>
          <a:noFill/>
          <a:ln w="12700">
            <a:solidFill>
              <a:srgbClr val="E3E7F1"/>
            </a:solidFill>
            <a:prstDash val="solid"/>
          </a:ln>
        </p:spPr>
      </p:sp>
      <p:sp>
        <p:nvSpPr>
          <p:cNvPr id="52" name="Text 49"/>
          <p:cNvSpPr txBox="1"/>
          <p:nvPr/>
        </p:nvSpPr>
        <p:spPr>
          <a:xfrm>
            <a:off x="6355080" y="3794760"/>
            <a:ext cx="5212080" cy="1645920"/>
          </a:xfrm>
          <a:prstGeom prst="rect">
            <a:avLst/>
          </a:prstGeom>
          <a:noFill/>
          <a:ln/>
        </p:spPr>
        <p:txBody>
          <a:bodyPr wrap="square" lIns="0" tIns="0" rIns="0" bIns="0" rtlCol="0" anchor="t"/>
          <a:lstStyle/>
          <a:p>
            <a:pPr indent="0" marL="0">
              <a:spcAft>
                <a:spcPts val="600"/>
              </a:spcAft>
              <a:buNone/>
            </a:pPr>
            <a:r>
              <a:rPr lang="en-US" sz="2000" b="1" dirty="0">
                <a:solidFill>
                  <a:schemeClr val="tx1"/>
                </a:solidFill>
              </a:rPr>
              <a:t>실험 전에 정해 둘 것</a:t>
            </a:r>
            <a:endParaRPr lang="en-US" sz="1500" dirty="0"/>
          </a:p>
          <a:p>
            <a:pPr marL="342900" indent="-342900">
              <a:spcAft>
                <a:spcPts val="400"/>
              </a:spcAft>
              <a:buSzPct val="100000"/>
              <a:buChar char="•"/>
            </a:pPr>
            <a:r>
              <a:rPr lang="en-US" sz="1500" dirty="0">
                <a:solidFill>
                  <a:schemeClr val="tx1"/>
                </a:solidFill>
              </a:rPr>
              <a:t>어떤 단위를 어떤 규칙으로 배정할지</a:t>
            </a:r>
            <a:endParaRPr lang="en-US" sz="1500" dirty="0"/>
          </a:p>
          <a:p>
            <a:pPr marL="342900" indent="-342900">
              <a:spcAft>
                <a:spcPts val="400"/>
              </a:spcAft>
              <a:buSzPct val="100000"/>
              <a:buChar char="•"/>
            </a:pPr>
            <a:r>
              <a:rPr lang="en-US" sz="1500" dirty="0">
                <a:solidFill>
                  <a:schemeClr val="tx1"/>
                </a:solidFill>
              </a:rPr>
              <a:t>배정 비율은 얼마인지</a:t>
            </a:r>
            <a:endParaRPr lang="en-US" sz="1500" dirty="0"/>
          </a:p>
          <a:p>
            <a:pPr marL="342900" indent="-342900">
              <a:spcAft>
                <a:spcPts val="400"/>
              </a:spcAft>
              <a:buSzPct val="100000"/>
              <a:buChar char="•"/>
            </a:pPr>
            <a:r>
              <a:rPr lang="en-US" sz="1500" dirty="0">
                <a:solidFill>
                  <a:schemeClr val="tx1"/>
                </a:solidFill>
              </a:rPr>
              <a:t>필요하면 어떤 특성을 균형화할지 (층화)</a:t>
            </a:r>
            <a:endParaRPr lang="en-US" sz="1500" dirty="0"/>
          </a:p>
        </p:txBody>
      </p:sp>
      <p:sp>
        <p:nvSpPr>
          <p:cNvPr id="53" name="Text 50"/>
          <p:cNvSpPr txBox="1"/>
          <p:nvPr/>
        </p:nvSpPr>
        <p:spPr>
          <a:xfrm>
            <a:off x="640080" y="5897880"/>
            <a:ext cx="10911535" cy="274320"/>
          </a:xfrm>
          <a:prstGeom prst="rect">
            <a:avLst/>
          </a:prstGeom>
          <a:noFill/>
          <a:ln/>
        </p:spPr>
        <p:txBody>
          <a:bodyPr wrap="square" lIns="0" tIns="0" rIns="0" bIns="0" rtlCol="0" anchor="t"/>
          <a:lstStyle/>
          <a:p>
            <a:pPr indent="0" marL="0">
              <a:buNone/>
            </a:pPr>
            <a:r>
              <a:rPr lang="en-US" sz="1100" dirty="0">
                <a:solidFill>
                  <a:schemeClr val="accent6"/>
                </a:solidFill>
              </a:rPr>
              <a:t>위키 05편 4.3</a:t>
            </a:r>
            <a:endParaRPr lang="en-US" sz="11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Ch2 · SUTVA</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내 처치가 남의 결과를 바꾸면 안 된다</a:t>
            </a:r>
            <a:endParaRPr lang="en-US" sz="2000" dirty="0"/>
          </a:p>
        </p:txBody>
      </p:sp>
      <p:sp>
        <p:nvSpPr>
          <p:cNvPr id="5" name="Shape 2"/>
          <p:cNvSpPr/>
          <p:nvPr/>
        </p:nvSpPr>
        <p:spPr>
          <a:xfrm>
            <a:off x="640080" y="2103120"/>
            <a:ext cx="182880" cy="182880"/>
          </a:xfrm>
          <a:prstGeom prst="ellipse">
            <a:avLst/>
          </a:prstGeom>
          <a:solidFill>
            <a:srgbClr val="3A5BFF"/>
          </a:solidFill>
          <a:ln w="12700">
            <a:solidFill>
              <a:srgbClr val="3A5BFF"/>
            </a:solidFill>
            <a:prstDash val="solid"/>
          </a:ln>
        </p:spPr>
      </p:sp>
      <p:sp>
        <p:nvSpPr>
          <p:cNvPr id="6" name="Shape 3"/>
          <p:cNvSpPr/>
          <p:nvPr/>
        </p:nvSpPr>
        <p:spPr>
          <a:xfrm>
            <a:off x="1051560" y="2103120"/>
            <a:ext cx="182880" cy="182880"/>
          </a:xfrm>
          <a:prstGeom prst="ellipse">
            <a:avLst/>
          </a:prstGeom>
          <a:solidFill>
            <a:srgbClr val="3A5BFF"/>
          </a:solidFill>
          <a:ln w="12700">
            <a:solidFill>
              <a:srgbClr val="3A5BFF"/>
            </a:solidFill>
            <a:prstDash val="solid"/>
          </a:ln>
        </p:spPr>
      </p:sp>
      <p:sp>
        <p:nvSpPr>
          <p:cNvPr id="7" name="Shape 4"/>
          <p:cNvSpPr/>
          <p:nvPr/>
        </p:nvSpPr>
        <p:spPr>
          <a:xfrm>
            <a:off x="1463040" y="2103120"/>
            <a:ext cx="182880" cy="182880"/>
          </a:xfrm>
          <a:prstGeom prst="ellipse">
            <a:avLst/>
          </a:prstGeom>
          <a:solidFill>
            <a:srgbClr val="3A5BFF"/>
          </a:solidFill>
          <a:ln w="12700">
            <a:solidFill>
              <a:srgbClr val="3A5BFF"/>
            </a:solidFill>
            <a:prstDash val="solid"/>
          </a:ln>
        </p:spPr>
      </p:sp>
      <p:sp>
        <p:nvSpPr>
          <p:cNvPr id="8" name="Shape 5"/>
          <p:cNvSpPr/>
          <p:nvPr/>
        </p:nvSpPr>
        <p:spPr>
          <a:xfrm>
            <a:off x="640080" y="2514600"/>
            <a:ext cx="182880" cy="182880"/>
          </a:xfrm>
          <a:prstGeom prst="ellipse">
            <a:avLst/>
          </a:prstGeom>
          <a:solidFill>
            <a:srgbClr val="3A5BFF"/>
          </a:solidFill>
          <a:ln w="12700">
            <a:solidFill>
              <a:srgbClr val="3A5BFF"/>
            </a:solidFill>
            <a:prstDash val="solid"/>
          </a:ln>
        </p:spPr>
      </p:sp>
      <p:sp>
        <p:nvSpPr>
          <p:cNvPr id="9" name="Shape 6"/>
          <p:cNvSpPr/>
          <p:nvPr/>
        </p:nvSpPr>
        <p:spPr>
          <a:xfrm>
            <a:off x="1051560" y="2514600"/>
            <a:ext cx="182880" cy="182880"/>
          </a:xfrm>
          <a:prstGeom prst="ellipse">
            <a:avLst/>
          </a:prstGeom>
          <a:solidFill>
            <a:srgbClr val="3A5BFF"/>
          </a:solidFill>
          <a:ln w="12700">
            <a:solidFill>
              <a:srgbClr val="3A5BFF"/>
            </a:solidFill>
            <a:prstDash val="solid"/>
          </a:ln>
        </p:spPr>
      </p:sp>
      <p:sp>
        <p:nvSpPr>
          <p:cNvPr id="10" name="Shape 7"/>
          <p:cNvSpPr/>
          <p:nvPr/>
        </p:nvSpPr>
        <p:spPr>
          <a:xfrm>
            <a:off x="1463040" y="2514600"/>
            <a:ext cx="182880" cy="182880"/>
          </a:xfrm>
          <a:prstGeom prst="ellipse">
            <a:avLst/>
          </a:prstGeom>
          <a:solidFill>
            <a:srgbClr val="3A5BFF"/>
          </a:solidFill>
          <a:ln w="12700">
            <a:solidFill>
              <a:srgbClr val="3A5BFF"/>
            </a:solidFill>
            <a:prstDash val="solid"/>
          </a:ln>
        </p:spPr>
      </p:sp>
      <p:sp>
        <p:nvSpPr>
          <p:cNvPr id="11" name="Shape 8"/>
          <p:cNvSpPr/>
          <p:nvPr/>
        </p:nvSpPr>
        <p:spPr>
          <a:xfrm>
            <a:off x="640080" y="2926080"/>
            <a:ext cx="182880" cy="182880"/>
          </a:xfrm>
          <a:prstGeom prst="ellipse">
            <a:avLst/>
          </a:prstGeom>
          <a:solidFill>
            <a:srgbClr val="3A5BFF"/>
          </a:solidFill>
          <a:ln w="12700">
            <a:solidFill>
              <a:srgbClr val="3A5BFF"/>
            </a:solidFill>
            <a:prstDash val="solid"/>
          </a:ln>
        </p:spPr>
      </p:sp>
      <p:sp>
        <p:nvSpPr>
          <p:cNvPr id="12" name="Shape 9"/>
          <p:cNvSpPr/>
          <p:nvPr/>
        </p:nvSpPr>
        <p:spPr>
          <a:xfrm>
            <a:off x="1051560" y="2926080"/>
            <a:ext cx="182880" cy="182880"/>
          </a:xfrm>
          <a:prstGeom prst="ellipse">
            <a:avLst/>
          </a:prstGeom>
          <a:solidFill>
            <a:srgbClr val="3A5BFF"/>
          </a:solidFill>
          <a:ln w="12700">
            <a:solidFill>
              <a:srgbClr val="3A5BFF"/>
            </a:solidFill>
            <a:prstDash val="solid"/>
          </a:ln>
        </p:spPr>
      </p:sp>
      <p:sp>
        <p:nvSpPr>
          <p:cNvPr id="13" name="Shape 10"/>
          <p:cNvSpPr/>
          <p:nvPr/>
        </p:nvSpPr>
        <p:spPr>
          <a:xfrm>
            <a:off x="1463040" y="2926080"/>
            <a:ext cx="182880" cy="182880"/>
          </a:xfrm>
          <a:prstGeom prst="ellipse">
            <a:avLst/>
          </a:prstGeom>
          <a:solidFill>
            <a:srgbClr val="3A5BFF"/>
          </a:solidFill>
          <a:ln w="12700">
            <a:solidFill>
              <a:srgbClr val="3A5BFF"/>
            </a:solidFill>
            <a:prstDash val="solid"/>
          </a:ln>
        </p:spPr>
      </p:sp>
      <p:sp>
        <p:nvSpPr>
          <p:cNvPr id="14" name="Shape 11"/>
          <p:cNvSpPr/>
          <p:nvPr/>
        </p:nvSpPr>
        <p:spPr>
          <a:xfrm>
            <a:off x="640080" y="3337560"/>
            <a:ext cx="182880" cy="182880"/>
          </a:xfrm>
          <a:prstGeom prst="ellipse">
            <a:avLst/>
          </a:prstGeom>
          <a:solidFill>
            <a:srgbClr val="3A5BFF"/>
          </a:solidFill>
          <a:ln w="12700">
            <a:solidFill>
              <a:srgbClr val="3A5BFF"/>
            </a:solidFill>
            <a:prstDash val="solid"/>
          </a:ln>
        </p:spPr>
      </p:sp>
      <p:sp>
        <p:nvSpPr>
          <p:cNvPr id="15" name="Shape 12"/>
          <p:cNvSpPr/>
          <p:nvPr/>
        </p:nvSpPr>
        <p:spPr>
          <a:xfrm>
            <a:off x="1051560" y="3337560"/>
            <a:ext cx="182880" cy="182880"/>
          </a:xfrm>
          <a:prstGeom prst="ellipse">
            <a:avLst/>
          </a:prstGeom>
          <a:solidFill>
            <a:srgbClr val="3A5BFF"/>
          </a:solidFill>
          <a:ln w="12700">
            <a:solidFill>
              <a:srgbClr val="3A5BFF"/>
            </a:solidFill>
            <a:prstDash val="solid"/>
          </a:ln>
        </p:spPr>
      </p:sp>
      <p:sp>
        <p:nvSpPr>
          <p:cNvPr id="16" name="Shape 13"/>
          <p:cNvSpPr/>
          <p:nvPr/>
        </p:nvSpPr>
        <p:spPr>
          <a:xfrm>
            <a:off x="1463040" y="3337560"/>
            <a:ext cx="182880" cy="182880"/>
          </a:xfrm>
          <a:prstGeom prst="ellipse">
            <a:avLst/>
          </a:prstGeom>
          <a:solidFill>
            <a:srgbClr val="3A5BFF"/>
          </a:solidFill>
          <a:ln w="12700">
            <a:solidFill>
              <a:srgbClr val="3A5BFF"/>
            </a:solidFill>
            <a:prstDash val="solid"/>
          </a:ln>
        </p:spPr>
      </p:sp>
      <p:sp>
        <p:nvSpPr>
          <p:cNvPr id="17" name="Shape 14"/>
          <p:cNvSpPr/>
          <p:nvPr/>
        </p:nvSpPr>
        <p:spPr>
          <a:xfrm>
            <a:off x="3108960" y="2103120"/>
            <a:ext cx="182880" cy="182880"/>
          </a:xfrm>
          <a:prstGeom prst="ellipse">
            <a:avLst/>
          </a:prstGeom>
          <a:solidFill>
            <a:srgbClr val="0E9C9C"/>
          </a:solidFill>
          <a:ln w="12700">
            <a:solidFill>
              <a:srgbClr val="0E9C9C"/>
            </a:solidFill>
            <a:prstDash val="solid"/>
          </a:ln>
        </p:spPr>
      </p:sp>
      <p:sp>
        <p:nvSpPr>
          <p:cNvPr id="18" name="Shape 15"/>
          <p:cNvSpPr/>
          <p:nvPr/>
        </p:nvSpPr>
        <p:spPr>
          <a:xfrm>
            <a:off x="3520440" y="2103120"/>
            <a:ext cx="182880" cy="182880"/>
          </a:xfrm>
          <a:prstGeom prst="ellipse">
            <a:avLst/>
          </a:prstGeom>
          <a:solidFill>
            <a:srgbClr val="0E9C9C"/>
          </a:solidFill>
          <a:ln w="12700">
            <a:solidFill>
              <a:srgbClr val="0E9C9C"/>
            </a:solidFill>
            <a:prstDash val="solid"/>
          </a:ln>
        </p:spPr>
      </p:sp>
      <p:sp>
        <p:nvSpPr>
          <p:cNvPr id="19" name="Shape 16"/>
          <p:cNvSpPr/>
          <p:nvPr/>
        </p:nvSpPr>
        <p:spPr>
          <a:xfrm>
            <a:off x="3931920" y="2103120"/>
            <a:ext cx="182880" cy="182880"/>
          </a:xfrm>
          <a:prstGeom prst="ellipse">
            <a:avLst/>
          </a:prstGeom>
          <a:solidFill>
            <a:srgbClr val="0E9C9C"/>
          </a:solidFill>
          <a:ln w="12700">
            <a:solidFill>
              <a:srgbClr val="0E9C9C"/>
            </a:solidFill>
            <a:prstDash val="solid"/>
          </a:ln>
        </p:spPr>
      </p:sp>
      <p:sp>
        <p:nvSpPr>
          <p:cNvPr id="20" name="Shape 17"/>
          <p:cNvSpPr/>
          <p:nvPr/>
        </p:nvSpPr>
        <p:spPr>
          <a:xfrm>
            <a:off x="3108960" y="2514600"/>
            <a:ext cx="182880" cy="182880"/>
          </a:xfrm>
          <a:prstGeom prst="ellipse">
            <a:avLst/>
          </a:prstGeom>
          <a:solidFill>
            <a:srgbClr val="0E9C9C"/>
          </a:solidFill>
          <a:ln w="12700">
            <a:solidFill>
              <a:srgbClr val="0E9C9C"/>
            </a:solidFill>
            <a:prstDash val="solid"/>
          </a:ln>
        </p:spPr>
      </p:sp>
      <p:sp>
        <p:nvSpPr>
          <p:cNvPr id="21" name="Shape 18"/>
          <p:cNvSpPr/>
          <p:nvPr/>
        </p:nvSpPr>
        <p:spPr>
          <a:xfrm>
            <a:off x="3520440" y="2514600"/>
            <a:ext cx="182880" cy="182880"/>
          </a:xfrm>
          <a:prstGeom prst="ellipse">
            <a:avLst/>
          </a:prstGeom>
          <a:solidFill>
            <a:srgbClr val="0E9C9C"/>
          </a:solidFill>
          <a:ln w="12700">
            <a:solidFill>
              <a:srgbClr val="0E9C9C"/>
            </a:solidFill>
            <a:prstDash val="solid"/>
          </a:ln>
        </p:spPr>
      </p:sp>
      <p:sp>
        <p:nvSpPr>
          <p:cNvPr id="22" name="Shape 19"/>
          <p:cNvSpPr/>
          <p:nvPr/>
        </p:nvSpPr>
        <p:spPr>
          <a:xfrm>
            <a:off x="3931920" y="2514600"/>
            <a:ext cx="182880" cy="182880"/>
          </a:xfrm>
          <a:prstGeom prst="ellipse">
            <a:avLst/>
          </a:prstGeom>
          <a:solidFill>
            <a:srgbClr val="0E9C9C"/>
          </a:solidFill>
          <a:ln w="12700">
            <a:solidFill>
              <a:srgbClr val="0E9C9C"/>
            </a:solidFill>
            <a:prstDash val="solid"/>
          </a:ln>
        </p:spPr>
      </p:sp>
      <p:sp>
        <p:nvSpPr>
          <p:cNvPr id="23" name="Shape 20"/>
          <p:cNvSpPr/>
          <p:nvPr/>
        </p:nvSpPr>
        <p:spPr>
          <a:xfrm>
            <a:off x="3108960" y="2926080"/>
            <a:ext cx="182880" cy="182880"/>
          </a:xfrm>
          <a:prstGeom prst="ellipse">
            <a:avLst/>
          </a:prstGeom>
          <a:solidFill>
            <a:srgbClr val="0E9C9C"/>
          </a:solidFill>
          <a:ln w="12700">
            <a:solidFill>
              <a:srgbClr val="0E9C9C"/>
            </a:solidFill>
            <a:prstDash val="solid"/>
          </a:ln>
        </p:spPr>
      </p:sp>
      <p:sp>
        <p:nvSpPr>
          <p:cNvPr id="24" name="Shape 21"/>
          <p:cNvSpPr/>
          <p:nvPr/>
        </p:nvSpPr>
        <p:spPr>
          <a:xfrm>
            <a:off x="3520440" y="2926080"/>
            <a:ext cx="182880" cy="182880"/>
          </a:xfrm>
          <a:prstGeom prst="ellipse">
            <a:avLst/>
          </a:prstGeom>
          <a:solidFill>
            <a:srgbClr val="0E9C9C"/>
          </a:solidFill>
          <a:ln w="12700">
            <a:solidFill>
              <a:srgbClr val="0E9C9C"/>
            </a:solidFill>
            <a:prstDash val="solid"/>
          </a:ln>
        </p:spPr>
      </p:sp>
      <p:sp>
        <p:nvSpPr>
          <p:cNvPr id="25" name="Shape 22"/>
          <p:cNvSpPr/>
          <p:nvPr/>
        </p:nvSpPr>
        <p:spPr>
          <a:xfrm>
            <a:off x="3931920" y="2926080"/>
            <a:ext cx="182880" cy="182880"/>
          </a:xfrm>
          <a:prstGeom prst="ellipse">
            <a:avLst/>
          </a:prstGeom>
          <a:solidFill>
            <a:srgbClr val="0E9C9C"/>
          </a:solidFill>
          <a:ln w="12700">
            <a:solidFill>
              <a:srgbClr val="0E9C9C"/>
            </a:solidFill>
            <a:prstDash val="solid"/>
          </a:ln>
        </p:spPr>
      </p:sp>
      <p:sp>
        <p:nvSpPr>
          <p:cNvPr id="26" name="Shape 23"/>
          <p:cNvSpPr/>
          <p:nvPr/>
        </p:nvSpPr>
        <p:spPr>
          <a:xfrm>
            <a:off x="3108960" y="3337560"/>
            <a:ext cx="182880" cy="182880"/>
          </a:xfrm>
          <a:prstGeom prst="ellipse">
            <a:avLst/>
          </a:prstGeom>
          <a:solidFill>
            <a:srgbClr val="0E9C9C"/>
          </a:solidFill>
          <a:ln w="12700">
            <a:solidFill>
              <a:srgbClr val="0E9C9C"/>
            </a:solidFill>
            <a:prstDash val="solid"/>
          </a:ln>
        </p:spPr>
      </p:sp>
      <p:sp>
        <p:nvSpPr>
          <p:cNvPr id="27" name="Shape 24"/>
          <p:cNvSpPr/>
          <p:nvPr/>
        </p:nvSpPr>
        <p:spPr>
          <a:xfrm>
            <a:off x="3520440" y="3337560"/>
            <a:ext cx="182880" cy="182880"/>
          </a:xfrm>
          <a:prstGeom prst="ellipse">
            <a:avLst/>
          </a:prstGeom>
          <a:solidFill>
            <a:srgbClr val="0E9C9C"/>
          </a:solidFill>
          <a:ln w="12700">
            <a:solidFill>
              <a:srgbClr val="0E9C9C"/>
            </a:solidFill>
            <a:prstDash val="solid"/>
          </a:ln>
        </p:spPr>
      </p:sp>
      <p:sp>
        <p:nvSpPr>
          <p:cNvPr id="28" name="Shape 25"/>
          <p:cNvSpPr/>
          <p:nvPr/>
        </p:nvSpPr>
        <p:spPr>
          <a:xfrm>
            <a:off x="3931920" y="3337560"/>
            <a:ext cx="182880" cy="182880"/>
          </a:xfrm>
          <a:prstGeom prst="ellipse">
            <a:avLst/>
          </a:prstGeom>
          <a:solidFill>
            <a:srgbClr val="0E9C9C"/>
          </a:solidFill>
          <a:ln w="12700">
            <a:solidFill>
              <a:srgbClr val="0E9C9C"/>
            </a:solidFill>
            <a:prstDash val="solid"/>
          </a:ln>
        </p:spPr>
      </p:sp>
      <p:sp>
        <p:nvSpPr>
          <p:cNvPr id="29" name="Text 26"/>
          <p:cNvSpPr txBox="1"/>
          <p:nvPr/>
        </p:nvSpPr>
        <p:spPr>
          <a:xfrm>
            <a:off x="640080" y="3840480"/>
            <a:ext cx="1188720" cy="365760"/>
          </a:xfrm>
          <a:prstGeom prst="rect">
            <a:avLst/>
          </a:prstGeom>
          <a:noFill/>
          <a:ln/>
        </p:spPr>
        <p:txBody>
          <a:bodyPr wrap="square" lIns="0" tIns="0" rIns="0" bIns="0" rtlCol="0" anchor="t"/>
          <a:lstStyle/>
          <a:p>
            <a:pPr algn="ctr" indent="0" marL="0">
              <a:buNone/>
            </a:pPr>
            <a:r>
              <a:rPr lang="en-US" sz="1500" b="1" dirty="0">
                <a:solidFill>
                  <a:schemeClr val="accent1"/>
                </a:solidFill>
              </a:rPr>
              <a:t>A</a:t>
            </a:r>
            <a:endParaRPr lang="en-US" sz="1500" dirty="0"/>
          </a:p>
        </p:txBody>
      </p:sp>
      <p:sp>
        <p:nvSpPr>
          <p:cNvPr id="30" name="Text 27"/>
          <p:cNvSpPr txBox="1"/>
          <p:nvPr/>
        </p:nvSpPr>
        <p:spPr>
          <a:xfrm>
            <a:off x="3108960" y="3840480"/>
            <a:ext cx="1188720" cy="365760"/>
          </a:xfrm>
          <a:prstGeom prst="rect">
            <a:avLst/>
          </a:prstGeom>
          <a:noFill/>
          <a:ln/>
        </p:spPr>
        <p:txBody>
          <a:bodyPr wrap="square" lIns="0" tIns="0" rIns="0" bIns="0" rtlCol="0" anchor="t"/>
          <a:lstStyle/>
          <a:p>
            <a:pPr algn="ctr" indent="0" marL="0">
              <a:buNone/>
            </a:pPr>
            <a:r>
              <a:rPr lang="en-US" sz="1500" b="1" dirty="0">
                <a:solidFill>
                  <a:schemeClr val="accent2"/>
                </a:solidFill>
              </a:rPr>
              <a:t>B</a:t>
            </a:r>
            <a:endParaRPr lang="en-US" sz="1500" dirty="0"/>
          </a:p>
        </p:txBody>
      </p:sp>
      <p:sp>
        <p:nvSpPr>
          <p:cNvPr id="31" name="Shape 28"/>
          <p:cNvSpPr/>
          <p:nvPr/>
        </p:nvSpPr>
        <p:spPr>
          <a:xfrm flipH="1">
            <a:off x="1874520" y="2606040"/>
            <a:ext cx="1051560" cy="0"/>
          </a:xfrm>
          <a:prstGeom prst="line">
            <a:avLst/>
          </a:prstGeom>
          <a:noFill/>
          <a:ln w="25400">
            <a:solidFill>
              <a:srgbClr val="D93B41"/>
            </a:solidFill>
            <a:prstDash val="dash"/>
            <a:tailEnd type="triangle"/>
          </a:ln>
        </p:spPr>
      </p:sp>
      <p:sp>
        <p:nvSpPr>
          <p:cNvPr id="32" name="Shape 29"/>
          <p:cNvSpPr/>
          <p:nvPr/>
        </p:nvSpPr>
        <p:spPr>
          <a:xfrm flipH="1">
            <a:off x="1874520" y="3429000"/>
            <a:ext cx="1051560" cy="0"/>
          </a:xfrm>
          <a:prstGeom prst="line">
            <a:avLst/>
          </a:prstGeom>
          <a:noFill/>
          <a:ln w="25400">
            <a:solidFill>
              <a:srgbClr val="D93B41"/>
            </a:solidFill>
            <a:prstDash val="dash"/>
            <a:tailEnd type="triangle"/>
          </a:ln>
        </p:spPr>
      </p:sp>
      <p:sp>
        <p:nvSpPr>
          <p:cNvPr id="33" name="Text 30"/>
          <p:cNvSpPr txBox="1"/>
          <p:nvPr/>
        </p:nvSpPr>
        <p:spPr>
          <a:xfrm>
            <a:off x="1554480" y="4251960"/>
            <a:ext cx="2194560" cy="365760"/>
          </a:xfrm>
          <a:prstGeom prst="rect">
            <a:avLst/>
          </a:prstGeom>
          <a:noFill/>
          <a:ln/>
        </p:spPr>
        <p:txBody>
          <a:bodyPr wrap="square" lIns="0" tIns="0" rIns="0" bIns="0" rtlCol="0" anchor="t"/>
          <a:lstStyle/>
          <a:p>
            <a:pPr algn="ctr" indent="0" marL="0">
              <a:buNone/>
            </a:pPr>
            <a:r>
              <a:rPr lang="en-US" sz="1400" dirty="0">
                <a:solidFill>
                  <a:schemeClr val="accent4"/>
                </a:solidFill>
              </a:rPr>
              <a:t>영향이 번진다</a:t>
            </a:r>
            <a:endParaRPr lang="en-US" sz="1400" dirty="0"/>
          </a:p>
        </p:txBody>
      </p:sp>
      <p:sp>
        <p:nvSpPr>
          <p:cNvPr id="34" name="Text 31"/>
          <p:cNvSpPr txBox="1"/>
          <p:nvPr/>
        </p:nvSpPr>
        <p:spPr>
          <a:xfrm>
            <a:off x="5120640" y="1874520"/>
            <a:ext cx="6400800" cy="3108960"/>
          </a:xfrm>
          <a:prstGeom prst="rect">
            <a:avLst/>
          </a:prstGeom>
          <a:noFill/>
          <a:ln/>
        </p:spPr>
        <p:txBody>
          <a:bodyPr wrap="square" lIns="0" tIns="0" rIns="0" bIns="0" rtlCol="0" anchor="t"/>
          <a:lstStyle/>
          <a:p>
            <a:pPr indent="0" marL="0">
              <a:buNone/>
            </a:pPr>
            <a:r>
              <a:rPr lang="en-US" sz="2000" b="1" dirty="0">
                <a:solidFill>
                  <a:schemeClr val="tx1"/>
                </a:solidFill>
              </a:rPr>
              <a:t>메신저</a:t>
            </a:r>
            <a:endParaRPr lang="en-US" sz="1500" dirty="0"/>
          </a:p>
          <a:p>
            <a:pPr indent="0" marL="0">
              <a:spcAft>
                <a:spcPts val="1200"/>
              </a:spcAft>
              <a:buNone/>
            </a:pPr>
            <a:r>
              <a:rPr lang="en-US" sz="1500" dirty="0">
                <a:solidFill>
                  <a:schemeClr val="tx2"/>
                </a:solidFill>
              </a:rPr>
              <a:t>B 그룹 친구가 새 기능으로 보낸 메시지를 A 그룹인 나도 받는다</a:t>
            </a:r>
            <a:endParaRPr lang="en-US" sz="1500" dirty="0"/>
          </a:p>
          <a:p>
            <a:pPr indent="0" marL="0">
              <a:buNone/>
            </a:pPr>
            <a:r>
              <a:rPr lang="en-US" sz="2000" b="1" dirty="0">
                <a:solidFill>
                  <a:schemeClr val="tx1"/>
                </a:solidFill>
              </a:rPr>
              <a:t>마켓플레이스</a:t>
            </a:r>
            <a:endParaRPr lang="en-US" sz="1500" dirty="0"/>
          </a:p>
          <a:p>
            <a:pPr indent="0" marL="0">
              <a:spcAft>
                <a:spcPts val="1200"/>
              </a:spcAft>
              <a:buNone/>
            </a:pPr>
            <a:r>
              <a:rPr lang="en-US" sz="1500" dirty="0">
                <a:solidFill>
                  <a:schemeClr val="tx2"/>
                </a:solidFill>
              </a:rPr>
              <a:t>B 그룹에 준 쿠폰으로 인기 재고가 소진되면 A 그룹 구매가 줄어든다</a:t>
            </a:r>
            <a:endParaRPr lang="en-US" sz="1500" dirty="0"/>
          </a:p>
          <a:p>
            <a:pPr indent="0" marL="0">
              <a:buNone/>
            </a:pPr>
            <a:r>
              <a:rPr lang="en-US" sz="2000" b="1" dirty="0">
                <a:solidFill>
                  <a:schemeClr val="tx1"/>
                </a:solidFill>
              </a:rPr>
              <a:t>배달·라이드쉐어</a:t>
            </a:r>
            <a:endParaRPr lang="en-US" sz="1500" dirty="0"/>
          </a:p>
          <a:p>
            <a:pPr indent="0" marL="0">
              <a:buNone/>
            </a:pPr>
            <a:r>
              <a:rPr lang="en-US" sz="1500" dirty="0">
                <a:solidFill>
                  <a:schemeClr val="tx2"/>
                </a:solidFill>
              </a:rPr>
              <a:t>B 그룹 주문이 라이더를 먼저 가져가면 A 그룹 배달이 늦어진다</a:t>
            </a:r>
            <a:endParaRPr lang="en-US" sz="1500" dirty="0"/>
          </a:p>
        </p:txBody>
      </p:sp>
      <p:sp>
        <p:nvSpPr>
          <p:cNvPr id="35" name="Text 32"/>
          <p:cNvSpPr txBox="1"/>
          <p:nvPr/>
        </p:nvSpPr>
        <p:spPr>
          <a:xfrm>
            <a:off x="640080" y="5257800"/>
            <a:ext cx="10911535" cy="457200"/>
          </a:xfrm>
          <a:prstGeom prst="rect">
            <a:avLst/>
          </a:prstGeom>
          <a:noFill/>
          <a:ln/>
        </p:spPr>
        <p:txBody>
          <a:bodyPr wrap="square" lIns="0" tIns="0" rIns="0" bIns="0" rtlCol="0" anchor="t"/>
          <a:lstStyle/>
          <a:p>
            <a:pPr indent="0" marL="0">
              <a:buNone/>
            </a:pPr>
            <a:r>
              <a:rPr lang="en-US" sz="1500" b="1" dirty="0">
                <a:solidFill>
                  <a:schemeClr val="accent1"/>
                </a:solidFill>
              </a:rPr>
              <a:t>→ Ch4: </a:t>
            </a:r>
            <a:pPr indent="0" marL="0">
              <a:buNone/>
            </a:pPr>
            <a:r>
              <a:rPr lang="en-US" sz="1500" dirty="0">
                <a:solidFill>
                  <a:schemeClr val="tx1"/>
                </a:solidFill>
              </a:rPr>
              <a:t>사용자 대신 동네·시간 구간을 나눈다 (클러스터 랜덤화, 스위치백)</a:t>
            </a:r>
            <a:endParaRPr lang="en-US" sz="15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body" hasCustomPrompt="1"/>
          </p:nvPr>
        </p:nvSpPr>
        <p:spPr>
          <a:xfrm>
            <a:off x="640080" y="1371600"/>
            <a:ext cx="3657600" cy="1463040"/>
          </a:xfrm>
          <a:prstGeom prst="rect">
            <a:avLst/>
          </a:prstGeom>
          <a:noFill/>
          <a:ln/>
        </p:spPr>
        <p:txBody>
          <a:bodyPr wrap="square" lIns="0" tIns="0" rIns="0" bIns="0" rtlCol="0" anchor="b"/>
          <a:lstStyle/>
          <a:p>
            <a:pPr algn="l" indent="0" marL="0">
              <a:buNone/>
            </a:pPr>
            <a:r>
              <a:rPr lang="en-US" sz="9600" b="1" dirty="0">
                <a:solidFill>
                  <a:srgbClr val="7B93FF"/>
                </a:solidFill>
              </a:rPr>
              <a:t>03</a:t>
            </a:r>
            <a:endParaRPr lang="en-US" sz="9600" dirty="0"/>
          </a:p>
        </p:txBody>
      </p:sp>
      <p:sp>
        <p:nvSpPr>
          <p:cNvPr id="3" name="Text 0"/>
          <p:cNvSpPr/>
          <p:nvPr>
            <p:ph idx="101" type="title" hasCustomPrompt="1"/>
          </p:nvPr>
        </p:nvSpPr>
        <p:spPr>
          <a:xfrm>
            <a:off x="640080" y="3017520"/>
            <a:ext cx="10058400" cy="914400"/>
          </a:xfrm>
          <a:prstGeom prst="rect">
            <a:avLst/>
          </a:prstGeom>
          <a:noFill/>
          <a:ln/>
        </p:spPr>
        <p:txBody>
          <a:bodyPr wrap="square" lIns="0" tIns="0" rIns="0" bIns="0" rtlCol="0" anchor="t"/>
          <a:lstStyle/>
          <a:p>
            <a:pPr algn="l" indent="0" marL="0">
              <a:buNone/>
            </a:pPr>
            <a:r>
              <a:rPr lang="en-US" sz="4000" b="1" dirty="0">
                <a:solidFill>
                  <a:srgbClr val="FFFFFF"/>
                </a:solidFill>
              </a:rPr>
              <a:t>실험 실행과 통계 분석</a:t>
            </a:r>
            <a:endParaRPr lang="en-US" sz="4000" dirty="0"/>
          </a:p>
        </p:txBody>
      </p:sp>
      <p:sp>
        <p:nvSpPr>
          <p:cNvPr id="4" name="Text 0"/>
          <p:cNvSpPr/>
          <p:nvPr>
            <p:ph idx="102" type="body" hasCustomPrompt="1"/>
          </p:nvPr>
        </p:nvSpPr>
        <p:spPr>
          <a:xfrm>
            <a:off x="640080" y="4069080"/>
            <a:ext cx="10058400" cy="731520"/>
          </a:xfrm>
          <a:prstGeom prst="rect">
            <a:avLst/>
          </a:prstGeom>
          <a:noFill/>
          <a:ln/>
        </p:spPr>
        <p:txBody>
          <a:bodyPr wrap="square" lIns="0" tIns="0" rIns="0" bIns="0" rtlCol="0" anchor="t"/>
          <a:lstStyle/>
          <a:p>
            <a:pPr algn="l" indent="0" marL="0">
              <a:buNone/>
            </a:pPr>
            <a:r>
              <a:rPr lang="en-US" sz="2000" dirty="0">
                <a:solidFill>
                  <a:srgbClr val="AEB3CC"/>
                </a:solidFill>
              </a:rPr>
              <a:t>A/A, 램프업, 기간, 검정, 구간, 분산 축소</a:t>
            </a:r>
            <a:endParaRPr lang="en-US" sz="2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Ch3 · 실행 순서</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A/A로 점검하고, 조금씩 늘리고, 충분히 돌린다</a:t>
            </a:r>
            <a:endParaRPr lang="en-US" sz="2000" dirty="0"/>
          </a:p>
        </p:txBody>
      </p:sp>
      <p:sp>
        <p:nvSpPr>
          <p:cNvPr id="5" name="Text 2"/>
          <p:cNvSpPr txBox="1"/>
          <p:nvPr/>
        </p:nvSpPr>
        <p:spPr>
          <a:xfrm>
            <a:off x="640080" y="1920240"/>
            <a:ext cx="2377440" cy="914400"/>
          </a:xfrm>
          <a:prstGeom prst="rect">
            <a:avLst/>
          </a:prstGeom>
          <a:noFill/>
          <a:ln/>
        </p:spPr>
        <p:txBody>
          <a:bodyPr wrap="square" lIns="0" tIns="0" rIns="0" bIns="0" rtlCol="0" anchor="t"/>
          <a:lstStyle/>
          <a:p>
            <a:pPr indent="0" marL="0">
              <a:buNone/>
            </a:pPr>
            <a:r>
              <a:rPr lang="en-US" sz="5400" b="1" dirty="0">
                <a:solidFill>
                  <a:schemeClr val="tx1"/>
                </a:solidFill>
              </a:rPr>
              <a:t>A/A</a:t>
            </a:r>
            <a:endParaRPr lang="en-US" sz="5400" dirty="0"/>
          </a:p>
        </p:txBody>
      </p:sp>
      <p:sp>
        <p:nvSpPr>
          <p:cNvPr id="6" name="Text 3"/>
          <p:cNvSpPr txBox="1"/>
          <p:nvPr/>
        </p:nvSpPr>
        <p:spPr>
          <a:xfrm>
            <a:off x="640080" y="2926080"/>
            <a:ext cx="2377440" cy="731520"/>
          </a:xfrm>
          <a:prstGeom prst="rect">
            <a:avLst/>
          </a:prstGeom>
          <a:noFill/>
          <a:ln/>
        </p:spPr>
        <p:txBody>
          <a:bodyPr wrap="square" lIns="0" tIns="0" rIns="0" bIns="0" rtlCol="0" anchor="t"/>
          <a:lstStyle/>
          <a:p>
            <a:pPr indent="0" marL="0">
              <a:buNone/>
            </a:pPr>
            <a:r>
              <a:rPr lang="en-US" sz="1500" dirty="0">
                <a:solidFill>
                  <a:schemeClr val="tx2"/>
                </a:solidFill>
              </a:rPr>
              <a:t>시스템과 기저 분산 점검</a:t>
            </a:r>
            <a:endParaRPr lang="en-US" sz="1500" dirty="0"/>
          </a:p>
        </p:txBody>
      </p:sp>
      <p:sp>
        <p:nvSpPr>
          <p:cNvPr id="7" name="Shape 4"/>
          <p:cNvSpPr/>
          <p:nvPr/>
        </p:nvSpPr>
        <p:spPr>
          <a:xfrm>
            <a:off x="2743200" y="2377440"/>
            <a:ext cx="548640" cy="0"/>
          </a:xfrm>
          <a:prstGeom prst="line">
            <a:avLst/>
          </a:prstGeom>
          <a:noFill/>
          <a:ln w="19050">
            <a:solidFill>
              <a:srgbClr val="8A90A8"/>
            </a:solidFill>
            <a:prstDash val="solid"/>
            <a:tailEnd type="triangle"/>
          </a:ln>
        </p:spPr>
      </p:sp>
      <p:sp>
        <p:nvSpPr>
          <p:cNvPr id="8" name="Text 5"/>
          <p:cNvSpPr txBox="1"/>
          <p:nvPr/>
        </p:nvSpPr>
        <p:spPr>
          <a:xfrm>
            <a:off x="3474720" y="1920240"/>
            <a:ext cx="2377440" cy="914400"/>
          </a:xfrm>
          <a:prstGeom prst="rect">
            <a:avLst/>
          </a:prstGeom>
          <a:noFill/>
          <a:ln/>
        </p:spPr>
        <p:txBody>
          <a:bodyPr wrap="square" lIns="0" tIns="0" rIns="0" bIns="0" rtlCol="0" anchor="t"/>
          <a:lstStyle/>
          <a:p>
            <a:pPr indent="0" marL="0">
              <a:buNone/>
            </a:pPr>
            <a:r>
              <a:rPr lang="en-US" sz="5400" b="1" dirty="0">
                <a:solidFill>
                  <a:schemeClr val="tx1"/>
                </a:solidFill>
              </a:rPr>
              <a:t>1%</a:t>
            </a:r>
            <a:endParaRPr lang="en-US" sz="5400" dirty="0"/>
          </a:p>
        </p:txBody>
      </p:sp>
      <p:sp>
        <p:nvSpPr>
          <p:cNvPr id="9" name="Text 6"/>
          <p:cNvSpPr txBox="1"/>
          <p:nvPr/>
        </p:nvSpPr>
        <p:spPr>
          <a:xfrm>
            <a:off x="3474720" y="2926080"/>
            <a:ext cx="2377440" cy="731520"/>
          </a:xfrm>
          <a:prstGeom prst="rect">
            <a:avLst/>
          </a:prstGeom>
          <a:noFill/>
          <a:ln/>
        </p:spPr>
        <p:txBody>
          <a:bodyPr wrap="square" lIns="0" tIns="0" rIns="0" bIns="0" rtlCol="0" anchor="t"/>
          <a:lstStyle/>
          <a:p>
            <a:pPr indent="0" marL="0">
              <a:buNone/>
            </a:pPr>
            <a:r>
              <a:rPr lang="en-US" sz="1500" dirty="0">
                <a:solidFill>
                  <a:schemeClr val="tx2"/>
                </a:solidFill>
              </a:rPr>
              <a:t>버그·크래시, 노출·로깅 기록 확인</a:t>
            </a:r>
            <a:endParaRPr lang="en-US" sz="1500" dirty="0"/>
          </a:p>
        </p:txBody>
      </p:sp>
      <p:sp>
        <p:nvSpPr>
          <p:cNvPr id="10" name="Shape 7"/>
          <p:cNvSpPr/>
          <p:nvPr/>
        </p:nvSpPr>
        <p:spPr>
          <a:xfrm>
            <a:off x="5577840" y="2377440"/>
            <a:ext cx="548640" cy="0"/>
          </a:xfrm>
          <a:prstGeom prst="line">
            <a:avLst/>
          </a:prstGeom>
          <a:noFill/>
          <a:ln w="19050">
            <a:solidFill>
              <a:srgbClr val="8A90A8"/>
            </a:solidFill>
            <a:prstDash val="solid"/>
            <a:tailEnd type="triangle"/>
          </a:ln>
        </p:spPr>
      </p:sp>
      <p:sp>
        <p:nvSpPr>
          <p:cNvPr id="11" name="Text 8"/>
          <p:cNvSpPr txBox="1"/>
          <p:nvPr/>
        </p:nvSpPr>
        <p:spPr>
          <a:xfrm>
            <a:off x="6309360" y="1920240"/>
            <a:ext cx="2377440" cy="914400"/>
          </a:xfrm>
          <a:prstGeom prst="rect">
            <a:avLst/>
          </a:prstGeom>
          <a:noFill/>
          <a:ln/>
        </p:spPr>
        <p:txBody>
          <a:bodyPr wrap="square" lIns="0" tIns="0" rIns="0" bIns="0" rtlCol="0" anchor="t"/>
          <a:lstStyle/>
          <a:p>
            <a:pPr indent="0" marL="0">
              <a:buNone/>
            </a:pPr>
            <a:r>
              <a:rPr lang="en-US" sz="5400" b="1" dirty="0">
                <a:solidFill>
                  <a:schemeClr val="tx1"/>
                </a:solidFill>
              </a:rPr>
              <a:t>5%</a:t>
            </a:r>
            <a:endParaRPr lang="en-US" sz="5400" dirty="0"/>
          </a:p>
        </p:txBody>
      </p:sp>
      <p:sp>
        <p:nvSpPr>
          <p:cNvPr id="12" name="Text 9"/>
          <p:cNvSpPr txBox="1"/>
          <p:nvPr/>
        </p:nvSpPr>
        <p:spPr>
          <a:xfrm>
            <a:off x="6309360" y="2926080"/>
            <a:ext cx="2377440" cy="731520"/>
          </a:xfrm>
          <a:prstGeom prst="rect">
            <a:avLst/>
          </a:prstGeom>
          <a:noFill/>
          <a:ln/>
        </p:spPr>
        <p:txBody>
          <a:bodyPr wrap="square" lIns="0" tIns="0" rIns="0" bIns="0" rtlCol="0" anchor="t"/>
          <a:lstStyle/>
          <a:p>
            <a:pPr indent="0" marL="0">
              <a:buNone/>
            </a:pPr>
            <a:r>
              <a:rPr lang="en-US" sz="1500" dirty="0">
                <a:solidFill>
                  <a:schemeClr val="tx2"/>
                </a:solidFill>
              </a:rPr>
              <a:t>가드레일 확인</a:t>
            </a:r>
            <a:endParaRPr lang="en-US" sz="1500" dirty="0"/>
          </a:p>
        </p:txBody>
      </p:sp>
      <p:sp>
        <p:nvSpPr>
          <p:cNvPr id="13" name="Shape 10"/>
          <p:cNvSpPr/>
          <p:nvPr/>
        </p:nvSpPr>
        <p:spPr>
          <a:xfrm>
            <a:off x="8412480" y="2377440"/>
            <a:ext cx="548640" cy="0"/>
          </a:xfrm>
          <a:prstGeom prst="line">
            <a:avLst/>
          </a:prstGeom>
          <a:noFill/>
          <a:ln w="19050">
            <a:solidFill>
              <a:srgbClr val="8A90A8"/>
            </a:solidFill>
            <a:prstDash val="solid"/>
            <a:tailEnd type="triangle"/>
          </a:ln>
        </p:spPr>
      </p:sp>
      <p:sp>
        <p:nvSpPr>
          <p:cNvPr id="14" name="Text 11"/>
          <p:cNvSpPr txBox="1"/>
          <p:nvPr/>
        </p:nvSpPr>
        <p:spPr>
          <a:xfrm>
            <a:off x="9144000" y="1920240"/>
            <a:ext cx="2377440" cy="914400"/>
          </a:xfrm>
          <a:prstGeom prst="rect">
            <a:avLst/>
          </a:prstGeom>
          <a:noFill/>
          <a:ln/>
        </p:spPr>
        <p:txBody>
          <a:bodyPr wrap="square" lIns="0" tIns="0" rIns="0" bIns="0" rtlCol="0" anchor="t"/>
          <a:lstStyle/>
          <a:p>
            <a:pPr indent="0" marL="0">
              <a:buNone/>
            </a:pPr>
            <a:r>
              <a:rPr lang="en-US" sz="5400" b="1" dirty="0">
                <a:solidFill>
                  <a:schemeClr val="accent1"/>
                </a:solidFill>
              </a:rPr>
              <a:t>50%</a:t>
            </a:r>
            <a:endParaRPr lang="en-US" sz="5400" dirty="0"/>
          </a:p>
        </p:txBody>
      </p:sp>
      <p:sp>
        <p:nvSpPr>
          <p:cNvPr id="15" name="Text 12"/>
          <p:cNvSpPr txBox="1"/>
          <p:nvPr/>
        </p:nvSpPr>
        <p:spPr>
          <a:xfrm>
            <a:off x="9144000" y="2926080"/>
            <a:ext cx="2377440" cy="731520"/>
          </a:xfrm>
          <a:prstGeom prst="rect">
            <a:avLst/>
          </a:prstGeom>
          <a:noFill/>
          <a:ln/>
        </p:spPr>
        <p:txBody>
          <a:bodyPr wrap="square" lIns="0" tIns="0" rIns="0" bIns="0" rtlCol="0" anchor="t"/>
          <a:lstStyle/>
          <a:p>
            <a:pPr indent="0" marL="0">
              <a:buNone/>
            </a:pPr>
            <a:r>
              <a:rPr lang="en-US" sz="1500" dirty="0">
                <a:solidFill>
                  <a:schemeClr val="tx2"/>
                </a:solidFill>
              </a:rPr>
              <a:t>본 실험 · 최소 1~2주</a:t>
            </a:r>
            <a:endParaRPr lang="en-US" sz="1500" dirty="0"/>
          </a:p>
        </p:txBody>
      </p:sp>
      <p:sp>
        <p:nvSpPr>
          <p:cNvPr id="16" name="Text 13"/>
          <p:cNvSpPr txBox="1"/>
          <p:nvPr/>
        </p:nvSpPr>
        <p:spPr>
          <a:xfrm>
            <a:off x="640080" y="4297680"/>
            <a:ext cx="10911535" cy="457200"/>
          </a:xfrm>
          <a:prstGeom prst="rect">
            <a:avLst/>
          </a:prstGeom>
          <a:noFill/>
          <a:ln/>
        </p:spPr>
        <p:txBody>
          <a:bodyPr wrap="square" lIns="0" tIns="0" rIns="0" bIns="0" rtlCol="0" anchor="t"/>
          <a:lstStyle/>
          <a:p>
            <a:pPr indent="0" marL="0">
              <a:buNone/>
            </a:pPr>
            <a:r>
              <a:rPr lang="en-US" sz="1500" b="1" dirty="0">
                <a:solidFill>
                  <a:schemeClr val="accent1"/>
                </a:solidFill>
              </a:rPr>
              <a:t>실무에서 이렇게 말한다  </a:t>
            </a:r>
            <a:pPr indent="0" marL="0">
              <a:buNone/>
            </a:pPr>
            <a:r>
              <a:rPr lang="en-US" sz="1500" dirty="0">
                <a:solidFill>
                  <a:schemeClr val="tx1"/>
                </a:solidFill>
              </a:rPr>
              <a:t>"1%에서 결제 에러율이 0.3%p 올라 램프업을 멈추고 수정 후 재시작합니다"</a:t>
            </a:r>
            <a:endParaRPr lang="en-US" sz="1500" dirty="0"/>
          </a:p>
        </p:txBody>
      </p:sp>
      <p:sp>
        <p:nvSpPr>
          <p:cNvPr id="17" name="Text 14"/>
          <p:cNvSpPr txBox="1"/>
          <p:nvPr/>
        </p:nvSpPr>
        <p:spPr>
          <a:xfrm>
            <a:off x="640080" y="4846320"/>
            <a:ext cx="10911535" cy="365760"/>
          </a:xfrm>
          <a:prstGeom prst="rect">
            <a:avLst/>
          </a:prstGeom>
          <a:noFill/>
          <a:ln/>
        </p:spPr>
        <p:txBody>
          <a:bodyPr wrap="square" lIns="0" tIns="0" rIns="0" bIns="0" rtlCol="0" anchor="t"/>
          <a:lstStyle/>
          <a:p>
            <a:pPr indent="0" marL="0">
              <a:buNone/>
            </a:pPr>
            <a:r>
              <a:rPr lang="en-US" sz="1500" dirty="0">
                <a:solidFill>
                  <a:schemeClr val="tx2"/>
                </a:solidFill>
              </a:rPr>
              <a:t>단계를 넘기는 기준(에러율, 가드레일)은 실험 전에 정한다</a:t>
            </a:r>
            <a:endParaRPr lang="en-US" sz="1500" dirty="0"/>
          </a:p>
        </p:txBody>
      </p:sp>
      <p:sp>
        <p:nvSpPr>
          <p:cNvPr id="18" name="Text 15"/>
          <p:cNvSpPr txBox="1"/>
          <p:nvPr/>
        </p:nvSpPr>
        <p:spPr>
          <a:xfrm>
            <a:off x="640080" y="5303520"/>
            <a:ext cx="10911535" cy="457200"/>
          </a:xfrm>
          <a:prstGeom prst="rect">
            <a:avLst/>
          </a:prstGeom>
          <a:noFill/>
          <a:ln/>
        </p:spPr>
        <p:txBody>
          <a:bodyPr wrap="square" lIns="0" tIns="0" rIns="0" bIns="0" rtlCol="0" anchor="t"/>
          <a:lstStyle/>
          <a:p>
            <a:pPr indent="0" marL="0">
              <a:buNone/>
            </a:pPr>
            <a:r>
              <a:rPr lang="en-US" sz="1500" b="1" dirty="0">
                <a:solidFill>
                  <a:schemeClr val="accent4"/>
                </a:solidFill>
              </a:rPr>
              <a:t>램프업 = 위험 제한  </a:t>
            </a:r>
            <a:pPr indent="0" marL="0">
              <a:buNone/>
            </a:pPr>
            <a:r>
              <a:rPr lang="en-US" sz="1500" dirty="0">
                <a:solidFill>
                  <a:schemeClr val="tx1"/>
                </a:solidFill>
              </a:rPr>
              <a:t>효과를 빨리 찾는 절차가 아니다 · 1%에서 좋아 보인다고 늘리면 Peeking과 같다</a:t>
            </a:r>
            <a:endParaRPr lang="en-US" sz="15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Ch3 · A/A 테스트</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같은 것끼리 비교해서 시스템을 먼저 검증한다</a:t>
            </a:r>
            <a:endParaRPr lang="en-US" sz="2000" dirty="0"/>
          </a:p>
        </p:txBody>
      </p:sp>
      <p:sp>
        <p:nvSpPr>
          <p:cNvPr id="5" name="Text 2"/>
          <p:cNvSpPr txBox="1"/>
          <p:nvPr/>
        </p:nvSpPr>
        <p:spPr>
          <a:xfrm>
            <a:off x="640080" y="1920240"/>
            <a:ext cx="5852160" cy="1097280"/>
          </a:xfrm>
          <a:prstGeom prst="rect">
            <a:avLst/>
          </a:prstGeom>
          <a:noFill/>
          <a:ln/>
        </p:spPr>
        <p:txBody>
          <a:bodyPr wrap="square" lIns="0" tIns="0" rIns="0" bIns="0" rtlCol="0" anchor="t"/>
          <a:lstStyle/>
          <a:p>
            <a:pPr indent="0" marL="0">
              <a:buNone/>
            </a:pPr>
            <a:r>
              <a:rPr lang="en-US" sz="5400" b="1" dirty="0">
                <a:solidFill>
                  <a:schemeClr val="accent1"/>
                </a:solidFill>
              </a:rPr>
              <a:t>100번 중 약 5번</a:t>
            </a:r>
            <a:endParaRPr lang="en-US" sz="5400" dirty="0"/>
          </a:p>
        </p:txBody>
      </p:sp>
      <p:sp>
        <p:nvSpPr>
          <p:cNvPr id="6" name="Text 3"/>
          <p:cNvSpPr txBox="1"/>
          <p:nvPr/>
        </p:nvSpPr>
        <p:spPr>
          <a:xfrm>
            <a:off x="640080" y="3063240"/>
            <a:ext cx="5669280" cy="822960"/>
          </a:xfrm>
          <a:prstGeom prst="rect">
            <a:avLst/>
          </a:prstGeom>
          <a:noFill/>
          <a:ln/>
        </p:spPr>
        <p:txBody>
          <a:bodyPr wrap="square" lIns="0" tIns="0" rIns="0" bIns="0" rtlCol="0" anchor="t"/>
          <a:lstStyle/>
          <a:p>
            <a:pPr indent="0" marL="0">
              <a:buNone/>
            </a:pPr>
            <a:r>
              <a:rPr lang="en-US" sz="1500" dirty="0">
                <a:solidFill>
                  <a:schemeClr val="tx2"/>
                </a:solidFill>
              </a:rPr>
              <a:t>A/A에서 '유의'가 나오는 정상 빈도 (α = 5%)</a:t>
            </a:r>
            <a:endParaRPr lang="en-US" sz="1500" dirty="0"/>
          </a:p>
          <a:p>
            <a:pPr indent="0" marL="0">
              <a:buNone/>
            </a:pPr>
            <a:r>
              <a:rPr lang="en-US" sz="1500" dirty="0">
                <a:solidFill>
                  <a:schemeClr val="tx2"/>
                </a:solidFill>
              </a:rPr>
              <a:t>훨씬 잦으면 → 시스템 의심</a:t>
            </a:r>
            <a:endParaRPr lang="en-US" sz="1500" dirty="0"/>
          </a:p>
        </p:txBody>
      </p:sp>
      <p:sp>
        <p:nvSpPr>
          <p:cNvPr id="7" name="Text 4"/>
          <p:cNvSpPr txBox="1"/>
          <p:nvPr/>
        </p:nvSpPr>
        <p:spPr>
          <a:xfrm>
            <a:off x="640080" y="4069080"/>
            <a:ext cx="5669280" cy="1828800"/>
          </a:xfrm>
          <a:prstGeom prst="rect">
            <a:avLst/>
          </a:prstGeom>
          <a:noFill/>
          <a:ln/>
        </p:spPr>
        <p:txBody>
          <a:bodyPr wrap="square" lIns="0" tIns="0" rIns="0" bIns="0" rtlCol="0" anchor="t"/>
          <a:lstStyle/>
          <a:p>
            <a:pPr indent="0" marL="0">
              <a:spcAft>
                <a:spcPts val="400"/>
              </a:spcAft>
              <a:buNone/>
            </a:pPr>
            <a:r>
              <a:rPr lang="en-US" sz="1500" b="1" dirty="0">
                <a:solidFill>
                  <a:schemeClr val="tx1"/>
                </a:solidFill>
              </a:rPr>
              <a:t>한 번 유의했다고 고장은 아니다. 이런 패턴을 본다</a:t>
            </a:r>
            <a:endParaRPr lang="en-US" sz="1500" dirty="0"/>
          </a:p>
          <a:p>
            <a:pPr marL="342900" indent="-342900">
              <a:spcAft>
                <a:spcPts val="200"/>
              </a:spcAft>
              <a:buSzPct val="100000"/>
              <a:buChar char="•"/>
            </a:pPr>
            <a:r>
              <a:rPr lang="en-US" sz="1500" dirty="0">
                <a:solidFill>
                  <a:schemeClr val="tx1"/>
                </a:solidFill>
              </a:rPr>
              <a:t>반복했을 때 유의가 지나치게 자주 나온다</a:t>
            </a:r>
            <a:endParaRPr lang="en-US" sz="1500" dirty="0"/>
          </a:p>
          <a:p>
            <a:pPr marL="342900" indent="-342900">
              <a:spcAft>
                <a:spcPts val="200"/>
              </a:spcAft>
              <a:buSzPct val="100000"/>
              <a:buChar char="•"/>
            </a:pPr>
            <a:r>
              <a:rPr lang="en-US" sz="1500" dirty="0">
                <a:solidFill>
                  <a:schemeClr val="tx1"/>
                </a:solidFill>
              </a:rPr>
              <a:t>특정 지표가 계속 한쪽 방향으로 차이 난다</a:t>
            </a:r>
            <a:endParaRPr lang="en-US" sz="1500" dirty="0"/>
          </a:p>
          <a:p>
            <a:pPr marL="342900" indent="-342900">
              <a:spcAft>
                <a:spcPts val="200"/>
              </a:spcAft>
              <a:buSzPct val="100000"/>
              <a:buChar char="•"/>
            </a:pPr>
            <a:r>
              <a:rPr lang="en-US" sz="1500" dirty="0">
                <a:solidFill>
                  <a:schemeClr val="tx1"/>
                </a:solidFill>
              </a:rPr>
              <a:t>특정 브라우저·국가·기기에서만 차이 난다</a:t>
            </a:r>
            <a:endParaRPr lang="en-US" sz="1500" dirty="0"/>
          </a:p>
          <a:p>
            <a:pPr marL="342900" indent="-342900">
              <a:spcAft>
                <a:spcPts val="200"/>
              </a:spcAft>
              <a:buSzPct val="100000"/>
              <a:buChar char="•"/>
            </a:pPr>
            <a:r>
              <a:rPr lang="en-US" sz="1500" dirty="0">
                <a:solidFill>
                  <a:schemeClr val="tx1"/>
                </a:solidFill>
              </a:rPr>
              <a:t>계산한 표준오차보다 실제 변동이 훨씬 크다</a:t>
            </a:r>
            <a:endParaRPr lang="en-US" sz="1500" dirty="0"/>
          </a:p>
        </p:txBody>
      </p:sp>
      <p:sp>
        <p:nvSpPr>
          <p:cNvPr id="8" name="Text 5"/>
          <p:cNvSpPr txBox="1"/>
          <p:nvPr/>
        </p:nvSpPr>
        <p:spPr>
          <a:xfrm>
            <a:off x="6858000" y="1920240"/>
            <a:ext cx="4709160" cy="3840480"/>
          </a:xfrm>
          <a:prstGeom prst="rect">
            <a:avLst/>
          </a:prstGeom>
          <a:noFill/>
          <a:ln/>
        </p:spPr>
        <p:txBody>
          <a:bodyPr wrap="square" lIns="0" tIns="0" rIns="0" bIns="0" rtlCol="0" anchor="t"/>
          <a:lstStyle/>
          <a:p>
            <a:pPr indent="0" marL="0">
              <a:spcAft>
                <a:spcPts val="400"/>
              </a:spcAft>
              <a:buNone/>
            </a:pPr>
            <a:r>
              <a:rPr lang="en-US" sz="2000" b="1" dirty="0">
                <a:solidFill>
                  <a:schemeClr val="tx1"/>
                </a:solidFill>
              </a:rPr>
              <a:t>파이프라인 전체를 그대로 통과시킨다</a:t>
            </a:r>
            <a:endParaRPr lang="en-US" sz="1500" dirty="0"/>
          </a:p>
          <a:p>
            <a:pPr indent="0" marL="0">
              <a:spcAft>
                <a:spcPts val="1000"/>
              </a:spcAft>
              <a:buNone/>
            </a:pPr>
            <a:r>
              <a:rPr lang="en-US" sz="1500" b="1" dirty="0">
                <a:solidFill>
                  <a:schemeClr val="accent1"/>
                </a:solidFill>
              </a:rPr>
              <a:t>배정 → 노출 → 로깅 → 지표 계산 → 분석</a:t>
            </a:r>
            <a:endParaRPr lang="en-US" sz="1500" dirty="0"/>
          </a:p>
          <a:p>
            <a:pPr indent="0" marL="0">
              <a:buNone/>
            </a:pPr>
            <a:r>
              <a:rPr lang="en-US" sz="1500" b="1" dirty="0">
                <a:solidFill>
                  <a:schemeClr val="tx1"/>
                </a:solidFill>
              </a:rPr>
              <a:t>배정  </a:t>
            </a:r>
            <a:pPr indent="0" marL="0">
              <a:spcAft>
                <a:spcPts val="400"/>
              </a:spcAft>
              <a:buNone/>
            </a:pPr>
            <a:r>
              <a:rPr lang="en-US" sz="1500" dirty="0">
                <a:solidFill>
                  <a:schemeClr val="tx1"/>
                </a:solidFill>
              </a:rPr>
              <a:t>특정 국가·브라우저가 한쪽에 몰림</a:t>
            </a:r>
            <a:endParaRPr lang="en-US" sz="1500" dirty="0"/>
          </a:p>
          <a:p>
            <a:pPr indent="0" marL="0">
              <a:buNone/>
            </a:pPr>
            <a:r>
              <a:rPr lang="en-US" sz="1500" b="1" dirty="0">
                <a:solidFill>
                  <a:schemeClr val="tx1"/>
                </a:solidFill>
              </a:rPr>
              <a:t>노출  </a:t>
            </a:r>
            <a:pPr indent="0" marL="0">
              <a:spcAft>
                <a:spcPts val="400"/>
              </a:spcAft>
              <a:buNone/>
            </a:pPr>
            <a:r>
              <a:rPr lang="en-US" sz="1500" dirty="0">
                <a:solidFill>
                  <a:schemeClr val="tx1"/>
                </a:solidFill>
              </a:rPr>
              <a:t>배정됐지만 한쪽만 기능에 노출되지 않음</a:t>
            </a:r>
            <a:endParaRPr lang="en-US" sz="1500" dirty="0"/>
          </a:p>
          <a:p>
            <a:pPr indent="0" marL="0">
              <a:buNone/>
            </a:pPr>
            <a:r>
              <a:rPr lang="en-US" sz="1500" b="1" dirty="0">
                <a:solidFill>
                  <a:schemeClr val="tx1"/>
                </a:solidFill>
              </a:rPr>
              <a:t>로깅  </a:t>
            </a:r>
            <a:pPr indent="0" marL="0">
              <a:spcAft>
                <a:spcPts val="400"/>
              </a:spcAft>
              <a:buNone/>
            </a:pPr>
            <a:r>
              <a:rPr lang="en-US" sz="1500" dirty="0">
                <a:solidFill>
                  <a:schemeClr val="tx1"/>
                </a:solidFill>
              </a:rPr>
              <a:t>한 Variant의 이벤트가 누락·중복</a:t>
            </a:r>
            <a:endParaRPr lang="en-US" sz="1500" dirty="0"/>
          </a:p>
          <a:p>
            <a:pPr indent="0" marL="0">
              <a:buNone/>
            </a:pPr>
            <a:r>
              <a:rPr lang="en-US" sz="1500" b="1" dirty="0">
                <a:solidFill>
                  <a:schemeClr val="tx1"/>
                </a:solidFill>
              </a:rPr>
              <a:t>지표 계산  </a:t>
            </a:r>
            <a:pPr indent="0" marL="0">
              <a:spcAft>
                <a:spcPts val="400"/>
              </a:spcAft>
              <a:buNone/>
            </a:pPr>
            <a:r>
              <a:rPr lang="en-US" sz="1500" dirty="0">
                <a:solidFill>
                  <a:schemeClr val="tx1"/>
                </a:solidFill>
              </a:rPr>
              <a:t>그룹마다 집계 기준·필터가 다름</a:t>
            </a:r>
            <a:endParaRPr lang="en-US" sz="1500" dirty="0"/>
          </a:p>
          <a:p>
            <a:pPr indent="0" marL="0">
              <a:buNone/>
            </a:pPr>
            <a:r>
              <a:rPr lang="en-US" sz="1500" b="1" dirty="0">
                <a:solidFill>
                  <a:schemeClr val="tx1"/>
                </a:solidFill>
              </a:rPr>
              <a:t>분산·SE  </a:t>
            </a:r>
            <a:pPr indent="0" marL="0">
              <a:buNone/>
            </a:pPr>
            <a:r>
              <a:rPr lang="en-US" sz="1500" dirty="0">
                <a:solidFill>
                  <a:schemeClr val="tx1"/>
                </a:solidFill>
              </a:rPr>
              <a:t>반복 관측을 독립으로 봐서 불확실성을 작게 계산</a:t>
            </a:r>
            <a:endParaRPr lang="en-US" sz="15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Ch3 · 실험 기간</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최소 1~2주, 요일과 신기효과를 넘겨서</a:t>
            </a:r>
            <a:endParaRPr lang="en-US" sz="2000" dirty="0"/>
          </a:p>
        </p:txBody>
      </p:sp>
      <p:graphicFrame>
        <p:nvGraphicFramePr>
          <p:cNvPr id="5" name="Chart 0" descr=""/>
          <p:cNvGraphicFramePr/>
          <p:nvPr/>
        </p:nvGraphicFramePr>
        <p:xfrm>
          <a:off x="640080" y="1737360"/>
          <a:ext cx="6949440" cy="402336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8046720" y="1828800"/>
            <a:ext cx="3474720" cy="3931920"/>
          </a:xfrm>
          <a:prstGeom prst="rect">
            <a:avLst/>
          </a:prstGeom>
          <a:noFill/>
          <a:ln/>
        </p:spPr>
        <p:txBody>
          <a:bodyPr wrap="square" lIns="0" tIns="0" rIns="0" bIns="0" rtlCol="0" anchor="t"/>
          <a:lstStyle/>
          <a:p>
            <a:pPr indent="0" marL="0">
              <a:buNone/>
            </a:pPr>
            <a:r>
              <a:rPr lang="en-US" sz="2000" b="1" dirty="0">
                <a:solidFill>
                  <a:schemeClr val="tx1"/>
                </a:solidFill>
              </a:rPr>
              <a:t>첫 주만 보면 과대평가</a:t>
            </a:r>
            <a:endParaRPr lang="en-US" sz="1500" dirty="0"/>
          </a:p>
          <a:p>
            <a:pPr indent="0" marL="0">
              <a:spcAft>
                <a:spcPts val="1600"/>
              </a:spcAft>
              <a:buNone/>
            </a:pPr>
            <a:r>
              <a:rPr lang="en-US" sz="1500" dirty="0">
                <a:solidFill>
                  <a:schemeClr val="tx2"/>
                </a:solidFill>
              </a:rPr>
              <a:t>1~3일 효과엔 신기효과가 섞여 있다</a:t>
            </a:r>
            <a:endParaRPr lang="en-US" sz="1500" dirty="0"/>
          </a:p>
          <a:p>
            <a:pPr indent="0" marL="0">
              <a:buNone/>
            </a:pPr>
            <a:r>
              <a:rPr lang="en-US" sz="2000" b="1" dirty="0">
                <a:solidFill>
                  <a:schemeClr val="tx1"/>
                </a:solidFill>
              </a:rPr>
              <a:t>요일마다 사용자가 다르다</a:t>
            </a:r>
            <a:endParaRPr lang="en-US" sz="1500" dirty="0"/>
          </a:p>
          <a:p>
            <a:pPr indent="0" marL="0">
              <a:spcAft>
                <a:spcPts val="1600"/>
              </a:spcAft>
              <a:buNone/>
            </a:pPr>
            <a:r>
              <a:rPr lang="en-US" sz="1500" dirty="0">
                <a:solidFill>
                  <a:schemeClr val="tx2"/>
                </a:solidFill>
              </a:rPr>
              <a:t>주말 사용자 ≠ 주중 사용자 → 완전한 주 단위로</a:t>
            </a:r>
            <a:endParaRPr lang="en-US" sz="1500" dirty="0"/>
          </a:p>
          <a:p>
            <a:pPr indent="0" marL="0">
              <a:buNone/>
            </a:pPr>
            <a:r>
              <a:rPr lang="en-US" sz="2000" b="1" dirty="0">
                <a:solidFill>
                  <a:schemeClr val="tx1"/>
                </a:solidFill>
              </a:rPr>
              <a:t>'무조건 2주' 규칙은 없다</a:t>
            </a:r>
            <a:endParaRPr lang="en-US" sz="1500" dirty="0"/>
          </a:p>
          <a:p>
            <a:pPr indent="0" marL="0">
              <a:buNone/>
            </a:pPr>
            <a:r>
              <a:rPr lang="en-US" sz="1500" dirty="0">
                <a:solidFill>
                  <a:schemeClr val="tx2"/>
                </a:solidFill>
              </a:rPr>
              <a:t>판단 기준: 필요 표본 · 행동 주기 포함 · 초기 시간 효과가 지배하지 않음</a:t>
            </a:r>
            <a:endParaRPr lang="en-US" sz="15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Ch3 · 통계 검정</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검정은 지표의 모양을 보고 고른다</a:t>
            </a:r>
            <a:endParaRPr lang="en-US" sz="20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640080" y="1828800"/>
          <a:ext cx="10911535" cy="914400"/>
        </p:xfrm>
        <a:graphic>
          <a:graphicData uri="http://schemas.openxmlformats.org/drawingml/2006/table">
            <a:tbl>
              <a:tblPr/>
              <a:tblGrid>
                <a:gridCol w="3200400"/>
                <a:gridCol w="2011680"/>
                <a:gridCol w="2651760"/>
                <a:gridCol w="3044952"/>
              </a:tblGrid>
              <a:tr h="658368">
                <a:tc>
                  <a:txBody>
                    <a:bodyPr/>
                    <a:lstStyle/>
                    <a:p>
                      <a:pPr indent="0" marL="0">
                        <a:buNone/>
                      </a:pPr>
                      <a:r>
                        <a:rPr lang="en-US" sz="1400" b="1" dirty="0">
                          <a:solidFill>
                            <a:srgbClr val="555C7A"/>
                          </a:solidFill>
                        </a:rPr>
                        <a:t>지표 예</a:t>
                      </a:r>
                      <a:endParaRPr lang="en-US" sz="14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400" b="1" dirty="0">
                          <a:solidFill>
                            <a:srgbClr val="555C7A"/>
                          </a:solidFill>
                        </a:rPr>
                        <a:t>모양</a:t>
                      </a:r>
                      <a:endParaRPr lang="en-US" sz="14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400" b="1" dirty="0">
                          <a:solidFill>
                            <a:srgbClr val="555C7A"/>
                          </a:solidFill>
                        </a:rPr>
                        <a:t>검정</a:t>
                      </a:r>
                      <a:endParaRPr lang="en-US" sz="14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400" b="1" dirty="0">
                          <a:solidFill>
                            <a:srgbClr val="555C7A"/>
                          </a:solidFill>
                        </a:rPr>
                        <a:t>메모</a:t>
                      </a:r>
                      <a:endParaRPr lang="en-US" sz="14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r>
              <a:tr h="658368">
                <a:tc>
                  <a:txBody>
                    <a:bodyPr/>
                    <a:lstStyle/>
                    <a:p>
                      <a:pPr indent="0" marL="0">
                        <a:buNone/>
                      </a:pPr>
                      <a:r>
                        <a:rPr lang="en-US" sz="1500" dirty="0">
                          <a:solidFill>
                            <a:srgbClr val="1B1F3B"/>
                          </a:solidFill>
                        </a:rPr>
                        <a:t>결제 전환율</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비율 (0 / 1)</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b="1" dirty="0">
                          <a:solidFill>
                            <a:srgbClr val="3A5BFF"/>
                          </a:solidFill>
                        </a:rPr>
                        <a:t>두 비율 z-test</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2×2 카이제곱과 같은 결론</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658368">
                <a:tc>
                  <a:txBody>
                    <a:bodyPr/>
                    <a:lstStyle/>
                    <a:p>
                      <a:pPr indent="0" marL="0">
                        <a:buNone/>
                      </a:pPr>
                      <a:r>
                        <a:rPr lang="en-US" sz="1500" dirty="0">
                          <a:solidFill>
                            <a:srgbClr val="1B1F3B"/>
                          </a:solidFill>
                        </a:rPr>
                        <a:t>객단가, 체류 시간</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평균 (연속값)</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b="1" dirty="0">
                          <a:solidFill>
                            <a:srgbClr val="3A5BFF"/>
                          </a:solidFill>
                        </a:rPr>
                        <a:t>Welch t-test</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꼬리가 길면 상한 처리·로그 변환 고려</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658368">
                <a:tc>
                  <a:txBody>
                    <a:bodyPr/>
                    <a:lstStyle/>
                    <a:p>
                      <a:pPr indent="0" marL="0">
                        <a:buNone/>
                      </a:pPr>
                      <a:r>
                        <a:rPr lang="en-US" sz="1500" dirty="0">
                          <a:solidFill>
                            <a:srgbClr val="1B1F3B"/>
                          </a:solidFill>
                        </a:rPr>
                        <a:t>페이지당 클릭률 (사용자 단위 배정)</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비율의 비율</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b="1" dirty="0">
                          <a:solidFill>
                            <a:srgbClr val="3A5BFF"/>
                          </a:solidFill>
                        </a:rPr>
                        <a:t>Delta Method + z-test</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배정 단위 ≠ 분석 단위</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658368">
                <a:tc>
                  <a:txBody>
                    <a:bodyPr/>
                    <a:lstStyle/>
                    <a:p>
                      <a:pPr indent="0" marL="0">
                        <a:buNone/>
                      </a:pPr>
                      <a:r>
                        <a:rPr lang="en-US" sz="1500" dirty="0">
                          <a:solidFill>
                            <a:srgbClr val="1B1F3B"/>
                          </a:solidFill>
                        </a:rPr>
                        <a:t>요금제 선택 (3개 이상)</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범주 분포</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b="1" dirty="0">
                          <a:solidFill>
                            <a:srgbClr val="3A5BFF"/>
                          </a:solidFill>
                        </a:rPr>
                        <a:t>카이제곱 검정</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어느 범주가 다른지는 따로 확인</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bl>
          </a:graphicData>
        </a:graphic>
      </p:graphicFrame>
      <p:sp>
        <p:nvSpPr>
          <p:cNvPr id="6" name="Text 2"/>
          <p:cNvSpPr txBox="1"/>
          <p:nvPr/>
        </p:nvSpPr>
        <p:spPr>
          <a:xfrm>
            <a:off x="640080" y="5257800"/>
            <a:ext cx="10911535" cy="365760"/>
          </a:xfrm>
          <a:prstGeom prst="rect">
            <a:avLst/>
          </a:prstGeom>
          <a:noFill/>
          <a:ln/>
        </p:spPr>
        <p:txBody>
          <a:bodyPr wrap="square" lIns="0" tIns="0" rIns="0" bIns="0" rtlCol="0" anchor="t"/>
          <a:lstStyle/>
          <a:p>
            <a:pPr indent="0" marL="0">
              <a:buNone/>
            </a:pPr>
            <a:r>
              <a:rPr lang="en-US" sz="1500" dirty="0">
                <a:solidFill>
                  <a:schemeClr val="tx2"/>
                </a:solidFill>
              </a:rPr>
              <a:t>검정 자체는 공통 3주차 그대로 · 달라지는 건 무엇을 비교하느냐</a:t>
            </a:r>
            <a:endParaRPr lang="en-US" sz="15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Ch3 · 배정 단위와 분석 단위</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배정 단위보다 작은 단위로 분석하면 신뢰구간이 좁아진다</a:t>
            </a:r>
            <a:endParaRPr lang="en-US" sz="20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6766560" cy="914400"/>
        </p:xfrm>
        <a:graphic>
          <a:graphicData uri="http://schemas.openxmlformats.org/drawingml/2006/table">
            <a:tbl>
              <a:tblPr/>
              <a:tblGrid>
                <a:gridCol w="1737360"/>
                <a:gridCol w="2651760"/>
                <a:gridCol w="2377440"/>
              </a:tblGrid>
              <a:tr h="548640">
                <a:tc>
                  <a:txBody>
                    <a:bodyPr/>
                    <a:lstStyle/>
                    <a:p>
                      <a:pPr indent="0" marL="0">
                        <a:buNone/>
                      </a:pPr>
                      <a:r>
                        <a:rPr lang="en-US" sz="1400" b="1" dirty="0">
                          <a:solidFill>
                            <a:srgbClr val="555C7A"/>
                          </a:solidFill>
                        </a:rPr>
                        <a:t>배정 vs 분석</a:t>
                      </a:r>
                      <a:endParaRPr lang="en-US" sz="14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400" b="1" dirty="0">
                          <a:solidFill>
                            <a:srgbClr val="555C7A"/>
                          </a:solidFill>
                        </a:rPr>
                        <a:t>예시</a:t>
                      </a:r>
                      <a:endParaRPr lang="en-US" sz="14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400" b="1" dirty="0">
                          <a:solidFill>
                            <a:srgbClr val="555C7A"/>
                          </a:solidFill>
                        </a:rPr>
                        <a:t>분석할 때</a:t>
                      </a:r>
                      <a:endParaRPr lang="en-US" sz="14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r>
              <a:tr h="548640">
                <a:tc>
                  <a:txBody>
                    <a:bodyPr/>
                    <a:lstStyle/>
                    <a:p>
                      <a:pPr indent="0" marL="0">
                        <a:buNone/>
                      </a:pPr>
                      <a:r>
                        <a:rPr lang="en-US" sz="1500" b="1" dirty="0">
                          <a:solidFill>
                            <a:srgbClr val="1B1F3B"/>
                          </a:solidFill>
                        </a:rPr>
                        <a:t>같은 단위</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페이지 배정, 페이지 지표</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일반 계산이 대체로 맞다</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548640">
                <a:tc>
                  <a:txBody>
                    <a:bodyPr/>
                    <a:lstStyle/>
                    <a:p>
                      <a:pPr indent="0" marL="0">
                        <a:buNone/>
                      </a:pPr>
                      <a:r>
                        <a:rPr lang="en-US" sz="1500" b="1" dirty="0">
                          <a:solidFill>
                            <a:srgbClr val="1B1F3B"/>
                          </a:solidFill>
                        </a:rPr>
                        <a:t>배정이 더 큼</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사용자 배정, 세션·페이지 지표</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b="1" dirty="0">
                          <a:solidFill>
                            <a:srgbClr val="D93B41"/>
                          </a:solidFill>
                        </a:rPr>
                        <a:t>일반 공식이 틀림, 보정 필요</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548640">
                <a:tc>
                  <a:txBody>
                    <a:bodyPr/>
                    <a:lstStyle/>
                    <a:p>
                      <a:pPr indent="0" marL="0">
                        <a:buNone/>
                      </a:pPr>
                      <a:r>
                        <a:rPr lang="en-US" sz="1500" b="1" dirty="0">
                          <a:solidFill>
                            <a:srgbClr val="1B1F3B"/>
                          </a:solidFill>
                        </a:rPr>
                        <a:t>배정이 더 작음</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페이지 배정, 사용자 지표</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b="1" dirty="0">
                          <a:solidFill>
                            <a:srgbClr val="D93B41"/>
                          </a:solidFill>
                        </a:rPr>
                        <a:t>지표가 정의되지 않음</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bl>
          </a:graphicData>
        </a:graphic>
      </p:graphicFrame>
      <p:sp>
        <p:nvSpPr>
          <p:cNvPr id="6" name="Text 2"/>
          <p:cNvSpPr txBox="1"/>
          <p:nvPr/>
        </p:nvSpPr>
        <p:spPr>
          <a:xfrm>
            <a:off x="7863840" y="1737360"/>
            <a:ext cx="3703320" cy="2103120"/>
          </a:xfrm>
          <a:prstGeom prst="rect">
            <a:avLst/>
          </a:prstGeom>
          <a:noFill/>
          <a:ln/>
        </p:spPr>
        <p:txBody>
          <a:bodyPr wrap="square" lIns="0" tIns="0" rIns="0" bIns="0" rtlCol="0" anchor="t"/>
          <a:lstStyle/>
          <a:p>
            <a:pPr indent="0" marL="0">
              <a:buNone/>
            </a:pPr>
            <a:r>
              <a:rPr lang="en-US" sz="5400" b="1" dirty="0">
                <a:solidFill>
                  <a:schemeClr val="accent4"/>
                </a:solidFill>
              </a:rPr>
              <a:t>47%</a:t>
            </a:r>
            <a:endParaRPr lang="en-US" sz="1500" dirty="0"/>
          </a:p>
          <a:p>
            <a:pPr indent="0" marL="0">
              <a:buNone/>
            </a:pPr>
            <a:r>
              <a:rPr lang="en-US" sz="1400" dirty="0">
                <a:solidFill>
                  <a:schemeClr val="tx2"/>
                </a:solidFill>
              </a:rPr>
              <a:t>명목상 95% 신뢰구간이 참값을 포함한 비율. Microsoft 시뮬레이션의 특정 조건 (다른 조건 74%)</a:t>
            </a:r>
            <a:endParaRPr lang="en-US" sz="1500" dirty="0"/>
          </a:p>
        </p:txBody>
      </p:sp>
      <p:sp>
        <p:nvSpPr>
          <p:cNvPr id="7" name="Text 3"/>
          <p:cNvSpPr txBox="1"/>
          <p:nvPr/>
        </p:nvSpPr>
        <p:spPr>
          <a:xfrm>
            <a:off x="640080" y="4389120"/>
            <a:ext cx="5212080" cy="1371600"/>
          </a:xfrm>
          <a:prstGeom prst="rect">
            <a:avLst/>
          </a:prstGeom>
          <a:noFill/>
          <a:ln/>
        </p:spPr>
        <p:txBody>
          <a:bodyPr wrap="square" lIns="0" tIns="0" rIns="0" bIns="0" rtlCol="0" anchor="t"/>
          <a:lstStyle/>
          <a:p>
            <a:pPr indent="0" marL="0">
              <a:spcAft>
                <a:spcPts val="600"/>
              </a:spcAft>
              <a:buNone/>
            </a:pPr>
            <a:r>
              <a:rPr lang="en-US" sz="2000" b="1" dirty="0">
                <a:solidFill>
                  <a:schemeClr val="accent1"/>
                </a:solidFill>
              </a:rPr>
              <a:t>① 배정 단위로 다시 집계한다</a:t>
            </a:r>
            <a:endParaRPr lang="en-US" sz="1500" dirty="0"/>
          </a:p>
          <a:p>
            <a:pPr indent="0" marL="0">
              <a:buNone/>
            </a:pPr>
            <a:r>
              <a:rPr lang="en-US" sz="1500" dirty="0">
                <a:solidFill>
                  <a:schemeClr val="tx1"/>
                </a:solidFill>
              </a:rPr>
              <a:t>사용자별 전환율을 만든 뒤 비교한다. 단, 사용자 평균(55%)과 세션 합산(18%)은 다른 질문에 답한다</a:t>
            </a:r>
            <a:endParaRPr lang="en-US" sz="1500" dirty="0"/>
          </a:p>
        </p:txBody>
      </p:sp>
      <p:sp>
        <p:nvSpPr>
          <p:cNvPr id="8" name="Text 4"/>
          <p:cNvSpPr txBox="1"/>
          <p:nvPr/>
        </p:nvSpPr>
        <p:spPr>
          <a:xfrm>
            <a:off x="6355080" y="4389120"/>
            <a:ext cx="5212080" cy="1371600"/>
          </a:xfrm>
          <a:prstGeom prst="rect">
            <a:avLst/>
          </a:prstGeom>
          <a:noFill/>
          <a:ln/>
        </p:spPr>
        <p:txBody>
          <a:bodyPr wrap="square" lIns="0" tIns="0" rIns="0" bIns="0" rtlCol="0" anchor="t"/>
          <a:lstStyle/>
          <a:p>
            <a:pPr indent="0" marL="0">
              <a:spcAft>
                <a:spcPts val="600"/>
              </a:spcAft>
              <a:buNone/>
            </a:pPr>
            <a:r>
              <a:rPr lang="en-US" sz="2000" b="1" dirty="0">
                <a:solidFill>
                  <a:schemeClr val="accent1"/>
                </a:solidFill>
              </a:rPr>
              <a:t>② 지표는 유지하고 불확실성을 보정한다</a:t>
            </a:r>
            <a:endParaRPr lang="en-US" sz="1500" dirty="0"/>
          </a:p>
          <a:p>
            <a:pPr indent="0" marL="0">
              <a:buNone/>
            </a:pPr>
            <a:r>
              <a:rPr lang="en-US" sz="1500" dirty="0">
                <a:solidFill>
                  <a:schemeClr val="tx1"/>
                </a:solidFill>
              </a:rPr>
              <a:t>세션 CVR을 그대로 보되, 같은 사용자 세션이 묶여 있음을 반영해 SE를 계산한다 (Delta Method)</a:t>
            </a:r>
            <a:endParaRPr lang="en-US" sz="1500" dirty="0"/>
          </a:p>
        </p:txBody>
      </p:sp>
      <p:sp>
        <p:nvSpPr>
          <p:cNvPr id="9" name="Shape 5"/>
          <p:cNvSpPr/>
          <p:nvPr/>
        </p:nvSpPr>
        <p:spPr>
          <a:xfrm>
            <a:off x="5989320" y="4434840"/>
            <a:ext cx="0" cy="1188720"/>
          </a:xfrm>
          <a:prstGeom prst="line">
            <a:avLst/>
          </a:prstGeom>
          <a:noFill/>
          <a:ln w="12700">
            <a:solidFill>
              <a:srgbClr val="E3E7F1"/>
            </a:solidFill>
            <a:prstDash val="solid"/>
          </a:ln>
        </p:spPr>
      </p:sp>
      <p:sp>
        <p:nvSpPr>
          <p:cNvPr id="10" name="Text 6"/>
          <p:cNvSpPr txBox="1"/>
          <p:nvPr/>
        </p:nvSpPr>
        <p:spPr>
          <a:xfrm>
            <a:off x="640080" y="5852160"/>
            <a:ext cx="10911535" cy="274320"/>
          </a:xfrm>
          <a:prstGeom prst="rect">
            <a:avLst/>
          </a:prstGeom>
          <a:noFill/>
          <a:ln/>
        </p:spPr>
        <p:txBody>
          <a:bodyPr wrap="square" lIns="0" tIns="0" rIns="0" bIns="0" rtlCol="0" anchor="t"/>
          <a:lstStyle/>
          <a:p>
            <a:pPr indent="0" marL="0">
              <a:buNone/>
            </a:pPr>
            <a:r>
              <a:rPr lang="en-US" sz="1100" dirty="0">
                <a:solidFill>
                  <a:schemeClr val="accent6"/>
                </a:solidFill>
              </a:rPr>
              <a:t>위키 04편 3.6 · 수치는 Microsoft 연구자 시뮬레이션의 특정 조건 결과</a:t>
            </a:r>
            <a:endParaRPr lang="en-US" sz="11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Ch3 · p-value 해석</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p-value를 말하는 법</a:t>
            </a:r>
            <a:endParaRPr lang="en-US" sz="2000" dirty="0"/>
          </a:p>
        </p:txBody>
      </p:sp>
      <p:sp>
        <p:nvSpPr>
          <p:cNvPr id="5" name="Text 2"/>
          <p:cNvSpPr txBox="1"/>
          <p:nvPr/>
        </p:nvSpPr>
        <p:spPr>
          <a:xfrm>
            <a:off x="640080" y="1874520"/>
            <a:ext cx="5029200" cy="3474720"/>
          </a:xfrm>
          <a:prstGeom prst="rect">
            <a:avLst/>
          </a:prstGeom>
          <a:noFill/>
          <a:ln/>
        </p:spPr>
        <p:txBody>
          <a:bodyPr wrap="square" lIns="0" tIns="0" rIns="0" bIns="0" rtlCol="0" anchor="t"/>
          <a:lstStyle/>
          <a:p>
            <a:pPr indent="0" marL="0">
              <a:spcAft>
                <a:spcPts val="1200"/>
              </a:spcAft>
              <a:buNone/>
            </a:pPr>
            <a:r>
              <a:rPr lang="en-US" sz="2000" b="1" dirty="0">
                <a:solidFill>
                  <a:schemeClr val="accent3"/>
                </a:solidFill>
              </a:rPr>
              <a:t>이렇게 말한다</a:t>
            </a:r>
            <a:endParaRPr lang="en-US" sz="1500" dirty="0"/>
          </a:p>
          <a:p>
            <a:pPr indent="0" marL="0">
              <a:buNone/>
            </a:pPr>
            <a:r>
              <a:rPr lang="en-US" sz="1500" b="1" dirty="0">
                <a:solidFill>
                  <a:schemeClr val="accent3"/>
                </a:solidFill>
              </a:rPr>
              <a:t>✓  </a:t>
            </a:r>
            <a:pPr indent="0" marL="0">
              <a:spcAft>
                <a:spcPts val="1400"/>
              </a:spcAft>
              <a:buNone/>
            </a:pPr>
            <a:r>
              <a:rPr lang="en-US" sz="1500" dirty="0">
                <a:solidFill>
                  <a:schemeClr val="tx1"/>
                </a:solidFill>
              </a:rPr>
              <a:t>"효과가 없다고 가정하면, 이만큼 차이가 날 확률이 3%입니다"</a:t>
            </a:r>
            <a:endParaRPr lang="en-US" sz="1500" dirty="0"/>
          </a:p>
          <a:p>
            <a:pPr indent="0" marL="0">
              <a:buNone/>
            </a:pPr>
            <a:r>
              <a:rPr lang="en-US" sz="1500" b="1" dirty="0">
                <a:solidFill>
                  <a:schemeClr val="accent3"/>
                </a:solidFill>
              </a:rPr>
              <a:t>✓  </a:t>
            </a:r>
            <a:pPr indent="0" marL="0">
              <a:spcAft>
                <a:spcPts val="1400"/>
              </a:spcAft>
              <a:buNone/>
            </a:pPr>
            <a:r>
              <a:rPr lang="en-US" sz="1500" dirty="0">
                <a:solidFill>
                  <a:schemeClr val="tx1"/>
                </a:solidFill>
              </a:rPr>
              <a:t>"미리 정한 기준 5%보다 작아서 '효과 없음'을 기각합니다"</a:t>
            </a:r>
            <a:endParaRPr lang="en-US" sz="1500" dirty="0"/>
          </a:p>
          <a:p>
            <a:pPr indent="0" marL="0">
              <a:buNone/>
            </a:pPr>
            <a:r>
              <a:rPr lang="en-US" sz="1500" b="1" dirty="0">
                <a:solidFill>
                  <a:schemeClr val="accent3"/>
                </a:solidFill>
              </a:rPr>
              <a:t>✓  </a:t>
            </a:r>
            <a:pPr indent="0" marL="0">
              <a:buNone/>
            </a:pPr>
            <a:r>
              <a:rPr lang="en-US" sz="1500" dirty="0">
                <a:solidFill>
                  <a:schemeClr val="tx1"/>
                </a:solidFill>
              </a:rPr>
              <a:t>"p = 0.2라서 이번 표본으로는 효과를 확인하지 못했습니다"</a:t>
            </a:r>
            <a:endParaRPr lang="en-US" sz="1500" dirty="0"/>
          </a:p>
        </p:txBody>
      </p:sp>
      <p:sp>
        <p:nvSpPr>
          <p:cNvPr id="6" name="Shape 3"/>
          <p:cNvSpPr/>
          <p:nvPr/>
        </p:nvSpPr>
        <p:spPr>
          <a:xfrm>
            <a:off x="5989320" y="1920240"/>
            <a:ext cx="0" cy="3383280"/>
          </a:xfrm>
          <a:prstGeom prst="line">
            <a:avLst/>
          </a:prstGeom>
          <a:noFill/>
          <a:ln w="12700">
            <a:solidFill>
              <a:srgbClr val="E3E7F1"/>
            </a:solidFill>
            <a:prstDash val="solid"/>
          </a:ln>
        </p:spPr>
      </p:sp>
      <p:sp>
        <p:nvSpPr>
          <p:cNvPr id="7" name="Text 4"/>
          <p:cNvSpPr txBox="1"/>
          <p:nvPr/>
        </p:nvSpPr>
        <p:spPr>
          <a:xfrm>
            <a:off x="6355080" y="1874520"/>
            <a:ext cx="5029200" cy="3474720"/>
          </a:xfrm>
          <a:prstGeom prst="rect">
            <a:avLst/>
          </a:prstGeom>
          <a:noFill/>
          <a:ln/>
        </p:spPr>
        <p:txBody>
          <a:bodyPr wrap="square" lIns="0" tIns="0" rIns="0" bIns="0" rtlCol="0" anchor="t"/>
          <a:lstStyle/>
          <a:p>
            <a:pPr indent="0" marL="0">
              <a:spcAft>
                <a:spcPts val="1200"/>
              </a:spcAft>
              <a:buNone/>
            </a:pPr>
            <a:r>
              <a:rPr lang="en-US" sz="2000" b="1" dirty="0">
                <a:solidFill>
                  <a:schemeClr val="accent4"/>
                </a:solidFill>
              </a:rPr>
              <a:t>이렇게 말하지 않는다</a:t>
            </a:r>
            <a:endParaRPr lang="en-US" sz="1500" dirty="0"/>
          </a:p>
          <a:p>
            <a:pPr indent="0" marL="0">
              <a:buNone/>
            </a:pPr>
            <a:r>
              <a:rPr lang="en-US" sz="1500" b="1" dirty="0">
                <a:solidFill>
                  <a:schemeClr val="accent4"/>
                </a:solidFill>
              </a:rPr>
              <a:t>✗  </a:t>
            </a:r>
            <a:pPr indent="0" marL="0">
              <a:spcAft>
                <a:spcPts val="1400"/>
              </a:spcAft>
              <a:buNone/>
            </a:pPr>
            <a:r>
              <a:rPr lang="en-US" sz="1500" dirty="0">
                <a:solidFill>
                  <a:schemeClr val="tx1"/>
                </a:solidFill>
              </a:rPr>
              <a:t>"B가 더 좋을 확률이 97%입니다"</a:t>
            </a:r>
            <a:endParaRPr lang="en-US" sz="1500" dirty="0"/>
          </a:p>
          <a:p>
            <a:pPr indent="0" marL="0">
              <a:buNone/>
            </a:pPr>
            <a:r>
              <a:rPr lang="en-US" sz="1500" b="1" dirty="0">
                <a:solidFill>
                  <a:schemeClr val="accent4"/>
                </a:solidFill>
              </a:rPr>
              <a:t>✗  </a:t>
            </a:r>
            <a:pPr indent="0" marL="0">
              <a:spcAft>
                <a:spcPts val="1400"/>
              </a:spcAft>
              <a:buNone/>
            </a:pPr>
            <a:r>
              <a:rPr lang="en-US" sz="1500" dirty="0">
                <a:solidFill>
                  <a:schemeClr val="tx1"/>
                </a:solidFill>
              </a:rPr>
              <a:t>"p = 0.001이니 효과가 아주 큽니다"</a:t>
            </a:r>
            <a:endParaRPr lang="en-US" sz="1500" dirty="0"/>
          </a:p>
          <a:p>
            <a:pPr indent="0" marL="0">
              <a:buNone/>
            </a:pPr>
            <a:r>
              <a:rPr lang="en-US" sz="1500" b="1" dirty="0">
                <a:solidFill>
                  <a:schemeClr val="accent4"/>
                </a:solidFill>
              </a:rPr>
              <a:t>✗  </a:t>
            </a:r>
            <a:pPr indent="0" marL="0">
              <a:buNone/>
            </a:pPr>
            <a:r>
              <a:rPr lang="en-US" sz="1500" dirty="0">
                <a:solidFill>
                  <a:schemeClr val="tx1"/>
                </a:solidFill>
              </a:rPr>
              <a:t>"p = 0.2니까 효과가 없다는 게 증명됐습니다"</a:t>
            </a:r>
            <a:endParaRPr lang="en-US" sz="15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Ch3 · 신뢰구간</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점추정 대신 구간으로 말한다</a:t>
            </a:r>
            <a:endParaRPr lang="en-US" sz="2000" dirty="0"/>
          </a:p>
        </p:txBody>
      </p:sp>
      <p:sp>
        <p:nvSpPr>
          <p:cNvPr id="5" name="Shape 2"/>
          <p:cNvSpPr/>
          <p:nvPr/>
        </p:nvSpPr>
        <p:spPr>
          <a:xfrm>
            <a:off x="4526280" y="1874520"/>
            <a:ext cx="0" cy="2834640"/>
          </a:xfrm>
          <a:prstGeom prst="line">
            <a:avLst/>
          </a:prstGeom>
          <a:noFill/>
          <a:ln w="12700">
            <a:solidFill>
              <a:srgbClr val="1B1F3B"/>
            </a:solidFill>
            <a:prstDash val="dash"/>
          </a:ln>
        </p:spPr>
      </p:sp>
      <p:sp>
        <p:nvSpPr>
          <p:cNvPr id="6" name="Text 3"/>
          <p:cNvSpPr txBox="1"/>
          <p:nvPr/>
        </p:nvSpPr>
        <p:spPr>
          <a:xfrm>
            <a:off x="2651760" y="4754880"/>
            <a:ext cx="914400" cy="274320"/>
          </a:xfrm>
          <a:prstGeom prst="rect">
            <a:avLst/>
          </a:prstGeom>
          <a:noFill/>
          <a:ln/>
        </p:spPr>
        <p:txBody>
          <a:bodyPr wrap="square" lIns="0" tIns="0" rIns="0" bIns="0" rtlCol="0" anchor="t"/>
          <a:lstStyle/>
          <a:p>
            <a:pPr algn="ctr" indent="0" marL="0">
              <a:buNone/>
            </a:pPr>
            <a:r>
              <a:rPr lang="en-US" sz="1400" dirty="0">
                <a:solidFill>
                  <a:schemeClr val="tx2"/>
                </a:solidFill>
              </a:rPr>
              <a:t>-2%p</a:t>
            </a:r>
            <a:endParaRPr lang="en-US" sz="1400" dirty="0"/>
          </a:p>
        </p:txBody>
      </p:sp>
      <p:sp>
        <p:nvSpPr>
          <p:cNvPr id="7" name="Text 4"/>
          <p:cNvSpPr txBox="1"/>
          <p:nvPr/>
        </p:nvSpPr>
        <p:spPr>
          <a:xfrm>
            <a:off x="4069080" y="4754880"/>
            <a:ext cx="914400" cy="274320"/>
          </a:xfrm>
          <a:prstGeom prst="rect">
            <a:avLst/>
          </a:prstGeom>
          <a:noFill/>
          <a:ln/>
        </p:spPr>
        <p:txBody>
          <a:bodyPr wrap="square" lIns="0" tIns="0" rIns="0" bIns="0" rtlCol="0" anchor="t"/>
          <a:lstStyle/>
          <a:p>
            <a:pPr algn="ctr" indent="0" marL="0">
              <a:buNone/>
            </a:pPr>
            <a:r>
              <a:rPr lang="en-US" sz="1400" dirty="0">
                <a:solidFill>
                  <a:schemeClr val="tx2"/>
                </a:solidFill>
              </a:rPr>
              <a:t>0%p</a:t>
            </a:r>
            <a:endParaRPr lang="en-US" sz="1400" dirty="0"/>
          </a:p>
        </p:txBody>
      </p:sp>
      <p:sp>
        <p:nvSpPr>
          <p:cNvPr id="8" name="Text 5"/>
          <p:cNvSpPr txBox="1"/>
          <p:nvPr/>
        </p:nvSpPr>
        <p:spPr>
          <a:xfrm>
            <a:off x="5486400" y="4754880"/>
            <a:ext cx="914400" cy="274320"/>
          </a:xfrm>
          <a:prstGeom prst="rect">
            <a:avLst/>
          </a:prstGeom>
          <a:noFill/>
          <a:ln/>
        </p:spPr>
        <p:txBody>
          <a:bodyPr wrap="square" lIns="0" tIns="0" rIns="0" bIns="0" rtlCol="0" anchor="t"/>
          <a:lstStyle/>
          <a:p>
            <a:pPr algn="ctr" indent="0" marL="0">
              <a:buNone/>
            </a:pPr>
            <a:r>
              <a:rPr lang="en-US" sz="1400" dirty="0">
                <a:solidFill>
                  <a:schemeClr val="tx2"/>
                </a:solidFill>
              </a:rPr>
              <a:t>+2%p</a:t>
            </a:r>
            <a:endParaRPr lang="en-US" sz="1400" dirty="0"/>
          </a:p>
        </p:txBody>
      </p:sp>
      <p:sp>
        <p:nvSpPr>
          <p:cNvPr id="9" name="Text 6"/>
          <p:cNvSpPr txBox="1"/>
          <p:nvPr/>
        </p:nvSpPr>
        <p:spPr>
          <a:xfrm>
            <a:off x="6903720" y="4754880"/>
            <a:ext cx="914400" cy="274320"/>
          </a:xfrm>
          <a:prstGeom prst="rect">
            <a:avLst/>
          </a:prstGeom>
          <a:noFill/>
          <a:ln/>
        </p:spPr>
        <p:txBody>
          <a:bodyPr wrap="square" lIns="0" tIns="0" rIns="0" bIns="0" rtlCol="0" anchor="t"/>
          <a:lstStyle/>
          <a:p>
            <a:pPr algn="ctr" indent="0" marL="0">
              <a:buNone/>
            </a:pPr>
            <a:r>
              <a:rPr lang="en-US" sz="1400" dirty="0">
                <a:solidFill>
                  <a:schemeClr val="tx2"/>
                </a:solidFill>
              </a:rPr>
              <a:t>+4%p</a:t>
            </a:r>
            <a:endParaRPr lang="en-US" sz="1400" dirty="0"/>
          </a:p>
        </p:txBody>
      </p:sp>
      <p:sp>
        <p:nvSpPr>
          <p:cNvPr id="10" name="Text 7"/>
          <p:cNvSpPr txBox="1"/>
          <p:nvPr/>
        </p:nvSpPr>
        <p:spPr>
          <a:xfrm>
            <a:off x="8321040" y="4754880"/>
            <a:ext cx="914400" cy="274320"/>
          </a:xfrm>
          <a:prstGeom prst="rect">
            <a:avLst/>
          </a:prstGeom>
          <a:noFill/>
          <a:ln/>
        </p:spPr>
        <p:txBody>
          <a:bodyPr wrap="square" lIns="0" tIns="0" rIns="0" bIns="0" rtlCol="0" anchor="t"/>
          <a:lstStyle/>
          <a:p>
            <a:pPr algn="ctr" indent="0" marL="0">
              <a:buNone/>
            </a:pPr>
            <a:r>
              <a:rPr lang="en-US" sz="1400" dirty="0">
                <a:solidFill>
                  <a:schemeClr val="tx2"/>
                </a:solidFill>
              </a:rPr>
              <a:t>+6%p</a:t>
            </a:r>
            <a:endParaRPr lang="en-US" sz="1400" dirty="0"/>
          </a:p>
        </p:txBody>
      </p:sp>
      <p:sp>
        <p:nvSpPr>
          <p:cNvPr id="11" name="Text 8"/>
          <p:cNvSpPr txBox="1"/>
          <p:nvPr/>
        </p:nvSpPr>
        <p:spPr>
          <a:xfrm>
            <a:off x="640080" y="1993392"/>
            <a:ext cx="2286000" cy="365760"/>
          </a:xfrm>
          <a:prstGeom prst="rect">
            <a:avLst/>
          </a:prstGeom>
          <a:noFill/>
          <a:ln/>
        </p:spPr>
        <p:txBody>
          <a:bodyPr wrap="square" lIns="0" tIns="0" rIns="0" bIns="0" rtlCol="0" anchor="t"/>
          <a:lstStyle/>
          <a:p>
            <a:pPr indent="0" marL="0">
              <a:buNone/>
            </a:pPr>
            <a:r>
              <a:rPr lang="en-US" sz="2000" b="1" dirty="0">
                <a:solidFill>
                  <a:schemeClr val="tx1"/>
                </a:solidFill>
              </a:rPr>
              <a:t>실험 A</a:t>
            </a:r>
            <a:endParaRPr lang="en-US" sz="2000" dirty="0"/>
          </a:p>
        </p:txBody>
      </p:sp>
      <p:sp>
        <p:nvSpPr>
          <p:cNvPr id="12" name="Shape 9"/>
          <p:cNvSpPr/>
          <p:nvPr/>
        </p:nvSpPr>
        <p:spPr>
          <a:xfrm>
            <a:off x="4597146" y="2176272"/>
            <a:ext cx="992124" cy="0"/>
          </a:xfrm>
          <a:prstGeom prst="line">
            <a:avLst/>
          </a:prstGeom>
          <a:noFill/>
          <a:ln w="50800">
            <a:solidFill>
              <a:srgbClr val="3A5BFF"/>
            </a:solidFill>
            <a:prstDash val="solid"/>
          </a:ln>
        </p:spPr>
      </p:sp>
      <p:sp>
        <p:nvSpPr>
          <p:cNvPr id="13" name="Shape 10"/>
          <p:cNvSpPr/>
          <p:nvPr/>
        </p:nvSpPr>
        <p:spPr>
          <a:xfrm>
            <a:off x="4992624" y="2075688"/>
            <a:ext cx="201168" cy="201168"/>
          </a:xfrm>
          <a:prstGeom prst="ellipse">
            <a:avLst/>
          </a:prstGeom>
          <a:solidFill>
            <a:srgbClr val="3A5BFF"/>
          </a:solidFill>
          <a:ln w="12700">
            <a:solidFill>
              <a:srgbClr val="3A5BFF"/>
            </a:solidFill>
            <a:prstDash val="solid"/>
          </a:ln>
        </p:spPr>
      </p:sp>
      <p:sp>
        <p:nvSpPr>
          <p:cNvPr id="14" name="Text 11"/>
          <p:cNvSpPr txBox="1"/>
          <p:nvPr/>
        </p:nvSpPr>
        <p:spPr>
          <a:xfrm>
            <a:off x="9052560" y="1947672"/>
            <a:ext cx="2560320" cy="685800"/>
          </a:xfrm>
          <a:prstGeom prst="rect">
            <a:avLst/>
          </a:prstGeom>
          <a:noFill/>
          <a:ln/>
        </p:spPr>
        <p:txBody>
          <a:bodyPr wrap="square" lIns="0" tIns="0" rIns="0" bIns="0" rtlCol="0" anchor="t"/>
          <a:lstStyle/>
          <a:p>
            <a:pPr indent="0" marL="0">
              <a:buNone/>
            </a:pPr>
            <a:r>
              <a:rPr lang="en-US" sz="1500" b="1" dirty="0">
                <a:solidFill>
                  <a:schemeClr val="tx1"/>
                </a:solidFill>
              </a:rPr>
              <a:t>+0.8%p  [+0.1, +1.5]</a:t>
            </a:r>
            <a:endParaRPr lang="en-US" sz="1500" dirty="0"/>
          </a:p>
          <a:p>
            <a:pPr indent="0" marL="0">
              <a:buNone/>
            </a:pPr>
            <a:r>
              <a:rPr lang="en-US" sz="1400" dirty="0">
                <a:solidFill>
                  <a:schemeClr val="tx2"/>
                </a:solidFill>
              </a:rPr>
              <a:t>효과 있음. 다만 +0.1%p일 수도</a:t>
            </a:r>
            <a:endParaRPr lang="en-US" sz="1500" dirty="0"/>
          </a:p>
        </p:txBody>
      </p:sp>
      <p:sp>
        <p:nvSpPr>
          <p:cNvPr id="15" name="Text 12"/>
          <p:cNvSpPr txBox="1"/>
          <p:nvPr/>
        </p:nvSpPr>
        <p:spPr>
          <a:xfrm>
            <a:off x="640080" y="2907792"/>
            <a:ext cx="2286000" cy="365760"/>
          </a:xfrm>
          <a:prstGeom prst="rect">
            <a:avLst/>
          </a:prstGeom>
          <a:noFill/>
          <a:ln/>
        </p:spPr>
        <p:txBody>
          <a:bodyPr wrap="square" lIns="0" tIns="0" rIns="0" bIns="0" rtlCol="0" anchor="t"/>
          <a:lstStyle/>
          <a:p>
            <a:pPr indent="0" marL="0">
              <a:buNone/>
            </a:pPr>
            <a:r>
              <a:rPr lang="en-US" sz="2000" b="1" dirty="0">
                <a:solidFill>
                  <a:schemeClr val="tx1"/>
                </a:solidFill>
              </a:rPr>
              <a:t>실험 B</a:t>
            </a:r>
            <a:endParaRPr lang="en-US" sz="2000" dirty="0"/>
          </a:p>
        </p:txBody>
      </p:sp>
      <p:sp>
        <p:nvSpPr>
          <p:cNvPr id="16" name="Shape 13"/>
          <p:cNvSpPr/>
          <p:nvPr/>
        </p:nvSpPr>
        <p:spPr>
          <a:xfrm>
            <a:off x="4242816" y="3090672"/>
            <a:ext cx="992124" cy="0"/>
          </a:xfrm>
          <a:prstGeom prst="line">
            <a:avLst/>
          </a:prstGeom>
          <a:noFill/>
          <a:ln w="50800">
            <a:solidFill>
              <a:srgbClr val="8A90A8"/>
            </a:solidFill>
            <a:prstDash val="solid"/>
          </a:ln>
        </p:spPr>
      </p:sp>
      <p:sp>
        <p:nvSpPr>
          <p:cNvPr id="17" name="Shape 14"/>
          <p:cNvSpPr/>
          <p:nvPr/>
        </p:nvSpPr>
        <p:spPr>
          <a:xfrm>
            <a:off x="4638294" y="2990088"/>
            <a:ext cx="201168" cy="201168"/>
          </a:xfrm>
          <a:prstGeom prst="ellipse">
            <a:avLst/>
          </a:prstGeom>
          <a:solidFill>
            <a:srgbClr val="8A90A8"/>
          </a:solidFill>
          <a:ln w="12700">
            <a:solidFill>
              <a:srgbClr val="8A90A8"/>
            </a:solidFill>
            <a:prstDash val="solid"/>
          </a:ln>
        </p:spPr>
      </p:sp>
      <p:sp>
        <p:nvSpPr>
          <p:cNvPr id="18" name="Text 15"/>
          <p:cNvSpPr txBox="1"/>
          <p:nvPr/>
        </p:nvSpPr>
        <p:spPr>
          <a:xfrm>
            <a:off x="9052560" y="2862072"/>
            <a:ext cx="2560320" cy="685800"/>
          </a:xfrm>
          <a:prstGeom prst="rect">
            <a:avLst/>
          </a:prstGeom>
          <a:noFill/>
          <a:ln/>
        </p:spPr>
        <p:txBody>
          <a:bodyPr wrap="square" lIns="0" tIns="0" rIns="0" bIns="0" rtlCol="0" anchor="t"/>
          <a:lstStyle/>
          <a:p>
            <a:pPr indent="0" marL="0">
              <a:buNone/>
            </a:pPr>
            <a:r>
              <a:rPr lang="en-US" sz="1500" b="1" dirty="0">
                <a:solidFill>
                  <a:schemeClr val="tx1"/>
                </a:solidFill>
              </a:rPr>
              <a:t>+0.3%p  [-0.4, +1]</a:t>
            </a:r>
            <a:endParaRPr lang="en-US" sz="1500" dirty="0"/>
          </a:p>
          <a:p>
            <a:pPr indent="0" marL="0">
              <a:buNone/>
            </a:pPr>
            <a:r>
              <a:rPr lang="en-US" sz="1400" dirty="0">
                <a:solidFill>
                  <a:schemeClr val="tx2"/>
                </a:solidFill>
              </a:rPr>
              <a:t>효과가 있어도 작다</a:t>
            </a:r>
            <a:endParaRPr lang="en-US" sz="1500" dirty="0"/>
          </a:p>
        </p:txBody>
      </p:sp>
      <p:sp>
        <p:nvSpPr>
          <p:cNvPr id="19" name="Text 16"/>
          <p:cNvSpPr txBox="1"/>
          <p:nvPr/>
        </p:nvSpPr>
        <p:spPr>
          <a:xfrm>
            <a:off x="640080" y="3822192"/>
            <a:ext cx="2286000" cy="365760"/>
          </a:xfrm>
          <a:prstGeom prst="rect">
            <a:avLst/>
          </a:prstGeom>
          <a:noFill/>
          <a:ln/>
        </p:spPr>
        <p:txBody>
          <a:bodyPr wrap="square" lIns="0" tIns="0" rIns="0" bIns="0" rtlCol="0" anchor="t"/>
          <a:lstStyle/>
          <a:p>
            <a:pPr indent="0" marL="0">
              <a:buNone/>
            </a:pPr>
            <a:r>
              <a:rPr lang="en-US" sz="2000" b="1" dirty="0">
                <a:solidFill>
                  <a:schemeClr val="tx1"/>
                </a:solidFill>
              </a:rPr>
              <a:t>실험 C</a:t>
            </a:r>
            <a:endParaRPr lang="en-US" sz="2000" dirty="0"/>
          </a:p>
        </p:txBody>
      </p:sp>
      <p:sp>
        <p:nvSpPr>
          <p:cNvPr id="20" name="Shape 17"/>
          <p:cNvSpPr/>
          <p:nvPr/>
        </p:nvSpPr>
        <p:spPr>
          <a:xfrm>
            <a:off x="3817620" y="4005072"/>
            <a:ext cx="4251960" cy="0"/>
          </a:xfrm>
          <a:prstGeom prst="line">
            <a:avLst/>
          </a:prstGeom>
          <a:noFill/>
          <a:ln w="50800">
            <a:solidFill>
              <a:srgbClr val="B87700"/>
            </a:solidFill>
            <a:prstDash val="solid"/>
          </a:ln>
        </p:spPr>
      </p:sp>
      <p:sp>
        <p:nvSpPr>
          <p:cNvPr id="21" name="Shape 18"/>
          <p:cNvSpPr/>
          <p:nvPr/>
        </p:nvSpPr>
        <p:spPr>
          <a:xfrm>
            <a:off x="5843016" y="3904488"/>
            <a:ext cx="201168" cy="201168"/>
          </a:xfrm>
          <a:prstGeom prst="ellipse">
            <a:avLst/>
          </a:prstGeom>
          <a:solidFill>
            <a:srgbClr val="B87700"/>
          </a:solidFill>
          <a:ln w="12700">
            <a:solidFill>
              <a:srgbClr val="B87700"/>
            </a:solidFill>
            <a:prstDash val="solid"/>
          </a:ln>
        </p:spPr>
      </p:sp>
      <p:sp>
        <p:nvSpPr>
          <p:cNvPr id="22" name="Text 19"/>
          <p:cNvSpPr txBox="1"/>
          <p:nvPr/>
        </p:nvSpPr>
        <p:spPr>
          <a:xfrm>
            <a:off x="9052560" y="3776472"/>
            <a:ext cx="2560320" cy="685800"/>
          </a:xfrm>
          <a:prstGeom prst="rect">
            <a:avLst/>
          </a:prstGeom>
          <a:noFill/>
          <a:ln/>
        </p:spPr>
        <p:txBody>
          <a:bodyPr wrap="square" lIns="0" tIns="0" rIns="0" bIns="0" rtlCol="0" anchor="t"/>
          <a:lstStyle/>
          <a:p>
            <a:pPr indent="0" marL="0">
              <a:buNone/>
            </a:pPr>
            <a:r>
              <a:rPr lang="en-US" sz="1500" b="1" dirty="0">
                <a:solidFill>
                  <a:schemeClr val="tx1"/>
                </a:solidFill>
              </a:rPr>
              <a:t>+2%p  [-1, +5]</a:t>
            </a:r>
            <a:endParaRPr lang="en-US" sz="1500" dirty="0"/>
          </a:p>
          <a:p>
            <a:pPr indent="0" marL="0">
              <a:buNone/>
            </a:pPr>
            <a:r>
              <a:rPr lang="en-US" sz="1400" dirty="0">
                <a:solidFill>
                  <a:schemeClr val="tx2"/>
                </a:solidFill>
              </a:rPr>
              <a:t>구간이 넓다. 아직 모른다</a:t>
            </a:r>
            <a:endParaRPr lang="en-US" sz="1500" dirty="0"/>
          </a:p>
        </p:txBody>
      </p:sp>
      <p:sp>
        <p:nvSpPr>
          <p:cNvPr id="23" name="Text 20"/>
          <p:cNvSpPr txBox="1"/>
          <p:nvPr/>
        </p:nvSpPr>
        <p:spPr>
          <a:xfrm>
            <a:off x="640080" y="5257800"/>
            <a:ext cx="10911535" cy="457200"/>
          </a:xfrm>
          <a:prstGeom prst="rect">
            <a:avLst/>
          </a:prstGeom>
          <a:noFill/>
          <a:ln/>
        </p:spPr>
        <p:txBody>
          <a:bodyPr wrap="square" lIns="0" tIns="0" rIns="0" bIns="0" rtlCol="0" anchor="t"/>
          <a:lstStyle/>
          <a:p>
            <a:pPr indent="0" marL="0">
              <a:buNone/>
            </a:pPr>
            <a:r>
              <a:rPr lang="en-US" sz="1500" b="1" dirty="0">
                <a:solidFill>
                  <a:schemeClr val="accent1"/>
                </a:solidFill>
              </a:rPr>
              <a:t>실무에서 이렇게 말한다  </a:t>
            </a:r>
            <a:pPr indent="0" marL="0">
              <a:buNone/>
            </a:pPr>
            <a:r>
              <a:rPr lang="en-US" sz="1500" dirty="0">
                <a:solidFill>
                  <a:schemeClr val="tx1"/>
                </a:solidFill>
              </a:rPr>
              <a:t>"결제 전환율이 0.8%p 올랐고, 95% 신뢰구간은 +0.1%p에서 +1.5%p입니다"</a:t>
            </a:r>
            <a:endParaRPr lang="en-US" sz="1500" dirty="0"/>
          </a:p>
        </p:txBody>
      </p:sp>
      <p:sp>
        <p:nvSpPr>
          <p:cNvPr id="24" name="Text 21"/>
          <p:cNvSpPr txBox="1"/>
          <p:nvPr/>
        </p:nvSpPr>
        <p:spPr>
          <a:xfrm>
            <a:off x="640080" y="5715000"/>
            <a:ext cx="10911535" cy="457200"/>
          </a:xfrm>
          <a:prstGeom prst="rect">
            <a:avLst/>
          </a:prstGeom>
          <a:noFill/>
          <a:ln/>
        </p:spPr>
        <p:txBody>
          <a:bodyPr wrap="square" lIns="0" tIns="0" rIns="0" bIns="0" rtlCol="0" anchor="t"/>
          <a:lstStyle/>
          <a:p>
            <a:pPr indent="0" marL="0">
              <a:buNone/>
            </a:pPr>
            <a:r>
              <a:rPr lang="en-US" sz="1400" dirty="0">
                <a:solidFill>
                  <a:schemeClr val="tx2"/>
                </a:solidFill>
              </a:rPr>
              <a:t>엄밀한 뜻: 같은 절차를 반복하면 구간의 95%가 참값을 포함 ('이 구간에 참값이 있을 확률 95%'가 아님)</a:t>
            </a:r>
            <a:endParaRPr lang="en-US" sz="14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Ch3 · 효과 크기</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통계적으로 유의하다 ≠ 의미 있다</a:t>
            </a:r>
            <a:endParaRPr lang="en-US" sz="20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640080" y="1828800"/>
          <a:ext cx="7315200" cy="914400"/>
        </p:xfrm>
        <a:graphic>
          <a:graphicData uri="http://schemas.openxmlformats.org/drawingml/2006/table">
            <a:tbl>
              <a:tblPr/>
              <a:tblGrid>
                <a:gridCol w="1828800"/>
                <a:gridCol w="2743200"/>
                <a:gridCol w="2743200"/>
              </a:tblGrid>
              <a:tr h="960120">
                <a:tc>
                  <a:txBody>
                    <a:bodyPr/>
                    <a:lstStyle/>
                    <a:p>
                      <a:pPr indent="0" marL="0">
                        <a:buNone/>
                      </a:pPr>
                      <a:endParaRPr lang="en-US" sz="14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400" b="1" dirty="0">
                          <a:solidFill>
                            <a:srgbClr val="555C7A"/>
                          </a:solidFill>
                        </a:rPr>
                        <a:t>효과가 크다 (MDE 이상)</a:t>
                      </a:r>
                      <a:endParaRPr lang="en-US" sz="14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400" b="1" dirty="0">
                          <a:solidFill>
                            <a:srgbClr val="555C7A"/>
                          </a:solidFill>
                        </a:rPr>
                        <a:t>효과가 작다 (MDE 미만)</a:t>
                      </a:r>
                      <a:endParaRPr lang="en-US" sz="14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r>
              <a:tr h="960120">
                <a:tc>
                  <a:txBody>
                    <a:bodyPr/>
                    <a:lstStyle/>
                    <a:p>
                      <a:pPr indent="0" marL="0">
                        <a:buNone/>
                      </a:pPr>
                      <a:r>
                        <a:rPr lang="en-US" sz="1500" b="1" dirty="0">
                          <a:solidFill>
                            <a:srgbClr val="1B1F3B"/>
                          </a:solidFill>
                        </a:rPr>
                        <a:t>유의함</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b="1" dirty="0">
                          <a:solidFill>
                            <a:srgbClr val="0F9D63"/>
                          </a:solidFill>
                        </a:rPr>
                        <a:t>배포 후보</a:t>
                      </a:r>
                      <a:endParaRPr lang="en-US" sz="1500" dirty="0"/>
                    </a:p>
                    <a:p>
                      <a:pPr indent="0" marL="0">
                        <a:buNone/>
                      </a:pPr>
                      <a:r>
                        <a:rPr lang="en-US" sz="1400" dirty="0">
                          <a:solidFill>
                            <a:srgbClr val="555C7A"/>
                          </a:solidFill>
                        </a:rPr>
                        <a:t>가드레일과 비용 확인</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b="1" dirty="0">
                          <a:solidFill>
                            <a:srgbClr val="B87700"/>
                          </a:solidFill>
                        </a:rPr>
                        <a:t>유의하지만 작다</a:t>
                      </a:r>
                      <a:endParaRPr lang="en-US" sz="1500" dirty="0"/>
                    </a:p>
                    <a:p>
                      <a:pPr indent="0" marL="0">
                        <a:buNone/>
                      </a:pPr>
                      <a:r>
                        <a:rPr lang="en-US" sz="1400" dirty="0">
                          <a:solidFill>
                            <a:srgbClr val="555C7A"/>
                          </a:solidFill>
                        </a:rPr>
                        <a:t>구현·유지 비용을 넘는가?</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960120">
                <a:tc>
                  <a:txBody>
                    <a:bodyPr/>
                    <a:lstStyle/>
                    <a:p>
                      <a:pPr indent="0" marL="0">
                        <a:buNone/>
                      </a:pPr>
                      <a:r>
                        <a:rPr lang="en-US" sz="1500" b="1" dirty="0">
                          <a:solidFill>
                            <a:srgbClr val="1B1F3B"/>
                          </a:solidFill>
                        </a:rPr>
                        <a:t>유의하지 않음</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b="1" dirty="0">
                          <a:solidFill>
                            <a:srgbClr val="B87700"/>
                          </a:solidFill>
                        </a:rPr>
                        <a:t>표본 부족</a:t>
                      </a:r>
                      <a:endParaRPr lang="en-US" sz="1500" dirty="0"/>
                    </a:p>
                    <a:p>
                      <a:pPr indent="0" marL="0">
                        <a:buNone/>
                      </a:pPr>
                      <a:r>
                        <a:rPr lang="en-US" sz="1400" dirty="0">
                          <a:solidFill>
                            <a:srgbClr val="555C7A"/>
                          </a:solidFill>
                        </a:rPr>
                        <a:t>구간이 넓다 → 재실험</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b="1" dirty="0">
                          <a:solidFill>
                            <a:srgbClr val="8A90A8"/>
                          </a:solidFill>
                        </a:rPr>
                        <a:t>효과 없음 확인</a:t>
                      </a:r>
                      <a:endParaRPr lang="en-US" sz="1500" dirty="0"/>
                    </a:p>
                    <a:p>
                      <a:pPr indent="0" marL="0">
                        <a:buNone/>
                      </a:pPr>
                      <a:r>
                        <a:rPr lang="en-US" sz="1400" dirty="0">
                          <a:solidFill>
                            <a:srgbClr val="555C7A"/>
                          </a:solidFill>
                        </a:rPr>
                        <a:t>구간이 좁다 → 접는다</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bl>
          </a:graphicData>
        </a:graphic>
      </p:graphicFrame>
      <p:sp>
        <p:nvSpPr>
          <p:cNvPr id="6" name="Text 2"/>
          <p:cNvSpPr txBox="1"/>
          <p:nvPr/>
        </p:nvSpPr>
        <p:spPr>
          <a:xfrm>
            <a:off x="8412480" y="1828800"/>
            <a:ext cx="3108960" cy="2377440"/>
          </a:xfrm>
          <a:prstGeom prst="rect">
            <a:avLst/>
          </a:prstGeom>
          <a:noFill/>
          <a:ln/>
        </p:spPr>
        <p:txBody>
          <a:bodyPr wrap="square" lIns="0" tIns="0" rIns="0" bIns="0" rtlCol="0" anchor="t"/>
          <a:lstStyle/>
          <a:p>
            <a:pPr indent="0" marL="0">
              <a:buNone/>
            </a:pPr>
            <a:r>
              <a:rPr lang="en-US" sz="5400" b="1" dirty="0">
                <a:solidFill>
                  <a:schemeClr val="accent1"/>
                </a:solidFill>
              </a:rPr>
              <a:t>0.12%p</a:t>
            </a:r>
            <a:endParaRPr lang="en-US" sz="1500" dirty="0"/>
          </a:p>
          <a:p>
            <a:pPr indent="0" marL="0">
              <a:buNone/>
            </a:pPr>
            <a:r>
              <a:rPr lang="en-US" sz="1500" dirty="0">
                <a:solidFill>
                  <a:schemeClr val="tx2"/>
                </a:solidFill>
              </a:rPr>
              <a:t>기준 전환율 10%, 그룹당 500만 명이면 이 차이도 p &lt; 0.05 · 유의 ≠ 크다</a:t>
            </a:r>
            <a:endParaRPr lang="en-US" sz="1500" dirty="0"/>
          </a:p>
        </p:txBody>
      </p:sp>
      <p:sp>
        <p:nvSpPr>
          <p:cNvPr id="7" name="Text 3"/>
          <p:cNvSpPr txBox="1"/>
          <p:nvPr/>
        </p:nvSpPr>
        <p:spPr>
          <a:xfrm>
            <a:off x="640080" y="4983480"/>
            <a:ext cx="5486400" cy="320040"/>
          </a:xfrm>
          <a:prstGeom prst="rect">
            <a:avLst/>
          </a:prstGeom>
          <a:noFill/>
          <a:ln/>
        </p:spPr>
        <p:txBody>
          <a:bodyPr wrap="square" lIns="0" tIns="0" rIns="0" bIns="0" rtlCol="0" anchor="t"/>
          <a:lstStyle/>
          <a:p>
            <a:pPr indent="0" marL="0">
              <a:buNone/>
            </a:pPr>
            <a:r>
              <a:rPr lang="en-US" sz="1400" b="1" dirty="0">
                <a:solidFill>
                  <a:schemeClr val="accent6"/>
                </a:solidFill>
              </a:rPr>
              <a:t>결과는 이 순서로 읽는다</a:t>
            </a:r>
            <a:endParaRPr lang="en-US" sz="1400" dirty="0"/>
          </a:p>
        </p:txBody>
      </p:sp>
      <p:sp>
        <p:nvSpPr>
          <p:cNvPr id="8" name="Text 4"/>
          <p:cNvSpPr txBox="1"/>
          <p:nvPr/>
        </p:nvSpPr>
        <p:spPr>
          <a:xfrm>
            <a:off x="640080" y="5349240"/>
            <a:ext cx="1920240" cy="457200"/>
          </a:xfrm>
          <a:prstGeom prst="rect">
            <a:avLst/>
          </a:prstGeom>
          <a:noFill/>
          <a:ln/>
        </p:spPr>
        <p:txBody>
          <a:bodyPr wrap="square" lIns="0" tIns="0" rIns="0" bIns="0" rtlCol="0" anchor="t"/>
          <a:lstStyle/>
          <a:p>
            <a:pPr indent="0" marL="0">
              <a:buNone/>
            </a:pPr>
            <a:r>
              <a:rPr lang="en-US" sz="2000" b="1" dirty="0">
                <a:solidFill>
                  <a:schemeClr val="accent1"/>
                </a:solidFill>
              </a:rPr>
              <a:t>효과 크기</a:t>
            </a:r>
            <a:endParaRPr lang="en-US" sz="2000" dirty="0"/>
          </a:p>
        </p:txBody>
      </p:sp>
      <p:sp>
        <p:nvSpPr>
          <p:cNvPr id="9" name="Shape 5"/>
          <p:cNvSpPr/>
          <p:nvPr/>
        </p:nvSpPr>
        <p:spPr>
          <a:xfrm>
            <a:off x="2514600" y="5550408"/>
            <a:ext cx="411480" cy="0"/>
          </a:xfrm>
          <a:prstGeom prst="line">
            <a:avLst/>
          </a:prstGeom>
          <a:noFill/>
          <a:ln w="19050">
            <a:solidFill>
              <a:srgbClr val="8A90A8"/>
            </a:solidFill>
            <a:prstDash val="solid"/>
            <a:tailEnd type="triangle"/>
          </a:ln>
        </p:spPr>
      </p:sp>
      <p:sp>
        <p:nvSpPr>
          <p:cNvPr id="10" name="Text 6"/>
          <p:cNvSpPr txBox="1"/>
          <p:nvPr/>
        </p:nvSpPr>
        <p:spPr>
          <a:xfrm>
            <a:off x="3017520" y="5349240"/>
            <a:ext cx="1920240" cy="457200"/>
          </a:xfrm>
          <a:prstGeom prst="rect">
            <a:avLst/>
          </a:prstGeom>
          <a:noFill/>
          <a:ln/>
        </p:spPr>
        <p:txBody>
          <a:bodyPr wrap="square" lIns="0" tIns="0" rIns="0" bIns="0" rtlCol="0" anchor="t"/>
          <a:lstStyle/>
          <a:p>
            <a:pPr indent="0" marL="0">
              <a:buNone/>
            </a:pPr>
            <a:r>
              <a:rPr lang="en-US" sz="2000" b="1" dirty="0">
                <a:solidFill>
                  <a:schemeClr val="tx1"/>
                </a:solidFill>
              </a:rPr>
              <a:t>신뢰구간</a:t>
            </a:r>
            <a:endParaRPr lang="en-US" sz="2000" dirty="0"/>
          </a:p>
        </p:txBody>
      </p:sp>
      <p:sp>
        <p:nvSpPr>
          <p:cNvPr id="11" name="Shape 7"/>
          <p:cNvSpPr/>
          <p:nvPr/>
        </p:nvSpPr>
        <p:spPr>
          <a:xfrm>
            <a:off x="4892040" y="5550408"/>
            <a:ext cx="411480" cy="0"/>
          </a:xfrm>
          <a:prstGeom prst="line">
            <a:avLst/>
          </a:prstGeom>
          <a:noFill/>
          <a:ln w="19050">
            <a:solidFill>
              <a:srgbClr val="8A90A8"/>
            </a:solidFill>
            <a:prstDash val="solid"/>
            <a:tailEnd type="triangle"/>
          </a:ln>
        </p:spPr>
      </p:sp>
      <p:sp>
        <p:nvSpPr>
          <p:cNvPr id="12" name="Text 8"/>
          <p:cNvSpPr txBox="1"/>
          <p:nvPr/>
        </p:nvSpPr>
        <p:spPr>
          <a:xfrm>
            <a:off x="5394960" y="5349240"/>
            <a:ext cx="1920240" cy="457200"/>
          </a:xfrm>
          <a:prstGeom prst="rect">
            <a:avLst/>
          </a:prstGeom>
          <a:noFill/>
          <a:ln/>
        </p:spPr>
        <p:txBody>
          <a:bodyPr wrap="square" lIns="0" tIns="0" rIns="0" bIns="0" rtlCol="0" anchor="t"/>
          <a:lstStyle/>
          <a:p>
            <a:pPr indent="0" marL="0">
              <a:buNone/>
            </a:pPr>
            <a:r>
              <a:rPr lang="en-US" sz="2000" b="1" dirty="0">
                <a:solidFill>
                  <a:schemeClr val="tx1"/>
                </a:solidFill>
              </a:rPr>
              <a:t>p-value</a:t>
            </a:r>
            <a:endParaRPr lang="en-US" sz="2000" dirty="0"/>
          </a:p>
        </p:txBody>
      </p:sp>
      <p:sp>
        <p:nvSpPr>
          <p:cNvPr id="13" name="Shape 9"/>
          <p:cNvSpPr/>
          <p:nvPr/>
        </p:nvSpPr>
        <p:spPr>
          <a:xfrm>
            <a:off x="7269480" y="5550408"/>
            <a:ext cx="411480" cy="0"/>
          </a:xfrm>
          <a:prstGeom prst="line">
            <a:avLst/>
          </a:prstGeom>
          <a:noFill/>
          <a:ln w="19050">
            <a:solidFill>
              <a:srgbClr val="8A90A8"/>
            </a:solidFill>
            <a:prstDash val="solid"/>
            <a:tailEnd type="triangle"/>
          </a:ln>
        </p:spPr>
      </p:sp>
      <p:sp>
        <p:nvSpPr>
          <p:cNvPr id="14" name="Text 10"/>
          <p:cNvSpPr txBox="1"/>
          <p:nvPr/>
        </p:nvSpPr>
        <p:spPr>
          <a:xfrm>
            <a:off x="7772400" y="5349240"/>
            <a:ext cx="4114800" cy="457200"/>
          </a:xfrm>
          <a:prstGeom prst="rect">
            <a:avLst/>
          </a:prstGeom>
          <a:noFill/>
          <a:ln/>
        </p:spPr>
        <p:txBody>
          <a:bodyPr wrap="square" lIns="0" tIns="0" rIns="0" bIns="0" rtlCol="0" anchor="t"/>
          <a:lstStyle/>
          <a:p>
            <a:pPr indent="0" marL="0">
              <a:buNone/>
            </a:pPr>
            <a:r>
              <a:rPr lang="en-US" sz="2000" b="1" dirty="0">
                <a:solidFill>
                  <a:schemeClr val="tx1"/>
                </a:solidFill>
              </a:rPr>
              <a:t>비용·리스크를 포함한 의사결정</a:t>
            </a:r>
            <a:endParaRPr lang="en-US" sz="20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Ch3 · 분산 축소</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분산을 줄이면 같은 사용자 수로 더 작은 효과를 잡는다</a:t>
            </a:r>
            <a:endParaRPr lang="en-US" sz="2000" dirty="0"/>
          </a:p>
        </p:txBody>
      </p:sp>
      <p:sp>
        <p:nvSpPr>
          <p:cNvPr id="5" name="Text 2"/>
          <p:cNvSpPr txBox="1"/>
          <p:nvPr/>
        </p:nvSpPr>
        <p:spPr>
          <a:xfrm>
            <a:off x="640080" y="1828800"/>
            <a:ext cx="10911535" cy="548640"/>
          </a:xfrm>
          <a:prstGeom prst="rect">
            <a:avLst/>
          </a:prstGeom>
          <a:noFill/>
          <a:ln/>
        </p:spPr>
        <p:txBody>
          <a:bodyPr wrap="square" lIns="0" tIns="0" rIns="0" bIns="0" rtlCol="0" anchor="t"/>
          <a:lstStyle/>
          <a:p>
            <a:pPr indent="0" marL="0">
              <a:buNone/>
            </a:pPr>
            <a:r>
              <a:rPr lang="en-US" sz="2000" b="1" dirty="0">
                <a:solidFill>
                  <a:schemeClr val="accent1"/>
                </a:solidFill>
              </a:rPr>
              <a:t>Y_cuped = Y - θ · (X_pre - 평균 X_pre)</a:t>
            </a:r>
            <a:endParaRPr lang="en-US" sz="2000" dirty="0"/>
          </a:p>
        </p:txBody>
      </p:sp>
      <p:sp>
        <p:nvSpPr>
          <p:cNvPr id="6" name="Text 3"/>
          <p:cNvSpPr txBox="1"/>
          <p:nvPr/>
        </p:nvSpPr>
        <p:spPr>
          <a:xfrm>
            <a:off x="640080" y="2423160"/>
            <a:ext cx="10911535" cy="365760"/>
          </a:xfrm>
          <a:prstGeom prst="rect">
            <a:avLst/>
          </a:prstGeom>
          <a:noFill/>
          <a:ln/>
        </p:spPr>
        <p:txBody>
          <a:bodyPr wrap="square" lIns="0" tIns="0" rIns="0" bIns="0" rtlCol="0" anchor="t"/>
          <a:lstStyle/>
          <a:p>
            <a:pPr indent="0" marL="0">
              <a:buNone/>
            </a:pPr>
            <a:r>
              <a:rPr lang="en-US" sz="1500" b="1" dirty="0">
                <a:solidFill>
                  <a:schemeClr val="tx1"/>
                </a:solidFill>
              </a:rPr>
              <a:t>θ = Cov(Y, X) / Var(X)</a:t>
            </a:r>
            <a:pPr indent="0" marL="0">
              <a:buNone/>
            </a:pPr>
            <a:r>
              <a:rPr lang="en-US" sz="1500" dirty="0">
                <a:solidFill>
                  <a:schemeClr val="tx2"/>
                </a:solidFill>
              </a:rPr>
              <a:t>      분산은 약 Var(Y)(1 - ρ²)로 준다. 실험 전후 지표 상관 ρ = 0.7이면 원래 분산의 51%</a:t>
            </a:r>
            <a:endParaRPr lang="en-US" sz="1500" dirty="0"/>
          </a:p>
        </p:txBody>
      </p:sp>
      <p:sp>
        <p:nvSpPr>
          <p:cNvPr id="7" name="Text 4"/>
          <p:cNvSpPr txBox="1"/>
          <p:nvPr/>
        </p:nvSpPr>
        <p:spPr>
          <a:xfrm>
            <a:off x="640080" y="3246120"/>
            <a:ext cx="1280160" cy="365760"/>
          </a:xfrm>
          <a:prstGeom prst="rect">
            <a:avLst/>
          </a:prstGeom>
          <a:noFill/>
          <a:ln/>
        </p:spPr>
        <p:txBody>
          <a:bodyPr wrap="square" lIns="0" tIns="0" rIns="0" bIns="0" rtlCol="0" anchor="t"/>
          <a:lstStyle/>
          <a:p>
            <a:pPr indent="0" marL="0">
              <a:buNone/>
            </a:pPr>
            <a:r>
              <a:rPr lang="en-US" sz="1500" b="1" dirty="0">
                <a:solidFill>
                  <a:schemeClr val="tx1"/>
                </a:solidFill>
              </a:rPr>
              <a:t>보정 전</a:t>
            </a:r>
            <a:endParaRPr lang="en-US" sz="1500" dirty="0"/>
          </a:p>
        </p:txBody>
      </p:sp>
      <p:sp>
        <p:nvSpPr>
          <p:cNvPr id="8" name="Shape 5"/>
          <p:cNvSpPr/>
          <p:nvPr/>
        </p:nvSpPr>
        <p:spPr>
          <a:xfrm>
            <a:off x="2103120" y="3429000"/>
            <a:ext cx="4572000" cy="0"/>
          </a:xfrm>
          <a:prstGeom prst="line">
            <a:avLst/>
          </a:prstGeom>
          <a:noFill/>
          <a:ln w="50800">
            <a:solidFill>
              <a:srgbClr val="8A90A8"/>
            </a:solidFill>
            <a:prstDash val="solid"/>
          </a:ln>
        </p:spPr>
      </p:sp>
      <p:sp>
        <p:nvSpPr>
          <p:cNvPr id="9" name="Shape 6"/>
          <p:cNvSpPr/>
          <p:nvPr/>
        </p:nvSpPr>
        <p:spPr>
          <a:xfrm>
            <a:off x="4288536" y="3328416"/>
            <a:ext cx="201168" cy="201168"/>
          </a:xfrm>
          <a:prstGeom prst="ellipse">
            <a:avLst/>
          </a:prstGeom>
          <a:solidFill>
            <a:srgbClr val="8A90A8"/>
          </a:solidFill>
          <a:ln w="12700">
            <a:solidFill>
              <a:srgbClr val="8A90A8"/>
            </a:solidFill>
            <a:prstDash val="solid"/>
          </a:ln>
        </p:spPr>
      </p:sp>
      <p:sp>
        <p:nvSpPr>
          <p:cNvPr id="10" name="Text 7"/>
          <p:cNvSpPr txBox="1"/>
          <p:nvPr/>
        </p:nvSpPr>
        <p:spPr>
          <a:xfrm>
            <a:off x="640080" y="3931920"/>
            <a:ext cx="1280160" cy="365760"/>
          </a:xfrm>
          <a:prstGeom prst="rect">
            <a:avLst/>
          </a:prstGeom>
          <a:noFill/>
          <a:ln/>
        </p:spPr>
        <p:txBody>
          <a:bodyPr wrap="square" lIns="0" tIns="0" rIns="0" bIns="0" rtlCol="0" anchor="t"/>
          <a:lstStyle/>
          <a:p>
            <a:pPr indent="0" marL="0">
              <a:buNone/>
            </a:pPr>
            <a:r>
              <a:rPr lang="en-US" sz="1500" b="1" dirty="0">
                <a:solidFill>
                  <a:schemeClr val="accent1"/>
                </a:solidFill>
              </a:rPr>
              <a:t>CUPED</a:t>
            </a:r>
            <a:endParaRPr lang="en-US" sz="1500" dirty="0"/>
          </a:p>
        </p:txBody>
      </p:sp>
      <p:sp>
        <p:nvSpPr>
          <p:cNvPr id="11" name="Shape 8"/>
          <p:cNvSpPr/>
          <p:nvPr/>
        </p:nvSpPr>
        <p:spPr>
          <a:xfrm>
            <a:off x="2772674" y="4114800"/>
            <a:ext cx="3232892" cy="0"/>
          </a:xfrm>
          <a:prstGeom prst="line">
            <a:avLst/>
          </a:prstGeom>
          <a:noFill/>
          <a:ln w="50800">
            <a:solidFill>
              <a:srgbClr val="3A5BFF"/>
            </a:solidFill>
            <a:prstDash val="solid"/>
          </a:ln>
        </p:spPr>
      </p:sp>
      <p:sp>
        <p:nvSpPr>
          <p:cNvPr id="12" name="Shape 9"/>
          <p:cNvSpPr/>
          <p:nvPr/>
        </p:nvSpPr>
        <p:spPr>
          <a:xfrm>
            <a:off x="4288536" y="4014216"/>
            <a:ext cx="201168" cy="201168"/>
          </a:xfrm>
          <a:prstGeom prst="ellipse">
            <a:avLst/>
          </a:prstGeom>
          <a:solidFill>
            <a:srgbClr val="3A5BFF"/>
          </a:solidFill>
          <a:ln w="12700">
            <a:solidFill>
              <a:srgbClr val="3A5BFF"/>
            </a:solidFill>
            <a:prstDash val="solid"/>
          </a:ln>
        </p:spPr>
      </p:sp>
      <p:sp>
        <p:nvSpPr>
          <p:cNvPr id="13" name="Text 10"/>
          <p:cNvSpPr txBox="1"/>
          <p:nvPr/>
        </p:nvSpPr>
        <p:spPr>
          <a:xfrm>
            <a:off x="2103120" y="4434840"/>
            <a:ext cx="4572000" cy="365760"/>
          </a:xfrm>
          <a:prstGeom prst="rect">
            <a:avLst/>
          </a:prstGeom>
          <a:noFill/>
          <a:ln/>
        </p:spPr>
        <p:txBody>
          <a:bodyPr wrap="square" lIns="0" tIns="0" rIns="0" bIns="0" rtlCol="0" anchor="t"/>
          <a:lstStyle/>
          <a:p>
            <a:pPr indent="0" marL="0">
              <a:buNone/>
            </a:pPr>
            <a:r>
              <a:rPr lang="en-US" sz="1400" dirty="0">
                <a:solidFill>
                  <a:schemeClr val="tx2"/>
                </a:solidFill>
              </a:rPr>
              <a:t>분산이 절반이면 신뢰구간 폭은 약 0.71배</a:t>
            </a:r>
            <a:endParaRPr lang="en-US" sz="1400" dirty="0"/>
          </a:p>
        </p:txBody>
      </p:sp>
      <p:sp>
        <p:nvSpPr>
          <p:cNvPr id="14" name="Text 11"/>
          <p:cNvSpPr txBox="1"/>
          <p:nvPr/>
        </p:nvSpPr>
        <p:spPr>
          <a:xfrm>
            <a:off x="7680960" y="3108960"/>
            <a:ext cx="3840480" cy="2377440"/>
          </a:xfrm>
          <a:prstGeom prst="rect">
            <a:avLst/>
          </a:prstGeom>
          <a:noFill/>
          <a:ln/>
        </p:spPr>
        <p:txBody>
          <a:bodyPr wrap="square" lIns="0" tIns="0" rIns="0" bIns="0" rtlCol="0" anchor="t"/>
          <a:lstStyle/>
          <a:p>
            <a:pPr indent="0" marL="0">
              <a:spcAft>
                <a:spcPts val="600"/>
              </a:spcAft>
              <a:buNone/>
            </a:pPr>
            <a:r>
              <a:rPr lang="en-US" sz="1500" b="1" dirty="0">
                <a:solidFill>
                  <a:schemeClr val="tx2"/>
                </a:solidFill>
              </a:rPr>
              <a:t>다른 방법</a:t>
            </a:r>
            <a:endParaRPr lang="en-US" sz="1500" dirty="0"/>
          </a:p>
          <a:p>
            <a:pPr indent="0" marL="0">
              <a:buNone/>
            </a:pPr>
            <a:r>
              <a:rPr lang="en-US" sz="1500" b="1" dirty="0">
                <a:solidFill>
                  <a:schemeClr val="tx1"/>
                </a:solidFill>
              </a:rPr>
              <a:t>층화 분석</a:t>
            </a:r>
            <a:endParaRPr lang="en-US" sz="1500" dirty="0"/>
          </a:p>
          <a:p>
            <a:pPr indent="0" marL="0">
              <a:spcAft>
                <a:spcPts val="1000"/>
              </a:spcAft>
              <a:buNone/>
            </a:pPr>
            <a:r>
              <a:rPr lang="en-US" sz="1400" dirty="0">
                <a:solidFill>
                  <a:schemeClr val="tx2"/>
                </a:solidFill>
              </a:rPr>
              <a:t>플랫폼·신규 여부 같은 층별로 효과를 구해 합친다</a:t>
            </a:r>
            <a:endParaRPr lang="en-US" sz="1500" dirty="0"/>
          </a:p>
          <a:p>
            <a:pPr indent="0" marL="0">
              <a:buNone/>
            </a:pPr>
            <a:r>
              <a:rPr lang="en-US" sz="1500" b="1" dirty="0">
                <a:solidFill>
                  <a:schemeClr val="tx1"/>
                </a:solidFill>
              </a:rPr>
              <a:t>Delta Method</a:t>
            </a:r>
            <a:endParaRPr lang="en-US" sz="1500" dirty="0"/>
          </a:p>
          <a:p>
            <a:pPr indent="0" marL="0">
              <a:buNone/>
            </a:pPr>
            <a:r>
              <a:rPr lang="en-US" sz="1400" dirty="0">
                <a:solidFill>
                  <a:schemeClr val="tx2"/>
                </a:solidFill>
              </a:rPr>
              <a:t>배정 단위와 분석 단위가 다를 때 분산을 바르게 계산한다</a:t>
            </a:r>
            <a:endParaRPr lang="en-US" sz="1500" dirty="0"/>
          </a:p>
        </p:txBody>
      </p:sp>
      <p:sp>
        <p:nvSpPr>
          <p:cNvPr id="15" name="Text 12"/>
          <p:cNvSpPr txBox="1"/>
          <p:nvPr/>
        </p:nvSpPr>
        <p:spPr>
          <a:xfrm>
            <a:off x="640080" y="5989320"/>
            <a:ext cx="10911535" cy="274320"/>
          </a:xfrm>
          <a:prstGeom prst="rect">
            <a:avLst/>
          </a:prstGeom>
          <a:noFill/>
          <a:ln/>
        </p:spPr>
        <p:txBody>
          <a:bodyPr wrap="square" lIns="0" tIns="0" rIns="0" bIns="0" rtlCol="0" anchor="t"/>
          <a:lstStyle/>
          <a:p>
            <a:pPr indent="0" marL="0">
              <a:buNone/>
            </a:pPr>
            <a:r>
              <a:rPr lang="en-US" sz="1100" dirty="0">
                <a:solidFill>
                  <a:schemeClr val="accent6"/>
                </a:solidFill>
              </a:rPr>
              <a:t>출처: Deng, Xu, Kohavi, Walker (2013), "Improving the Sensitivity of Online Controlled Experiments by Utilizing Pre-Experiment Data", WSDM</a:t>
            </a:r>
            <a:endParaRPr lang="en-US" sz="11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Ch3 · CUPED 주의점</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CUPED는 좋은 실험의 노이즈를 줄일 뿐, 나쁜 실험을 고치지 못한다</a:t>
            </a:r>
            <a:endParaRPr lang="en-US" sz="2000" dirty="0"/>
          </a:p>
        </p:txBody>
      </p:sp>
      <p:sp>
        <p:nvSpPr>
          <p:cNvPr id="5" name="Text 2"/>
          <p:cNvSpPr txBox="1"/>
          <p:nvPr/>
        </p:nvSpPr>
        <p:spPr>
          <a:xfrm>
            <a:off x="640080" y="1783080"/>
            <a:ext cx="822960" cy="548640"/>
          </a:xfrm>
          <a:prstGeom prst="rect">
            <a:avLst/>
          </a:prstGeom>
          <a:noFill/>
          <a:ln/>
        </p:spPr>
        <p:txBody>
          <a:bodyPr wrap="square" lIns="0" tIns="0" rIns="0" bIns="0" rtlCol="0" anchor="t"/>
          <a:lstStyle/>
          <a:p>
            <a:pPr indent="0" marL="0">
              <a:buNone/>
            </a:pPr>
            <a:r>
              <a:rPr lang="en-US" sz="3000" b="1" dirty="0">
                <a:solidFill>
                  <a:schemeClr val="accent4"/>
                </a:solidFill>
              </a:rPr>
              <a:t>01</a:t>
            </a:r>
            <a:endParaRPr lang="en-US" sz="3000" dirty="0"/>
          </a:p>
        </p:txBody>
      </p:sp>
      <p:sp>
        <p:nvSpPr>
          <p:cNvPr id="6" name="Text 3"/>
          <p:cNvSpPr txBox="1"/>
          <p:nvPr/>
        </p:nvSpPr>
        <p:spPr>
          <a:xfrm>
            <a:off x="1554480" y="1828800"/>
            <a:ext cx="4480560" cy="1097280"/>
          </a:xfrm>
          <a:prstGeom prst="rect">
            <a:avLst/>
          </a:prstGeom>
          <a:noFill/>
          <a:ln/>
        </p:spPr>
        <p:txBody>
          <a:bodyPr wrap="square" lIns="0" tIns="0" rIns="0" bIns="0" rtlCol="0" anchor="t"/>
          <a:lstStyle/>
          <a:p>
            <a:pPr indent="0" marL="0">
              <a:buNone/>
            </a:pPr>
            <a:r>
              <a:rPr lang="en-US" sz="2000" b="1" dirty="0">
                <a:solidFill>
                  <a:schemeClr val="tx1"/>
                </a:solidFill>
              </a:rPr>
              <a:t>실험 전후 지표의 상관이 낮으면 효과가 작다</a:t>
            </a:r>
            <a:endParaRPr lang="en-US" sz="1500" dirty="0"/>
          </a:p>
          <a:p>
            <a:pPr indent="0" marL="0">
              <a:buNone/>
            </a:pPr>
            <a:r>
              <a:rPr lang="en-US" sz="1500" dirty="0">
                <a:solidFill>
                  <a:schemeClr val="tx2"/>
                </a:solidFill>
              </a:rPr>
              <a:t>과거·현재 구매액처럼 반복성이 높은 지표에 유리하다</a:t>
            </a:r>
            <a:endParaRPr lang="en-US" sz="1500" dirty="0"/>
          </a:p>
        </p:txBody>
      </p:sp>
      <p:sp>
        <p:nvSpPr>
          <p:cNvPr id="7" name="Text 4"/>
          <p:cNvSpPr txBox="1"/>
          <p:nvPr/>
        </p:nvSpPr>
        <p:spPr>
          <a:xfrm>
            <a:off x="6217920" y="1783080"/>
            <a:ext cx="822960" cy="548640"/>
          </a:xfrm>
          <a:prstGeom prst="rect">
            <a:avLst/>
          </a:prstGeom>
          <a:noFill/>
          <a:ln/>
        </p:spPr>
        <p:txBody>
          <a:bodyPr wrap="square" lIns="0" tIns="0" rIns="0" bIns="0" rtlCol="0" anchor="t"/>
          <a:lstStyle/>
          <a:p>
            <a:pPr indent="0" marL="0">
              <a:buNone/>
            </a:pPr>
            <a:r>
              <a:rPr lang="en-US" sz="3000" b="1" dirty="0">
                <a:solidFill>
                  <a:schemeClr val="accent4"/>
                </a:solidFill>
              </a:rPr>
              <a:t>02</a:t>
            </a:r>
            <a:endParaRPr lang="en-US" sz="3000" dirty="0"/>
          </a:p>
        </p:txBody>
      </p:sp>
      <p:sp>
        <p:nvSpPr>
          <p:cNvPr id="8" name="Text 5"/>
          <p:cNvSpPr txBox="1"/>
          <p:nvPr/>
        </p:nvSpPr>
        <p:spPr>
          <a:xfrm>
            <a:off x="7132320" y="1828800"/>
            <a:ext cx="4480560" cy="1097280"/>
          </a:xfrm>
          <a:prstGeom prst="rect">
            <a:avLst/>
          </a:prstGeom>
          <a:noFill/>
          <a:ln/>
        </p:spPr>
        <p:txBody>
          <a:bodyPr wrap="square" lIns="0" tIns="0" rIns="0" bIns="0" rtlCol="0" anchor="t"/>
          <a:lstStyle/>
          <a:p>
            <a:pPr indent="0" marL="0">
              <a:buNone/>
            </a:pPr>
            <a:r>
              <a:rPr lang="en-US" sz="2000" b="1" dirty="0">
                <a:solidFill>
                  <a:schemeClr val="tx1"/>
                </a:solidFill>
              </a:rPr>
              <a:t>처치의 영향을 받지 않은 변수만 쓴다</a:t>
            </a:r>
            <a:endParaRPr lang="en-US" sz="1500" dirty="0"/>
          </a:p>
          <a:p>
            <a:pPr indent="0" marL="0">
              <a:buNone/>
            </a:pPr>
            <a:r>
              <a:rPr lang="en-US" sz="1500" dirty="0">
                <a:solidFill>
                  <a:schemeClr val="tx2"/>
                </a:solidFill>
              </a:rPr>
              <a:t>실험 후에 정해진 값을 넣으면 편향이 생긴다</a:t>
            </a:r>
            <a:endParaRPr lang="en-US" sz="1500" dirty="0"/>
          </a:p>
        </p:txBody>
      </p:sp>
      <p:sp>
        <p:nvSpPr>
          <p:cNvPr id="9" name="Text 6"/>
          <p:cNvSpPr txBox="1"/>
          <p:nvPr/>
        </p:nvSpPr>
        <p:spPr>
          <a:xfrm>
            <a:off x="640080" y="3017520"/>
            <a:ext cx="822960" cy="548640"/>
          </a:xfrm>
          <a:prstGeom prst="rect">
            <a:avLst/>
          </a:prstGeom>
          <a:noFill/>
          <a:ln/>
        </p:spPr>
        <p:txBody>
          <a:bodyPr wrap="square" lIns="0" tIns="0" rIns="0" bIns="0" rtlCol="0" anchor="t"/>
          <a:lstStyle/>
          <a:p>
            <a:pPr indent="0" marL="0">
              <a:buNone/>
            </a:pPr>
            <a:r>
              <a:rPr lang="en-US" sz="3000" b="1" dirty="0">
                <a:solidFill>
                  <a:schemeClr val="accent4"/>
                </a:solidFill>
              </a:rPr>
              <a:t>03</a:t>
            </a:r>
            <a:endParaRPr lang="en-US" sz="3000" dirty="0"/>
          </a:p>
        </p:txBody>
      </p:sp>
      <p:sp>
        <p:nvSpPr>
          <p:cNvPr id="10" name="Text 7"/>
          <p:cNvSpPr txBox="1"/>
          <p:nvPr/>
        </p:nvSpPr>
        <p:spPr>
          <a:xfrm>
            <a:off x="1554480" y="3063240"/>
            <a:ext cx="4480560" cy="1097280"/>
          </a:xfrm>
          <a:prstGeom prst="rect">
            <a:avLst/>
          </a:prstGeom>
          <a:noFill/>
          <a:ln/>
        </p:spPr>
        <p:txBody>
          <a:bodyPr wrap="square" lIns="0" tIns="0" rIns="0" bIns="0" rtlCol="0" anchor="t"/>
          <a:lstStyle/>
          <a:p>
            <a:pPr indent="0" marL="0">
              <a:buNone/>
            </a:pPr>
            <a:r>
              <a:rPr lang="en-US" sz="2000" b="1" dirty="0">
                <a:solidFill>
                  <a:schemeClr val="tx1"/>
                </a:solidFill>
              </a:rPr>
              <a:t>신규 사용자는 실험 전 데이터가 없다</a:t>
            </a:r>
            <a:endParaRPr lang="en-US" sz="1500" dirty="0"/>
          </a:p>
          <a:p>
            <a:pPr indent="0" marL="0">
              <a:buNone/>
            </a:pPr>
            <a:r>
              <a:rPr lang="en-US" sz="1500" dirty="0">
                <a:solidFill>
                  <a:schemeClr val="tx2"/>
                </a:solidFill>
              </a:rPr>
              <a:t>신규 비중이 높으면 결측 처리나 별도 설계가 필요하다</a:t>
            </a:r>
            <a:endParaRPr lang="en-US" sz="1500" dirty="0"/>
          </a:p>
        </p:txBody>
      </p:sp>
      <p:sp>
        <p:nvSpPr>
          <p:cNvPr id="11" name="Text 8"/>
          <p:cNvSpPr txBox="1"/>
          <p:nvPr/>
        </p:nvSpPr>
        <p:spPr>
          <a:xfrm>
            <a:off x="6217920" y="3017520"/>
            <a:ext cx="822960" cy="548640"/>
          </a:xfrm>
          <a:prstGeom prst="rect">
            <a:avLst/>
          </a:prstGeom>
          <a:noFill/>
          <a:ln/>
        </p:spPr>
        <p:txBody>
          <a:bodyPr wrap="square" lIns="0" tIns="0" rIns="0" bIns="0" rtlCol="0" anchor="t"/>
          <a:lstStyle/>
          <a:p>
            <a:pPr indent="0" marL="0">
              <a:buNone/>
            </a:pPr>
            <a:r>
              <a:rPr lang="en-US" sz="3000" b="1" dirty="0">
                <a:solidFill>
                  <a:schemeClr val="accent4"/>
                </a:solidFill>
              </a:rPr>
              <a:t>04</a:t>
            </a:r>
            <a:endParaRPr lang="en-US" sz="3000" dirty="0"/>
          </a:p>
        </p:txBody>
      </p:sp>
      <p:sp>
        <p:nvSpPr>
          <p:cNvPr id="12" name="Text 9"/>
          <p:cNvSpPr txBox="1"/>
          <p:nvPr/>
        </p:nvSpPr>
        <p:spPr>
          <a:xfrm>
            <a:off x="7132320" y="3063240"/>
            <a:ext cx="4480560" cy="1097280"/>
          </a:xfrm>
          <a:prstGeom prst="rect">
            <a:avLst/>
          </a:prstGeom>
          <a:noFill/>
          <a:ln/>
        </p:spPr>
        <p:txBody>
          <a:bodyPr wrap="square" lIns="0" tIns="0" rIns="0" bIns="0" rtlCol="0" anchor="t"/>
          <a:lstStyle/>
          <a:p>
            <a:pPr indent="0" marL="0">
              <a:buNone/>
            </a:pPr>
            <a:r>
              <a:rPr lang="en-US" sz="2000" b="1" dirty="0">
                <a:solidFill>
                  <a:schemeClr val="tx1"/>
                </a:solidFill>
              </a:rPr>
              <a:t>잘못된 설계를 고쳐주지 않는다</a:t>
            </a:r>
            <a:endParaRPr lang="en-US" sz="1500" dirty="0"/>
          </a:p>
          <a:p>
            <a:pPr indent="0" marL="0">
              <a:buNone/>
            </a:pPr>
            <a:r>
              <a:rPr lang="en-US" sz="1500" dirty="0">
                <a:solidFill>
                  <a:schemeClr val="tx2"/>
                </a:solidFill>
              </a:rPr>
              <a:t>배정·로깅·SRM 문제가 있는 실험에 써도 결과를 믿을 수 없다</a:t>
            </a:r>
            <a:endParaRPr lang="en-US" sz="1500" dirty="0"/>
          </a:p>
        </p:txBody>
      </p:sp>
      <p:sp>
        <p:nvSpPr>
          <p:cNvPr id="13" name="Text 10"/>
          <p:cNvSpPr txBox="1"/>
          <p:nvPr/>
        </p:nvSpPr>
        <p:spPr>
          <a:xfrm>
            <a:off x="640080" y="4434840"/>
            <a:ext cx="10911535" cy="731520"/>
          </a:xfrm>
          <a:prstGeom prst="rect">
            <a:avLst/>
          </a:prstGeom>
          <a:noFill/>
          <a:ln/>
        </p:spPr>
        <p:txBody>
          <a:bodyPr wrap="square" lIns="0" tIns="0" rIns="0" bIns="0" rtlCol="0" anchor="t"/>
          <a:lstStyle/>
          <a:p>
            <a:pPr indent="0" marL="0">
              <a:buNone/>
            </a:pPr>
            <a:r>
              <a:rPr lang="en-US" sz="1500" b="1" dirty="0">
                <a:solidFill>
                  <a:schemeClr val="accent1"/>
                </a:solidFill>
              </a:rPr>
              <a:t>CUPED가 하는 일  </a:t>
            </a:r>
            <a:pPr indent="0" marL="0">
              <a:buNone/>
            </a:pPr>
            <a:r>
              <a:rPr lang="en-US" sz="1500" dirty="0">
                <a:solidFill>
                  <a:schemeClr val="tx1"/>
                </a:solidFill>
              </a:rPr>
              <a:t>효과는 그대로, 신뢰구간만 좁힌다 → 더 작은 효과 탐지, 더 적은 표본·짧은 기간</a:t>
            </a:r>
            <a:endParaRPr lang="en-US" sz="1500" dirty="0"/>
          </a:p>
        </p:txBody>
      </p:sp>
      <p:sp>
        <p:nvSpPr>
          <p:cNvPr id="14" name="Text 11"/>
          <p:cNvSpPr txBox="1"/>
          <p:nvPr/>
        </p:nvSpPr>
        <p:spPr>
          <a:xfrm>
            <a:off x="640080" y="5897880"/>
            <a:ext cx="10911535" cy="274320"/>
          </a:xfrm>
          <a:prstGeom prst="rect">
            <a:avLst/>
          </a:prstGeom>
          <a:noFill/>
          <a:ln/>
        </p:spPr>
        <p:txBody>
          <a:bodyPr wrap="square" lIns="0" tIns="0" rIns="0" bIns="0" rtlCol="0" anchor="t"/>
          <a:lstStyle/>
          <a:p>
            <a:pPr indent="0" marL="0">
              <a:buNone/>
            </a:pPr>
            <a:r>
              <a:rPr lang="en-US" sz="1100" dirty="0">
                <a:solidFill>
                  <a:schemeClr val="accent6"/>
                </a:solidFill>
              </a:rPr>
              <a:t>위키 09편 1.5 · 출처: Deng et al. (2013), WSDM</a:t>
            </a:r>
            <a:endParaRPr lang="en-US" sz="11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Ch3 · 다중검정 문제</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지표 20개를 보면 하나쯤은 우연히 걸린다</a:t>
            </a:r>
            <a:endParaRPr lang="en-US" sz="2000" dirty="0"/>
          </a:p>
        </p:txBody>
      </p:sp>
      <p:graphicFrame>
        <p:nvGraphicFramePr>
          <p:cNvPr id="5" name="Chart 0" descr=""/>
          <p:cNvGraphicFramePr/>
          <p:nvPr/>
        </p:nvGraphicFramePr>
        <p:xfrm>
          <a:off x="640080" y="1737360"/>
          <a:ext cx="6217920" cy="402336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7315200" y="1737360"/>
            <a:ext cx="4206240" cy="4114800"/>
          </a:xfrm>
          <a:prstGeom prst="rect">
            <a:avLst/>
          </a:prstGeom>
          <a:noFill/>
          <a:ln/>
        </p:spPr>
        <p:txBody>
          <a:bodyPr wrap="square" lIns="0" tIns="0" rIns="0" bIns="0" rtlCol="0" anchor="t"/>
          <a:lstStyle/>
          <a:p>
            <a:pPr indent="0" marL="0">
              <a:buNone/>
            </a:pPr>
            <a:r>
              <a:rPr lang="en-US" sz="5400" b="1" dirty="0">
                <a:solidFill>
                  <a:schemeClr val="accent4"/>
                </a:solidFill>
              </a:rPr>
              <a:t>64%</a:t>
            </a:r>
            <a:endParaRPr lang="en-US" sz="1500" dirty="0"/>
          </a:p>
          <a:p>
            <a:pPr indent="0" marL="0">
              <a:spcAft>
                <a:spcPts val="1600"/>
              </a:spcAft>
              <a:buNone/>
            </a:pPr>
            <a:r>
              <a:rPr lang="en-US" sz="1500" dirty="0">
                <a:solidFill>
                  <a:schemeClr val="tx2"/>
                </a:solidFill>
              </a:rPr>
              <a:t>지표 20개, α 5%일 때</a:t>
            </a:r>
            <a:endParaRPr lang="en-US" sz="1500" dirty="0"/>
          </a:p>
          <a:p>
            <a:pPr indent="0" marL="0">
              <a:buNone/>
            </a:pPr>
            <a:r>
              <a:rPr lang="en-US" sz="1500" b="1" dirty="0">
                <a:solidFill>
                  <a:schemeClr val="tx1"/>
                </a:solidFill>
              </a:rPr>
              <a:t>1순위 처방</a:t>
            </a:r>
            <a:endParaRPr lang="en-US" sz="1500" dirty="0"/>
          </a:p>
          <a:p>
            <a:pPr indent="0" marL="0">
              <a:spcAft>
                <a:spcPts val="1000"/>
              </a:spcAft>
              <a:buNone/>
            </a:pPr>
            <a:r>
              <a:rPr lang="en-US" sz="1500" dirty="0">
                <a:solidFill>
                  <a:schemeClr val="tx2"/>
                </a:solidFill>
              </a:rPr>
              <a:t>Primary 지표를 실험 전에 하나로 정한다</a:t>
            </a:r>
            <a:endParaRPr lang="en-US" sz="1500" dirty="0"/>
          </a:p>
          <a:p>
            <a:pPr indent="0" marL="0">
              <a:buNone/>
            </a:pPr>
            <a:r>
              <a:rPr lang="en-US" sz="1500" b="1" dirty="0">
                <a:solidFill>
                  <a:schemeClr val="tx1"/>
                </a:solidFill>
              </a:rPr>
              <a:t>Bonferroni</a:t>
            </a:r>
            <a:endParaRPr lang="en-US" sz="1500" dirty="0"/>
          </a:p>
          <a:p>
            <a:pPr indent="0" marL="0">
              <a:spcAft>
                <a:spcPts val="1000"/>
              </a:spcAft>
              <a:buNone/>
            </a:pPr>
            <a:r>
              <a:rPr lang="en-US" sz="1500" dirty="0">
                <a:solidFill>
                  <a:schemeClr val="tx2"/>
                </a:solidFill>
              </a:rPr>
              <a:t>α/m. 하나라도 거짓 양성이 날 확률(FWER)을 막는다. 소수의 중요한 가설에</a:t>
            </a:r>
            <a:endParaRPr lang="en-US" sz="1500" dirty="0"/>
          </a:p>
          <a:p>
            <a:pPr indent="0" marL="0">
              <a:buNone/>
            </a:pPr>
            <a:r>
              <a:rPr lang="en-US" sz="1500" b="1" dirty="0">
                <a:solidFill>
                  <a:schemeClr val="tx1"/>
                </a:solidFill>
              </a:rPr>
              <a:t>Benjamini-Hochberg</a:t>
            </a:r>
            <a:endParaRPr lang="en-US" sz="1500" dirty="0"/>
          </a:p>
          <a:p>
            <a:pPr indent="0" marL="0">
              <a:buNone/>
            </a:pPr>
            <a:r>
              <a:rPr lang="en-US" sz="1500" dirty="0">
                <a:solidFill>
                  <a:schemeClr val="tx2"/>
                </a:solidFill>
              </a:rPr>
              <a:t>발견 중 거짓 비율(FDR)을 통제한다. 검정력이 더 높아 많은 지표를 탐색할 때</a:t>
            </a:r>
            <a:endParaRPr lang="en-US" sz="15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Ch3 · Peeking Problem</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매일 들여다보고 멈추면 헛배포가 4배로 는다</a:t>
            </a:r>
            <a:endParaRPr lang="en-US" sz="2000" dirty="0"/>
          </a:p>
        </p:txBody>
      </p:sp>
      <p:graphicFrame>
        <p:nvGraphicFramePr>
          <p:cNvPr id="5" name="Chart 0" descr=""/>
          <p:cNvGraphicFramePr/>
          <p:nvPr/>
        </p:nvGraphicFramePr>
        <p:xfrm>
          <a:off x="640080" y="1737360"/>
          <a:ext cx="6949440" cy="402336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8046720" y="1737360"/>
            <a:ext cx="3474720" cy="4023360"/>
          </a:xfrm>
          <a:prstGeom prst="rect">
            <a:avLst/>
          </a:prstGeom>
          <a:noFill/>
          <a:ln/>
        </p:spPr>
        <p:txBody>
          <a:bodyPr wrap="square" lIns="0" tIns="0" rIns="0" bIns="0" rtlCol="0" anchor="t"/>
          <a:lstStyle/>
          <a:p>
            <a:pPr indent="0" marL="0">
              <a:buNone/>
            </a:pPr>
            <a:r>
              <a:rPr lang="en-US" sz="5400" b="1" dirty="0">
                <a:solidFill>
                  <a:schemeClr val="accent4"/>
                </a:solidFill>
              </a:rPr>
              <a:t>21.5%</a:t>
            </a:r>
            <a:endParaRPr lang="en-US" sz="1500" dirty="0"/>
          </a:p>
          <a:p>
            <a:pPr indent="0" marL="0">
              <a:spcAft>
                <a:spcPts val="1600"/>
              </a:spcAft>
              <a:buNone/>
            </a:pPr>
            <a:r>
              <a:rPr lang="en-US" sz="1500" dirty="0">
                <a:solidFill>
                  <a:schemeClr val="tx2"/>
                </a:solidFill>
              </a:rPr>
              <a:t>매일 확인할 때 14일 누적 거짓 양성 (마지막 날만 보면 5.2%)</a:t>
            </a:r>
            <a:endParaRPr lang="en-US" sz="1500" dirty="0"/>
          </a:p>
          <a:p>
            <a:pPr indent="0" marL="0">
              <a:buNone/>
            </a:pPr>
            <a:r>
              <a:rPr lang="en-US" sz="1500" b="1" dirty="0">
                <a:solidFill>
                  <a:schemeClr val="tx1"/>
                </a:solidFill>
              </a:rPr>
              <a:t>처방</a:t>
            </a:r>
            <a:endParaRPr lang="en-US" sz="1500" dirty="0"/>
          </a:p>
          <a:p>
            <a:pPr marL="342900" indent="-342900">
              <a:buSzPct val="100000"/>
              <a:buChar char="•"/>
            </a:pPr>
            <a:r>
              <a:rPr lang="en-US" sz="1500" dirty="0">
                <a:solidFill>
                  <a:schemeClr val="tx1"/>
                </a:solidFill>
              </a:rPr>
              <a:t>종료일과 표본 크기를 미리 정한다</a:t>
            </a:r>
            <a:endParaRPr lang="en-US" sz="1500" dirty="0"/>
          </a:p>
          <a:p>
            <a:pPr marL="342900" indent="-342900">
              <a:buSzPct val="100000"/>
              <a:buChar char="•"/>
            </a:pPr>
            <a:r>
              <a:rPr lang="en-US" sz="1500" dirty="0">
                <a:solidFill>
                  <a:schemeClr val="tx1"/>
                </a:solidFill>
              </a:rPr>
              <a:t>중간에 봐야 하면 Sequential Testing (Ch4)</a:t>
            </a:r>
            <a:endParaRPr lang="en-US" sz="1500" dirty="0"/>
          </a:p>
        </p:txBody>
      </p:sp>
      <p:sp>
        <p:nvSpPr>
          <p:cNvPr id="7" name="Text 3"/>
          <p:cNvSpPr txBox="1"/>
          <p:nvPr/>
        </p:nvSpPr>
        <p:spPr>
          <a:xfrm>
            <a:off x="640080" y="5989320"/>
            <a:ext cx="10911535" cy="274320"/>
          </a:xfrm>
          <a:prstGeom prst="rect">
            <a:avLst/>
          </a:prstGeom>
          <a:noFill/>
          <a:ln/>
        </p:spPr>
        <p:txBody>
          <a:bodyPr wrap="square" lIns="0" tIns="0" rIns="0" bIns="0" rtlCol="0" anchor="t"/>
          <a:lstStyle/>
          <a:p>
            <a:pPr indent="0" marL="0">
              <a:buNone/>
            </a:pPr>
            <a:r>
              <a:rPr lang="en-US" sz="1100" dirty="0">
                <a:solidFill>
                  <a:schemeClr val="accent6"/>
                </a:solidFill>
              </a:rPr>
              <a:t>A/A 시뮬레이션 4,000회 · 그룹당 하루 1,000명 · 전환율 10% · 두 비율 z-test · 시드 42 (교육용)</a:t>
            </a:r>
            <a:endParaRPr lang="en-US" sz="11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Ch3 · Novelty Effect / Primacy Effect</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초반 반응은 오래 가지 않을 수 있다</a:t>
            </a:r>
            <a:endParaRPr lang="en-US" sz="2000" dirty="0"/>
          </a:p>
        </p:txBody>
      </p:sp>
      <p:graphicFrame>
        <p:nvGraphicFramePr>
          <p:cNvPr id="5" name="Chart 0" descr=""/>
          <p:cNvGraphicFramePr/>
          <p:nvPr/>
        </p:nvGraphicFramePr>
        <p:xfrm>
          <a:off x="640080" y="1737360"/>
          <a:ext cx="6949440" cy="402336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8046720" y="1737360"/>
            <a:ext cx="3474720" cy="4023360"/>
          </a:xfrm>
          <a:prstGeom prst="rect">
            <a:avLst/>
          </a:prstGeom>
          <a:noFill/>
          <a:ln/>
        </p:spPr>
        <p:txBody>
          <a:bodyPr wrap="square" lIns="0" tIns="0" rIns="0" bIns="0" rtlCol="0" anchor="t"/>
          <a:lstStyle/>
          <a:p>
            <a:pPr indent="0" marL="0">
              <a:buNone/>
            </a:pPr>
            <a:r>
              <a:rPr lang="en-US" sz="2000" b="1" dirty="0">
                <a:solidFill>
                  <a:schemeClr val="accent1"/>
                </a:solidFill>
              </a:rPr>
              <a:t>신규성 효과</a:t>
            </a:r>
            <a:endParaRPr lang="en-US" sz="1500" dirty="0"/>
          </a:p>
          <a:p>
            <a:pPr indent="0" marL="0">
              <a:spcAft>
                <a:spcPts val="1400"/>
              </a:spcAft>
              <a:buNone/>
            </a:pPr>
            <a:r>
              <a:rPr lang="en-US" sz="1500" dirty="0">
                <a:solidFill>
                  <a:schemeClr val="tx2"/>
                </a:solidFill>
              </a:rPr>
              <a:t>초반 효과가 과대평가된다</a:t>
            </a:r>
            <a:endParaRPr lang="en-US" sz="1500" dirty="0"/>
          </a:p>
          <a:p>
            <a:pPr indent="0" marL="0">
              <a:buNone/>
            </a:pPr>
            <a:r>
              <a:rPr lang="en-US" sz="2000" b="1" dirty="0">
                <a:solidFill>
                  <a:schemeClr val="accent5"/>
                </a:solidFill>
              </a:rPr>
              <a:t>초두(학습) 효과</a:t>
            </a:r>
            <a:endParaRPr lang="en-US" sz="1500" dirty="0"/>
          </a:p>
          <a:p>
            <a:pPr indent="0" marL="0">
              <a:spcAft>
                <a:spcPts val="1400"/>
              </a:spcAft>
              <a:buNone/>
            </a:pPr>
            <a:r>
              <a:rPr lang="en-US" sz="1500" dirty="0">
                <a:solidFill>
                  <a:schemeClr val="tx2"/>
                </a:solidFill>
              </a:rPr>
              <a:t>초반 효과가 과소평가된다</a:t>
            </a:r>
            <a:endParaRPr lang="en-US" sz="1500" dirty="0"/>
          </a:p>
          <a:p>
            <a:pPr indent="0" marL="0">
              <a:buNone/>
            </a:pPr>
            <a:r>
              <a:rPr lang="en-US" sz="1500" b="1" dirty="0">
                <a:solidFill>
                  <a:schemeClr val="tx1"/>
                </a:solidFill>
              </a:rPr>
              <a:t>처방</a:t>
            </a:r>
            <a:endParaRPr lang="en-US" sz="1500" dirty="0"/>
          </a:p>
          <a:p>
            <a:pPr marL="342900" indent="-342900">
              <a:buSzPct val="100000"/>
              <a:buChar char="•"/>
            </a:pPr>
            <a:r>
              <a:rPr lang="en-US" sz="1500" dirty="0">
                <a:solidFill>
                  <a:schemeClr val="tx1"/>
                </a:solidFill>
              </a:rPr>
              <a:t>기간을 충분히 확보한다</a:t>
            </a:r>
            <a:endParaRPr lang="en-US" sz="1500" dirty="0"/>
          </a:p>
          <a:p>
            <a:pPr marL="342900" indent="-342900">
              <a:buSzPct val="100000"/>
              <a:buChar char="•"/>
            </a:pPr>
            <a:r>
              <a:rPr lang="en-US" sz="1500" dirty="0">
                <a:solidFill>
                  <a:schemeClr val="tx1"/>
                </a:solidFill>
              </a:rPr>
              <a:t>신규 사용자만 따로 본다</a:t>
            </a:r>
            <a:endParaRPr lang="en-US" sz="1500" dirty="0"/>
          </a:p>
          <a:p>
            <a:pPr marL="342900" indent="-342900">
              <a:buSzPct val="100000"/>
              <a:buChar char="•"/>
            </a:pPr>
            <a:r>
              <a:rPr lang="en-US" sz="1500" dirty="0">
                <a:solidFill>
                  <a:schemeClr val="tx1"/>
                </a:solidFill>
              </a:rPr>
              <a:t>일자별 효과 추이를 그린다</a:t>
            </a:r>
            <a:endParaRPr lang="en-US" sz="15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Ch3 · 반복 노출</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같은 사람이 여러 번 보면, 일차별로 읽는다</a:t>
            </a:r>
            <a:endParaRPr lang="en-US" sz="2000" dirty="0"/>
          </a:p>
        </p:txBody>
      </p:sp>
      <p:sp>
        <p:nvSpPr>
          <p:cNvPr id="5" name="Text 2"/>
          <p:cNvSpPr txBox="1"/>
          <p:nvPr/>
        </p:nvSpPr>
        <p:spPr>
          <a:xfrm>
            <a:off x="640080" y="1783080"/>
            <a:ext cx="914400" cy="548640"/>
          </a:xfrm>
          <a:prstGeom prst="rect">
            <a:avLst/>
          </a:prstGeom>
          <a:noFill/>
          <a:ln/>
        </p:spPr>
        <p:txBody>
          <a:bodyPr wrap="square" lIns="0" tIns="0" rIns="0" bIns="0" rtlCol="0" anchor="t"/>
          <a:lstStyle/>
          <a:p>
            <a:pPr indent="0" marL="0">
              <a:buNone/>
            </a:pPr>
            <a:r>
              <a:rPr lang="en-US" sz="3000" b="1" dirty="0">
                <a:solidFill>
                  <a:schemeClr val="accent1"/>
                </a:solidFill>
              </a:rPr>
              <a:t>01</a:t>
            </a:r>
            <a:endParaRPr lang="en-US" sz="3000" dirty="0"/>
          </a:p>
        </p:txBody>
      </p:sp>
      <p:sp>
        <p:nvSpPr>
          <p:cNvPr id="6" name="Text 3"/>
          <p:cNvSpPr txBox="1"/>
          <p:nvPr/>
        </p:nvSpPr>
        <p:spPr>
          <a:xfrm>
            <a:off x="640080" y="2377440"/>
            <a:ext cx="3383280" cy="2377440"/>
          </a:xfrm>
          <a:prstGeom prst="rect">
            <a:avLst/>
          </a:prstGeom>
          <a:noFill/>
          <a:ln/>
        </p:spPr>
        <p:txBody>
          <a:bodyPr wrap="square" lIns="0" tIns="0" rIns="0" bIns="0" rtlCol="0" anchor="t"/>
          <a:lstStyle/>
          <a:p>
            <a:pPr indent="0" marL="0">
              <a:spcAft>
                <a:spcPts val="800"/>
              </a:spcAft>
              <a:buNone/>
            </a:pPr>
            <a:r>
              <a:rPr lang="en-US" sz="2000" b="1" dirty="0">
                <a:solidFill>
                  <a:schemeClr val="tx1"/>
                </a:solidFill>
              </a:rPr>
              <a:t>실험 시작 후 일차별로 본다</a:t>
            </a:r>
            <a:endParaRPr lang="en-US" sz="1500" dirty="0"/>
          </a:p>
          <a:p>
            <a:pPr indent="0" marL="0">
              <a:spcAft>
                <a:spcPts val="800"/>
              </a:spcAft>
              <a:buNone/>
            </a:pPr>
            <a:r>
              <a:rPr lang="en-US" sz="1500" dirty="0">
                <a:solidFill>
                  <a:schemeClr val="tx1"/>
                </a:solidFill>
              </a:rPr>
              <a:t>전체 평균 하나 대신 1~3일차, 4~7일차, 8~14일차 추이를 함께 본다</a:t>
            </a:r>
            <a:endParaRPr lang="en-US" sz="1500" dirty="0"/>
          </a:p>
          <a:p>
            <a:pPr indent="0" marL="0">
              <a:buNone/>
            </a:pPr>
            <a:r>
              <a:rPr lang="en-US" sz="1400" dirty="0">
                <a:solidFill>
                  <a:schemeClr val="tx2"/>
                </a:solidFill>
              </a:rPr>
              <a:t>경과 일수는 두 그룹에 똑같이 적용돼 랜덤 비교가 유지된다</a:t>
            </a:r>
            <a:endParaRPr lang="en-US" sz="1500" dirty="0"/>
          </a:p>
        </p:txBody>
      </p:sp>
      <p:sp>
        <p:nvSpPr>
          <p:cNvPr id="7" name="Text 4"/>
          <p:cNvSpPr txBox="1"/>
          <p:nvPr/>
        </p:nvSpPr>
        <p:spPr>
          <a:xfrm>
            <a:off x="4343400" y="1783080"/>
            <a:ext cx="914400" cy="548640"/>
          </a:xfrm>
          <a:prstGeom prst="rect">
            <a:avLst/>
          </a:prstGeom>
          <a:noFill/>
          <a:ln/>
        </p:spPr>
        <p:txBody>
          <a:bodyPr wrap="square" lIns="0" tIns="0" rIns="0" bIns="0" rtlCol="0" anchor="t"/>
          <a:lstStyle/>
          <a:p>
            <a:pPr indent="0" marL="0">
              <a:buNone/>
            </a:pPr>
            <a:r>
              <a:rPr lang="en-US" sz="3000" b="1" dirty="0">
                <a:solidFill>
                  <a:schemeClr val="accent4"/>
                </a:solidFill>
              </a:rPr>
              <a:t>02</a:t>
            </a:r>
            <a:endParaRPr lang="en-US" sz="3000" dirty="0"/>
          </a:p>
        </p:txBody>
      </p:sp>
      <p:sp>
        <p:nvSpPr>
          <p:cNvPr id="8" name="Text 5"/>
          <p:cNvSpPr txBox="1"/>
          <p:nvPr/>
        </p:nvSpPr>
        <p:spPr>
          <a:xfrm>
            <a:off x="4343400" y="2377440"/>
            <a:ext cx="3383280" cy="2377440"/>
          </a:xfrm>
          <a:prstGeom prst="rect">
            <a:avLst/>
          </a:prstGeom>
          <a:noFill/>
          <a:ln/>
        </p:spPr>
        <p:txBody>
          <a:bodyPr wrap="square" lIns="0" tIns="0" rIns="0" bIns="0" rtlCol="0" anchor="t"/>
          <a:lstStyle/>
          <a:p>
            <a:pPr indent="0" marL="0">
              <a:spcAft>
                <a:spcPts val="800"/>
              </a:spcAft>
              <a:buNone/>
            </a:pPr>
            <a:r>
              <a:rPr lang="en-US" sz="2000" b="1" dirty="0">
                <a:solidFill>
                  <a:schemeClr val="tx1"/>
                </a:solidFill>
              </a:rPr>
              <a:t>노출 횟수별로 쪼개지 않는다</a:t>
            </a:r>
            <a:endParaRPr lang="en-US" sz="1500" dirty="0"/>
          </a:p>
          <a:p>
            <a:pPr indent="0" marL="0">
              <a:spcAft>
                <a:spcPts val="800"/>
              </a:spcAft>
              <a:buNone/>
            </a:pPr>
            <a:r>
              <a:rPr lang="en-US" sz="1500" dirty="0">
                <a:solidFill>
                  <a:schemeClr val="tx1"/>
                </a:solidFill>
              </a:rPr>
              <a:t>5회 노출자 vs 1회 노출자는 처치 효과가 아니다</a:t>
            </a:r>
            <a:endParaRPr lang="en-US" sz="1500" dirty="0"/>
          </a:p>
          <a:p>
            <a:pPr indent="0" marL="0">
              <a:buNone/>
            </a:pPr>
            <a:r>
              <a:rPr lang="en-US" sz="1400" dirty="0">
                <a:solidFill>
                  <a:schemeClr val="tx2"/>
                </a:solidFill>
              </a:rPr>
              <a:t>활동적인 사용자일수록 많이 노출된다 → 성향 차이를 보게 된다</a:t>
            </a:r>
            <a:endParaRPr lang="en-US" sz="1500" dirty="0"/>
          </a:p>
        </p:txBody>
      </p:sp>
      <p:sp>
        <p:nvSpPr>
          <p:cNvPr id="9" name="Text 6"/>
          <p:cNvSpPr txBox="1"/>
          <p:nvPr/>
        </p:nvSpPr>
        <p:spPr>
          <a:xfrm>
            <a:off x="8046720" y="1783080"/>
            <a:ext cx="914400" cy="548640"/>
          </a:xfrm>
          <a:prstGeom prst="rect">
            <a:avLst/>
          </a:prstGeom>
          <a:noFill/>
          <a:ln/>
        </p:spPr>
        <p:txBody>
          <a:bodyPr wrap="square" lIns="0" tIns="0" rIns="0" bIns="0" rtlCol="0" anchor="t"/>
          <a:lstStyle/>
          <a:p>
            <a:pPr indent="0" marL="0">
              <a:buNone/>
            </a:pPr>
            <a:r>
              <a:rPr lang="en-US" sz="3000" b="1" dirty="0">
                <a:solidFill>
                  <a:schemeClr val="accent2"/>
                </a:solidFill>
              </a:rPr>
              <a:t>03</a:t>
            </a:r>
            <a:endParaRPr lang="en-US" sz="3000" dirty="0"/>
          </a:p>
        </p:txBody>
      </p:sp>
      <p:sp>
        <p:nvSpPr>
          <p:cNvPr id="10" name="Text 7"/>
          <p:cNvSpPr txBox="1"/>
          <p:nvPr/>
        </p:nvSpPr>
        <p:spPr>
          <a:xfrm>
            <a:off x="8046720" y="2377440"/>
            <a:ext cx="3383280" cy="2377440"/>
          </a:xfrm>
          <a:prstGeom prst="rect">
            <a:avLst/>
          </a:prstGeom>
          <a:noFill/>
          <a:ln/>
        </p:spPr>
        <p:txBody>
          <a:bodyPr wrap="square" lIns="0" tIns="0" rIns="0" bIns="0" rtlCol="0" anchor="t"/>
          <a:lstStyle/>
          <a:p>
            <a:pPr indent="0" marL="0">
              <a:spcAft>
                <a:spcPts val="800"/>
              </a:spcAft>
              <a:buNone/>
            </a:pPr>
            <a:r>
              <a:rPr lang="en-US" sz="2000" b="1" dirty="0">
                <a:solidFill>
                  <a:schemeClr val="tx1"/>
                </a:solidFill>
              </a:rPr>
              <a:t>배정과 노출을 따로 기록한다</a:t>
            </a:r>
            <a:endParaRPr lang="en-US" sz="1500" dirty="0"/>
          </a:p>
          <a:p>
            <a:pPr indent="0" marL="0">
              <a:spcAft>
                <a:spcPts val="800"/>
              </a:spcAft>
              <a:buNone/>
            </a:pPr>
            <a:r>
              <a:rPr lang="en-US" sz="1500" dirty="0">
                <a:solidFill>
                  <a:schemeClr val="tx1"/>
                </a:solidFill>
              </a:rPr>
              <a:t>Assignment(어느 그룹) vs Exposure(실제로 봤나)</a:t>
            </a:r>
            <a:endParaRPr lang="en-US" sz="1500" dirty="0"/>
          </a:p>
          <a:p>
            <a:pPr indent="0" marL="0">
              <a:buNone/>
            </a:pPr>
            <a:r>
              <a:rPr lang="en-US" sz="1400" dirty="0">
                <a:solidFill>
                  <a:schemeClr val="tx2"/>
                </a:solidFill>
              </a:rPr>
              <a:t>실제로 영향받을 수 있는 사람만 분석하면 노이즈가 준다 → 트리거 분석(Ch2)</a:t>
            </a:r>
            <a:endParaRPr lang="en-US" sz="1500" dirty="0"/>
          </a:p>
        </p:txBody>
      </p:sp>
      <p:sp>
        <p:nvSpPr>
          <p:cNvPr id="11" name="Text 8"/>
          <p:cNvSpPr txBox="1"/>
          <p:nvPr/>
        </p:nvSpPr>
        <p:spPr>
          <a:xfrm>
            <a:off x="640080" y="5120640"/>
            <a:ext cx="10911535" cy="457200"/>
          </a:xfrm>
          <a:prstGeom prst="rect">
            <a:avLst/>
          </a:prstGeom>
          <a:noFill/>
          <a:ln/>
        </p:spPr>
        <p:txBody>
          <a:bodyPr wrap="square" lIns="0" tIns="0" rIns="0" bIns="0" rtlCol="0" anchor="t"/>
          <a:lstStyle/>
          <a:p>
            <a:pPr indent="0" marL="0">
              <a:buNone/>
            </a:pPr>
            <a:r>
              <a:rPr lang="en-US" sz="1500" b="1" dirty="0">
                <a:solidFill>
                  <a:schemeClr val="accent1"/>
                </a:solidFill>
              </a:rPr>
              <a:t>실무에서 이렇게 말한다  </a:t>
            </a:r>
            <a:pPr indent="0" marL="0">
              <a:buNone/>
            </a:pPr>
            <a:r>
              <a:rPr lang="en-US" sz="1500" dirty="0">
                <a:solidFill>
                  <a:schemeClr val="tx1"/>
                </a:solidFill>
              </a:rPr>
              <a:t>"1~3일차 효과는 +2%p였지만 8~14일차에는 +0.8%p로 줄었습니다" (예시)</a:t>
            </a:r>
            <a:endParaRPr lang="en-US" sz="15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body" hasCustomPrompt="1"/>
          </p:nvPr>
        </p:nvSpPr>
        <p:spPr>
          <a:xfrm>
            <a:off x="640080" y="1371600"/>
            <a:ext cx="3657600" cy="1463040"/>
          </a:xfrm>
          <a:prstGeom prst="rect">
            <a:avLst/>
          </a:prstGeom>
          <a:noFill/>
          <a:ln/>
        </p:spPr>
        <p:txBody>
          <a:bodyPr wrap="square" lIns="0" tIns="0" rIns="0" bIns="0" rtlCol="0" anchor="b"/>
          <a:lstStyle/>
          <a:p>
            <a:pPr algn="l" indent="0" marL="0">
              <a:buNone/>
            </a:pPr>
            <a:r>
              <a:rPr lang="en-US" sz="9600" b="1" dirty="0">
                <a:solidFill>
                  <a:srgbClr val="7B93FF"/>
                </a:solidFill>
              </a:rPr>
              <a:t>04</a:t>
            </a:r>
            <a:endParaRPr lang="en-US" sz="9600" dirty="0"/>
          </a:p>
        </p:txBody>
      </p:sp>
      <p:sp>
        <p:nvSpPr>
          <p:cNvPr id="3" name="Text 0"/>
          <p:cNvSpPr/>
          <p:nvPr>
            <p:ph idx="101" type="title" hasCustomPrompt="1"/>
          </p:nvPr>
        </p:nvSpPr>
        <p:spPr>
          <a:xfrm>
            <a:off x="640080" y="3017520"/>
            <a:ext cx="10058400" cy="914400"/>
          </a:xfrm>
          <a:prstGeom prst="rect">
            <a:avLst/>
          </a:prstGeom>
          <a:noFill/>
          <a:ln/>
        </p:spPr>
        <p:txBody>
          <a:bodyPr wrap="square" lIns="0" tIns="0" rIns="0" bIns="0" rtlCol="0" anchor="t"/>
          <a:lstStyle/>
          <a:p>
            <a:pPr algn="l" indent="0" marL="0">
              <a:buNone/>
            </a:pPr>
            <a:r>
              <a:rPr lang="en-US" sz="4000" b="1" dirty="0">
                <a:solidFill>
                  <a:srgbClr val="FFFFFF"/>
                </a:solidFill>
              </a:rPr>
              <a:t>실무 함정과 고급 설계</a:t>
            </a:r>
            <a:endParaRPr lang="en-US" sz="4000" dirty="0"/>
          </a:p>
        </p:txBody>
      </p:sp>
      <p:sp>
        <p:nvSpPr>
          <p:cNvPr id="4" name="Text 0"/>
          <p:cNvSpPr/>
          <p:nvPr>
            <p:ph idx="102" type="body" hasCustomPrompt="1"/>
          </p:nvPr>
        </p:nvSpPr>
        <p:spPr>
          <a:xfrm>
            <a:off x="640080" y="4069080"/>
            <a:ext cx="10058400" cy="731520"/>
          </a:xfrm>
          <a:prstGeom prst="rect">
            <a:avLst/>
          </a:prstGeom>
          <a:noFill/>
          <a:ln/>
        </p:spPr>
        <p:txBody>
          <a:bodyPr wrap="square" lIns="0" tIns="0" rIns="0" bIns="0" rtlCol="0" anchor="t"/>
          <a:lstStyle/>
          <a:p>
            <a:pPr algn="l" indent="0" marL="0">
              <a:buNone/>
            </a:pPr>
            <a:r>
              <a:rPr lang="en-US" sz="2000" dirty="0">
                <a:solidFill>
                  <a:srgbClr val="AEB3CC"/>
                </a:solidFill>
              </a:rPr>
              <a:t>개념을 먼저 잡고, 직접 겪는 건 뒤의 함정 세션에서</a:t>
            </a:r>
            <a:endParaRPr lang="en-US" sz="20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Ch4 · 함정 지도</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실무에서 자주 밟는 여섯 가지 함정</a:t>
            </a:r>
            <a:endParaRPr lang="en-US" sz="2000" dirty="0"/>
          </a:p>
        </p:txBody>
      </p:sp>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11535" cy="914400"/>
        </p:xfrm>
        <a:graphic>
          <a:graphicData uri="http://schemas.openxmlformats.org/drawingml/2006/table">
            <a:tbl>
              <a:tblPr/>
              <a:tblGrid>
                <a:gridCol w="2926080"/>
                <a:gridCol w="4480560"/>
                <a:gridCol w="3502152"/>
              </a:tblGrid>
              <a:tr h="548640">
                <a:tc>
                  <a:txBody>
                    <a:bodyPr/>
                    <a:lstStyle/>
                    <a:p>
                      <a:pPr indent="0" marL="0">
                        <a:buNone/>
                      </a:pPr>
                      <a:r>
                        <a:rPr lang="en-US" sz="1400" b="1" dirty="0">
                          <a:solidFill>
                            <a:srgbClr val="555C7A"/>
                          </a:solidFill>
                        </a:rPr>
                        <a:t>함정</a:t>
                      </a:r>
                      <a:endParaRPr lang="en-US" sz="14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400" b="1" dirty="0">
                          <a:solidFill>
                            <a:srgbClr val="555C7A"/>
                          </a:solidFill>
                        </a:rPr>
                        <a:t>이런 증상</a:t>
                      </a:r>
                      <a:endParaRPr lang="en-US" sz="14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400" b="1" dirty="0">
                          <a:solidFill>
                            <a:srgbClr val="555C7A"/>
                          </a:solidFill>
                        </a:rPr>
                        <a:t>처방</a:t>
                      </a:r>
                      <a:endParaRPr lang="en-US" sz="14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r>
              <a:tr h="548640">
                <a:tc>
                  <a:txBody>
                    <a:bodyPr/>
                    <a:lstStyle/>
                    <a:p>
                      <a:pPr indent="0" marL="0">
                        <a:buNone/>
                      </a:pPr>
                      <a:r>
                        <a:rPr lang="en-US" sz="1500" b="1" dirty="0">
                          <a:solidFill>
                            <a:srgbClr val="1B1F3B"/>
                          </a:solidFill>
                        </a:rPr>
                        <a:t>p-hacking · 다중검정</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지표와 세그먼트를 바꿔가며 '유의'를 찾는다</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Primary 사전 등록, 다중검정 보정</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548640">
                <a:tc>
                  <a:txBody>
                    <a:bodyPr/>
                    <a:lstStyle/>
                    <a:p>
                      <a:pPr indent="0" marL="0">
                        <a:buNone/>
                      </a:pPr>
                      <a:r>
                        <a:rPr lang="en-US" sz="1500" b="1" dirty="0">
                          <a:solidFill>
                            <a:srgbClr val="1B1F3B"/>
                          </a:solidFill>
                        </a:rPr>
                        <a:t>조기 종료 (Peeking)</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유의가 나온 날 실험을 멈춘다</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기간 고정, Sequential Testing</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548640">
                <a:tc>
                  <a:txBody>
                    <a:bodyPr/>
                    <a:lstStyle/>
                    <a:p>
                      <a:pPr indent="0" marL="0">
                        <a:buNone/>
                      </a:pPr>
                      <a:r>
                        <a:rPr lang="en-US" sz="1500" b="1" dirty="0">
                          <a:solidFill>
                            <a:srgbClr val="1B1F3B"/>
                          </a:solidFill>
                        </a:rPr>
                        <a:t>심슨의 역설</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세그먼트별 결과와 전체 결과가 반대다</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트래픽 구성과 배정 비율 확인</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548640">
                <a:tc>
                  <a:txBody>
                    <a:bodyPr/>
                    <a:lstStyle/>
                    <a:p>
                      <a:pPr indent="0" marL="0">
                        <a:buNone/>
                      </a:pPr>
                      <a:r>
                        <a:rPr lang="en-US" sz="1500" b="1" dirty="0">
                          <a:solidFill>
                            <a:srgbClr val="1B1F3B"/>
                          </a:solidFill>
                        </a:rPr>
                        <a:t>신규성 · 학습 효과</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초반 효과가 사라지거나 늦게 나타난다</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기간 확보, 코호트별 추이</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548640">
                <a:tc>
                  <a:txBody>
                    <a:bodyPr/>
                    <a:lstStyle/>
                    <a:p>
                      <a:pPr indent="0" marL="0">
                        <a:buNone/>
                      </a:pPr>
                      <a:r>
                        <a:rPr lang="en-US" sz="1500" b="1" dirty="0">
                          <a:solidFill>
                            <a:srgbClr val="1B1F3B"/>
                          </a:solidFill>
                        </a:rPr>
                        <a:t>SRM</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50:50으로 설계했는데 관측 비율이 어긋난다</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결과 해석 중단, 원인 조사</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548640">
                <a:tc>
                  <a:txBody>
                    <a:bodyPr/>
                    <a:lstStyle/>
                    <a:p>
                      <a:pPr indent="0" marL="0">
                        <a:buNone/>
                      </a:pPr>
                      <a:r>
                        <a:rPr lang="en-US" sz="1500" b="1" dirty="0">
                          <a:solidFill>
                            <a:srgbClr val="1B1F3B"/>
                          </a:solidFill>
                        </a:rPr>
                        <a:t>Spillover</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그룹 사이로 효과가 번진다</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클러스터 랜덤화, 스위치백</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Ch4 · Sequential Testing</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중간에 봐야 한다면, 봐도 되는 방법으로 본다</a:t>
            </a:r>
            <a:endParaRPr lang="en-US" sz="2000" dirty="0"/>
          </a:p>
        </p:txBody>
      </p:sp>
      <p:sp>
        <p:nvSpPr>
          <p:cNvPr id="5" name="Text 2"/>
          <p:cNvSpPr txBox="1"/>
          <p:nvPr/>
        </p:nvSpPr>
        <p:spPr>
          <a:xfrm>
            <a:off x="640080" y="1920240"/>
            <a:ext cx="4846320" cy="1645920"/>
          </a:xfrm>
          <a:prstGeom prst="rect">
            <a:avLst/>
          </a:prstGeom>
          <a:noFill/>
          <a:ln/>
        </p:spPr>
        <p:txBody>
          <a:bodyPr wrap="square" lIns="0" tIns="0" rIns="0" bIns="0" rtlCol="0" anchor="t"/>
          <a:lstStyle/>
          <a:p>
            <a:pPr indent="0" marL="0">
              <a:buNone/>
            </a:pPr>
            <a:r>
              <a:rPr lang="en-US" sz="2000" b="1" dirty="0">
                <a:solidFill>
                  <a:schemeClr val="tx2"/>
                </a:solidFill>
              </a:rPr>
              <a:t>고정 기간 검정</a:t>
            </a:r>
            <a:endParaRPr lang="en-US" sz="1500" dirty="0"/>
          </a:p>
          <a:p>
            <a:pPr indent="0" marL="0">
              <a:spcAft>
                <a:spcPts val="800"/>
              </a:spcAft>
              <a:buNone/>
            </a:pPr>
            <a:r>
              <a:rPr lang="en-US" sz="1500" dirty="0">
                <a:solidFill>
                  <a:schemeClr val="tx1"/>
                </a:solidFill>
              </a:rPr>
              <a:t>마지막 날 한 번만 본다</a:t>
            </a:r>
            <a:endParaRPr lang="en-US" sz="1500" dirty="0"/>
          </a:p>
          <a:p>
            <a:pPr indent="0" marL="0">
              <a:buNone/>
            </a:pPr>
            <a:r>
              <a:rPr lang="en-US" sz="1500" dirty="0">
                <a:solidFill>
                  <a:schemeClr val="tx2"/>
                </a:solidFill>
              </a:rPr>
              <a:t>중간에 보고 멈추면 α가 깨진다</a:t>
            </a:r>
            <a:endParaRPr lang="en-US" sz="1500" dirty="0"/>
          </a:p>
        </p:txBody>
      </p:sp>
      <p:sp>
        <p:nvSpPr>
          <p:cNvPr id="6" name="Shape 3"/>
          <p:cNvSpPr/>
          <p:nvPr/>
        </p:nvSpPr>
        <p:spPr>
          <a:xfrm>
            <a:off x="5989320" y="1965960"/>
            <a:ext cx="0" cy="1554480"/>
          </a:xfrm>
          <a:prstGeom prst="line">
            <a:avLst/>
          </a:prstGeom>
          <a:noFill/>
          <a:ln w="12700">
            <a:solidFill>
              <a:srgbClr val="E3E7F1"/>
            </a:solidFill>
            <a:prstDash val="solid"/>
          </a:ln>
        </p:spPr>
      </p:sp>
      <p:sp>
        <p:nvSpPr>
          <p:cNvPr id="7" name="Text 4"/>
          <p:cNvSpPr txBox="1"/>
          <p:nvPr/>
        </p:nvSpPr>
        <p:spPr>
          <a:xfrm>
            <a:off x="6355080" y="1920240"/>
            <a:ext cx="5120640" cy="1645920"/>
          </a:xfrm>
          <a:prstGeom prst="rect">
            <a:avLst/>
          </a:prstGeom>
          <a:noFill/>
          <a:ln/>
        </p:spPr>
        <p:txBody>
          <a:bodyPr wrap="square" lIns="0" tIns="0" rIns="0" bIns="0" rtlCol="0" anchor="t"/>
          <a:lstStyle/>
          <a:p>
            <a:pPr indent="0" marL="0">
              <a:buNone/>
            </a:pPr>
            <a:r>
              <a:rPr lang="en-US" sz="2000" b="1" dirty="0">
                <a:solidFill>
                  <a:schemeClr val="accent1"/>
                </a:solidFill>
              </a:rPr>
              <a:t>Sequential Testing</a:t>
            </a:r>
            <a:endParaRPr lang="en-US" sz="1500" dirty="0"/>
          </a:p>
          <a:p>
            <a:pPr indent="0" marL="0">
              <a:spcAft>
                <a:spcPts val="800"/>
              </a:spcAft>
              <a:buNone/>
            </a:pPr>
            <a:r>
              <a:rPr lang="en-US" sz="1500" dirty="0">
                <a:solidFill>
                  <a:schemeClr val="tx1"/>
                </a:solidFill>
              </a:rPr>
              <a:t>중간 확인을 전제로 기준을 설계한다</a:t>
            </a:r>
            <a:endParaRPr lang="en-US" sz="1500" dirty="0"/>
          </a:p>
          <a:p>
            <a:pPr indent="0" marL="0">
              <a:buNone/>
            </a:pPr>
            <a:r>
              <a:rPr lang="en-US" sz="1500" dirty="0">
                <a:solidFill>
                  <a:schemeClr val="tx2"/>
                </a:solidFill>
              </a:rPr>
              <a:t>언제 멈춰도 α 유지 · 대가로 검정력이 조금 낮다</a:t>
            </a:r>
            <a:endParaRPr lang="en-US" sz="1500" dirty="0"/>
          </a:p>
        </p:txBody>
      </p:sp>
      <p:sp>
        <p:nvSpPr>
          <p:cNvPr id="8" name="Text 5"/>
          <p:cNvSpPr txBox="1"/>
          <p:nvPr/>
        </p:nvSpPr>
        <p:spPr>
          <a:xfrm>
            <a:off x="640080" y="3931920"/>
            <a:ext cx="10911535" cy="548640"/>
          </a:xfrm>
          <a:prstGeom prst="rect">
            <a:avLst/>
          </a:prstGeom>
          <a:noFill/>
          <a:ln/>
        </p:spPr>
        <p:txBody>
          <a:bodyPr wrap="square" lIns="0" tIns="0" rIns="0" bIns="0" rtlCol="0" anchor="t"/>
          <a:lstStyle/>
          <a:p>
            <a:pPr indent="0" marL="0">
              <a:buNone/>
            </a:pPr>
            <a:r>
              <a:rPr lang="en-US" sz="1500" b="1" dirty="0">
                <a:solidFill>
                  <a:schemeClr val="accent1"/>
                </a:solidFill>
              </a:rPr>
              <a:t>실무에서 이렇게 말한다  </a:t>
            </a:r>
            <a:pPr indent="0" marL="0">
              <a:buNone/>
            </a:pPr>
            <a:r>
              <a:rPr lang="en-US" sz="1500" dirty="0">
                <a:solidFill>
                  <a:schemeClr val="tx1"/>
                </a:solidFill>
              </a:rPr>
              <a:t>"매일 대시보드는 보되, 결정은 미리 정한 종료일이나 Sequential 기준으로만 합니다"</a:t>
            </a:r>
            <a:endParaRPr lang="en-US" sz="1500" dirty="0"/>
          </a:p>
        </p:txBody>
      </p:sp>
      <p:sp>
        <p:nvSpPr>
          <p:cNvPr id="9" name="Text 6"/>
          <p:cNvSpPr txBox="1"/>
          <p:nvPr/>
        </p:nvSpPr>
        <p:spPr>
          <a:xfrm>
            <a:off x="640080" y="4572000"/>
            <a:ext cx="10911535" cy="1371600"/>
          </a:xfrm>
          <a:prstGeom prst="rect">
            <a:avLst/>
          </a:prstGeom>
          <a:noFill/>
          <a:ln/>
        </p:spPr>
        <p:txBody>
          <a:bodyPr wrap="square" lIns="0" tIns="0" rIns="0" bIns="0" rtlCol="0" anchor="t"/>
          <a:lstStyle/>
          <a:p>
            <a:pPr indent="0" marL="0">
              <a:spcAft>
                <a:spcPts val="600"/>
              </a:spcAft>
              <a:buNone/>
            </a:pPr>
            <a:r>
              <a:rPr lang="en-US" sz="2000" b="1" dirty="0">
                <a:solidFill>
                  <a:schemeClr val="tx1"/>
                </a:solidFill>
              </a:rPr>
              <a:t>'매일 보고 마음대로 멈추기'가 아니다</a:t>
            </a:r>
            <a:endParaRPr lang="en-US" sz="1500" dirty="0"/>
          </a:p>
          <a:p>
            <a:pPr marL="342900" indent="-342900">
              <a:spcAft>
                <a:spcPts val="400"/>
              </a:spcAft>
              <a:buSzPct val="100000"/>
              <a:buChar char="•"/>
            </a:pPr>
            <a:r>
              <a:rPr lang="en-US" sz="1500" dirty="0">
                <a:solidFill>
                  <a:schemeClr val="tx1"/>
                </a:solidFill>
              </a:rPr>
              <a:t>방법: Alpha Spending, Group Sequential Test, Always-Valid p-value</a:t>
            </a:r>
            <a:endParaRPr lang="en-US" sz="1500" dirty="0"/>
          </a:p>
          <a:p>
            <a:pPr marL="342900" indent="-342900">
              <a:spcAft>
                <a:spcPts val="400"/>
              </a:spcAft>
              <a:buSzPct val="100000"/>
              <a:buChar char="•"/>
            </a:pPr>
            <a:r>
              <a:rPr lang="en-US" sz="1500" dirty="0">
                <a:solidFill>
                  <a:schemeClr val="tx1"/>
                </a:solidFill>
              </a:rPr>
              <a:t>중간에 Sequential로 갈아타지 않는다 · 중단 규칙은 실험 전에</a:t>
            </a:r>
            <a:endParaRPr lang="en-US" sz="15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Ch4 · 심슨의 역설</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세그먼트마다 이기는데 전체로는 진다</a:t>
            </a:r>
            <a:endParaRPr lang="en-US" sz="2000" dirty="0"/>
          </a:p>
        </p:txBody>
      </p:sp>
      <p:graphicFrame>
        <p:nvGraphicFramePr>
          <p:cNvPr id="62" name="Table 0"/>
          <p:cNvGraphicFramePr>
            <a:graphicFrameLocks noGrp="1"/>
          </p:cNvGraphicFramePr>
          <p:nvPr>
            <p:extLst>
              <p:ext uri="{D42A27DB-BD31-4B8C-83A1-F6EECF244321}">
                <p14:modId xmlns:p14="http://schemas.microsoft.com/office/powerpoint/2010/main" val="1579011935"/>
              </p:ext>
            </p:extLst>
          </p:nvPr>
        </p:nvGraphicFramePr>
        <p:xfrm>
          <a:off x="640080" y="1828800"/>
          <a:ext cx="7863840" cy="914400"/>
        </p:xfrm>
        <a:graphic>
          <a:graphicData uri="http://schemas.openxmlformats.org/drawingml/2006/table">
            <a:tbl>
              <a:tblPr/>
              <a:tblGrid>
                <a:gridCol w="1737360"/>
                <a:gridCol w="2011680"/>
                <a:gridCol w="2011680"/>
                <a:gridCol w="2103120"/>
              </a:tblGrid>
              <a:tr h="594360">
                <a:tc>
                  <a:txBody>
                    <a:bodyPr/>
                    <a:lstStyle/>
                    <a:p>
                      <a:pPr indent="0" marL="0">
                        <a:buNone/>
                      </a:pPr>
                      <a:endParaRPr lang="en-US" sz="14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400" b="1" dirty="0">
                          <a:solidFill>
                            <a:srgbClr val="555C7A"/>
                          </a:solidFill>
                        </a:rPr>
                        <a:t>데스크톱</a:t>
                      </a:r>
                      <a:endParaRPr lang="en-US" sz="14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400" b="1" dirty="0">
                          <a:solidFill>
                            <a:srgbClr val="555C7A"/>
                          </a:solidFill>
                        </a:rPr>
                        <a:t>모바일</a:t>
                      </a:r>
                      <a:endParaRPr lang="en-US" sz="14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400" b="1" dirty="0">
                          <a:solidFill>
                            <a:srgbClr val="555C7A"/>
                          </a:solidFill>
                        </a:rPr>
                        <a:t>전체</a:t>
                      </a:r>
                      <a:endParaRPr lang="en-US" sz="14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r>
              <a:tr h="594360">
                <a:tc>
                  <a:txBody>
                    <a:bodyPr/>
                    <a:lstStyle/>
                    <a:p>
                      <a:pPr indent="0" marL="0">
                        <a:buNone/>
                      </a:pPr>
                      <a:r>
                        <a:rPr lang="en-US" sz="1500" b="1" dirty="0">
                          <a:solidFill>
                            <a:srgbClr val="1B1F3B"/>
                          </a:solidFill>
                        </a:rPr>
                        <a:t>A 대조군</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80 / 800 = 10.0%</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10 / 200 = 5.0%</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b="1" dirty="0">
                          <a:solidFill>
                            <a:srgbClr val="3A5BFF"/>
                          </a:solidFill>
                        </a:rPr>
                        <a:t>90 / 1,000 = 9.0%</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594360">
                <a:tc>
                  <a:txBody>
                    <a:bodyPr/>
                    <a:lstStyle/>
                    <a:p>
                      <a:pPr indent="0" marL="0">
                        <a:buNone/>
                      </a:pPr>
                      <a:r>
                        <a:rPr lang="en-US" sz="1500" b="1" dirty="0">
                          <a:solidFill>
                            <a:srgbClr val="1B1F3B"/>
                          </a:solidFill>
                        </a:rPr>
                        <a:t>B 실험군</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22 / 200 = 11.0%</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44 / 800 = 5.5%</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b="1" dirty="0">
                          <a:solidFill>
                            <a:srgbClr val="D93B41"/>
                          </a:solidFill>
                        </a:rPr>
                        <a:t>66 / 1,000 = 6.6%</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594360">
                <a:tc>
                  <a:txBody>
                    <a:bodyPr/>
                    <a:lstStyle/>
                    <a:p>
                      <a:pPr indent="0" marL="0">
                        <a:buNone/>
                      </a:pPr>
                      <a:r>
                        <a:rPr lang="en-US" sz="1500" b="1" dirty="0">
                          <a:solidFill>
                            <a:srgbClr val="1B1F3B"/>
                          </a:solidFill>
                        </a:rPr>
                        <a:t>승자</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b="1" dirty="0">
                          <a:solidFill>
                            <a:srgbClr val="0E9C9C"/>
                          </a:solidFill>
                        </a:rPr>
                        <a:t>B</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b="1" dirty="0">
                          <a:solidFill>
                            <a:srgbClr val="0E9C9C"/>
                          </a:solidFill>
                        </a:rPr>
                        <a:t>B</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b="1" dirty="0">
                          <a:solidFill>
                            <a:srgbClr val="3A5BFF"/>
                          </a:solidFill>
                        </a:rPr>
                        <a:t>A</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bl>
          </a:graphicData>
        </a:graphic>
      </p:graphicFrame>
      <p:sp>
        <p:nvSpPr>
          <p:cNvPr id="6" name="Text 2"/>
          <p:cNvSpPr txBox="1"/>
          <p:nvPr/>
        </p:nvSpPr>
        <p:spPr>
          <a:xfrm>
            <a:off x="8869680" y="1828800"/>
            <a:ext cx="2697480" cy="3657600"/>
          </a:xfrm>
          <a:prstGeom prst="rect">
            <a:avLst/>
          </a:prstGeom>
          <a:noFill/>
          <a:ln/>
        </p:spPr>
        <p:txBody>
          <a:bodyPr wrap="square" lIns="0" tIns="0" rIns="0" bIns="0" rtlCol="0" anchor="t"/>
          <a:lstStyle/>
          <a:p>
            <a:pPr indent="0" marL="0">
              <a:buNone/>
            </a:pPr>
            <a:r>
              <a:rPr lang="en-US" sz="2000" b="1" dirty="0">
                <a:solidFill>
                  <a:schemeClr val="tx1"/>
                </a:solidFill>
              </a:rPr>
              <a:t>왜 뒤집히나</a:t>
            </a:r>
            <a:endParaRPr lang="en-US" sz="1500" dirty="0"/>
          </a:p>
          <a:p>
            <a:pPr indent="0" marL="0">
              <a:spcAft>
                <a:spcPts val="1400"/>
              </a:spcAft>
              <a:buNone/>
            </a:pPr>
            <a:r>
              <a:rPr lang="en-US" sz="1500" dirty="0">
                <a:solidFill>
                  <a:schemeClr val="tx2"/>
                </a:solidFill>
              </a:rPr>
              <a:t>전환율 낮은 모바일이 B 80%, A 20%</a:t>
            </a:r>
            <a:endParaRPr lang="en-US" sz="1500" dirty="0"/>
          </a:p>
          <a:p>
            <a:pPr indent="0" marL="0">
              <a:buNone/>
            </a:pPr>
            <a:r>
              <a:rPr lang="en-US" sz="2000" b="1" dirty="0">
                <a:solidFill>
                  <a:schemeClr val="tx1"/>
                </a:solidFill>
              </a:rPr>
              <a:t>실험이라면</a:t>
            </a:r>
            <a:endParaRPr lang="en-US" sz="1500" dirty="0"/>
          </a:p>
          <a:p>
            <a:pPr indent="0" marL="0">
              <a:buNone/>
            </a:pPr>
            <a:r>
              <a:rPr lang="en-US" sz="1500" dirty="0">
                <a:solidFill>
                  <a:schemeClr val="tx2"/>
                </a:solidFill>
              </a:rPr>
              <a:t>그룹 구성이 다르다 = 배정 문제 신호 · 램프업 중 비율 변경에서도 생김</a:t>
            </a:r>
            <a:endParaRPr lang="en-US" sz="1500" dirty="0"/>
          </a:p>
        </p:txBody>
      </p:sp>
      <p:sp>
        <p:nvSpPr>
          <p:cNvPr id="7" name="Text 3"/>
          <p:cNvSpPr txBox="1"/>
          <p:nvPr/>
        </p:nvSpPr>
        <p:spPr>
          <a:xfrm>
            <a:off x="640080" y="5989320"/>
            <a:ext cx="10911535" cy="274320"/>
          </a:xfrm>
          <a:prstGeom prst="rect">
            <a:avLst/>
          </a:prstGeom>
          <a:noFill/>
          <a:ln/>
        </p:spPr>
        <p:txBody>
          <a:bodyPr wrap="square" lIns="0" tIns="0" rIns="0" bIns="0" rtlCol="0" anchor="t"/>
          <a:lstStyle/>
          <a:p>
            <a:pPr indent="0" marL="0">
              <a:buNone/>
            </a:pPr>
            <a:r>
              <a:rPr lang="en-US" sz="1100" dirty="0">
                <a:solidFill>
                  <a:schemeClr val="accent6"/>
                </a:solidFill>
              </a:rPr>
              <a:t>교육용 예시 수치</a:t>
            </a:r>
            <a:endParaRPr lang="en-US" sz="11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Ch4 · Sample Ratio Mismatch</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결과보다 배정 비율을 먼저 본다</a:t>
            </a:r>
            <a:endParaRPr lang="en-US" sz="2000" dirty="0"/>
          </a:p>
        </p:txBody>
      </p:sp>
      <p:sp>
        <p:nvSpPr>
          <p:cNvPr id="5" name="Text 2"/>
          <p:cNvSpPr txBox="1"/>
          <p:nvPr/>
        </p:nvSpPr>
        <p:spPr>
          <a:xfrm>
            <a:off x="640080" y="1874520"/>
            <a:ext cx="6583680" cy="1097280"/>
          </a:xfrm>
          <a:prstGeom prst="rect">
            <a:avLst/>
          </a:prstGeom>
          <a:noFill/>
          <a:ln/>
        </p:spPr>
        <p:txBody>
          <a:bodyPr wrap="square" lIns="0" tIns="0" rIns="0" bIns="0" rtlCol="0" anchor="t"/>
          <a:lstStyle/>
          <a:p>
            <a:pPr indent="0" marL="0">
              <a:buNone/>
            </a:pPr>
            <a:r>
              <a:rPr lang="en-US" sz="5400" b="1" dirty="0">
                <a:solidFill>
                  <a:schemeClr val="accent1"/>
                </a:solidFill>
              </a:rPr>
              <a:t>50,000</a:t>
            </a:r>
            <a:pPr indent="0" marL="0">
              <a:buNone/>
            </a:pPr>
            <a:r>
              <a:rPr lang="en-US" sz="5400" b="1" dirty="0">
                <a:solidFill>
                  <a:schemeClr val="accent6"/>
                </a:solidFill>
              </a:rPr>
              <a:t>  vs  </a:t>
            </a:r>
            <a:pPr indent="0" marL="0">
              <a:buNone/>
            </a:pPr>
            <a:r>
              <a:rPr lang="en-US" sz="5400" b="1" dirty="0">
                <a:solidFill>
                  <a:schemeClr val="accent2"/>
                </a:solidFill>
              </a:rPr>
              <a:t>48,800</a:t>
            </a:r>
            <a:endParaRPr lang="en-US" sz="5400" dirty="0"/>
          </a:p>
        </p:txBody>
      </p:sp>
      <p:sp>
        <p:nvSpPr>
          <p:cNvPr id="6" name="Text 3"/>
          <p:cNvSpPr txBox="1"/>
          <p:nvPr/>
        </p:nvSpPr>
        <p:spPr>
          <a:xfrm>
            <a:off x="640080" y="2971800"/>
            <a:ext cx="6400800" cy="365760"/>
          </a:xfrm>
          <a:prstGeom prst="rect">
            <a:avLst/>
          </a:prstGeom>
          <a:noFill/>
          <a:ln/>
        </p:spPr>
        <p:txBody>
          <a:bodyPr wrap="square" lIns="0" tIns="0" rIns="0" bIns="0" rtlCol="0" anchor="t"/>
          <a:lstStyle/>
          <a:p>
            <a:pPr indent="0" marL="0">
              <a:buNone/>
            </a:pPr>
            <a:r>
              <a:rPr lang="en-US" sz="1500" dirty="0">
                <a:solidFill>
                  <a:schemeClr val="tx2"/>
                </a:solidFill>
              </a:rPr>
              <a:t>50:50으로 설계한 실험에 실제로 들어온 사용자 수 (교육용 예시)</a:t>
            </a:r>
            <a:endParaRPr lang="en-US" sz="1500" dirty="0"/>
          </a:p>
        </p:txBody>
      </p:sp>
      <p:sp>
        <p:nvSpPr>
          <p:cNvPr id="7" name="Text 4"/>
          <p:cNvSpPr txBox="1"/>
          <p:nvPr/>
        </p:nvSpPr>
        <p:spPr>
          <a:xfrm>
            <a:off x="640080" y="3520440"/>
            <a:ext cx="6400800" cy="457200"/>
          </a:xfrm>
          <a:prstGeom prst="rect">
            <a:avLst/>
          </a:prstGeom>
          <a:noFill/>
          <a:ln/>
        </p:spPr>
        <p:txBody>
          <a:bodyPr wrap="square" lIns="0" tIns="0" rIns="0" bIns="0" rtlCol="0" anchor="t"/>
          <a:lstStyle/>
          <a:p>
            <a:pPr indent="0" marL="0">
              <a:buNone/>
            </a:pPr>
            <a:r>
              <a:rPr lang="en-US" sz="2000" b="1" dirty="0">
                <a:solidFill>
                  <a:schemeClr val="accent4"/>
                </a:solidFill>
              </a:rPr>
              <a:t>χ² = 14.6,  p ≈ 0.0001</a:t>
            </a:r>
            <a:pPr indent="0" marL="0">
              <a:buNone/>
            </a:pPr>
            <a:r>
              <a:rPr lang="en-US" sz="2000" dirty="0">
                <a:solidFill>
                  <a:schemeClr val="tx2"/>
                </a:solidFill>
              </a:rPr>
              <a:t>  → 우연으로 보기 어렵다</a:t>
            </a:r>
            <a:endParaRPr lang="en-US" sz="2000" dirty="0"/>
          </a:p>
        </p:txBody>
      </p:sp>
      <p:sp>
        <p:nvSpPr>
          <p:cNvPr id="8" name="Text 5"/>
          <p:cNvSpPr txBox="1"/>
          <p:nvPr/>
        </p:nvSpPr>
        <p:spPr>
          <a:xfrm>
            <a:off x="640080" y="4297680"/>
            <a:ext cx="6400800" cy="457200"/>
          </a:xfrm>
          <a:prstGeom prst="rect">
            <a:avLst/>
          </a:prstGeom>
          <a:noFill/>
          <a:ln/>
        </p:spPr>
        <p:txBody>
          <a:bodyPr wrap="square" lIns="0" tIns="0" rIns="0" bIns="0" rtlCol="0" anchor="t"/>
          <a:lstStyle/>
          <a:p>
            <a:pPr indent="0" marL="0">
              <a:buNone/>
            </a:pPr>
            <a:r>
              <a:rPr lang="en-US" sz="2000" b="1" dirty="0">
                <a:solidFill>
                  <a:schemeClr val="accent4"/>
                </a:solidFill>
              </a:rPr>
              <a:t>SRM이면 결과 해석 금지. </a:t>
            </a:r>
            <a:pPr indent="0" marL="0">
              <a:buNone/>
            </a:pPr>
            <a:r>
              <a:rPr lang="en-US" sz="2000" dirty="0">
                <a:solidFill>
                  <a:schemeClr val="tx1"/>
                </a:solidFill>
              </a:rPr>
              <a:t>원인을 고치고 다시 돌립니다</a:t>
            </a:r>
            <a:endParaRPr lang="en-US" sz="2000" dirty="0"/>
          </a:p>
        </p:txBody>
      </p:sp>
      <p:sp>
        <p:nvSpPr>
          <p:cNvPr id="9" name="Text 6"/>
          <p:cNvSpPr txBox="1"/>
          <p:nvPr/>
        </p:nvSpPr>
        <p:spPr>
          <a:xfrm>
            <a:off x="7498080" y="1920240"/>
            <a:ext cx="4069080" cy="3017520"/>
          </a:xfrm>
          <a:prstGeom prst="rect">
            <a:avLst/>
          </a:prstGeom>
          <a:noFill/>
          <a:ln/>
        </p:spPr>
        <p:txBody>
          <a:bodyPr wrap="square" lIns="0" tIns="0" rIns="0" bIns="0" rtlCol="0" anchor="t"/>
          <a:lstStyle/>
          <a:p>
            <a:pPr indent="0" marL="0">
              <a:spcAft>
                <a:spcPts val="600"/>
              </a:spcAft>
              <a:buNone/>
            </a:pPr>
            <a:r>
              <a:rPr lang="en-US" sz="2000" b="1" dirty="0">
                <a:solidFill>
                  <a:schemeClr val="tx1"/>
                </a:solidFill>
              </a:rPr>
              <a:t>어디서든 생긴다</a:t>
            </a:r>
            <a:endParaRPr lang="en-US" sz="1500" dirty="0"/>
          </a:p>
          <a:p>
            <a:pPr indent="0" marL="0">
              <a:buNone/>
            </a:pPr>
            <a:r>
              <a:rPr lang="en-US" sz="1500" b="1" dirty="0">
                <a:solidFill>
                  <a:schemeClr val="tx1"/>
                </a:solidFill>
              </a:rPr>
              <a:t>배정  </a:t>
            </a:r>
            <a:pPr indent="0" marL="0">
              <a:spcAft>
                <a:spcPts val="300"/>
              </a:spcAft>
              <a:buNone/>
            </a:pPr>
            <a:r>
              <a:rPr lang="en-US" sz="1500" dirty="0">
                <a:solidFill>
                  <a:schemeClr val="tx1"/>
                </a:solidFill>
              </a:rPr>
              <a:t>해시·버킷 로직, 비율 설정 오류</a:t>
            </a:r>
            <a:endParaRPr lang="en-US" sz="1500" dirty="0"/>
          </a:p>
          <a:p>
            <a:pPr indent="0" marL="0">
              <a:buNone/>
            </a:pPr>
            <a:r>
              <a:rPr lang="en-US" sz="1500" b="1" dirty="0">
                <a:solidFill>
                  <a:schemeClr val="tx1"/>
                </a:solidFill>
              </a:rPr>
              <a:t>노출  </a:t>
            </a:r>
            <a:pPr indent="0" marL="0">
              <a:spcAft>
                <a:spcPts val="300"/>
              </a:spcAft>
              <a:buNone/>
            </a:pPr>
            <a:r>
              <a:rPr lang="en-US" sz="1500" dirty="0">
                <a:solidFill>
                  <a:schemeClr val="tx1"/>
                </a:solidFill>
              </a:rPr>
              <a:t>특정 기기·브라우저에서 B가 안 뜸</a:t>
            </a:r>
            <a:endParaRPr lang="en-US" sz="1500" dirty="0"/>
          </a:p>
          <a:p>
            <a:pPr indent="0" marL="0">
              <a:buNone/>
            </a:pPr>
            <a:r>
              <a:rPr lang="en-US" sz="1500" b="1" dirty="0">
                <a:solidFill>
                  <a:schemeClr val="tx1"/>
                </a:solidFill>
              </a:rPr>
              <a:t>로깅  </a:t>
            </a:r>
            <a:pPr indent="0" marL="0">
              <a:spcAft>
                <a:spcPts val="300"/>
              </a:spcAft>
              <a:buNone/>
            </a:pPr>
            <a:r>
              <a:rPr lang="en-US" sz="1500" dirty="0">
                <a:solidFill>
                  <a:schemeClr val="tx1"/>
                </a:solidFill>
              </a:rPr>
              <a:t>한 Variant의 이벤트 누락</a:t>
            </a:r>
            <a:endParaRPr lang="en-US" sz="1500" dirty="0"/>
          </a:p>
          <a:p>
            <a:pPr indent="0" marL="0">
              <a:buNone/>
            </a:pPr>
            <a:r>
              <a:rPr lang="en-US" sz="1500" b="1" dirty="0">
                <a:solidFill>
                  <a:schemeClr val="tx1"/>
                </a:solidFill>
              </a:rPr>
              <a:t>데이터 처리  </a:t>
            </a:r>
            <a:pPr indent="0" marL="0">
              <a:spcAft>
                <a:spcPts val="300"/>
              </a:spcAft>
              <a:buNone/>
            </a:pPr>
            <a:r>
              <a:rPr lang="en-US" sz="1500" dirty="0">
                <a:solidFill>
                  <a:schemeClr val="tx1"/>
                </a:solidFill>
              </a:rPr>
              <a:t>Join·ETL·필터에서 한쪽이 더 빠짐</a:t>
            </a:r>
            <a:endParaRPr lang="en-US" sz="1500" dirty="0"/>
          </a:p>
          <a:p>
            <a:pPr indent="0" marL="0">
              <a:buNone/>
            </a:pPr>
            <a:r>
              <a:rPr lang="en-US" sz="1500" b="1" dirty="0">
                <a:solidFill>
                  <a:schemeClr val="tx1"/>
                </a:solidFill>
              </a:rPr>
              <a:t>분석  </a:t>
            </a:r>
            <a:pPr indent="0" marL="0">
              <a:buNone/>
            </a:pPr>
            <a:r>
              <a:rPr lang="en-US" sz="1500" dirty="0">
                <a:solidFill>
                  <a:schemeClr val="tx1"/>
                </a:solidFill>
              </a:rPr>
              <a:t>결과를 보고 특정 사용자만 제거</a:t>
            </a:r>
            <a:endParaRPr lang="en-US" sz="1500" dirty="0"/>
          </a:p>
        </p:txBody>
      </p:sp>
      <p:sp>
        <p:nvSpPr>
          <p:cNvPr id="10" name="Text 7"/>
          <p:cNvSpPr txBox="1"/>
          <p:nvPr/>
        </p:nvSpPr>
        <p:spPr>
          <a:xfrm>
            <a:off x="640080" y="4983480"/>
            <a:ext cx="10911535" cy="640080"/>
          </a:xfrm>
          <a:prstGeom prst="rect">
            <a:avLst/>
          </a:prstGeom>
          <a:noFill/>
          <a:ln/>
        </p:spPr>
        <p:txBody>
          <a:bodyPr wrap="square" lIns="0" tIns="0" rIns="0" bIns="0" rtlCol="0" anchor="t"/>
          <a:lstStyle/>
          <a:p>
            <a:pPr indent="0" marL="0">
              <a:buNone/>
            </a:pPr>
            <a:r>
              <a:rPr lang="en-US" sz="1500" b="1" dirty="0">
                <a:solidFill>
                  <a:schemeClr val="accent1"/>
                </a:solidFill>
              </a:rPr>
              <a:t>점검 요령  </a:t>
            </a:r>
            <a:pPr indent="0" marL="0">
              <a:buNone/>
            </a:pPr>
            <a:r>
              <a:rPr lang="en-US" sz="1500" dirty="0">
                <a:solidFill>
                  <a:schemeClr val="tx1"/>
                </a:solidFill>
              </a:rPr>
              <a:t>배정 단위로 센다(사용자 배정 → 고유 사용자 수) · 기기·브라우저·날짜·국가·유입 채널로 쪼개 원인 찾기</a:t>
            </a:r>
            <a:endParaRPr lang="en-US" sz="1500" dirty="0"/>
          </a:p>
        </p:txBody>
      </p:sp>
      <p:sp>
        <p:nvSpPr>
          <p:cNvPr id="11" name="Text 8"/>
          <p:cNvSpPr txBox="1"/>
          <p:nvPr/>
        </p:nvSpPr>
        <p:spPr>
          <a:xfrm>
            <a:off x="640080" y="5623560"/>
            <a:ext cx="10911535" cy="457200"/>
          </a:xfrm>
          <a:prstGeom prst="rect">
            <a:avLst/>
          </a:prstGeom>
          <a:noFill/>
          <a:ln/>
        </p:spPr>
        <p:txBody>
          <a:bodyPr wrap="square" lIns="0" tIns="0" rIns="0" bIns="0" rtlCol="0" anchor="t"/>
          <a:lstStyle/>
          <a:p>
            <a:pPr indent="0" marL="0">
              <a:buNone/>
            </a:pPr>
            <a:r>
              <a:rPr lang="en-US" sz="1400" dirty="0">
                <a:solidFill>
                  <a:schemeClr val="tx2"/>
                </a:solidFill>
              </a:rPr>
              <a:t>SRM = 결과 지표가 아니라 신뢰성 지표(Trustworthiness Metric) · 핵심은 인원수가 아니라 누가 빠졌는지 모른다는 것</a:t>
            </a:r>
            <a:endParaRPr lang="en-US" sz="14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Ch4 · 그 밖의 오염 신호</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측정이 흔들리면 결과도 흔들린다</a:t>
            </a:r>
            <a:endParaRPr lang="en-US" sz="2000" dirty="0"/>
          </a:p>
        </p:txBody>
      </p:sp>
      <p:sp>
        <p:nvSpPr>
          <p:cNvPr id="5" name="Text 2"/>
          <p:cNvSpPr txBox="1"/>
          <p:nvPr/>
        </p:nvSpPr>
        <p:spPr>
          <a:xfrm>
            <a:off x="640080" y="1920240"/>
            <a:ext cx="3383280" cy="2743200"/>
          </a:xfrm>
          <a:prstGeom prst="rect">
            <a:avLst/>
          </a:prstGeom>
          <a:noFill/>
          <a:ln/>
        </p:spPr>
        <p:txBody>
          <a:bodyPr wrap="square" lIns="0" tIns="0" rIns="0" bIns="0" rtlCol="0" anchor="t"/>
          <a:lstStyle/>
          <a:p>
            <a:pPr indent="0" marL="0">
              <a:buNone/>
            </a:pPr>
            <a:r>
              <a:rPr lang="en-US" sz="2000" b="1" dirty="0">
                <a:solidFill>
                  <a:schemeClr val="tx1"/>
                </a:solidFill>
              </a:rPr>
              <a:t>Survivorship Bias</a:t>
            </a:r>
            <a:endParaRPr lang="en-US" sz="1500" dirty="0"/>
          </a:p>
          <a:p>
            <a:pPr indent="0" marL="0">
              <a:spcAft>
                <a:spcPts val="1000"/>
              </a:spcAft>
              <a:buNone/>
            </a:pPr>
            <a:r>
              <a:rPr lang="en-US" sz="1500" dirty="0">
                <a:solidFill>
                  <a:schemeClr val="accent1"/>
                </a:solidFill>
              </a:rPr>
              <a:t>남은 사람만 본다</a:t>
            </a:r>
            <a:endParaRPr lang="en-US" sz="1500" dirty="0"/>
          </a:p>
          <a:p>
            <a:pPr indent="0" marL="0">
              <a:buNone/>
            </a:pPr>
            <a:r>
              <a:rPr lang="en-US" sz="1500" dirty="0">
                <a:solidFill>
                  <a:schemeClr val="tx2"/>
                </a:solidFill>
              </a:rPr>
              <a:t>B 화면이 일부 환경에서 느려 이탈한 사용자가 노출 로그에서 빠지면, 남은 사용자만 비교해 B가 좋아 보인다</a:t>
            </a:r>
            <a:endParaRPr lang="en-US" sz="1500" dirty="0"/>
          </a:p>
        </p:txBody>
      </p:sp>
      <p:sp>
        <p:nvSpPr>
          <p:cNvPr id="6" name="Text 3"/>
          <p:cNvSpPr txBox="1"/>
          <p:nvPr/>
        </p:nvSpPr>
        <p:spPr>
          <a:xfrm>
            <a:off x="4343400" y="1920240"/>
            <a:ext cx="3383280" cy="2743200"/>
          </a:xfrm>
          <a:prstGeom prst="rect">
            <a:avLst/>
          </a:prstGeom>
          <a:noFill/>
          <a:ln/>
        </p:spPr>
        <p:txBody>
          <a:bodyPr wrap="square" lIns="0" tIns="0" rIns="0" bIns="0" rtlCol="0" anchor="t"/>
          <a:lstStyle/>
          <a:p>
            <a:pPr indent="0" marL="0">
              <a:buNone/>
            </a:pPr>
            <a:r>
              <a:rPr lang="en-US" sz="2000" b="1" dirty="0">
                <a:solidFill>
                  <a:schemeClr val="tx1"/>
                </a:solidFill>
              </a:rPr>
              <a:t>Network Effect · Spillover</a:t>
            </a:r>
            <a:endParaRPr lang="en-US" sz="1500" dirty="0"/>
          </a:p>
          <a:p>
            <a:pPr indent="0" marL="0">
              <a:spcAft>
                <a:spcPts val="1000"/>
              </a:spcAft>
              <a:buNone/>
            </a:pPr>
            <a:r>
              <a:rPr lang="en-US" sz="1500" dirty="0">
                <a:solidFill>
                  <a:schemeClr val="accent1"/>
                </a:solidFill>
              </a:rPr>
              <a:t>그룹 사이로 번진다</a:t>
            </a:r>
            <a:endParaRPr lang="en-US" sz="1500" dirty="0"/>
          </a:p>
          <a:p>
            <a:pPr indent="0" marL="0">
              <a:buNone/>
            </a:pPr>
            <a:r>
              <a:rPr lang="en-US" sz="1500" dirty="0">
                <a:solidFill>
                  <a:schemeClr val="tx2"/>
                </a:solidFill>
              </a:rPr>
              <a:t>B의 효과가 A로 새어 나가 차이가 과소 추정된다</a:t>
            </a:r>
            <a:endParaRPr lang="en-US" sz="1500" dirty="0"/>
          </a:p>
        </p:txBody>
      </p:sp>
      <p:sp>
        <p:nvSpPr>
          <p:cNvPr id="7" name="Text 4"/>
          <p:cNvSpPr txBox="1"/>
          <p:nvPr/>
        </p:nvSpPr>
        <p:spPr>
          <a:xfrm>
            <a:off x="8046720" y="1920240"/>
            <a:ext cx="3383280" cy="2743200"/>
          </a:xfrm>
          <a:prstGeom prst="rect">
            <a:avLst/>
          </a:prstGeom>
          <a:noFill/>
          <a:ln/>
        </p:spPr>
        <p:txBody>
          <a:bodyPr wrap="square" lIns="0" tIns="0" rIns="0" bIns="0" rtlCol="0" anchor="t"/>
          <a:lstStyle/>
          <a:p>
            <a:pPr indent="0" marL="0">
              <a:buNone/>
            </a:pPr>
            <a:r>
              <a:rPr lang="en-US" sz="2000" b="1" dirty="0">
                <a:solidFill>
                  <a:schemeClr val="tx1"/>
                </a:solidFill>
              </a:rPr>
              <a:t>Instrumentation Effect</a:t>
            </a:r>
            <a:endParaRPr lang="en-US" sz="1500" dirty="0"/>
          </a:p>
          <a:p>
            <a:pPr indent="0" marL="0">
              <a:spcAft>
                <a:spcPts val="1000"/>
              </a:spcAft>
              <a:buNone/>
            </a:pPr>
            <a:r>
              <a:rPr lang="en-US" sz="1500" dirty="0">
                <a:solidFill>
                  <a:schemeClr val="accent1"/>
                </a:solidFill>
              </a:rPr>
              <a:t>재는 방법이 바뀌었다</a:t>
            </a:r>
            <a:endParaRPr lang="en-US" sz="1500" dirty="0"/>
          </a:p>
          <a:p>
            <a:pPr indent="0" marL="0">
              <a:buNone/>
            </a:pPr>
            <a:r>
              <a:rPr lang="en-US" sz="1500" dirty="0">
                <a:solidFill>
                  <a:schemeClr val="tx2"/>
                </a:solidFill>
              </a:rPr>
              <a:t>B 화면에만 클릭 로깅을 새로 붙이면 지표 차이가 측정 차이일 수 있다</a:t>
            </a:r>
            <a:endParaRPr lang="en-US" sz="1500" dirty="0"/>
          </a:p>
        </p:txBody>
      </p:sp>
      <p:sp>
        <p:nvSpPr>
          <p:cNvPr id="8" name="Text 5"/>
          <p:cNvSpPr txBox="1"/>
          <p:nvPr/>
        </p:nvSpPr>
        <p:spPr>
          <a:xfrm>
            <a:off x="640080" y="4754880"/>
            <a:ext cx="10911535" cy="822960"/>
          </a:xfrm>
          <a:prstGeom prst="rect">
            <a:avLst/>
          </a:prstGeom>
          <a:noFill/>
          <a:ln/>
        </p:spPr>
        <p:txBody>
          <a:bodyPr wrap="square" lIns="0" tIns="0" rIns="0" bIns="0" rtlCol="0" anchor="t"/>
          <a:lstStyle/>
          <a:p>
            <a:pPr indent="0" marL="0">
              <a:buNone/>
            </a:pPr>
            <a:r>
              <a:rPr lang="en-US" sz="1500" b="1" dirty="0">
                <a:solidFill>
                  <a:schemeClr val="accent4"/>
                </a:solidFill>
              </a:rPr>
              <a:t>결과를 본 뒤 필터링하지 않는다  </a:t>
            </a:r>
            <a:pPr indent="0" marL="0">
              <a:buNone/>
            </a:pPr>
            <a:r>
              <a:rPr lang="en-US" sz="1500" dirty="0">
                <a:solidFill>
                  <a:schemeClr val="tx1"/>
                </a:solidFill>
              </a:rPr>
              <a:t>'결제 시도한 사용자만', '10초 이상 본 사용자만' → 처치 이후 행동으로 고르면 다른 사람끼리 비교 · 제외 규칙은 실험 전에</a:t>
            </a:r>
            <a:endParaRPr lang="en-US" sz="15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Ch4 · 간섭(Interference)</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간섭은 두 경로로 생긴다</a:t>
            </a:r>
            <a:endParaRPr lang="en-US" sz="2000" dirty="0"/>
          </a:p>
        </p:txBody>
      </p:sp>
      <p:sp>
        <p:nvSpPr>
          <p:cNvPr id="5" name="Text 2"/>
          <p:cNvSpPr txBox="1"/>
          <p:nvPr/>
        </p:nvSpPr>
        <p:spPr>
          <a:xfrm>
            <a:off x="640080" y="1737360"/>
            <a:ext cx="10911535" cy="411480"/>
          </a:xfrm>
          <a:prstGeom prst="rect">
            <a:avLst/>
          </a:prstGeom>
          <a:noFill/>
          <a:ln/>
        </p:spPr>
        <p:txBody>
          <a:bodyPr wrap="square" lIns="0" tIns="0" rIns="0" bIns="0" rtlCol="0" anchor="t"/>
          <a:lstStyle/>
          <a:p>
            <a:pPr indent="0" marL="0">
              <a:buNone/>
            </a:pPr>
            <a:r>
              <a:rPr lang="en-US" sz="1500" b="1" dirty="0">
                <a:solidFill>
                  <a:schemeClr val="accent1"/>
                </a:solidFill>
              </a:rPr>
              <a:t>SUTVA  </a:t>
            </a:r>
            <a:pPr indent="0" marL="0">
              <a:buNone/>
            </a:pPr>
            <a:r>
              <a:rPr lang="en-US" sz="1500" dirty="0">
                <a:solidFill>
                  <a:schemeClr val="tx1"/>
                </a:solidFill>
              </a:rPr>
              <a:t>(Ch2)이 깨지는 현상 = 간섭 · 실무 용어 Spillover, Leakage</a:t>
            </a:r>
            <a:endParaRPr lang="en-US" sz="1500" dirty="0"/>
          </a:p>
        </p:txBody>
      </p:sp>
      <p:sp>
        <p:nvSpPr>
          <p:cNvPr id="6" name="Text 3"/>
          <p:cNvSpPr txBox="1"/>
          <p:nvPr/>
        </p:nvSpPr>
        <p:spPr>
          <a:xfrm>
            <a:off x="640080" y="2377440"/>
            <a:ext cx="4937760" cy="731520"/>
          </a:xfrm>
          <a:prstGeom prst="rect">
            <a:avLst/>
          </a:prstGeom>
          <a:noFill/>
          <a:ln/>
        </p:spPr>
        <p:txBody>
          <a:bodyPr wrap="square" lIns="0" tIns="0" rIns="0" bIns="0" rtlCol="0" anchor="t"/>
          <a:lstStyle/>
          <a:p>
            <a:pPr indent="0" marL="0">
              <a:buNone/>
            </a:pPr>
            <a:r>
              <a:rPr lang="en-US" sz="2000" b="1" dirty="0">
                <a:solidFill>
                  <a:schemeClr val="accent4"/>
                </a:solidFill>
              </a:rPr>
              <a:t>직접 간섭</a:t>
            </a:r>
            <a:endParaRPr lang="en-US" sz="1500" dirty="0"/>
          </a:p>
          <a:p>
            <a:pPr indent="0" marL="0">
              <a:buNone/>
            </a:pPr>
            <a:r>
              <a:rPr lang="en-US" sz="1400" dirty="0">
                <a:solidFill>
                  <a:schemeClr val="tx2"/>
                </a:solidFill>
              </a:rPr>
              <a:t>사용자끼리 연결된 서비스 · 네트워크 효과</a:t>
            </a:r>
            <a:endParaRPr lang="en-US" sz="1500" dirty="0"/>
          </a:p>
        </p:txBody>
      </p:sp>
      <p:sp>
        <p:nvSpPr>
          <p:cNvPr id="7" name="Text 4"/>
          <p:cNvSpPr txBox="1"/>
          <p:nvPr/>
        </p:nvSpPr>
        <p:spPr>
          <a:xfrm>
            <a:off x="640080" y="3246120"/>
            <a:ext cx="4572000" cy="365760"/>
          </a:xfrm>
          <a:prstGeom prst="rect">
            <a:avLst/>
          </a:prstGeom>
          <a:noFill/>
          <a:ln/>
        </p:spPr>
        <p:txBody>
          <a:bodyPr wrap="square" lIns="0" tIns="0" rIns="0" bIns="0" rtlCol="0" anchor="t"/>
          <a:lstStyle/>
          <a:p>
            <a:pPr indent="0" marL="0">
              <a:buNone/>
            </a:pPr>
            <a:r>
              <a:rPr lang="en-US" sz="1500" dirty="0">
                <a:solidFill>
                  <a:schemeClr val="tx1"/>
                </a:solidFill>
              </a:rPr>
              <a:t>B에만 새 공유 기능</a:t>
            </a:r>
            <a:endParaRPr lang="en-US" sz="1500" dirty="0"/>
          </a:p>
        </p:txBody>
      </p:sp>
      <p:sp>
        <p:nvSpPr>
          <p:cNvPr id="8" name="Text 5"/>
          <p:cNvSpPr txBox="1"/>
          <p:nvPr/>
        </p:nvSpPr>
        <p:spPr>
          <a:xfrm>
            <a:off x="868680" y="3657600"/>
            <a:ext cx="4572000" cy="365760"/>
          </a:xfrm>
          <a:prstGeom prst="rect">
            <a:avLst/>
          </a:prstGeom>
          <a:noFill/>
          <a:ln/>
        </p:spPr>
        <p:txBody>
          <a:bodyPr wrap="square" lIns="0" tIns="0" rIns="0" bIns="0" rtlCol="0" anchor="t"/>
          <a:lstStyle/>
          <a:p>
            <a:pPr indent="0" marL="0">
              <a:buNone/>
            </a:pPr>
            <a:r>
              <a:rPr lang="en-US" sz="1500" dirty="0">
                <a:solidFill>
                  <a:schemeClr val="tx1"/>
                </a:solidFill>
              </a:rPr>
              <a:t>→ B 사용자의 공유량 증가</a:t>
            </a:r>
            <a:endParaRPr lang="en-US" sz="1500" dirty="0"/>
          </a:p>
        </p:txBody>
      </p:sp>
      <p:sp>
        <p:nvSpPr>
          <p:cNvPr id="9" name="Text 6"/>
          <p:cNvSpPr txBox="1"/>
          <p:nvPr/>
        </p:nvSpPr>
        <p:spPr>
          <a:xfrm>
            <a:off x="1097280" y="4069080"/>
            <a:ext cx="4572000" cy="365760"/>
          </a:xfrm>
          <a:prstGeom prst="rect">
            <a:avLst/>
          </a:prstGeom>
          <a:noFill/>
          <a:ln/>
        </p:spPr>
        <p:txBody>
          <a:bodyPr wrap="square" lIns="0" tIns="0" rIns="0" bIns="0" rtlCol="0" anchor="t"/>
          <a:lstStyle/>
          <a:p>
            <a:pPr indent="0" marL="0">
              <a:buNone/>
            </a:pPr>
            <a:r>
              <a:rPr lang="en-US" sz="1500" dirty="0">
                <a:solidFill>
                  <a:schemeClr val="tx1"/>
                </a:solidFill>
              </a:rPr>
              <a:t>→ 친구 피드 노출 증가</a:t>
            </a:r>
            <a:endParaRPr lang="en-US" sz="1500" dirty="0"/>
          </a:p>
        </p:txBody>
      </p:sp>
      <p:sp>
        <p:nvSpPr>
          <p:cNvPr id="10" name="Text 7"/>
          <p:cNvSpPr txBox="1"/>
          <p:nvPr/>
        </p:nvSpPr>
        <p:spPr>
          <a:xfrm>
            <a:off x="1325880" y="4480560"/>
            <a:ext cx="4572000" cy="365760"/>
          </a:xfrm>
          <a:prstGeom prst="rect">
            <a:avLst/>
          </a:prstGeom>
          <a:noFill/>
          <a:ln/>
        </p:spPr>
        <p:txBody>
          <a:bodyPr wrap="square" lIns="0" tIns="0" rIns="0" bIns="0" rtlCol="0" anchor="t"/>
          <a:lstStyle/>
          <a:p>
            <a:pPr indent="0" marL="0">
              <a:buNone/>
            </a:pPr>
            <a:r>
              <a:rPr lang="en-US" sz="1500" b="1" dirty="0">
                <a:solidFill>
                  <a:schemeClr val="accent4"/>
                </a:solidFill>
              </a:rPr>
              <a:t>→ A 사용자의 행동도 바뀐다</a:t>
            </a:r>
            <a:endParaRPr lang="en-US" sz="1500" dirty="0"/>
          </a:p>
        </p:txBody>
      </p:sp>
      <p:sp>
        <p:nvSpPr>
          <p:cNvPr id="11" name="Text 8"/>
          <p:cNvSpPr txBox="1"/>
          <p:nvPr/>
        </p:nvSpPr>
        <p:spPr>
          <a:xfrm>
            <a:off x="640080" y="5029200"/>
            <a:ext cx="4937760" cy="640080"/>
          </a:xfrm>
          <a:prstGeom prst="rect">
            <a:avLst/>
          </a:prstGeom>
          <a:noFill/>
          <a:ln/>
        </p:spPr>
        <p:txBody>
          <a:bodyPr wrap="square" lIns="0" tIns="0" rIns="0" bIns="0" rtlCol="0" anchor="t"/>
          <a:lstStyle/>
          <a:p>
            <a:pPr indent="0" marL="0">
              <a:buNone/>
            </a:pPr>
            <a:r>
              <a:rPr lang="en-US" sz="1400" dirty="0">
                <a:solidFill>
                  <a:schemeClr val="tx2"/>
                </a:solidFill>
              </a:rPr>
              <a:t>예: SNS, 메신저, 게임</a:t>
            </a:r>
            <a:endParaRPr lang="en-US" sz="1400" dirty="0"/>
          </a:p>
        </p:txBody>
      </p:sp>
      <p:sp>
        <p:nvSpPr>
          <p:cNvPr id="12" name="Shape 9"/>
          <p:cNvSpPr/>
          <p:nvPr/>
        </p:nvSpPr>
        <p:spPr>
          <a:xfrm>
            <a:off x="5989320" y="2423160"/>
            <a:ext cx="0" cy="3200400"/>
          </a:xfrm>
          <a:prstGeom prst="line">
            <a:avLst/>
          </a:prstGeom>
          <a:noFill/>
          <a:ln w="12700">
            <a:solidFill>
              <a:srgbClr val="E3E7F1"/>
            </a:solidFill>
            <a:prstDash val="solid"/>
          </a:ln>
        </p:spPr>
      </p:sp>
      <p:sp>
        <p:nvSpPr>
          <p:cNvPr id="13" name="Text 10"/>
          <p:cNvSpPr txBox="1"/>
          <p:nvPr/>
        </p:nvSpPr>
        <p:spPr>
          <a:xfrm>
            <a:off x="6355080" y="2377440"/>
            <a:ext cx="4937760" cy="731520"/>
          </a:xfrm>
          <a:prstGeom prst="rect">
            <a:avLst/>
          </a:prstGeom>
          <a:noFill/>
          <a:ln/>
        </p:spPr>
        <p:txBody>
          <a:bodyPr wrap="square" lIns="0" tIns="0" rIns="0" bIns="0" rtlCol="0" anchor="t"/>
          <a:lstStyle/>
          <a:p>
            <a:pPr indent="0" marL="0">
              <a:buNone/>
            </a:pPr>
            <a:r>
              <a:rPr lang="en-US" sz="2000" b="1" dirty="0">
                <a:solidFill>
                  <a:schemeClr val="accent5"/>
                </a:solidFill>
              </a:rPr>
              <a:t>간접 간섭</a:t>
            </a:r>
            <a:endParaRPr lang="en-US" sz="1500" dirty="0"/>
          </a:p>
          <a:p>
            <a:pPr indent="0" marL="0">
              <a:buNone/>
            </a:pPr>
            <a:r>
              <a:rPr lang="en-US" sz="1400" dirty="0">
                <a:solidFill>
                  <a:schemeClr val="tx2"/>
                </a:solidFill>
              </a:rPr>
              <a:t>공유 자원·같은 시장을 통해 · 마켓플레이스</a:t>
            </a:r>
            <a:endParaRPr lang="en-US" sz="1500" dirty="0"/>
          </a:p>
        </p:txBody>
      </p:sp>
      <p:sp>
        <p:nvSpPr>
          <p:cNvPr id="14" name="Text 11"/>
          <p:cNvSpPr txBox="1"/>
          <p:nvPr/>
        </p:nvSpPr>
        <p:spPr>
          <a:xfrm>
            <a:off x="6355080" y="3246120"/>
            <a:ext cx="4572000" cy="365760"/>
          </a:xfrm>
          <a:prstGeom prst="rect">
            <a:avLst/>
          </a:prstGeom>
          <a:noFill/>
          <a:ln/>
        </p:spPr>
        <p:txBody>
          <a:bodyPr wrap="square" lIns="0" tIns="0" rIns="0" bIns="0" rtlCol="0" anchor="t"/>
          <a:lstStyle/>
          <a:p>
            <a:pPr indent="0" marL="0">
              <a:buNone/>
            </a:pPr>
            <a:r>
              <a:rPr lang="en-US" sz="1500" dirty="0">
                <a:solidFill>
                  <a:schemeClr val="tx1"/>
                </a:solidFill>
              </a:rPr>
              <a:t>B에만 저가 매물 자동 일괄 구매</a:t>
            </a:r>
            <a:endParaRPr lang="en-US" sz="1500" dirty="0"/>
          </a:p>
        </p:txBody>
      </p:sp>
      <p:sp>
        <p:nvSpPr>
          <p:cNvPr id="15" name="Text 12"/>
          <p:cNvSpPr txBox="1"/>
          <p:nvPr/>
        </p:nvSpPr>
        <p:spPr>
          <a:xfrm>
            <a:off x="6583680" y="3657600"/>
            <a:ext cx="4572000" cy="365760"/>
          </a:xfrm>
          <a:prstGeom prst="rect">
            <a:avLst/>
          </a:prstGeom>
          <a:noFill/>
          <a:ln/>
        </p:spPr>
        <p:txBody>
          <a:bodyPr wrap="square" lIns="0" tIns="0" rIns="0" bIns="0" rtlCol="0" anchor="t"/>
          <a:lstStyle/>
          <a:p>
            <a:pPr indent="0" marL="0">
              <a:buNone/>
            </a:pPr>
            <a:r>
              <a:rPr lang="en-US" sz="1500" dirty="0">
                <a:solidFill>
                  <a:schemeClr val="tx1"/>
                </a:solidFill>
              </a:rPr>
              <a:t>→ 경매장 저가 매물이 빨리 소진</a:t>
            </a:r>
            <a:endParaRPr lang="en-US" sz="1500" dirty="0"/>
          </a:p>
        </p:txBody>
      </p:sp>
      <p:sp>
        <p:nvSpPr>
          <p:cNvPr id="16" name="Text 13"/>
          <p:cNvSpPr txBox="1"/>
          <p:nvPr/>
        </p:nvSpPr>
        <p:spPr>
          <a:xfrm>
            <a:off x="6812280" y="4069080"/>
            <a:ext cx="4572000" cy="365760"/>
          </a:xfrm>
          <a:prstGeom prst="rect">
            <a:avLst/>
          </a:prstGeom>
          <a:noFill/>
          <a:ln/>
        </p:spPr>
        <p:txBody>
          <a:bodyPr wrap="square" lIns="0" tIns="0" rIns="0" bIns="0" rtlCol="0" anchor="t"/>
          <a:lstStyle/>
          <a:p>
            <a:pPr indent="0" marL="0">
              <a:buNone/>
            </a:pPr>
            <a:r>
              <a:rPr lang="en-US" sz="1500" dirty="0">
                <a:solidFill>
                  <a:schemeClr val="tx1"/>
                </a:solidFill>
              </a:rPr>
              <a:t>→ A가 보는 평균 가격 상승</a:t>
            </a:r>
            <a:endParaRPr lang="en-US" sz="1500" dirty="0"/>
          </a:p>
        </p:txBody>
      </p:sp>
      <p:sp>
        <p:nvSpPr>
          <p:cNvPr id="17" name="Text 14"/>
          <p:cNvSpPr txBox="1"/>
          <p:nvPr/>
        </p:nvSpPr>
        <p:spPr>
          <a:xfrm>
            <a:off x="7040880" y="4480560"/>
            <a:ext cx="4572000" cy="365760"/>
          </a:xfrm>
          <a:prstGeom prst="rect">
            <a:avLst/>
          </a:prstGeom>
          <a:noFill/>
          <a:ln/>
        </p:spPr>
        <p:txBody>
          <a:bodyPr wrap="square" lIns="0" tIns="0" rIns="0" bIns="0" rtlCol="0" anchor="t"/>
          <a:lstStyle/>
          <a:p>
            <a:pPr indent="0" marL="0">
              <a:buNone/>
            </a:pPr>
            <a:r>
              <a:rPr lang="en-US" sz="1500" b="1" dirty="0">
                <a:solidFill>
                  <a:schemeClr val="accent5"/>
                </a:solidFill>
              </a:rPr>
              <a:t>→ A는 기능을 안 받았는데 경험이 바뀐다</a:t>
            </a:r>
            <a:endParaRPr lang="en-US" sz="1500" dirty="0"/>
          </a:p>
        </p:txBody>
      </p:sp>
      <p:sp>
        <p:nvSpPr>
          <p:cNvPr id="18" name="Text 15"/>
          <p:cNvSpPr txBox="1"/>
          <p:nvPr/>
        </p:nvSpPr>
        <p:spPr>
          <a:xfrm>
            <a:off x="6355080" y="5029200"/>
            <a:ext cx="4937760" cy="640080"/>
          </a:xfrm>
          <a:prstGeom prst="rect">
            <a:avLst/>
          </a:prstGeom>
          <a:noFill/>
          <a:ln/>
        </p:spPr>
        <p:txBody>
          <a:bodyPr wrap="square" lIns="0" tIns="0" rIns="0" bIns="0" rtlCol="0" anchor="t"/>
          <a:lstStyle/>
          <a:p>
            <a:pPr indent="0" marL="0">
              <a:buNone/>
            </a:pPr>
            <a:r>
              <a:rPr lang="en-US" sz="1400" dirty="0">
                <a:solidFill>
                  <a:schemeClr val="tx2"/>
                </a:solidFill>
              </a:rPr>
              <a:t>예: Airbnb 숙소, Uber 드라이버, 광고 예산, 서버 부하</a:t>
            </a:r>
            <a:endParaRPr lang="en-US" sz="1400" dirty="0"/>
          </a:p>
        </p:txBody>
      </p:sp>
      <p:sp>
        <p:nvSpPr>
          <p:cNvPr id="19" name="Text 16"/>
          <p:cNvSpPr txBox="1"/>
          <p:nvPr/>
        </p:nvSpPr>
        <p:spPr>
          <a:xfrm>
            <a:off x="640080" y="5897880"/>
            <a:ext cx="10911535" cy="274320"/>
          </a:xfrm>
          <a:prstGeom prst="rect">
            <a:avLst/>
          </a:prstGeom>
          <a:noFill/>
          <a:ln/>
        </p:spPr>
        <p:txBody>
          <a:bodyPr wrap="square" lIns="0" tIns="0" rIns="0" bIns="0" rtlCol="0" anchor="t"/>
          <a:lstStyle/>
          <a:p>
            <a:pPr indent="0" marL="0">
              <a:buNone/>
            </a:pPr>
            <a:r>
              <a:rPr lang="en-US" sz="1100" dirty="0">
                <a:solidFill>
                  <a:schemeClr val="accent6"/>
                </a:solidFill>
              </a:rPr>
              <a:t>위키 06편 1.1~1.3 · 메이플 옥션 예시는 위키 원문</a:t>
            </a:r>
            <a:endParaRPr lang="en-US" sz="11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Ch4 · 간섭의 영향</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간섭이 있으면 실험 결과가 이렇게 흔들린다</a:t>
            </a:r>
            <a:endParaRPr lang="en-US" sz="2000" dirty="0"/>
          </a:p>
        </p:txBody>
      </p:sp>
      <p:sp>
        <p:nvSpPr>
          <p:cNvPr id="5" name="Text 2"/>
          <p:cNvSpPr txBox="1"/>
          <p:nvPr/>
        </p:nvSpPr>
        <p:spPr>
          <a:xfrm>
            <a:off x="640080" y="1783080"/>
            <a:ext cx="822960" cy="548640"/>
          </a:xfrm>
          <a:prstGeom prst="rect">
            <a:avLst/>
          </a:prstGeom>
          <a:noFill/>
          <a:ln/>
        </p:spPr>
        <p:txBody>
          <a:bodyPr wrap="square" lIns="0" tIns="0" rIns="0" bIns="0" rtlCol="0" anchor="t"/>
          <a:lstStyle/>
          <a:p>
            <a:pPr indent="0" marL="0">
              <a:buNone/>
            </a:pPr>
            <a:r>
              <a:rPr lang="en-US" sz="3000" b="1" dirty="0">
                <a:solidFill>
                  <a:schemeClr val="accent4"/>
                </a:solidFill>
              </a:rPr>
              <a:t>01</a:t>
            </a:r>
            <a:endParaRPr lang="en-US" sz="3000" dirty="0"/>
          </a:p>
        </p:txBody>
      </p:sp>
      <p:sp>
        <p:nvSpPr>
          <p:cNvPr id="6" name="Text 3"/>
          <p:cNvSpPr txBox="1"/>
          <p:nvPr/>
        </p:nvSpPr>
        <p:spPr>
          <a:xfrm>
            <a:off x="1554480" y="1828800"/>
            <a:ext cx="4480560" cy="914400"/>
          </a:xfrm>
          <a:prstGeom prst="rect">
            <a:avLst/>
          </a:prstGeom>
          <a:noFill/>
          <a:ln/>
        </p:spPr>
        <p:txBody>
          <a:bodyPr wrap="square" lIns="0" tIns="0" rIns="0" bIns="0" rtlCol="0" anchor="t"/>
          <a:lstStyle/>
          <a:p>
            <a:pPr indent="0" marL="0">
              <a:buNone/>
            </a:pPr>
            <a:r>
              <a:rPr lang="en-US" sz="2000" b="1" dirty="0">
                <a:solidFill>
                  <a:schemeClr val="tx1"/>
                </a:solidFill>
              </a:rPr>
              <a:t>대조군 오염</a:t>
            </a:r>
            <a:endParaRPr lang="en-US" sz="1500" dirty="0"/>
          </a:p>
          <a:p>
            <a:pPr indent="0" marL="0">
              <a:buNone/>
            </a:pPr>
            <a:r>
              <a:rPr lang="en-US" sz="1500" dirty="0">
                <a:solidFill>
                  <a:schemeClr val="tx2"/>
                </a:solidFill>
              </a:rPr>
              <a:t>A가 더 이상 '처치 없는 기준선'이 아니다</a:t>
            </a:r>
            <a:endParaRPr lang="en-US" sz="1500" dirty="0"/>
          </a:p>
        </p:txBody>
      </p:sp>
      <p:sp>
        <p:nvSpPr>
          <p:cNvPr id="7" name="Text 4"/>
          <p:cNvSpPr txBox="1"/>
          <p:nvPr/>
        </p:nvSpPr>
        <p:spPr>
          <a:xfrm>
            <a:off x="6217920" y="1783080"/>
            <a:ext cx="822960" cy="548640"/>
          </a:xfrm>
          <a:prstGeom prst="rect">
            <a:avLst/>
          </a:prstGeom>
          <a:noFill/>
          <a:ln/>
        </p:spPr>
        <p:txBody>
          <a:bodyPr wrap="square" lIns="0" tIns="0" rIns="0" bIns="0" rtlCol="0" anchor="t"/>
          <a:lstStyle/>
          <a:p>
            <a:pPr indent="0" marL="0">
              <a:buNone/>
            </a:pPr>
            <a:r>
              <a:rPr lang="en-US" sz="3000" b="1" dirty="0">
                <a:solidFill>
                  <a:schemeClr val="accent4"/>
                </a:solidFill>
              </a:rPr>
              <a:t>02</a:t>
            </a:r>
            <a:endParaRPr lang="en-US" sz="3000" dirty="0"/>
          </a:p>
        </p:txBody>
      </p:sp>
      <p:sp>
        <p:nvSpPr>
          <p:cNvPr id="8" name="Text 5"/>
          <p:cNvSpPr txBox="1"/>
          <p:nvPr/>
        </p:nvSpPr>
        <p:spPr>
          <a:xfrm>
            <a:off x="7132320" y="1828800"/>
            <a:ext cx="4480560" cy="914400"/>
          </a:xfrm>
          <a:prstGeom prst="rect">
            <a:avLst/>
          </a:prstGeom>
          <a:noFill/>
          <a:ln/>
        </p:spPr>
        <p:txBody>
          <a:bodyPr wrap="square" lIns="0" tIns="0" rIns="0" bIns="0" rtlCol="0" anchor="t"/>
          <a:lstStyle/>
          <a:p>
            <a:pPr indent="0" marL="0">
              <a:buNone/>
            </a:pPr>
            <a:r>
              <a:rPr lang="en-US" sz="2000" b="1" dirty="0">
                <a:solidFill>
                  <a:schemeClr val="tx1"/>
                </a:solidFill>
              </a:rPr>
              <a:t>효과의 과대·과소 추정</a:t>
            </a:r>
            <a:endParaRPr lang="en-US" sz="1500" dirty="0"/>
          </a:p>
          <a:p>
            <a:pPr indent="0" marL="0">
              <a:buNone/>
            </a:pPr>
            <a:r>
              <a:rPr lang="en-US" sz="1500" dirty="0">
                <a:solidFill>
                  <a:schemeClr val="tx2"/>
                </a:solidFill>
              </a:rPr>
              <a:t>내 결과가 다른 사람의 배정에도 좌우된다</a:t>
            </a:r>
            <a:endParaRPr lang="en-US" sz="1500" dirty="0"/>
          </a:p>
        </p:txBody>
      </p:sp>
      <p:sp>
        <p:nvSpPr>
          <p:cNvPr id="9" name="Text 6"/>
          <p:cNvSpPr txBox="1"/>
          <p:nvPr/>
        </p:nvSpPr>
        <p:spPr>
          <a:xfrm>
            <a:off x="640080" y="2880360"/>
            <a:ext cx="822960" cy="548640"/>
          </a:xfrm>
          <a:prstGeom prst="rect">
            <a:avLst/>
          </a:prstGeom>
          <a:noFill/>
          <a:ln/>
        </p:spPr>
        <p:txBody>
          <a:bodyPr wrap="square" lIns="0" tIns="0" rIns="0" bIns="0" rtlCol="0" anchor="t"/>
          <a:lstStyle/>
          <a:p>
            <a:pPr indent="0" marL="0">
              <a:buNone/>
            </a:pPr>
            <a:r>
              <a:rPr lang="en-US" sz="3000" b="1" dirty="0">
                <a:solidFill>
                  <a:schemeClr val="accent4"/>
                </a:solidFill>
              </a:rPr>
              <a:t>03</a:t>
            </a:r>
            <a:endParaRPr lang="en-US" sz="3000" dirty="0"/>
          </a:p>
        </p:txBody>
      </p:sp>
      <p:sp>
        <p:nvSpPr>
          <p:cNvPr id="10" name="Text 7"/>
          <p:cNvSpPr txBox="1"/>
          <p:nvPr/>
        </p:nvSpPr>
        <p:spPr>
          <a:xfrm>
            <a:off x="1554480" y="2926080"/>
            <a:ext cx="4480560" cy="914400"/>
          </a:xfrm>
          <a:prstGeom prst="rect">
            <a:avLst/>
          </a:prstGeom>
          <a:noFill/>
          <a:ln/>
        </p:spPr>
        <p:txBody>
          <a:bodyPr wrap="square" lIns="0" tIns="0" rIns="0" bIns="0" rtlCol="0" anchor="t"/>
          <a:lstStyle/>
          <a:p>
            <a:pPr indent="0" marL="0">
              <a:buNone/>
            </a:pPr>
            <a:r>
              <a:rPr lang="en-US" sz="2000" b="1" dirty="0">
                <a:solidFill>
                  <a:schemeClr val="tx1"/>
                </a:solidFill>
              </a:rPr>
              <a:t>ATE의 의미가 흐려진다</a:t>
            </a:r>
            <a:endParaRPr lang="en-US" sz="1500" dirty="0"/>
          </a:p>
          <a:p>
            <a:pPr indent="0" marL="0">
              <a:buNone/>
            </a:pPr>
            <a:r>
              <a:rPr lang="en-US" sz="1500" dirty="0">
                <a:solidFill>
                  <a:schemeClr val="tx2"/>
                </a:solidFill>
              </a:rPr>
              <a:t>Yᵢ(Tᵢ)가 아니라 Yᵢ(T₁, T₂, …, Tₙ)</a:t>
            </a:r>
            <a:endParaRPr lang="en-US" sz="1500" dirty="0"/>
          </a:p>
        </p:txBody>
      </p:sp>
      <p:sp>
        <p:nvSpPr>
          <p:cNvPr id="11" name="Text 8"/>
          <p:cNvSpPr txBox="1"/>
          <p:nvPr/>
        </p:nvSpPr>
        <p:spPr>
          <a:xfrm>
            <a:off x="6217920" y="2880360"/>
            <a:ext cx="822960" cy="548640"/>
          </a:xfrm>
          <a:prstGeom prst="rect">
            <a:avLst/>
          </a:prstGeom>
          <a:noFill/>
          <a:ln/>
        </p:spPr>
        <p:txBody>
          <a:bodyPr wrap="square" lIns="0" tIns="0" rIns="0" bIns="0" rtlCol="0" anchor="t"/>
          <a:lstStyle/>
          <a:p>
            <a:pPr indent="0" marL="0">
              <a:buNone/>
            </a:pPr>
            <a:r>
              <a:rPr lang="en-US" sz="3000" b="1" dirty="0">
                <a:solidFill>
                  <a:schemeClr val="accent4"/>
                </a:solidFill>
              </a:rPr>
              <a:t>04</a:t>
            </a:r>
            <a:endParaRPr lang="en-US" sz="3000" dirty="0"/>
          </a:p>
        </p:txBody>
      </p:sp>
      <p:sp>
        <p:nvSpPr>
          <p:cNvPr id="12" name="Text 9"/>
          <p:cNvSpPr txBox="1"/>
          <p:nvPr/>
        </p:nvSpPr>
        <p:spPr>
          <a:xfrm>
            <a:off x="7132320" y="2926080"/>
            <a:ext cx="4480560" cy="914400"/>
          </a:xfrm>
          <a:prstGeom prst="rect">
            <a:avLst/>
          </a:prstGeom>
          <a:noFill/>
          <a:ln/>
        </p:spPr>
        <p:txBody>
          <a:bodyPr wrap="square" lIns="0" tIns="0" rIns="0" bIns="0" rtlCol="0" anchor="t"/>
          <a:lstStyle/>
          <a:p>
            <a:pPr indent="0" marL="0">
              <a:buNone/>
            </a:pPr>
            <a:r>
              <a:rPr lang="en-US" sz="2000" b="1" dirty="0">
                <a:solidFill>
                  <a:schemeClr val="tx1"/>
                </a:solidFill>
              </a:rPr>
              <a:t>부분 적용 ≠ 전체 적용</a:t>
            </a:r>
            <a:endParaRPr lang="en-US" sz="1500" dirty="0"/>
          </a:p>
          <a:p>
            <a:pPr indent="0" marL="0">
              <a:buNone/>
            </a:pPr>
            <a:r>
              <a:rPr lang="en-US" sz="1500" dirty="0">
                <a:solidFill>
                  <a:schemeClr val="tx2"/>
                </a:solidFill>
              </a:rPr>
              <a:t>실험에서 잰 효과가 100% 출시 때와 다를 수 있다</a:t>
            </a:r>
            <a:endParaRPr lang="en-US" sz="1500" dirty="0"/>
          </a:p>
        </p:txBody>
      </p:sp>
      <p:sp>
        <p:nvSpPr>
          <p:cNvPr id="13" name="Text 10"/>
          <p:cNvSpPr txBox="1"/>
          <p:nvPr/>
        </p:nvSpPr>
        <p:spPr>
          <a:xfrm>
            <a:off x="640080" y="3977640"/>
            <a:ext cx="822960" cy="548640"/>
          </a:xfrm>
          <a:prstGeom prst="rect">
            <a:avLst/>
          </a:prstGeom>
          <a:noFill/>
          <a:ln/>
        </p:spPr>
        <p:txBody>
          <a:bodyPr wrap="square" lIns="0" tIns="0" rIns="0" bIns="0" rtlCol="0" anchor="t"/>
          <a:lstStyle/>
          <a:p>
            <a:pPr indent="0" marL="0">
              <a:buNone/>
            </a:pPr>
            <a:r>
              <a:rPr lang="en-US" sz="3000" b="1" dirty="0">
                <a:solidFill>
                  <a:schemeClr val="accent4"/>
                </a:solidFill>
              </a:rPr>
              <a:t>05</a:t>
            </a:r>
            <a:endParaRPr lang="en-US" sz="3000" dirty="0"/>
          </a:p>
        </p:txBody>
      </p:sp>
      <p:sp>
        <p:nvSpPr>
          <p:cNvPr id="14" name="Text 11"/>
          <p:cNvSpPr txBox="1"/>
          <p:nvPr/>
        </p:nvSpPr>
        <p:spPr>
          <a:xfrm>
            <a:off x="1554480" y="4023360"/>
            <a:ext cx="4480560" cy="914400"/>
          </a:xfrm>
          <a:prstGeom prst="rect">
            <a:avLst/>
          </a:prstGeom>
          <a:noFill/>
          <a:ln/>
        </p:spPr>
        <p:txBody>
          <a:bodyPr wrap="square" lIns="0" tIns="0" rIns="0" bIns="0" rtlCol="0" anchor="t"/>
          <a:lstStyle/>
          <a:p>
            <a:pPr indent="0" marL="0">
              <a:buNone/>
            </a:pPr>
            <a:r>
              <a:rPr lang="en-US" sz="2000" b="1" dirty="0">
                <a:solidFill>
                  <a:schemeClr val="tx1"/>
                </a:solidFill>
              </a:rPr>
              <a:t>유의해도 인과는 아니다</a:t>
            </a:r>
            <a:endParaRPr lang="en-US" sz="1500" dirty="0"/>
          </a:p>
          <a:p>
            <a:pPr indent="0" marL="0">
              <a:buNone/>
            </a:pPr>
            <a:r>
              <a:rPr lang="en-US" sz="1500" dirty="0">
                <a:solidFill>
                  <a:schemeClr val="tx2"/>
                </a:solidFill>
              </a:rPr>
              <a:t>표본을 늘려도 안 고쳐지고, 표준오차·신뢰구간도 부정확해진다</a:t>
            </a:r>
            <a:endParaRPr lang="en-US" sz="1500" dirty="0"/>
          </a:p>
        </p:txBody>
      </p:sp>
      <p:sp>
        <p:nvSpPr>
          <p:cNvPr id="15" name="Text 12"/>
          <p:cNvSpPr txBox="1"/>
          <p:nvPr/>
        </p:nvSpPr>
        <p:spPr>
          <a:xfrm>
            <a:off x="6217920" y="4069080"/>
            <a:ext cx="5349240" cy="1097280"/>
          </a:xfrm>
          <a:prstGeom prst="rect">
            <a:avLst/>
          </a:prstGeom>
          <a:noFill/>
          <a:ln/>
        </p:spPr>
        <p:txBody>
          <a:bodyPr wrap="square" lIns="0" tIns="0" rIns="0" bIns="0" rtlCol="0" anchor="t"/>
          <a:lstStyle/>
          <a:p>
            <a:pPr indent="0" marL="0">
              <a:buNone/>
            </a:pPr>
            <a:r>
              <a:rPr lang="en-US" sz="1500" b="1" dirty="0">
                <a:solidFill>
                  <a:schemeClr val="accent1"/>
                </a:solidFill>
              </a:rPr>
              <a:t>실무에서 이렇게 말한다  </a:t>
            </a:r>
            <a:pPr indent="0" marL="0">
              <a:buNone/>
            </a:pPr>
            <a:r>
              <a:rPr lang="en-US" sz="1500" dirty="0">
                <a:solidFill>
                  <a:schemeClr val="tx1"/>
                </a:solidFill>
              </a:rPr>
              <a:t>"사용자 단위로 나눈 마켓플레이스 실험이라, 이 효과는 전체 출시 효과와 다를 수 있습니다"</a:t>
            </a:r>
            <a:endParaRPr lang="en-US" sz="1500" dirty="0"/>
          </a:p>
        </p:txBody>
      </p:sp>
      <p:sp>
        <p:nvSpPr>
          <p:cNvPr id="16" name="Text 13"/>
          <p:cNvSpPr txBox="1"/>
          <p:nvPr/>
        </p:nvSpPr>
        <p:spPr>
          <a:xfrm>
            <a:off x="640080" y="5897880"/>
            <a:ext cx="10911535" cy="274320"/>
          </a:xfrm>
          <a:prstGeom prst="rect">
            <a:avLst/>
          </a:prstGeom>
          <a:noFill/>
          <a:ln/>
        </p:spPr>
        <p:txBody>
          <a:bodyPr wrap="square" lIns="0" tIns="0" rIns="0" bIns="0" rtlCol="0" anchor="t"/>
          <a:lstStyle/>
          <a:p>
            <a:pPr indent="0" marL="0">
              <a:buNone/>
            </a:pPr>
            <a:r>
              <a:rPr lang="en-US" sz="1100" dirty="0">
                <a:solidFill>
                  <a:schemeClr val="accent6"/>
                </a:solidFill>
              </a:rPr>
              <a:t>위키 06편 1.4</a:t>
            </a:r>
            <a:endParaRPr lang="en-US" sz="11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Ch4 · 간섭 줄이기</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간섭을 줄이려면 나누는 단위를 다시 설계한다</a:t>
            </a:r>
            <a:endParaRPr lang="en-US" sz="2000" dirty="0"/>
          </a:p>
        </p:txBody>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10911535" cy="914400"/>
        </p:xfrm>
        <a:graphic>
          <a:graphicData uri="http://schemas.openxmlformats.org/drawingml/2006/table">
            <a:tbl>
              <a:tblPr/>
              <a:tblGrid>
                <a:gridCol w="2377440"/>
                <a:gridCol w="3200400"/>
                <a:gridCol w="2743200"/>
                <a:gridCol w="2587752"/>
              </a:tblGrid>
              <a:tr h="566928">
                <a:tc>
                  <a:txBody>
                    <a:bodyPr/>
                    <a:lstStyle/>
                    <a:p>
                      <a:pPr indent="0" marL="0">
                        <a:buNone/>
                      </a:pPr>
                      <a:r>
                        <a:rPr lang="en-US" sz="1400" b="1" dirty="0">
                          <a:solidFill>
                            <a:srgbClr val="555C7A"/>
                          </a:solidFill>
                        </a:rPr>
                        <a:t>방법</a:t>
                      </a:r>
                      <a:endParaRPr lang="en-US" sz="14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400" b="1" dirty="0">
                          <a:solidFill>
                            <a:srgbClr val="555C7A"/>
                          </a:solidFill>
                        </a:rPr>
                        <a:t>아이디어</a:t>
                      </a:r>
                      <a:endParaRPr lang="en-US" sz="14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400" b="1" dirty="0">
                          <a:solidFill>
                            <a:srgbClr val="555C7A"/>
                          </a:solidFill>
                        </a:rPr>
                        <a:t>이럴 때</a:t>
                      </a:r>
                      <a:endParaRPr lang="en-US" sz="14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400" b="1" dirty="0">
                          <a:solidFill>
                            <a:srgbClr val="555C7A"/>
                          </a:solidFill>
                        </a:rPr>
                        <a:t>대가</a:t>
                      </a:r>
                      <a:endParaRPr lang="en-US" sz="14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r>
              <a:tr h="566928">
                <a:tc>
                  <a:txBody>
                    <a:bodyPr/>
                    <a:lstStyle/>
                    <a:p>
                      <a:pPr indent="0" marL="0">
                        <a:buNone/>
                      </a:pPr>
                      <a:r>
                        <a:rPr lang="en-US" sz="1500" b="1" dirty="0">
                          <a:solidFill>
                            <a:srgbClr val="1B1F3B"/>
                          </a:solidFill>
                        </a:rPr>
                        <a:t>Cluster Randomization</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서로 영향을 주는 사용자를 묶어 통째로 배정</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친구·동네처럼 연결이 뚜렷할 때</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독립 단위 수 감소 → 검정력 저하</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566928">
                <a:tc>
                  <a:txBody>
                    <a:bodyPr/>
                    <a:lstStyle/>
                    <a:p>
                      <a:pPr indent="0" marL="0">
                        <a:buNone/>
                      </a:pPr>
                      <a:r>
                        <a:rPr lang="en-US" sz="1500" b="1" dirty="0">
                          <a:solidFill>
                            <a:srgbClr val="1B1F3B"/>
                          </a:solidFill>
                        </a:rPr>
                        <a:t>자원 분리</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A와 B가 쓰는 자원을 나눈다</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광고 예산처럼 나눌 수 있는 자원</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실제 마켓플레이스에선 완전히 나누기 어렵다</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566928">
                <a:tc>
                  <a:txBody>
                    <a:bodyPr/>
                    <a:lstStyle/>
                    <a:p>
                      <a:pPr indent="0" marL="0">
                        <a:buNone/>
                      </a:pPr>
                      <a:r>
                        <a:rPr lang="en-US" sz="1500" b="1" dirty="0">
                          <a:solidFill>
                            <a:srgbClr val="1B1F3B"/>
                          </a:solidFill>
                        </a:rPr>
                        <a:t>Geo-based</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지역을 실험 단위로 (지역 = 클러스터)</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지역 안 상호작용이 클 때</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지역 수가 표본 → 검정력 저하, 지역 차이</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566928">
                <a:tc>
                  <a:txBody>
                    <a:bodyPr/>
                    <a:lstStyle/>
                    <a:p>
                      <a:pPr indent="0" marL="0">
                        <a:buNone/>
                      </a:pPr>
                      <a:r>
                        <a:rPr lang="en-US" sz="1500" b="1" dirty="0">
                          <a:solidFill>
                            <a:srgbClr val="1B1F3B"/>
                          </a:solidFill>
                        </a:rPr>
                        <a:t>Switchback</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시간 구간마다 전체를 A ↔ B로 전환</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배차·가격처럼 시장이 실시간으로 얽힐 때</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시간대별 수요 차이, 이월 효과</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566928">
                <a:tc>
                  <a:txBody>
                    <a:bodyPr/>
                    <a:lstStyle/>
                    <a:p>
                      <a:pPr indent="0" marL="0">
                        <a:buNone/>
                      </a:pPr>
                      <a:r>
                        <a:rPr lang="en-US" sz="1500" b="1" dirty="0">
                          <a:solidFill>
                            <a:srgbClr val="1B1F3B"/>
                          </a:solidFill>
                        </a:rPr>
                        <a:t>분석 단계 보정</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직접 효과와 Spillover 효과를 나눠 추정</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설계만으로 다 막지 못할 때</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네트워크 정보와 추가 가정이 필요</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bl>
          </a:graphicData>
        </a:graphic>
      </p:graphicFrame>
      <p:sp>
        <p:nvSpPr>
          <p:cNvPr id="6" name="Text 2"/>
          <p:cNvSpPr txBox="1"/>
          <p:nvPr/>
        </p:nvSpPr>
        <p:spPr>
          <a:xfrm>
            <a:off x="640080" y="5623560"/>
            <a:ext cx="10911535" cy="365760"/>
          </a:xfrm>
          <a:prstGeom prst="rect">
            <a:avLst/>
          </a:prstGeom>
          <a:noFill/>
          <a:ln/>
        </p:spPr>
        <p:txBody>
          <a:bodyPr wrap="square" lIns="0" tIns="0" rIns="0" bIns="0" rtlCol="0" anchor="t"/>
          <a:lstStyle/>
          <a:p>
            <a:pPr indent="0" marL="0">
              <a:buNone/>
            </a:pPr>
            <a:r>
              <a:rPr lang="en-US" sz="1500" b="1" dirty="0">
                <a:solidFill>
                  <a:schemeClr val="accent1"/>
                </a:solidFill>
              </a:rPr>
              <a:t>기억할 것  </a:t>
            </a:r>
            <a:pPr indent="0" marL="0">
              <a:buNone/>
            </a:pPr>
            <a:r>
              <a:rPr lang="en-US" sz="1500" dirty="0">
                <a:solidFill>
                  <a:schemeClr val="tx1"/>
                </a:solidFill>
              </a:rPr>
              <a:t>클러스터·지역 단위로 나눴다면 분석의 불확실성도 그 단위로 계산합니다 (배정 단위와 분석 단위, Ch3)</a:t>
            </a:r>
            <a:endParaRPr lang="en-US" sz="1500" dirty="0"/>
          </a:p>
        </p:txBody>
      </p:sp>
      <p:sp>
        <p:nvSpPr>
          <p:cNvPr id="7" name="Text 3"/>
          <p:cNvSpPr txBox="1"/>
          <p:nvPr/>
        </p:nvSpPr>
        <p:spPr>
          <a:xfrm>
            <a:off x="640080" y="6035040"/>
            <a:ext cx="10911535" cy="274320"/>
          </a:xfrm>
          <a:prstGeom prst="rect">
            <a:avLst/>
          </a:prstGeom>
          <a:noFill/>
          <a:ln/>
        </p:spPr>
        <p:txBody>
          <a:bodyPr wrap="square" lIns="0" tIns="0" rIns="0" bIns="0" rtlCol="0" anchor="t"/>
          <a:lstStyle/>
          <a:p>
            <a:pPr indent="0" marL="0">
              <a:buNone/>
            </a:pPr>
            <a:r>
              <a:rPr lang="en-US" sz="1100" dirty="0">
                <a:solidFill>
                  <a:schemeClr val="accent6"/>
                </a:solidFill>
              </a:rPr>
              <a:t>위키 07편 2.1~2.5</a:t>
            </a:r>
            <a:endParaRPr lang="en-US" sz="11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Ch4 · 윤리 문제</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측정할 수 있는가와 해도 되는가는 다른 질문이다</a:t>
            </a:r>
            <a:endParaRPr lang="en-US" sz="2000" dirty="0"/>
          </a:p>
        </p:txBody>
      </p:sp>
      <p:sp>
        <p:nvSpPr>
          <p:cNvPr id="5" name="Text 2"/>
          <p:cNvSpPr txBox="1"/>
          <p:nvPr/>
        </p:nvSpPr>
        <p:spPr>
          <a:xfrm>
            <a:off x="640080" y="1783080"/>
            <a:ext cx="5029200" cy="3840480"/>
          </a:xfrm>
          <a:prstGeom prst="rect">
            <a:avLst/>
          </a:prstGeom>
          <a:noFill/>
          <a:ln/>
        </p:spPr>
        <p:txBody>
          <a:bodyPr wrap="square" lIns="0" tIns="0" rIns="0" bIns="0" rtlCol="0" anchor="t"/>
          <a:lstStyle/>
          <a:p>
            <a:pPr indent="0" marL="0">
              <a:spcAft>
                <a:spcPts val="600"/>
              </a:spcAft>
              <a:buNone/>
            </a:pPr>
            <a:r>
              <a:rPr lang="en-US" sz="1400" b="1" dirty="0">
                <a:solidFill>
                  <a:schemeClr val="accent6"/>
                </a:solidFill>
              </a:rPr>
              <a:t>고려할 것</a:t>
            </a:r>
            <a:endParaRPr lang="en-US" sz="1500" dirty="0"/>
          </a:p>
          <a:p>
            <a:pPr indent="0" marL="0">
              <a:buNone/>
            </a:pPr>
            <a:r>
              <a:rPr lang="en-US" sz="2000" b="1" dirty="0">
                <a:solidFill>
                  <a:schemeClr val="tx1"/>
                </a:solidFill>
              </a:rPr>
              <a:t>사용자 동의와 투명성</a:t>
            </a:r>
            <a:endParaRPr lang="en-US" sz="1500" dirty="0"/>
          </a:p>
          <a:p>
            <a:pPr indent="0" marL="0">
              <a:spcAft>
                <a:spcPts val="1200"/>
              </a:spcAft>
              <a:buNone/>
            </a:pPr>
            <a:r>
              <a:rPr lang="en-US" sz="1500" dirty="0">
                <a:solidFill>
                  <a:schemeClr val="tx2"/>
                </a:solidFill>
              </a:rPr>
              <a:t>서비스 이용 동의 ≠ 실험 참여 동의. 감정 전염 실험(689,003명)</a:t>
            </a:r>
            <a:endParaRPr lang="en-US" sz="1500" dirty="0"/>
          </a:p>
          <a:p>
            <a:pPr indent="0" marL="0">
              <a:buNone/>
            </a:pPr>
            <a:r>
              <a:rPr lang="en-US" sz="2000" b="1" dirty="0">
                <a:solidFill>
                  <a:schemeClr val="tx1"/>
                </a:solidFill>
              </a:rPr>
              <a:t>사용자가 받을 수 있는 피해</a:t>
            </a:r>
            <a:endParaRPr lang="en-US" sz="1500" dirty="0"/>
          </a:p>
          <a:p>
            <a:pPr indent="0" marL="0">
              <a:spcAft>
                <a:spcPts val="1200"/>
              </a:spcAft>
              <a:buNone/>
            </a:pPr>
            <a:r>
              <a:rPr lang="en-US" sz="1500" dirty="0">
                <a:solidFill>
                  <a:schemeClr val="tx2"/>
                </a:solidFill>
              </a:rPr>
              <a:t>지표가 오르는 것만으로 실험이 정당화되지 않는다</a:t>
            </a:r>
            <a:endParaRPr lang="en-US" sz="1500" dirty="0"/>
          </a:p>
          <a:p>
            <a:pPr indent="0" marL="0">
              <a:buNone/>
            </a:pPr>
            <a:r>
              <a:rPr lang="en-US" sz="2000" b="1" dirty="0">
                <a:solidFill>
                  <a:schemeClr val="tx1"/>
                </a:solidFill>
              </a:rPr>
              <a:t>실험 밖으로 퍼지는 영향</a:t>
            </a:r>
            <a:endParaRPr lang="en-US" sz="1500" dirty="0"/>
          </a:p>
          <a:p>
            <a:pPr indent="0" marL="0">
              <a:buNone/>
            </a:pPr>
            <a:r>
              <a:rPr lang="en-US" sz="1500" dirty="0">
                <a:solidFill>
                  <a:schemeClr val="tx2"/>
                </a:solidFill>
              </a:rPr>
              <a:t>간섭은 외부효과이기도 하다. 투표 독려 실험(약 6,100만 명)</a:t>
            </a:r>
            <a:endParaRPr lang="en-US" sz="1500" dirty="0"/>
          </a:p>
        </p:txBody>
      </p:sp>
      <p:sp>
        <p:nvSpPr>
          <p:cNvPr id="6" name="Shape 3"/>
          <p:cNvSpPr/>
          <p:nvPr/>
        </p:nvSpPr>
        <p:spPr>
          <a:xfrm>
            <a:off x="5989320" y="1828800"/>
            <a:ext cx="0" cy="3657600"/>
          </a:xfrm>
          <a:prstGeom prst="line">
            <a:avLst/>
          </a:prstGeom>
          <a:noFill/>
          <a:ln w="12700">
            <a:solidFill>
              <a:srgbClr val="E3E7F1"/>
            </a:solidFill>
            <a:prstDash val="solid"/>
          </a:ln>
        </p:spPr>
      </p:sp>
      <p:sp>
        <p:nvSpPr>
          <p:cNvPr id="7" name="Text 4"/>
          <p:cNvSpPr txBox="1"/>
          <p:nvPr/>
        </p:nvSpPr>
        <p:spPr>
          <a:xfrm>
            <a:off x="6355080" y="1783080"/>
            <a:ext cx="5212080" cy="3840480"/>
          </a:xfrm>
          <a:prstGeom prst="rect">
            <a:avLst/>
          </a:prstGeom>
          <a:noFill/>
          <a:ln/>
        </p:spPr>
        <p:txBody>
          <a:bodyPr wrap="square" lIns="0" tIns="0" rIns="0" bIns="0" rtlCol="0" anchor="t"/>
          <a:lstStyle/>
          <a:p>
            <a:pPr indent="0" marL="0">
              <a:spcAft>
                <a:spcPts val="600"/>
              </a:spcAft>
              <a:buNone/>
            </a:pPr>
            <a:r>
              <a:rPr lang="en-US" sz="1400" b="1" dirty="0">
                <a:solidFill>
                  <a:schemeClr val="accent6"/>
                </a:solidFill>
              </a:rPr>
              <a:t>대응</a:t>
            </a:r>
            <a:endParaRPr lang="en-US" sz="1500" dirty="0"/>
          </a:p>
          <a:p>
            <a:pPr indent="0" marL="0">
              <a:buNone/>
            </a:pPr>
            <a:r>
              <a:rPr lang="en-US" sz="2000" b="1" dirty="0">
                <a:solidFill>
                  <a:schemeClr val="accent1"/>
                </a:solidFill>
              </a:rPr>
              <a:t>실험 전 위험성 평가</a:t>
            </a:r>
            <a:endParaRPr lang="en-US" sz="1500" dirty="0"/>
          </a:p>
          <a:p>
            <a:pPr indent="0" marL="0">
              <a:spcAft>
                <a:spcPts val="1200"/>
              </a:spcAft>
              <a:buNone/>
            </a:pPr>
            <a:r>
              <a:rPr lang="en-US" sz="1500" dirty="0">
                <a:solidFill>
                  <a:schemeClr val="tx2"/>
                </a:solidFill>
              </a:rPr>
              <a:t>민감 영역·특정 집단 불이익·확산 가능성 점검, 필요하면 추가 동의나 Opt-out</a:t>
            </a:r>
            <a:endParaRPr lang="en-US" sz="1500" dirty="0"/>
          </a:p>
          <a:p>
            <a:pPr indent="0" marL="0">
              <a:buNone/>
            </a:pPr>
            <a:r>
              <a:rPr lang="en-US" sz="2000" b="1" dirty="0">
                <a:solidFill>
                  <a:schemeClr val="accent1"/>
                </a:solidFill>
              </a:rPr>
              <a:t>Guardrail Metric과 점진적 노출</a:t>
            </a:r>
            <a:endParaRPr lang="en-US" sz="1500" dirty="0"/>
          </a:p>
          <a:p>
            <a:pPr indent="0" marL="0">
              <a:spcAft>
                <a:spcPts val="1200"/>
              </a:spcAft>
              <a:buNone/>
            </a:pPr>
            <a:r>
              <a:rPr lang="en-US" sz="1500" dirty="0">
                <a:solidFill>
                  <a:schemeClr val="tx2"/>
                </a:solidFill>
              </a:rPr>
              <a:t>1%부터 노출하며 부작용을 확인한다</a:t>
            </a:r>
            <a:endParaRPr lang="en-US" sz="1500" dirty="0"/>
          </a:p>
          <a:p>
            <a:pPr indent="0" marL="0">
              <a:buNone/>
            </a:pPr>
            <a:r>
              <a:rPr lang="en-US" sz="2000" b="1" dirty="0">
                <a:solidFill>
                  <a:schemeClr val="accent1"/>
                </a:solidFill>
              </a:rPr>
              <a:t>중단 기준 사전 설정</a:t>
            </a:r>
            <a:endParaRPr lang="en-US" sz="1500" dirty="0"/>
          </a:p>
          <a:p>
            <a:pPr indent="0" marL="0">
              <a:buNone/>
            </a:pPr>
            <a:r>
              <a:rPr lang="en-US" sz="1500" dirty="0">
                <a:solidFill>
                  <a:schemeClr val="tx2"/>
                </a:solidFill>
              </a:rPr>
              <a:t>오류율·신고율이 임계치를 넘으면 유의성을 기다리지 않고 멈춘다</a:t>
            </a:r>
            <a:endParaRPr lang="en-US" sz="1500" dirty="0"/>
          </a:p>
        </p:txBody>
      </p:sp>
      <p:sp>
        <p:nvSpPr>
          <p:cNvPr id="8" name="Text 5"/>
          <p:cNvSpPr txBox="1"/>
          <p:nvPr/>
        </p:nvSpPr>
        <p:spPr>
          <a:xfrm>
            <a:off x="640080" y="5897880"/>
            <a:ext cx="10911535" cy="274320"/>
          </a:xfrm>
          <a:prstGeom prst="rect">
            <a:avLst/>
          </a:prstGeom>
          <a:noFill/>
          <a:ln/>
        </p:spPr>
        <p:txBody>
          <a:bodyPr wrap="square" lIns="0" tIns="0" rIns="0" bIns="0" rtlCol="0" anchor="t"/>
          <a:lstStyle/>
          <a:p>
            <a:pPr indent="0" marL="0">
              <a:buNone/>
            </a:pPr>
            <a:r>
              <a:rPr lang="en-US" sz="1100" dirty="0">
                <a:solidFill>
                  <a:schemeClr val="accent6"/>
                </a:solidFill>
              </a:rPr>
              <a:t>출처: Kramer et al. (2014), PNAS · Bond et al. (2012), Nature · 위키 08편</a:t>
            </a:r>
            <a:endParaRPr lang="en-US" sz="11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Ch4 · 고급 설계</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목적이 다르면 실험 방식도 다르다</a:t>
            </a:r>
            <a:endParaRPr lang="en-US" sz="2000" dirty="0"/>
          </a:p>
        </p:txBody>
      </p:sp>
      <p:graphicFrame>
        <p:nvGraphicFramePr>
          <p:cNvPr id="69"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11535" cy="914400"/>
        </p:xfrm>
        <a:graphic>
          <a:graphicData uri="http://schemas.openxmlformats.org/drawingml/2006/table">
            <a:tbl>
              <a:tblPr/>
              <a:tblGrid>
                <a:gridCol w="2560320"/>
                <a:gridCol w="3017520"/>
                <a:gridCol w="3291840"/>
                <a:gridCol w="2039112"/>
              </a:tblGrid>
              <a:tr h="731520">
                <a:tc>
                  <a:txBody>
                    <a:bodyPr/>
                    <a:lstStyle/>
                    <a:p>
                      <a:pPr indent="0" marL="0">
                        <a:buNone/>
                      </a:pPr>
                      <a:r>
                        <a:rPr lang="en-US" sz="1400" b="1" dirty="0">
                          <a:solidFill>
                            <a:srgbClr val="555C7A"/>
                          </a:solidFill>
                        </a:rPr>
                        <a:t>설계</a:t>
                      </a:r>
                      <a:endParaRPr lang="en-US" sz="14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400" b="1" dirty="0">
                          <a:solidFill>
                            <a:srgbClr val="555C7A"/>
                          </a:solidFill>
                        </a:rPr>
                        <a:t>언제</a:t>
                      </a:r>
                      <a:endParaRPr lang="en-US" sz="14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400" b="1" dirty="0">
                          <a:solidFill>
                            <a:srgbClr val="555C7A"/>
                          </a:solidFill>
                        </a:rPr>
                        <a:t>아이디어</a:t>
                      </a:r>
                      <a:endParaRPr lang="en-US" sz="14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400" b="1" dirty="0">
                          <a:solidFill>
                            <a:srgbClr val="555C7A"/>
                          </a:solidFill>
                        </a:rPr>
                        <a:t>예</a:t>
                      </a:r>
                      <a:endParaRPr lang="en-US" sz="14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r>
              <a:tr h="731520">
                <a:tc>
                  <a:txBody>
                    <a:bodyPr/>
                    <a:lstStyle/>
                    <a:p>
                      <a:pPr indent="0" marL="0">
                        <a:buNone/>
                      </a:pPr>
                      <a:r>
                        <a:rPr lang="en-US" sz="1500" b="1" dirty="0">
                          <a:solidFill>
                            <a:srgbClr val="1B1F3B"/>
                          </a:solidFill>
                        </a:rPr>
                        <a:t>Multi-armed Bandit</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빨리 좋은 쪽으로 트래픽을 몰고 싶을 때</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탐색 vs 활용. Thompson Sampling, UCB, ε-greedy</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프로모션 문구, 배너</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731520">
                <a:tc>
                  <a:txBody>
                    <a:bodyPr/>
                    <a:lstStyle/>
                    <a:p>
                      <a:pPr indent="0" marL="0">
                        <a:buNone/>
                      </a:pPr>
                      <a:r>
                        <a:rPr lang="en-US" sz="1500" b="1" dirty="0">
                          <a:solidFill>
                            <a:srgbClr val="1B1F3B"/>
                          </a:solidFill>
                        </a:rPr>
                        <a:t>Interleaving</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두 랭킹 알고리즘을 비교할 때</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두 결과를 한 목록에 섞어 어느 쪽을 클릭하는지 본다</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검색, 추천</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bl>
          </a:graphicData>
        </a:graphic>
      </p:graphicFrame>
      <p:sp>
        <p:nvSpPr>
          <p:cNvPr id="6" name="Text 2"/>
          <p:cNvSpPr txBox="1"/>
          <p:nvPr/>
        </p:nvSpPr>
        <p:spPr>
          <a:xfrm>
            <a:off x="640080" y="4343400"/>
            <a:ext cx="10911535" cy="822960"/>
          </a:xfrm>
          <a:prstGeom prst="rect">
            <a:avLst/>
          </a:prstGeom>
          <a:noFill/>
          <a:ln/>
        </p:spPr>
        <p:txBody>
          <a:bodyPr wrap="square" lIns="0" tIns="0" rIns="0" bIns="0" rtlCol="0" anchor="t"/>
          <a:lstStyle/>
          <a:p>
            <a:pPr indent="0" marL="0">
              <a:spcAft>
                <a:spcPts val="600"/>
              </a:spcAft>
              <a:buNone/>
            </a:pPr>
            <a:r>
              <a:rPr lang="en-US" sz="1500" dirty="0">
                <a:solidFill>
                  <a:schemeClr val="tx2"/>
                </a:solidFill>
              </a:rPr>
              <a:t>밴딧: 이기는 쪽은 빨리 찾지만 효과 크기 추정은 부정확</a:t>
            </a:r>
            <a:endParaRPr lang="en-US" sz="1500" dirty="0"/>
          </a:p>
          <a:p>
            <a:pPr indent="0" marL="0">
              <a:buNone/>
            </a:pPr>
            <a:r>
              <a:rPr lang="en-US" sz="1500" dirty="0">
                <a:solidFill>
                  <a:schemeClr val="tx2"/>
                </a:solidFill>
              </a:rPr>
              <a:t>Cluster · Geo · Switchback → 간섭 줄이기 슬라이드</a:t>
            </a:r>
            <a:endParaRPr lang="en-US" sz="15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Ch4 · 실험이 불가능할 때</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실험 없이 인과를 추정하는 세 가지 방법</a:t>
            </a:r>
            <a:endParaRPr lang="en-US" sz="2000" dirty="0"/>
          </a:p>
        </p:txBody>
      </p:sp>
      <p:graphicFrame>
        <p:nvGraphicFramePr>
          <p:cNvPr id="5" name="Chart 0" descr=""/>
          <p:cNvGraphicFramePr/>
          <p:nvPr/>
        </p:nvGraphicFramePr>
        <p:xfrm>
          <a:off x="640080" y="1737360"/>
          <a:ext cx="5852160" cy="393192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6949440" y="1828800"/>
            <a:ext cx="4572000" cy="3840480"/>
          </a:xfrm>
          <a:prstGeom prst="rect">
            <a:avLst/>
          </a:prstGeom>
          <a:noFill/>
          <a:ln/>
        </p:spPr>
        <p:txBody>
          <a:bodyPr wrap="square" lIns="0" tIns="0" rIns="0" bIns="0" rtlCol="0" anchor="t"/>
          <a:lstStyle/>
          <a:p>
            <a:pPr indent="0" marL="0">
              <a:buNone/>
            </a:pPr>
            <a:r>
              <a:rPr lang="en-US" sz="2000" b="1" dirty="0">
                <a:solidFill>
                  <a:schemeClr val="accent1"/>
                </a:solidFill>
              </a:rPr>
              <a:t>DID (이중차분)</a:t>
            </a:r>
            <a:endParaRPr lang="en-US" sz="1500" dirty="0"/>
          </a:p>
          <a:p>
            <a:pPr indent="0" marL="0">
              <a:buNone/>
            </a:pPr>
            <a:r>
              <a:rPr lang="en-US" sz="1500" dirty="0">
                <a:solidFill>
                  <a:schemeClr val="tx1"/>
                </a:solidFill>
              </a:rPr>
              <a:t>처치·비교 집단의 전후 변화 차이</a:t>
            </a:r>
            <a:endParaRPr lang="en-US" sz="1500" dirty="0"/>
          </a:p>
          <a:p>
            <a:pPr indent="0" marL="0">
              <a:spcAft>
                <a:spcPts val="1400"/>
              </a:spcAft>
              <a:buNone/>
            </a:pPr>
            <a:r>
              <a:rPr lang="en-US" sz="1400" dirty="0">
                <a:solidFill>
                  <a:schemeClr val="tx2"/>
                </a:solidFill>
              </a:rPr>
              <a:t>가정: 처치 전 추세가 평행</a:t>
            </a:r>
            <a:endParaRPr lang="en-US" sz="1500" dirty="0"/>
          </a:p>
          <a:p>
            <a:pPr indent="0" marL="0">
              <a:buNone/>
            </a:pPr>
            <a:r>
              <a:rPr lang="en-US" sz="2000" b="1" dirty="0">
                <a:solidFill>
                  <a:schemeClr val="tx1"/>
                </a:solidFill>
              </a:rPr>
              <a:t>RDD (회귀 불연속)</a:t>
            </a:r>
            <a:endParaRPr lang="en-US" sz="1500" dirty="0"/>
          </a:p>
          <a:p>
            <a:pPr indent="0" marL="0">
              <a:buNone/>
            </a:pPr>
            <a:r>
              <a:rPr lang="en-US" sz="1500" dirty="0">
                <a:solidFill>
                  <a:schemeClr val="tx1"/>
                </a:solidFill>
              </a:rPr>
              <a:t>기준선 바로 위·아래를 비교</a:t>
            </a:r>
            <a:endParaRPr lang="en-US" sz="1500" dirty="0"/>
          </a:p>
          <a:p>
            <a:pPr indent="0" marL="0">
              <a:spcAft>
                <a:spcPts val="1400"/>
              </a:spcAft>
              <a:buNone/>
            </a:pPr>
            <a:r>
              <a:rPr lang="en-US" sz="1400" dirty="0">
                <a:solidFill>
                  <a:schemeClr val="tx2"/>
                </a:solidFill>
              </a:rPr>
              <a:t>예: 최소주문금액 직전·직후 주문</a:t>
            </a:r>
            <a:endParaRPr lang="en-US" sz="1500" dirty="0"/>
          </a:p>
          <a:p>
            <a:pPr indent="0" marL="0">
              <a:buNone/>
            </a:pPr>
            <a:r>
              <a:rPr lang="en-US" sz="2000" b="1" dirty="0">
                <a:solidFill>
                  <a:schemeClr val="tx1"/>
                </a:solidFill>
              </a:rPr>
              <a:t>Synthetic Control</a:t>
            </a:r>
            <a:endParaRPr lang="en-US" sz="1500" dirty="0"/>
          </a:p>
          <a:p>
            <a:pPr indent="0" marL="0">
              <a:buNone/>
            </a:pPr>
            <a:r>
              <a:rPr lang="en-US" sz="1500" dirty="0">
                <a:solidFill>
                  <a:schemeClr val="tx1"/>
                </a:solidFill>
              </a:rPr>
              <a:t>여러 비교 집단을 섞어 가상의 대조군을 만든다</a:t>
            </a:r>
            <a:endParaRPr lang="en-US" sz="1500" dirty="0"/>
          </a:p>
          <a:p>
            <a:pPr indent="0" marL="0">
              <a:buNone/>
            </a:pPr>
            <a:r>
              <a:rPr lang="en-US" sz="1400" dirty="0">
                <a:solidFill>
                  <a:schemeClr val="tx2"/>
                </a:solidFill>
              </a:rPr>
              <a:t>예: 한 도시에만 도입한 정책</a:t>
            </a:r>
            <a:endParaRPr lang="en-US" sz="15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0" type="body" hasCustomPrompt="1"/>
          </p:nvPr>
        </p:nvSpPr>
        <p:spPr>
          <a:xfrm>
            <a:off x="640080" y="1371600"/>
            <a:ext cx="3657600" cy="1463040"/>
          </a:xfrm>
          <a:prstGeom prst="rect">
            <a:avLst/>
          </a:prstGeom>
          <a:noFill/>
          <a:ln/>
        </p:spPr>
        <p:txBody>
          <a:bodyPr wrap="square" lIns="0" tIns="0" rIns="0" bIns="0" rtlCol="0" anchor="b"/>
          <a:lstStyle/>
          <a:p>
            <a:pPr algn="l" indent="0" marL="0">
              <a:buNone/>
            </a:pPr>
            <a:r>
              <a:rPr lang="en-US" sz="9600" b="1" dirty="0">
                <a:solidFill>
                  <a:srgbClr val="7B93FF"/>
                </a:solidFill>
              </a:rPr>
              <a:t>05</a:t>
            </a:r>
            <a:endParaRPr lang="en-US" sz="9600" dirty="0"/>
          </a:p>
        </p:txBody>
      </p:sp>
      <p:sp>
        <p:nvSpPr>
          <p:cNvPr id="3" name="Text 0"/>
          <p:cNvSpPr/>
          <p:nvPr>
            <p:ph idx="101" type="title" hasCustomPrompt="1"/>
          </p:nvPr>
        </p:nvSpPr>
        <p:spPr>
          <a:xfrm>
            <a:off x="640080" y="3017520"/>
            <a:ext cx="10058400" cy="914400"/>
          </a:xfrm>
          <a:prstGeom prst="rect">
            <a:avLst/>
          </a:prstGeom>
          <a:noFill/>
          <a:ln/>
        </p:spPr>
        <p:txBody>
          <a:bodyPr wrap="square" lIns="0" tIns="0" rIns="0" bIns="0" rtlCol="0" anchor="t"/>
          <a:lstStyle/>
          <a:p>
            <a:pPr algn="l" indent="0" marL="0">
              <a:buNone/>
            </a:pPr>
            <a:r>
              <a:rPr lang="en-US" sz="4000" b="1" dirty="0">
                <a:solidFill>
                  <a:srgbClr val="FFFFFF"/>
                </a:solidFill>
              </a:rPr>
              <a:t>산업 사례와 실험 문화</a:t>
            </a:r>
            <a:endParaRPr lang="en-US" sz="4000" dirty="0"/>
          </a:p>
        </p:txBody>
      </p:sp>
      <p:sp>
        <p:nvSpPr>
          <p:cNvPr id="4" name="Text 0"/>
          <p:cNvSpPr/>
          <p:nvPr>
            <p:ph idx="102" type="body" hasCustomPrompt="1"/>
          </p:nvPr>
        </p:nvSpPr>
        <p:spPr>
          <a:xfrm>
            <a:off x="640080" y="4069080"/>
            <a:ext cx="10058400" cy="731520"/>
          </a:xfrm>
          <a:prstGeom prst="rect">
            <a:avLst/>
          </a:prstGeom>
          <a:noFill/>
          <a:ln/>
        </p:spPr>
        <p:txBody>
          <a:bodyPr wrap="square" lIns="0" tIns="0" rIns="0" bIns="0" rtlCol="0" anchor="t"/>
          <a:lstStyle/>
          <a:p>
            <a:pPr algn="l" indent="0" marL="0">
              <a:buNone/>
            </a:pPr>
            <a:r>
              <a:rPr lang="en-US" sz="2000" dirty="0">
                <a:solidFill>
                  <a:srgbClr val="AEB3CC"/>
                </a:solidFill>
              </a:rPr>
              <a:t>그리고 의사결정으로 닫기</a:t>
            </a:r>
            <a:endParaRPr lang="en-US" sz="20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Ch5 · 산업 사례</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실험을 잘하는 회사들이 오늘 개념을 어떻게 쓰나</a:t>
            </a:r>
            <a:endParaRPr lang="en-US" sz="2000" dirty="0"/>
          </a:p>
        </p:txBody>
      </p:sp>
      <p:graphicFrame>
        <p:nvGraphicFramePr>
          <p:cNvPr id="72"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11535" cy="914400"/>
        </p:xfrm>
        <a:graphic>
          <a:graphicData uri="http://schemas.openxmlformats.org/drawingml/2006/table">
            <a:tbl>
              <a:tblPr/>
              <a:tblGrid>
                <a:gridCol w="2651760"/>
                <a:gridCol w="5486400"/>
                <a:gridCol w="2770632"/>
              </a:tblGrid>
              <a:tr h="621792">
                <a:tc>
                  <a:txBody>
                    <a:bodyPr/>
                    <a:lstStyle/>
                    <a:p>
                      <a:pPr indent="0" marL="0">
                        <a:buNone/>
                      </a:pPr>
                      <a:r>
                        <a:rPr lang="en-US" sz="1400" b="1" dirty="0">
                          <a:solidFill>
                            <a:srgbClr val="555C7A"/>
                          </a:solidFill>
                        </a:rPr>
                        <a:t>회사</a:t>
                      </a:r>
                      <a:endParaRPr lang="en-US" sz="14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400" b="1" dirty="0">
                          <a:solidFill>
                            <a:srgbClr val="555C7A"/>
                          </a:solidFill>
                        </a:rPr>
                        <a:t>무엇을 했나</a:t>
                      </a:r>
                      <a:endParaRPr lang="en-US" sz="14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400" b="1" dirty="0">
                          <a:solidFill>
                            <a:srgbClr val="555C7A"/>
                          </a:solidFill>
                        </a:rPr>
                        <a:t>오늘 개념</a:t>
                      </a:r>
                      <a:endParaRPr lang="en-US" sz="14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r>
              <a:tr h="621792">
                <a:tc>
                  <a:txBody>
                    <a:bodyPr/>
                    <a:lstStyle/>
                    <a:p>
                      <a:pPr indent="0" marL="0">
                        <a:buNone/>
                      </a:pPr>
                      <a:r>
                        <a:rPr lang="en-US" sz="1500" b="1" dirty="0">
                          <a:solidFill>
                            <a:srgbClr val="1B1F3B"/>
                          </a:solidFill>
                        </a:rPr>
                        <a:t>Microsoft · Bing</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OEC를 정교하게 설계하고 CUPED로 실험 감도를 높였다</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OEC, 분산 축소</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621792">
                <a:tc>
                  <a:txBody>
                    <a:bodyPr/>
                    <a:lstStyle/>
                    <a:p>
                      <a:pPr indent="0" marL="0">
                        <a:buNone/>
                      </a:pPr>
                      <a:r>
                        <a:rPr lang="en-US" sz="1500" b="1" dirty="0">
                          <a:solidFill>
                            <a:srgbClr val="1B1F3B"/>
                          </a:solidFill>
                        </a:rPr>
                        <a:t>Netflix</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추천 알고리즘 비교에 인터리빙을 써서 적은 표본으로 빠르게 거른다</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Interleaving</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621792">
                <a:tc>
                  <a:txBody>
                    <a:bodyPr/>
                    <a:lstStyle/>
                    <a:p>
                      <a:pPr indent="0" marL="0">
                        <a:buNone/>
                      </a:pPr>
                      <a:r>
                        <a:rPr lang="en-US" sz="1500" b="1" dirty="0">
                          <a:solidFill>
                            <a:srgbClr val="1B1F3B"/>
                          </a:solidFill>
                        </a:rPr>
                        <a:t>Booking.com</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누구나 실험을 띄울 수 있는 실험 민주화 문화</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Experimentation Platform</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621792">
                <a:tc>
                  <a:txBody>
                    <a:bodyPr/>
                    <a:lstStyle/>
                    <a:p>
                      <a:pPr indent="0" marL="0">
                        <a:buNone/>
                      </a:pPr>
                      <a:r>
                        <a:rPr lang="en-US" sz="1500" b="1" dirty="0">
                          <a:solidFill>
                            <a:srgbClr val="1B1F3B"/>
                          </a:solidFill>
                        </a:rPr>
                        <a:t>Uber · Lyft</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배차·가격 실험에 스위치백 설계</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Switchback, SUTVA</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621792">
                <a:tc>
                  <a:txBody>
                    <a:bodyPr/>
                    <a:lstStyle/>
                    <a:p>
                      <a:pPr indent="0" marL="0">
                        <a:buNone/>
                      </a:pPr>
                      <a:r>
                        <a:rPr lang="en-US" sz="1500" b="1" dirty="0">
                          <a:solidFill>
                            <a:srgbClr val="1B1F3B"/>
                          </a:solidFill>
                        </a:rPr>
                        <a:t>토스</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SQL 없이 쓰는 실험·분석 플랫폼 TUBA, 푸시 디타게팅 실험</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Experimentation Platform, 실습 사례</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Ch5 · 실험하는 조직</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실험하는 조직의 세 가지 원칙</a:t>
            </a:r>
            <a:endParaRPr lang="en-US" sz="2000" dirty="0"/>
          </a:p>
        </p:txBody>
      </p:sp>
      <p:sp>
        <p:nvSpPr>
          <p:cNvPr id="5" name="Text 2"/>
          <p:cNvSpPr txBox="1"/>
          <p:nvPr/>
        </p:nvSpPr>
        <p:spPr>
          <a:xfrm>
            <a:off x="640080" y="1783080"/>
            <a:ext cx="914400" cy="548640"/>
          </a:xfrm>
          <a:prstGeom prst="rect">
            <a:avLst/>
          </a:prstGeom>
          <a:noFill/>
          <a:ln/>
        </p:spPr>
        <p:txBody>
          <a:bodyPr wrap="square" lIns="0" tIns="0" rIns="0" bIns="0" rtlCol="0" anchor="t"/>
          <a:lstStyle/>
          <a:p>
            <a:pPr indent="0" marL="0">
              <a:buNone/>
            </a:pPr>
            <a:r>
              <a:rPr lang="en-US" sz="3000" b="1" dirty="0">
                <a:solidFill>
                  <a:schemeClr val="accent1"/>
                </a:solidFill>
              </a:rPr>
              <a:t>01</a:t>
            </a:r>
            <a:endParaRPr lang="en-US" sz="3000" dirty="0"/>
          </a:p>
        </p:txBody>
      </p:sp>
      <p:sp>
        <p:nvSpPr>
          <p:cNvPr id="6" name="Text 3"/>
          <p:cNvSpPr txBox="1"/>
          <p:nvPr/>
        </p:nvSpPr>
        <p:spPr>
          <a:xfrm>
            <a:off x="640080" y="2377440"/>
            <a:ext cx="3383280" cy="2286000"/>
          </a:xfrm>
          <a:prstGeom prst="rect">
            <a:avLst/>
          </a:prstGeom>
          <a:noFill/>
          <a:ln/>
        </p:spPr>
        <p:txBody>
          <a:bodyPr wrap="square" lIns="0" tIns="0" rIns="0" bIns="0" rtlCol="0" anchor="t"/>
          <a:lstStyle/>
          <a:p>
            <a:pPr indent="0" marL="0">
              <a:spcAft>
                <a:spcPts val="800"/>
              </a:spcAft>
              <a:buNone/>
            </a:pPr>
            <a:r>
              <a:rPr lang="en-US" sz="2000" b="1" dirty="0">
                <a:solidFill>
                  <a:schemeClr val="tx1"/>
                </a:solidFill>
              </a:rPr>
              <a:t>데이터로 결정하고 OEC를 공식화한다</a:t>
            </a:r>
            <a:endParaRPr lang="en-US" sz="1500" dirty="0"/>
          </a:p>
          <a:p>
            <a:pPr indent="0" marL="0">
              <a:spcAft>
                <a:spcPts val="800"/>
              </a:spcAft>
              <a:buNone/>
            </a:pPr>
            <a:r>
              <a:rPr lang="en-US" sz="1500" dirty="0">
                <a:solidFill>
                  <a:schemeClr val="tx1"/>
                </a:solidFill>
              </a:rPr>
              <a:t>무엇을 성공으로 볼지 먼저 정하고, 가드레일로 무엇을 훼손하면 안 되는지도 정한다</a:t>
            </a:r>
            <a:endParaRPr lang="en-US" sz="1500" dirty="0"/>
          </a:p>
          <a:p>
            <a:pPr indent="0" marL="0">
              <a:buNone/>
            </a:pPr>
            <a:r>
              <a:rPr lang="en-US" sz="1400" dirty="0">
                <a:solidFill>
                  <a:schemeClr val="tx2"/>
                </a:solidFill>
              </a:rPr>
              <a:t>A/B뿐 아니라 조사, 유지보수 비용 같은 여러 데이터로 판단한다</a:t>
            </a:r>
            <a:endParaRPr lang="en-US" sz="1500" dirty="0"/>
          </a:p>
        </p:txBody>
      </p:sp>
      <p:sp>
        <p:nvSpPr>
          <p:cNvPr id="7" name="Text 4"/>
          <p:cNvSpPr txBox="1"/>
          <p:nvPr/>
        </p:nvSpPr>
        <p:spPr>
          <a:xfrm>
            <a:off x="4343400" y="1783080"/>
            <a:ext cx="914400" cy="548640"/>
          </a:xfrm>
          <a:prstGeom prst="rect">
            <a:avLst/>
          </a:prstGeom>
          <a:noFill/>
          <a:ln/>
        </p:spPr>
        <p:txBody>
          <a:bodyPr wrap="square" lIns="0" tIns="0" rIns="0" bIns="0" rtlCol="0" anchor="t"/>
          <a:lstStyle/>
          <a:p>
            <a:pPr indent="0" marL="0">
              <a:buNone/>
            </a:pPr>
            <a:r>
              <a:rPr lang="en-US" sz="3000" b="1" dirty="0">
                <a:solidFill>
                  <a:schemeClr val="accent1"/>
                </a:solidFill>
              </a:rPr>
              <a:t>02</a:t>
            </a:r>
            <a:endParaRPr lang="en-US" sz="3000" dirty="0"/>
          </a:p>
        </p:txBody>
      </p:sp>
      <p:sp>
        <p:nvSpPr>
          <p:cNvPr id="8" name="Text 5"/>
          <p:cNvSpPr txBox="1"/>
          <p:nvPr/>
        </p:nvSpPr>
        <p:spPr>
          <a:xfrm>
            <a:off x="4343400" y="2377440"/>
            <a:ext cx="3383280" cy="2286000"/>
          </a:xfrm>
          <a:prstGeom prst="rect">
            <a:avLst/>
          </a:prstGeom>
          <a:noFill/>
          <a:ln/>
        </p:spPr>
        <p:txBody>
          <a:bodyPr wrap="square" lIns="0" tIns="0" rIns="0" bIns="0" rtlCol="0" anchor="t"/>
          <a:lstStyle/>
          <a:p>
            <a:pPr indent="0" marL="0">
              <a:spcAft>
                <a:spcPts val="800"/>
              </a:spcAft>
              <a:buNone/>
            </a:pPr>
            <a:r>
              <a:rPr lang="en-US" sz="2000" b="1" dirty="0">
                <a:solidFill>
                  <a:schemeClr val="tx1"/>
                </a:solidFill>
              </a:rPr>
              <a:t>실험 인프라와 신뢰성에 투자한다</a:t>
            </a:r>
            <a:endParaRPr lang="en-US" sz="1500" dirty="0"/>
          </a:p>
          <a:p>
            <a:pPr indent="0" marL="0">
              <a:spcAft>
                <a:spcPts val="800"/>
              </a:spcAft>
              <a:buNone/>
            </a:pPr>
            <a:r>
              <a:rPr lang="en-US" sz="1500" dirty="0">
                <a:solidFill>
                  <a:schemeClr val="tx1"/>
                </a:solidFill>
              </a:rPr>
              <a:t>아이디어 → 빠른 실험 → 측정 → 판단 → 다음 실험이 반복되는 환경을 만든다</a:t>
            </a:r>
            <a:endParaRPr lang="en-US" sz="1500" dirty="0"/>
          </a:p>
          <a:p>
            <a:pPr indent="0" marL="0">
              <a:buNone/>
            </a:pPr>
            <a:r>
              <a:rPr lang="en-US" sz="1400" dirty="0">
                <a:solidFill>
                  <a:schemeClr val="tx2"/>
                </a:solidFill>
              </a:rPr>
              <a:t>예: 토스 TUBA, Microsoft ExP</a:t>
            </a:r>
            <a:endParaRPr lang="en-US" sz="1500" dirty="0"/>
          </a:p>
        </p:txBody>
      </p:sp>
      <p:sp>
        <p:nvSpPr>
          <p:cNvPr id="9" name="Text 6"/>
          <p:cNvSpPr txBox="1"/>
          <p:nvPr/>
        </p:nvSpPr>
        <p:spPr>
          <a:xfrm>
            <a:off x="8046720" y="1783080"/>
            <a:ext cx="914400" cy="548640"/>
          </a:xfrm>
          <a:prstGeom prst="rect">
            <a:avLst/>
          </a:prstGeom>
          <a:noFill/>
          <a:ln/>
        </p:spPr>
        <p:txBody>
          <a:bodyPr wrap="square" lIns="0" tIns="0" rIns="0" bIns="0" rtlCol="0" anchor="t"/>
          <a:lstStyle/>
          <a:p>
            <a:pPr indent="0" marL="0">
              <a:buNone/>
            </a:pPr>
            <a:r>
              <a:rPr lang="en-US" sz="3000" b="1" dirty="0">
                <a:solidFill>
                  <a:schemeClr val="accent1"/>
                </a:solidFill>
              </a:rPr>
              <a:t>03</a:t>
            </a:r>
            <a:endParaRPr lang="en-US" sz="3000" dirty="0"/>
          </a:p>
        </p:txBody>
      </p:sp>
      <p:sp>
        <p:nvSpPr>
          <p:cNvPr id="10" name="Text 7"/>
          <p:cNvSpPr txBox="1"/>
          <p:nvPr/>
        </p:nvSpPr>
        <p:spPr>
          <a:xfrm>
            <a:off x="8046720" y="2377440"/>
            <a:ext cx="3383280" cy="2286000"/>
          </a:xfrm>
          <a:prstGeom prst="rect">
            <a:avLst/>
          </a:prstGeom>
          <a:noFill/>
          <a:ln/>
        </p:spPr>
        <p:txBody>
          <a:bodyPr wrap="square" lIns="0" tIns="0" rIns="0" bIns="0" rtlCol="0" anchor="t"/>
          <a:lstStyle/>
          <a:p>
            <a:pPr indent="0" marL="0">
              <a:spcAft>
                <a:spcPts val="800"/>
              </a:spcAft>
              <a:buNone/>
            </a:pPr>
            <a:r>
              <a:rPr lang="en-US" sz="2000" b="1" dirty="0">
                <a:solidFill>
                  <a:schemeClr val="tx1"/>
                </a:solidFill>
              </a:rPr>
              <a:t>아이디어 평가에 서툴다는 걸 인정한다</a:t>
            </a:r>
            <a:endParaRPr lang="en-US" sz="1500" dirty="0"/>
          </a:p>
          <a:p>
            <a:pPr indent="0" marL="0">
              <a:spcAft>
                <a:spcPts val="800"/>
              </a:spcAft>
              <a:buNone/>
            </a:pPr>
            <a:r>
              <a:rPr lang="en-US" sz="1500" dirty="0">
                <a:solidFill>
                  <a:schemeClr val="tx1"/>
                </a:solidFill>
              </a:rPr>
              <a:t>좋아 보이는 것 ≠ 실제로 좋은 것</a:t>
            </a:r>
            <a:endParaRPr lang="en-US" sz="1500" dirty="0"/>
          </a:p>
          <a:p>
            <a:pPr indent="0" marL="0">
              <a:buNone/>
            </a:pPr>
            <a:r>
              <a:rPr lang="en-US" sz="1400" dirty="0">
                <a:solidFill>
                  <a:schemeClr val="tx2"/>
                </a:solidFill>
              </a:rPr>
              <a:t>잭팟 한 번보다 많은 아이디어를 싸게 실험하는 구조</a:t>
            </a:r>
            <a:endParaRPr lang="en-US" sz="1500" dirty="0"/>
          </a:p>
        </p:txBody>
      </p:sp>
      <p:sp>
        <p:nvSpPr>
          <p:cNvPr id="11" name="Text 8"/>
          <p:cNvSpPr txBox="1"/>
          <p:nvPr/>
        </p:nvSpPr>
        <p:spPr>
          <a:xfrm>
            <a:off x="640080" y="5897880"/>
            <a:ext cx="10911535" cy="274320"/>
          </a:xfrm>
          <a:prstGeom prst="rect">
            <a:avLst/>
          </a:prstGeom>
          <a:noFill/>
          <a:ln/>
        </p:spPr>
        <p:txBody>
          <a:bodyPr wrap="square" lIns="0" tIns="0" rIns="0" bIns="0" rtlCol="0" anchor="t"/>
          <a:lstStyle/>
          <a:p>
            <a:pPr indent="0" marL="0">
              <a:buNone/>
            </a:pPr>
            <a:r>
              <a:rPr lang="en-US" sz="1100" dirty="0">
                <a:solidFill>
                  <a:schemeClr val="accent6"/>
                </a:solidFill>
              </a:rPr>
              <a:t>출처: Kohavi, Tang, Xu (2020) · 위키 11편 1장</a:t>
            </a:r>
            <a:endParaRPr lang="en-US" sz="11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Ch5 · 조직의 OEC</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팀마다 OEC는 달라도 같은 장기 목표를 향한다</a:t>
            </a:r>
            <a:endParaRPr lang="en-US" sz="2000" dirty="0"/>
          </a:p>
        </p:txBody>
      </p:sp>
      <p:graphicFrame>
        <p:nvGraphicFramePr>
          <p:cNvPr id="74" name="Table 0"/>
          <p:cNvGraphicFramePr>
            <a:graphicFrameLocks noGrp="1"/>
          </p:cNvGraphicFramePr>
          <p:nvPr>
            <p:extLst>
              <p:ext uri="{D42A27DB-BD31-4B8C-83A1-F6EECF244321}">
                <p14:modId xmlns:p14="http://schemas.microsoft.com/office/powerpoint/2010/main" val="1579011935"/>
              </p:ext>
            </p:extLst>
          </p:nvPr>
        </p:nvGraphicFramePr>
        <p:xfrm>
          <a:off x="640080" y="1737360"/>
          <a:ext cx="6766560" cy="914400"/>
        </p:xfrm>
        <a:graphic>
          <a:graphicData uri="http://schemas.openxmlformats.org/drawingml/2006/table">
            <a:tbl>
              <a:tblPr/>
              <a:tblGrid>
                <a:gridCol w="1554480"/>
                <a:gridCol w="2926080"/>
                <a:gridCol w="2286000"/>
              </a:tblGrid>
              <a:tr h="512064">
                <a:tc>
                  <a:txBody>
                    <a:bodyPr/>
                    <a:lstStyle/>
                    <a:p>
                      <a:pPr indent="0" marL="0">
                        <a:buNone/>
                      </a:pPr>
                      <a:r>
                        <a:rPr lang="en-US" sz="1400" b="1" dirty="0">
                          <a:solidFill>
                            <a:srgbClr val="555C7A"/>
                          </a:solidFill>
                        </a:rPr>
                        <a:t>조직·분야</a:t>
                      </a:r>
                      <a:endParaRPr lang="en-US" sz="14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400" b="1" dirty="0">
                          <a:solidFill>
                            <a:srgbClr val="555C7A"/>
                          </a:solidFill>
                        </a:rPr>
                        <a:t>OEC 예시</a:t>
                      </a:r>
                      <a:endParaRPr lang="en-US" sz="14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400" b="1" dirty="0">
                          <a:solidFill>
                            <a:srgbClr val="555C7A"/>
                          </a:solidFill>
                        </a:rPr>
                        <a:t>왜 이렇게 보나</a:t>
                      </a:r>
                      <a:endParaRPr lang="en-US" sz="14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r>
              <a:tr h="512064">
                <a:tc>
                  <a:txBody>
                    <a:bodyPr/>
                    <a:lstStyle/>
                    <a:p>
                      <a:pPr indent="0" marL="0">
                        <a:buNone/>
                      </a:pPr>
                      <a:r>
                        <a:rPr lang="en-US" sz="1500" b="1" dirty="0">
                          <a:solidFill>
                            <a:srgbClr val="1B1F3B"/>
                          </a:solidFill>
                        </a:rPr>
                        <a:t>회사 전체</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고객 생애가치(CLV), 장기 구매 유지율</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장기적인 사업 가치</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512064">
                <a:tc>
                  <a:txBody>
                    <a:bodyPr/>
                    <a:lstStyle/>
                    <a:p>
                      <a:pPr indent="0" marL="0">
                        <a:buNone/>
                      </a:pPr>
                      <a:r>
                        <a:rPr lang="en-US" sz="1500" b="1" dirty="0">
                          <a:solidFill>
                            <a:srgbClr val="1B1F3B"/>
                          </a:solidFill>
                        </a:rPr>
                        <a:t>검색팀</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검색 후 구매율, 검색 성공률</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검색 품질을 개선할 수 있다</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512064">
                <a:tc>
                  <a:txBody>
                    <a:bodyPr/>
                    <a:lstStyle/>
                    <a:p>
                      <a:pPr indent="0" marL="0">
                        <a:buNone/>
                      </a:pPr>
                      <a:r>
                        <a:rPr lang="en-US" sz="1500" b="1" dirty="0">
                          <a:solidFill>
                            <a:srgbClr val="1B1F3B"/>
                          </a:solidFill>
                        </a:rPr>
                        <a:t>추천팀</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추천을 통한 구매·장기 이용</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추천 품질을 개선할 수 있다</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512064">
                <a:tc>
                  <a:txBody>
                    <a:bodyPr/>
                    <a:lstStyle/>
                    <a:p>
                      <a:pPr indent="0" marL="0">
                        <a:buNone/>
                      </a:pPr>
                      <a:r>
                        <a:rPr lang="en-US" sz="1500" b="1" dirty="0">
                          <a:solidFill>
                            <a:srgbClr val="1B1F3B"/>
                          </a:solidFill>
                        </a:rPr>
                        <a:t>결제팀</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결제 완료율</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결제 과정의 마찰을 줄일 수 있다</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512064">
                <a:tc>
                  <a:txBody>
                    <a:bodyPr/>
                    <a:lstStyle/>
                    <a:p>
                      <a:pPr indent="0" marL="0">
                        <a:buNone/>
                      </a:pPr>
                      <a:r>
                        <a:rPr lang="en-US" sz="1500" b="1" dirty="0">
                          <a:solidFill>
                            <a:srgbClr val="1B1F3B"/>
                          </a:solidFill>
                        </a:rPr>
                        <a:t>배송팀</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정시 배송률, 재구매 관련 지표</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배송 경험을 개선할 수 있다</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bl>
          </a:graphicData>
        </a:graphic>
      </p:graphicFrame>
      <p:sp>
        <p:nvSpPr>
          <p:cNvPr id="6" name="Text 2"/>
          <p:cNvSpPr txBox="1"/>
          <p:nvPr/>
        </p:nvSpPr>
        <p:spPr>
          <a:xfrm>
            <a:off x="7818120" y="1737360"/>
            <a:ext cx="3749040" cy="3657600"/>
          </a:xfrm>
          <a:prstGeom prst="rect">
            <a:avLst/>
          </a:prstGeom>
          <a:noFill/>
          <a:ln/>
        </p:spPr>
        <p:txBody>
          <a:bodyPr wrap="square" lIns="0" tIns="0" rIns="0" bIns="0" rtlCol="0" anchor="t"/>
          <a:lstStyle/>
          <a:p>
            <a:pPr indent="0" marL="0">
              <a:buNone/>
            </a:pPr>
            <a:r>
              <a:rPr lang="en-US" sz="2000" b="1" dirty="0">
                <a:solidFill>
                  <a:schemeClr val="accent1"/>
                </a:solidFill>
              </a:rPr>
              <a:t>토스 · 푸시 알림</a:t>
            </a:r>
            <a:endParaRPr lang="en-US" sz="1500" dirty="0"/>
          </a:p>
          <a:p>
            <a:pPr indent="0" marL="0">
              <a:buNone/>
            </a:pPr>
            <a:r>
              <a:rPr lang="en-US" sz="1500" dirty="0">
                <a:solidFill>
                  <a:schemeClr val="tx1"/>
                </a:solidFill>
              </a:rPr>
              <a:t>주 지표: 푸시 CTR</a:t>
            </a:r>
            <a:endParaRPr lang="en-US" sz="1500" dirty="0"/>
          </a:p>
          <a:p>
            <a:pPr indent="0" marL="0">
              <a:spcAft>
                <a:spcPts val="1400"/>
              </a:spcAft>
              <a:buNone/>
            </a:pPr>
            <a:r>
              <a:rPr lang="en-US" sz="1500" dirty="0">
                <a:solidFill>
                  <a:schemeClr val="tx2"/>
                </a:solidFill>
              </a:rPr>
              <a:t>가드레일: 앱 오픈 AU, 서비스별 AU, 매출 하락 방지</a:t>
            </a:r>
            <a:endParaRPr lang="en-US" sz="1500" dirty="0"/>
          </a:p>
          <a:p>
            <a:pPr indent="0" marL="0">
              <a:buNone/>
            </a:pPr>
            <a:r>
              <a:rPr lang="en-US" sz="2000" b="1" dirty="0">
                <a:solidFill>
                  <a:schemeClr val="accent1"/>
                </a:solidFill>
              </a:rPr>
              <a:t>토스뱅크 · 신분증 촬영</a:t>
            </a:r>
            <a:endParaRPr lang="en-US" sz="1500" dirty="0"/>
          </a:p>
          <a:p>
            <a:pPr indent="0" marL="0">
              <a:buNone/>
            </a:pPr>
            <a:r>
              <a:rPr lang="en-US" sz="1500" dirty="0">
                <a:solidFill>
                  <a:schemeClr val="tx1"/>
                </a:solidFill>
              </a:rPr>
              <a:t>촬영 단계 통과율 + 사후 검증 반려율</a:t>
            </a:r>
            <a:endParaRPr lang="en-US" sz="1500" dirty="0"/>
          </a:p>
          <a:p>
            <a:pPr indent="0" marL="0">
              <a:buNone/>
            </a:pPr>
            <a:r>
              <a:rPr lang="en-US" sz="1500" dirty="0">
                <a:solidFill>
                  <a:schemeClr val="tx2"/>
                </a:solidFill>
              </a:rPr>
              <a:t>원활하게 통과하면서 잘못된 신분증은 걸러지는가를 지표 조합으로 측정</a:t>
            </a:r>
            <a:endParaRPr lang="en-US" sz="1500" dirty="0"/>
          </a:p>
        </p:txBody>
      </p:sp>
      <p:sp>
        <p:nvSpPr>
          <p:cNvPr id="7" name="Text 3"/>
          <p:cNvSpPr txBox="1"/>
          <p:nvPr/>
        </p:nvSpPr>
        <p:spPr>
          <a:xfrm>
            <a:off x="640080" y="5897880"/>
            <a:ext cx="10911535" cy="274320"/>
          </a:xfrm>
          <a:prstGeom prst="rect">
            <a:avLst/>
          </a:prstGeom>
          <a:noFill/>
          <a:ln/>
        </p:spPr>
        <p:txBody>
          <a:bodyPr wrap="square" lIns="0" tIns="0" rIns="0" bIns="0" rtlCol="0" anchor="t"/>
          <a:lstStyle/>
          <a:p>
            <a:pPr indent="0" marL="0">
              <a:buNone/>
            </a:pPr>
            <a:r>
              <a:rPr lang="en-US" sz="1100" dirty="0">
                <a:solidFill>
                  <a:schemeClr val="accent6"/>
                </a:solidFill>
              </a:rPr>
              <a:t>출처: 토스 기술 블로그 「진짜 A/B 테스트」, 「토스뱅크가 AI로 보안과 효율도 챙기는 방법」 · 위키 11편 1.1</a:t>
            </a:r>
            <a:endParaRPr lang="en-US" sz="11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Ch5 · 실험과 제품 개발</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A/B 테스트는 작게 반복하는 개발 방식과 잘 맞는다</a:t>
            </a:r>
            <a:endParaRPr lang="en-US" sz="2000" dirty="0"/>
          </a:p>
        </p:txBody>
      </p:sp>
      <p:sp>
        <p:nvSpPr>
          <p:cNvPr id="5" name="Text 2"/>
          <p:cNvSpPr txBox="1"/>
          <p:nvPr/>
        </p:nvSpPr>
        <p:spPr>
          <a:xfrm>
            <a:off x="640080" y="1783080"/>
            <a:ext cx="914400" cy="548640"/>
          </a:xfrm>
          <a:prstGeom prst="rect">
            <a:avLst/>
          </a:prstGeom>
          <a:noFill/>
          <a:ln/>
        </p:spPr>
        <p:txBody>
          <a:bodyPr wrap="square" lIns="0" tIns="0" rIns="0" bIns="0" rtlCol="0" anchor="t"/>
          <a:lstStyle/>
          <a:p>
            <a:pPr indent="0" marL="0">
              <a:buNone/>
            </a:pPr>
            <a:r>
              <a:rPr lang="en-US" sz="3000" b="1" dirty="0">
                <a:solidFill>
                  <a:schemeClr val="accent1"/>
                </a:solidFill>
              </a:rPr>
              <a:t>01</a:t>
            </a:r>
            <a:endParaRPr lang="en-US" sz="3000" dirty="0"/>
          </a:p>
        </p:txBody>
      </p:sp>
      <p:sp>
        <p:nvSpPr>
          <p:cNvPr id="6" name="Text 3"/>
          <p:cNvSpPr txBox="1"/>
          <p:nvPr/>
        </p:nvSpPr>
        <p:spPr>
          <a:xfrm>
            <a:off x="640080" y="2423160"/>
            <a:ext cx="3383280" cy="1828800"/>
          </a:xfrm>
          <a:prstGeom prst="rect">
            <a:avLst/>
          </a:prstGeom>
          <a:noFill/>
          <a:ln/>
        </p:spPr>
        <p:txBody>
          <a:bodyPr wrap="square" lIns="0" tIns="0" rIns="0" bIns="0" rtlCol="0" anchor="t"/>
          <a:lstStyle/>
          <a:p>
            <a:pPr indent="0" marL="0">
              <a:spcAft>
                <a:spcPts val="800"/>
              </a:spcAft>
              <a:buNone/>
            </a:pPr>
            <a:r>
              <a:rPr lang="en-US" sz="2000" b="1" dirty="0">
                <a:solidFill>
                  <a:schemeClr val="tx1"/>
                </a:solidFill>
              </a:rPr>
              <a:t>애자일 (Agile)</a:t>
            </a:r>
            <a:endParaRPr lang="en-US" sz="1500" dirty="0"/>
          </a:p>
          <a:p>
            <a:pPr indent="0" marL="0">
              <a:buNone/>
            </a:pPr>
            <a:r>
              <a:rPr lang="en-US" sz="1500" dirty="0">
                <a:solidFill>
                  <a:schemeClr val="tx2"/>
                </a:solidFill>
              </a:rPr>
              <a:t>제품을 한 번에 완성하지 않고 작은 단위로 개발해 빠르게 반복 개선한다</a:t>
            </a:r>
            <a:endParaRPr lang="en-US" sz="1500" dirty="0"/>
          </a:p>
        </p:txBody>
      </p:sp>
      <p:sp>
        <p:nvSpPr>
          <p:cNvPr id="7" name="Text 4"/>
          <p:cNvSpPr txBox="1"/>
          <p:nvPr/>
        </p:nvSpPr>
        <p:spPr>
          <a:xfrm>
            <a:off x="4343400" y="1783080"/>
            <a:ext cx="914400" cy="548640"/>
          </a:xfrm>
          <a:prstGeom prst="rect">
            <a:avLst/>
          </a:prstGeom>
          <a:noFill/>
          <a:ln/>
        </p:spPr>
        <p:txBody>
          <a:bodyPr wrap="square" lIns="0" tIns="0" rIns="0" bIns="0" rtlCol="0" anchor="t"/>
          <a:lstStyle/>
          <a:p>
            <a:pPr indent="0" marL="0">
              <a:buNone/>
            </a:pPr>
            <a:r>
              <a:rPr lang="en-US" sz="3000" b="1" dirty="0">
                <a:solidFill>
                  <a:schemeClr val="accent1"/>
                </a:solidFill>
              </a:rPr>
              <a:t>02</a:t>
            </a:r>
            <a:endParaRPr lang="en-US" sz="3000" dirty="0"/>
          </a:p>
        </p:txBody>
      </p:sp>
      <p:sp>
        <p:nvSpPr>
          <p:cNvPr id="8" name="Text 5"/>
          <p:cNvSpPr txBox="1"/>
          <p:nvPr/>
        </p:nvSpPr>
        <p:spPr>
          <a:xfrm>
            <a:off x="4343400" y="2423160"/>
            <a:ext cx="3383280" cy="1828800"/>
          </a:xfrm>
          <a:prstGeom prst="rect">
            <a:avLst/>
          </a:prstGeom>
          <a:noFill/>
          <a:ln/>
        </p:spPr>
        <p:txBody>
          <a:bodyPr wrap="square" lIns="0" tIns="0" rIns="0" bIns="0" rtlCol="0" anchor="t"/>
          <a:lstStyle/>
          <a:p>
            <a:pPr indent="0" marL="0">
              <a:spcAft>
                <a:spcPts val="800"/>
              </a:spcAft>
              <a:buNone/>
            </a:pPr>
            <a:r>
              <a:rPr lang="en-US" sz="2000" b="1" dirty="0">
                <a:solidFill>
                  <a:schemeClr val="tx1"/>
                </a:solidFill>
              </a:rPr>
              <a:t>고객 개발 (Customer Development)</a:t>
            </a:r>
            <a:endParaRPr lang="en-US" sz="1500" dirty="0"/>
          </a:p>
          <a:p>
            <a:pPr indent="0" marL="0">
              <a:buNone/>
            </a:pPr>
            <a:r>
              <a:rPr lang="en-US" sz="1500" dirty="0">
                <a:solidFill>
                  <a:schemeClr val="tx2"/>
                </a:solidFill>
              </a:rPr>
              <a:t>세운 가설이 맞는지 실제 고객을 통해 계속 검증한다</a:t>
            </a:r>
            <a:endParaRPr lang="en-US" sz="1500" dirty="0"/>
          </a:p>
        </p:txBody>
      </p:sp>
      <p:sp>
        <p:nvSpPr>
          <p:cNvPr id="9" name="Text 6"/>
          <p:cNvSpPr txBox="1"/>
          <p:nvPr/>
        </p:nvSpPr>
        <p:spPr>
          <a:xfrm>
            <a:off x="8046720" y="1783080"/>
            <a:ext cx="914400" cy="548640"/>
          </a:xfrm>
          <a:prstGeom prst="rect">
            <a:avLst/>
          </a:prstGeom>
          <a:noFill/>
          <a:ln/>
        </p:spPr>
        <p:txBody>
          <a:bodyPr wrap="square" lIns="0" tIns="0" rIns="0" bIns="0" rtlCol="0" anchor="t"/>
          <a:lstStyle/>
          <a:p>
            <a:pPr indent="0" marL="0">
              <a:buNone/>
            </a:pPr>
            <a:r>
              <a:rPr lang="en-US" sz="3000" b="1" dirty="0">
                <a:solidFill>
                  <a:schemeClr val="accent1"/>
                </a:solidFill>
              </a:rPr>
              <a:t>03</a:t>
            </a:r>
            <a:endParaRPr lang="en-US" sz="3000" dirty="0"/>
          </a:p>
        </p:txBody>
      </p:sp>
      <p:sp>
        <p:nvSpPr>
          <p:cNvPr id="10" name="Text 7"/>
          <p:cNvSpPr txBox="1"/>
          <p:nvPr/>
        </p:nvSpPr>
        <p:spPr>
          <a:xfrm>
            <a:off x="8046720" y="2423160"/>
            <a:ext cx="3383280" cy="1828800"/>
          </a:xfrm>
          <a:prstGeom prst="rect">
            <a:avLst/>
          </a:prstGeom>
          <a:noFill/>
          <a:ln/>
        </p:spPr>
        <p:txBody>
          <a:bodyPr wrap="square" lIns="0" tIns="0" rIns="0" bIns="0" rtlCol="0" anchor="t"/>
          <a:lstStyle/>
          <a:p>
            <a:pPr indent="0" marL="0">
              <a:spcAft>
                <a:spcPts val="800"/>
              </a:spcAft>
              <a:buNone/>
            </a:pPr>
            <a:r>
              <a:rPr lang="en-US" sz="2000" b="1" dirty="0">
                <a:solidFill>
                  <a:schemeClr val="tx1"/>
                </a:solidFill>
              </a:rPr>
              <a:t>린 스타트업 (Lean Startup)</a:t>
            </a:r>
            <a:endParaRPr lang="en-US" sz="1500" dirty="0"/>
          </a:p>
          <a:p>
            <a:pPr indent="0" marL="0">
              <a:buNone/>
            </a:pPr>
            <a:r>
              <a:rPr lang="en-US" sz="1500" dirty="0">
                <a:solidFill>
                  <a:schemeClr val="tx2"/>
                </a:solidFill>
              </a:rPr>
              <a:t>Build → Measure → Learn을 반복하고, MVP로 큰 투자 전에 핵심 가설을 먼저 검증한다</a:t>
            </a:r>
            <a:endParaRPr lang="en-US" sz="1500" dirty="0"/>
          </a:p>
        </p:txBody>
      </p:sp>
      <p:sp>
        <p:nvSpPr>
          <p:cNvPr id="11" name="Text 8"/>
          <p:cNvSpPr txBox="1"/>
          <p:nvPr/>
        </p:nvSpPr>
        <p:spPr>
          <a:xfrm>
            <a:off x="640080" y="4572000"/>
            <a:ext cx="1737360" cy="457200"/>
          </a:xfrm>
          <a:prstGeom prst="rect">
            <a:avLst/>
          </a:prstGeom>
          <a:noFill/>
          <a:ln/>
        </p:spPr>
        <p:txBody>
          <a:bodyPr wrap="square" lIns="0" tIns="0" rIns="0" bIns="0" rtlCol="0" anchor="t"/>
          <a:lstStyle/>
          <a:p>
            <a:pPr indent="0" marL="0">
              <a:buNone/>
            </a:pPr>
            <a:r>
              <a:rPr lang="en-US" sz="2000" b="1" dirty="0">
                <a:solidFill>
                  <a:schemeClr val="tx1"/>
                </a:solidFill>
              </a:rPr>
              <a:t>아이디어</a:t>
            </a:r>
            <a:endParaRPr lang="en-US" sz="2000" dirty="0"/>
          </a:p>
        </p:txBody>
      </p:sp>
      <p:sp>
        <p:nvSpPr>
          <p:cNvPr id="12" name="Shape 9"/>
          <p:cNvSpPr/>
          <p:nvPr/>
        </p:nvSpPr>
        <p:spPr>
          <a:xfrm>
            <a:off x="2331720" y="4800600"/>
            <a:ext cx="457200" cy="0"/>
          </a:xfrm>
          <a:prstGeom prst="line">
            <a:avLst/>
          </a:prstGeom>
          <a:noFill/>
          <a:ln w="19050">
            <a:solidFill>
              <a:srgbClr val="8A90A8"/>
            </a:solidFill>
            <a:prstDash val="solid"/>
            <a:tailEnd type="triangle"/>
          </a:ln>
        </p:spPr>
      </p:sp>
      <p:sp>
        <p:nvSpPr>
          <p:cNvPr id="13" name="Text 10"/>
          <p:cNvSpPr txBox="1"/>
          <p:nvPr/>
        </p:nvSpPr>
        <p:spPr>
          <a:xfrm>
            <a:off x="2880360" y="4572000"/>
            <a:ext cx="1737360" cy="457200"/>
          </a:xfrm>
          <a:prstGeom prst="rect">
            <a:avLst/>
          </a:prstGeom>
          <a:noFill/>
          <a:ln/>
        </p:spPr>
        <p:txBody>
          <a:bodyPr wrap="square" lIns="0" tIns="0" rIns="0" bIns="0" rtlCol="0" anchor="t"/>
          <a:lstStyle/>
          <a:p>
            <a:pPr indent="0" marL="0">
              <a:buNone/>
            </a:pPr>
            <a:r>
              <a:rPr lang="en-US" sz="2000" b="1" dirty="0">
                <a:solidFill>
                  <a:schemeClr val="tx1"/>
                </a:solidFill>
              </a:rPr>
              <a:t>빠르게 실험</a:t>
            </a:r>
            <a:endParaRPr lang="en-US" sz="2000" dirty="0"/>
          </a:p>
        </p:txBody>
      </p:sp>
      <p:sp>
        <p:nvSpPr>
          <p:cNvPr id="14" name="Shape 11"/>
          <p:cNvSpPr/>
          <p:nvPr/>
        </p:nvSpPr>
        <p:spPr>
          <a:xfrm>
            <a:off x="4572000" y="4800600"/>
            <a:ext cx="457200" cy="0"/>
          </a:xfrm>
          <a:prstGeom prst="line">
            <a:avLst/>
          </a:prstGeom>
          <a:noFill/>
          <a:ln w="19050">
            <a:solidFill>
              <a:srgbClr val="8A90A8"/>
            </a:solidFill>
            <a:prstDash val="solid"/>
            <a:tailEnd type="triangle"/>
          </a:ln>
        </p:spPr>
      </p:sp>
      <p:sp>
        <p:nvSpPr>
          <p:cNvPr id="15" name="Text 12"/>
          <p:cNvSpPr txBox="1"/>
          <p:nvPr/>
        </p:nvSpPr>
        <p:spPr>
          <a:xfrm>
            <a:off x="5120640" y="4572000"/>
            <a:ext cx="1737360" cy="457200"/>
          </a:xfrm>
          <a:prstGeom prst="rect">
            <a:avLst/>
          </a:prstGeom>
          <a:noFill/>
          <a:ln/>
        </p:spPr>
        <p:txBody>
          <a:bodyPr wrap="square" lIns="0" tIns="0" rIns="0" bIns="0" rtlCol="0" anchor="t"/>
          <a:lstStyle/>
          <a:p>
            <a:pPr indent="0" marL="0">
              <a:buNone/>
            </a:pPr>
            <a:r>
              <a:rPr lang="en-US" sz="2000" b="1" dirty="0">
                <a:solidFill>
                  <a:schemeClr val="accent1"/>
                </a:solidFill>
              </a:rPr>
              <a:t>측정</a:t>
            </a:r>
            <a:endParaRPr lang="en-US" sz="2000" dirty="0"/>
          </a:p>
        </p:txBody>
      </p:sp>
      <p:sp>
        <p:nvSpPr>
          <p:cNvPr id="16" name="Shape 13"/>
          <p:cNvSpPr/>
          <p:nvPr/>
        </p:nvSpPr>
        <p:spPr>
          <a:xfrm>
            <a:off x="6812280" y="4800600"/>
            <a:ext cx="457200" cy="0"/>
          </a:xfrm>
          <a:prstGeom prst="line">
            <a:avLst/>
          </a:prstGeom>
          <a:noFill/>
          <a:ln w="19050">
            <a:solidFill>
              <a:srgbClr val="8A90A8"/>
            </a:solidFill>
            <a:prstDash val="solid"/>
            <a:tailEnd type="triangle"/>
          </a:ln>
        </p:spPr>
      </p:sp>
      <p:sp>
        <p:nvSpPr>
          <p:cNvPr id="17" name="Text 14"/>
          <p:cNvSpPr txBox="1"/>
          <p:nvPr/>
        </p:nvSpPr>
        <p:spPr>
          <a:xfrm>
            <a:off x="7360920" y="4572000"/>
            <a:ext cx="1737360" cy="457200"/>
          </a:xfrm>
          <a:prstGeom prst="rect">
            <a:avLst/>
          </a:prstGeom>
          <a:noFill/>
          <a:ln/>
        </p:spPr>
        <p:txBody>
          <a:bodyPr wrap="square" lIns="0" tIns="0" rIns="0" bIns="0" rtlCol="0" anchor="t"/>
          <a:lstStyle/>
          <a:p>
            <a:pPr indent="0" marL="0">
              <a:buNone/>
            </a:pPr>
            <a:r>
              <a:rPr lang="en-US" sz="2000" b="1" dirty="0">
                <a:solidFill>
                  <a:schemeClr val="tx1"/>
                </a:solidFill>
              </a:rPr>
              <a:t>판단</a:t>
            </a:r>
            <a:endParaRPr lang="en-US" sz="2000" dirty="0"/>
          </a:p>
        </p:txBody>
      </p:sp>
      <p:sp>
        <p:nvSpPr>
          <p:cNvPr id="18" name="Shape 15"/>
          <p:cNvSpPr/>
          <p:nvPr/>
        </p:nvSpPr>
        <p:spPr>
          <a:xfrm>
            <a:off x="9052560" y="4800600"/>
            <a:ext cx="457200" cy="0"/>
          </a:xfrm>
          <a:prstGeom prst="line">
            <a:avLst/>
          </a:prstGeom>
          <a:noFill/>
          <a:ln w="19050">
            <a:solidFill>
              <a:srgbClr val="8A90A8"/>
            </a:solidFill>
            <a:prstDash val="solid"/>
            <a:tailEnd type="triangle"/>
          </a:ln>
        </p:spPr>
      </p:sp>
      <p:sp>
        <p:nvSpPr>
          <p:cNvPr id="19" name="Text 16"/>
          <p:cNvSpPr txBox="1"/>
          <p:nvPr/>
        </p:nvSpPr>
        <p:spPr>
          <a:xfrm>
            <a:off x="9601200" y="4572000"/>
            <a:ext cx="1737360" cy="457200"/>
          </a:xfrm>
          <a:prstGeom prst="rect">
            <a:avLst/>
          </a:prstGeom>
          <a:noFill/>
          <a:ln/>
        </p:spPr>
        <p:txBody>
          <a:bodyPr wrap="square" lIns="0" tIns="0" rIns="0" bIns="0" rtlCol="0" anchor="t"/>
          <a:lstStyle/>
          <a:p>
            <a:pPr indent="0" marL="0">
              <a:buNone/>
            </a:pPr>
            <a:r>
              <a:rPr lang="en-US" sz="2000" b="1" dirty="0">
                <a:solidFill>
                  <a:schemeClr val="tx1"/>
                </a:solidFill>
              </a:rPr>
              <a:t>다음 실험</a:t>
            </a:r>
            <a:endParaRPr lang="en-US" sz="2000" dirty="0"/>
          </a:p>
        </p:txBody>
      </p:sp>
      <p:sp>
        <p:nvSpPr>
          <p:cNvPr id="20" name="Text 17"/>
          <p:cNvSpPr txBox="1"/>
          <p:nvPr/>
        </p:nvSpPr>
        <p:spPr>
          <a:xfrm>
            <a:off x="640080" y="5212080"/>
            <a:ext cx="10911535" cy="365760"/>
          </a:xfrm>
          <a:prstGeom prst="rect">
            <a:avLst/>
          </a:prstGeom>
          <a:noFill/>
          <a:ln/>
        </p:spPr>
        <p:txBody>
          <a:bodyPr wrap="square" lIns="0" tIns="0" rIns="0" bIns="0" rtlCol="0" anchor="t"/>
          <a:lstStyle/>
          <a:p>
            <a:pPr indent="0" marL="0">
              <a:buNone/>
            </a:pPr>
            <a:r>
              <a:rPr lang="en-US" sz="1500" dirty="0">
                <a:solidFill>
                  <a:schemeClr val="tx2"/>
                </a:solidFill>
              </a:rPr>
              <a:t>A/B 테스트의 자리: 이 반복의 '측정·검증'</a:t>
            </a:r>
            <a:endParaRPr lang="en-US" sz="1500" dirty="0"/>
          </a:p>
        </p:txBody>
      </p:sp>
      <p:sp>
        <p:nvSpPr>
          <p:cNvPr id="21" name="Text 18"/>
          <p:cNvSpPr txBox="1"/>
          <p:nvPr/>
        </p:nvSpPr>
        <p:spPr>
          <a:xfrm>
            <a:off x="640080" y="5897880"/>
            <a:ext cx="10911535" cy="274320"/>
          </a:xfrm>
          <a:prstGeom prst="rect">
            <a:avLst/>
          </a:prstGeom>
          <a:noFill/>
          <a:ln/>
        </p:spPr>
        <p:txBody>
          <a:bodyPr wrap="square" lIns="0" tIns="0" rIns="0" bIns="0" rtlCol="0" anchor="t"/>
          <a:lstStyle/>
          <a:p>
            <a:pPr indent="0" marL="0">
              <a:buNone/>
            </a:pPr>
            <a:r>
              <a:rPr lang="en-US" sz="1100" dirty="0">
                <a:solidFill>
                  <a:schemeClr val="accent6"/>
                </a:solidFill>
              </a:rPr>
              <a:t>위키 11편 1.2</a:t>
            </a:r>
            <a:endParaRPr lang="en-US" sz="11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Ch5 · 실험 성숙도 모델</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실험 성숙도: Crawl → Walk → Run → Fly</a:t>
            </a:r>
            <a:endParaRPr lang="en-US" sz="2000" dirty="0"/>
          </a:p>
        </p:txBody>
      </p:sp>
      <p:graphicFrame>
        <p:nvGraphicFramePr>
          <p:cNvPr id="76" name="Table 0"/>
          <p:cNvGraphicFramePr>
            <a:graphicFrameLocks noGrp="1"/>
          </p:cNvGraphicFramePr>
          <p:nvPr>
            <p:extLst>
              <p:ext uri="{D42A27DB-BD31-4B8C-83A1-F6EECF244321}">
                <p14:modId xmlns:p14="http://schemas.microsoft.com/office/powerpoint/2010/main" val="1579011935"/>
              </p:ext>
            </p:extLst>
          </p:nvPr>
        </p:nvGraphicFramePr>
        <p:xfrm>
          <a:off x="640080" y="1737360"/>
          <a:ext cx="10911535" cy="914400"/>
        </p:xfrm>
        <a:graphic>
          <a:graphicData uri="http://schemas.openxmlformats.org/drawingml/2006/table">
            <a:tbl>
              <a:tblPr/>
              <a:tblGrid>
                <a:gridCol w="1554480"/>
                <a:gridCol w="3017520"/>
                <a:gridCol w="4114800"/>
                <a:gridCol w="2221992"/>
              </a:tblGrid>
              <a:tr h="566928">
                <a:tc>
                  <a:txBody>
                    <a:bodyPr/>
                    <a:lstStyle/>
                    <a:p>
                      <a:pPr indent="0" marL="0">
                        <a:buNone/>
                      </a:pPr>
                      <a:r>
                        <a:rPr lang="en-US" sz="1400" b="1" dirty="0">
                          <a:solidFill>
                            <a:srgbClr val="555C7A"/>
                          </a:solidFill>
                        </a:rPr>
                        <a:t>단계</a:t>
                      </a:r>
                      <a:endParaRPr lang="en-US" sz="14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400" b="1" dirty="0">
                          <a:solidFill>
                            <a:srgbClr val="555C7A"/>
                          </a:solidFill>
                        </a:rPr>
                        <a:t>핵심 목표</a:t>
                      </a:r>
                      <a:endParaRPr lang="en-US" sz="14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400" b="1" dirty="0">
                          <a:solidFill>
                            <a:srgbClr val="555C7A"/>
                          </a:solidFill>
                        </a:rPr>
                        <a:t>조직의 모습</a:t>
                      </a:r>
                      <a:endParaRPr lang="en-US" sz="14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c>
                  <a:txBody>
                    <a:bodyPr/>
                    <a:lstStyle/>
                    <a:p>
                      <a:pPr indent="0" marL="0">
                        <a:buNone/>
                      </a:pPr>
                      <a:r>
                        <a:rPr lang="en-US" sz="1400" b="1" dirty="0">
                          <a:solidFill>
                            <a:srgbClr val="555C7A"/>
                          </a:solidFill>
                        </a:rPr>
                        <a:t>실험 빈도 (대략)</a:t>
                      </a:r>
                      <a:endParaRPr lang="en-US" sz="1400" dirty="0"/>
                    </a:p>
                  </a:txBody>
                  <a:tcPr marL="0" marR="109728" marT="73152" marB="73152" anchor="ctr">
                    <a:lnL w="0" cap="flat" cmpd="sng" algn="ctr">
                      <a:noFill/>
                    </a:lnL>
                    <a:lnR w="0" cap="flat" cmpd="sng" algn="ctr">
                      <a:noFill/>
                    </a:lnR>
                    <a:lnT w="0" cap="flat" cmpd="sng" algn="ctr">
                      <a:noFill/>
                    </a:lnT>
                    <a:lnB w="12700" cap="flat" cmpd="sng" algn="ctr">
                      <a:solidFill>
                        <a:srgbClr val="1B1F3B"/>
                      </a:solidFill>
                      <a:prstDash val="solid"/>
                      <a:round/>
                      <a:headEnd type="none" w="med" len="med"/>
                      <a:tailEnd type="none" w="med" len="med"/>
                    </a:lnB>
                  </a:tcPr>
                </a:tc>
              </a:tr>
              <a:tr h="566928">
                <a:tc>
                  <a:txBody>
                    <a:bodyPr/>
                    <a:lstStyle/>
                    <a:p>
                      <a:pPr indent="0" marL="0">
                        <a:buNone/>
                      </a:pPr>
                      <a:r>
                        <a:rPr lang="en-US" sz="1500" b="1" dirty="0">
                          <a:solidFill>
                            <a:srgbClr val="8A90A8"/>
                          </a:solidFill>
                        </a:rPr>
                        <a:t>Crawl</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실험할 수 있는 기반 만들기</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계측·로깅, 기초 분석 역량</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월 1회 · 약 10회/년</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566928">
                <a:tc>
                  <a:txBody>
                    <a:bodyPr/>
                    <a:lstStyle/>
                    <a:p>
                      <a:pPr indent="0" marL="0">
                        <a:buNone/>
                      </a:pPr>
                      <a:r>
                        <a:rPr lang="en-US" sz="1500" b="1" dirty="0">
                          <a:solidFill>
                            <a:srgbClr val="0E9C9C"/>
                          </a:solidFill>
                        </a:rPr>
                        <a:t>Walk</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신뢰할 수 있는 실험 늘리기</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표준 지표, 계측 검증, A/A, SRM</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주 1회 · 약 50회/년</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566928">
                <a:tc>
                  <a:txBody>
                    <a:bodyPr/>
                    <a:lstStyle/>
                    <a:p>
                      <a:pPr indent="0" marL="0">
                        <a:buNone/>
                      </a:pPr>
                      <a:r>
                        <a:rPr lang="en-US" sz="1500" b="1" dirty="0">
                          <a:solidFill>
                            <a:srgbClr val="3A5BFF"/>
                          </a:solidFill>
                        </a:rPr>
                        <a:t>Run</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실험을 규모화하기</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OEC 공식화, 대부분의 변화를 실험으로 평가</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일 1회 · 약 250회/년</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r h="566928">
                <a:tc>
                  <a:txBody>
                    <a:bodyPr/>
                    <a:lstStyle/>
                    <a:p>
                      <a:pPr indent="0" marL="0">
                        <a:buNone/>
                      </a:pPr>
                      <a:r>
                        <a:rPr lang="en-US" sz="1500" b="1" dirty="0">
                          <a:solidFill>
                            <a:srgbClr val="3A5BFF"/>
                          </a:solidFill>
                        </a:rPr>
                        <a:t>Fly</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실험을 조직의 기본 방식으로</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자동화·셀프서비스, 조직적 기억(실험 기록 축적)</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c>
                  <a:txBody>
                    <a:bodyPr/>
                    <a:lstStyle/>
                    <a:p>
                      <a:pPr indent="0" marL="0">
                        <a:buNone/>
                      </a:pPr>
                      <a:r>
                        <a:rPr lang="en-US" sz="1500" dirty="0">
                          <a:solidFill>
                            <a:srgbClr val="1B1F3B"/>
                          </a:solidFill>
                        </a:rPr>
                        <a:t>수천 회/년</a:t>
                      </a:r>
                      <a:endParaRPr lang="en-US" sz="1500" dirty="0"/>
                    </a:p>
                  </a:txBody>
                  <a:tcPr marL="0" marR="109728" marT="73152" marB="73152" anchor="ctr">
                    <a:lnL w="0" cap="flat" cmpd="sng" algn="ctr">
                      <a:noFill/>
                    </a:lnL>
                    <a:lnR w="0" cap="flat" cmpd="sng" algn="ctr">
                      <a:noFill/>
                    </a:lnR>
                    <a:lnT w="0" cap="flat" cmpd="sng" algn="ctr">
                      <a:noFill/>
                    </a:lnT>
                    <a:lnB w="9525" cap="flat" cmpd="sng" algn="ctr">
                      <a:solidFill>
                        <a:srgbClr val="E3E7F1"/>
                      </a:solidFill>
                      <a:prstDash val="solid"/>
                      <a:round/>
                      <a:headEnd type="none" w="med" len="med"/>
                      <a:tailEnd type="none" w="med" len="med"/>
                    </a:lnB>
                  </a:tcPr>
                </a:tc>
              </a:tr>
            </a:tbl>
          </a:graphicData>
        </a:graphic>
      </p:graphicFrame>
      <p:sp>
        <p:nvSpPr>
          <p:cNvPr id="6" name="Text 2"/>
          <p:cNvSpPr txBox="1"/>
          <p:nvPr/>
        </p:nvSpPr>
        <p:spPr>
          <a:xfrm>
            <a:off x="640080" y="5120640"/>
            <a:ext cx="10911535" cy="411480"/>
          </a:xfrm>
          <a:prstGeom prst="rect">
            <a:avLst/>
          </a:prstGeom>
          <a:noFill/>
          <a:ln/>
        </p:spPr>
        <p:txBody>
          <a:bodyPr wrap="square" lIns="0" tIns="0" rIns="0" bIns="0" rtlCol="0" anchor="t"/>
          <a:lstStyle/>
          <a:p>
            <a:pPr indent="0" marL="0">
              <a:buNone/>
            </a:pPr>
            <a:r>
              <a:rPr lang="en-US" sz="1500" b="1" dirty="0">
                <a:solidFill>
                  <a:schemeClr val="tx1"/>
                </a:solidFill>
              </a:rPr>
              <a:t>측정할 수 있는가</a:t>
            </a:r>
            <a:pPr indent="0" marL="0">
              <a:buNone/>
            </a:pPr>
            <a:r>
              <a:rPr lang="en-US" sz="1500" dirty="0">
                <a:solidFill>
                  <a:schemeClr val="tx1"/>
                </a:solidFill>
              </a:rPr>
              <a:t>  →  </a:t>
            </a:r>
            <a:pPr indent="0" marL="0">
              <a:buNone/>
            </a:pPr>
            <a:r>
              <a:rPr lang="en-US" sz="1500" b="1" dirty="0">
                <a:solidFill>
                  <a:schemeClr val="tx1"/>
                </a:solidFill>
              </a:rPr>
              <a:t>믿을 수 있게 실험하는가</a:t>
            </a:r>
            <a:pPr indent="0" marL="0">
              <a:buNone/>
            </a:pPr>
            <a:r>
              <a:rPr lang="en-US" sz="1500" dirty="0">
                <a:solidFill>
                  <a:schemeClr val="tx1"/>
                </a:solidFill>
              </a:rPr>
              <a:t>  →  </a:t>
            </a:r>
            <a:pPr indent="0" marL="0">
              <a:buNone/>
            </a:pPr>
            <a:r>
              <a:rPr lang="en-US" sz="1500" b="1" dirty="0">
                <a:solidFill>
                  <a:schemeClr val="tx1"/>
                </a:solidFill>
              </a:rPr>
              <a:t>대규모로 반복하는가</a:t>
            </a:r>
            <a:pPr indent="0" marL="0">
              <a:buNone/>
            </a:pPr>
            <a:r>
              <a:rPr lang="en-US" sz="1500" dirty="0">
                <a:solidFill>
                  <a:schemeClr val="tx1"/>
                </a:solidFill>
              </a:rPr>
              <a:t>  →  </a:t>
            </a:r>
            <a:pPr indent="0" marL="0">
              <a:buNone/>
            </a:pPr>
            <a:r>
              <a:rPr lang="en-US" sz="1500" b="1" dirty="0">
                <a:solidFill>
                  <a:schemeClr val="accent1"/>
                </a:solidFill>
              </a:rPr>
              <a:t>실험이 기본 의사결정 방식인가</a:t>
            </a:r>
            <a:endParaRPr lang="en-US" sz="1500" dirty="0"/>
          </a:p>
        </p:txBody>
      </p:sp>
      <p:sp>
        <p:nvSpPr>
          <p:cNvPr id="7" name="Text 3"/>
          <p:cNvSpPr txBox="1"/>
          <p:nvPr/>
        </p:nvSpPr>
        <p:spPr>
          <a:xfrm>
            <a:off x="640080" y="5532120"/>
            <a:ext cx="10911535" cy="365760"/>
          </a:xfrm>
          <a:prstGeom prst="rect">
            <a:avLst/>
          </a:prstGeom>
          <a:noFill/>
          <a:ln/>
        </p:spPr>
        <p:txBody>
          <a:bodyPr wrap="square" lIns="0" tIns="0" rIns="0" bIns="0" rtlCol="0" anchor="t"/>
          <a:lstStyle/>
          <a:p>
            <a:pPr indent="0" marL="0">
              <a:buNone/>
            </a:pPr>
            <a:r>
              <a:rPr lang="en-US" sz="1400" dirty="0">
                <a:solidFill>
                  <a:schemeClr val="tx2"/>
                </a:solidFill>
              </a:rPr>
              <a:t>빈도는 대략적인 기준일 뿐 절대적인 경계가 아닙니다</a:t>
            </a:r>
            <a:endParaRPr lang="en-US" sz="1400" dirty="0"/>
          </a:p>
        </p:txBody>
      </p:sp>
      <p:sp>
        <p:nvSpPr>
          <p:cNvPr id="8" name="Text 4"/>
          <p:cNvSpPr txBox="1"/>
          <p:nvPr/>
        </p:nvSpPr>
        <p:spPr>
          <a:xfrm>
            <a:off x="640080" y="5897880"/>
            <a:ext cx="10911535" cy="274320"/>
          </a:xfrm>
          <a:prstGeom prst="rect">
            <a:avLst/>
          </a:prstGeom>
          <a:noFill/>
          <a:ln/>
        </p:spPr>
        <p:txBody>
          <a:bodyPr wrap="square" lIns="0" tIns="0" rIns="0" bIns="0" rtlCol="0" anchor="t"/>
          <a:lstStyle/>
          <a:p>
            <a:pPr indent="0" marL="0">
              <a:buNone/>
            </a:pPr>
            <a:r>
              <a:rPr lang="en-US" sz="1100" dirty="0">
                <a:solidFill>
                  <a:schemeClr val="accent6"/>
                </a:solidFill>
              </a:rPr>
              <a:t>출처: Kohavi, Tang, Xu (2020) · 위키 11편 3.1</a:t>
            </a:r>
            <a:endParaRPr lang="en-US" sz="11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Ch5 · 실험 문화</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실험 문화를 받치는 세 가지</a:t>
            </a:r>
            <a:endParaRPr lang="en-US" sz="2000" dirty="0"/>
          </a:p>
        </p:txBody>
      </p:sp>
      <p:sp>
        <p:nvSpPr>
          <p:cNvPr id="5" name="Text 2"/>
          <p:cNvSpPr txBox="1"/>
          <p:nvPr/>
        </p:nvSpPr>
        <p:spPr>
          <a:xfrm>
            <a:off x="640080" y="1874520"/>
            <a:ext cx="914400" cy="548640"/>
          </a:xfrm>
          <a:prstGeom prst="rect">
            <a:avLst/>
          </a:prstGeom>
          <a:noFill/>
          <a:ln/>
        </p:spPr>
        <p:txBody>
          <a:bodyPr wrap="square" lIns="0" tIns="0" rIns="0" bIns="0" rtlCol="0" anchor="t"/>
          <a:lstStyle/>
          <a:p>
            <a:pPr indent="0" marL="0">
              <a:buNone/>
            </a:pPr>
            <a:r>
              <a:rPr lang="en-US" sz="3000" b="1" dirty="0">
                <a:solidFill>
                  <a:schemeClr val="accent1"/>
                </a:solidFill>
              </a:rPr>
              <a:t>01</a:t>
            </a:r>
            <a:endParaRPr lang="en-US" sz="3000" dirty="0"/>
          </a:p>
        </p:txBody>
      </p:sp>
      <p:sp>
        <p:nvSpPr>
          <p:cNvPr id="6" name="Text 3"/>
          <p:cNvSpPr txBox="1"/>
          <p:nvPr/>
        </p:nvSpPr>
        <p:spPr>
          <a:xfrm>
            <a:off x="640080" y="2514600"/>
            <a:ext cx="3383280" cy="2194560"/>
          </a:xfrm>
          <a:prstGeom prst="rect">
            <a:avLst/>
          </a:prstGeom>
          <a:noFill/>
          <a:ln/>
        </p:spPr>
        <p:txBody>
          <a:bodyPr wrap="square" lIns="0" tIns="0" rIns="0" bIns="0" rtlCol="0" anchor="t"/>
          <a:lstStyle/>
          <a:p>
            <a:pPr indent="0" marL="0">
              <a:buNone/>
            </a:pPr>
            <a:r>
              <a:rPr lang="en-US" sz="2000" b="1" dirty="0">
                <a:solidFill>
                  <a:schemeClr val="tx1"/>
                </a:solidFill>
              </a:rPr>
              <a:t>Feature Flag</a:t>
            </a:r>
            <a:endParaRPr lang="en-US" sz="1500" dirty="0"/>
          </a:p>
          <a:p>
            <a:pPr indent="0" marL="0">
              <a:spcAft>
                <a:spcPts val="800"/>
              </a:spcAft>
              <a:buNone/>
            </a:pPr>
            <a:r>
              <a:rPr lang="en-US" sz="1500" dirty="0">
                <a:solidFill>
                  <a:schemeClr val="tx1"/>
                </a:solidFill>
              </a:rPr>
              <a:t>코드 배포와 기능 노출을 분리한다</a:t>
            </a:r>
            <a:endParaRPr lang="en-US" sz="1500" dirty="0"/>
          </a:p>
          <a:p>
            <a:pPr indent="0" marL="0">
              <a:buNone/>
            </a:pPr>
            <a:r>
              <a:rPr lang="en-US" sz="1400" dirty="0">
                <a:solidFill>
                  <a:schemeClr val="tx2"/>
                </a:solidFill>
              </a:rPr>
              <a:t>램프업, 즉시 롤백, 단계별 노출</a:t>
            </a:r>
            <a:endParaRPr lang="en-US" sz="1500" dirty="0"/>
          </a:p>
        </p:txBody>
      </p:sp>
      <p:sp>
        <p:nvSpPr>
          <p:cNvPr id="7" name="Shape 4"/>
          <p:cNvSpPr/>
          <p:nvPr/>
        </p:nvSpPr>
        <p:spPr>
          <a:xfrm>
            <a:off x="3657600" y="2176272"/>
            <a:ext cx="502920" cy="0"/>
          </a:xfrm>
          <a:prstGeom prst="line">
            <a:avLst/>
          </a:prstGeom>
          <a:noFill/>
          <a:ln w="19050">
            <a:solidFill>
              <a:srgbClr val="8A90A8"/>
            </a:solidFill>
            <a:prstDash val="solid"/>
            <a:tailEnd type="triangle"/>
          </a:ln>
        </p:spPr>
      </p:sp>
      <p:sp>
        <p:nvSpPr>
          <p:cNvPr id="8" name="Text 5"/>
          <p:cNvSpPr txBox="1"/>
          <p:nvPr/>
        </p:nvSpPr>
        <p:spPr>
          <a:xfrm>
            <a:off x="4343400" y="1874520"/>
            <a:ext cx="914400" cy="548640"/>
          </a:xfrm>
          <a:prstGeom prst="rect">
            <a:avLst/>
          </a:prstGeom>
          <a:noFill/>
          <a:ln/>
        </p:spPr>
        <p:txBody>
          <a:bodyPr wrap="square" lIns="0" tIns="0" rIns="0" bIns="0" rtlCol="0" anchor="t"/>
          <a:lstStyle/>
          <a:p>
            <a:pPr indent="0" marL="0">
              <a:buNone/>
            </a:pPr>
            <a:r>
              <a:rPr lang="en-US" sz="3000" b="1" dirty="0">
                <a:solidFill>
                  <a:schemeClr val="accent1"/>
                </a:solidFill>
              </a:rPr>
              <a:t>02</a:t>
            </a:r>
            <a:endParaRPr lang="en-US" sz="3000" dirty="0"/>
          </a:p>
        </p:txBody>
      </p:sp>
      <p:sp>
        <p:nvSpPr>
          <p:cNvPr id="9" name="Text 6"/>
          <p:cNvSpPr txBox="1"/>
          <p:nvPr/>
        </p:nvSpPr>
        <p:spPr>
          <a:xfrm>
            <a:off x="4343400" y="2514600"/>
            <a:ext cx="3383280" cy="2194560"/>
          </a:xfrm>
          <a:prstGeom prst="rect">
            <a:avLst/>
          </a:prstGeom>
          <a:noFill/>
          <a:ln/>
        </p:spPr>
        <p:txBody>
          <a:bodyPr wrap="square" lIns="0" tIns="0" rIns="0" bIns="0" rtlCol="0" anchor="t"/>
          <a:lstStyle/>
          <a:p>
            <a:pPr indent="0" marL="0">
              <a:buNone/>
            </a:pPr>
            <a:r>
              <a:rPr lang="en-US" sz="2000" b="1" dirty="0">
                <a:solidFill>
                  <a:schemeClr val="tx1"/>
                </a:solidFill>
              </a:rPr>
              <a:t>Experimentation Platform</a:t>
            </a:r>
            <a:endParaRPr lang="en-US" sz="1500" dirty="0"/>
          </a:p>
          <a:p>
            <a:pPr indent="0" marL="0">
              <a:spcAft>
                <a:spcPts val="800"/>
              </a:spcAft>
              <a:buNone/>
            </a:pPr>
            <a:r>
              <a:rPr lang="en-US" sz="1500" dirty="0">
                <a:solidFill>
                  <a:schemeClr val="tx1"/>
                </a:solidFill>
              </a:rPr>
              <a:t>배정·로깅·분석을 자동화한다</a:t>
            </a:r>
            <a:endParaRPr lang="en-US" sz="1500" dirty="0"/>
          </a:p>
          <a:p>
            <a:pPr indent="0" marL="0">
              <a:buNone/>
            </a:pPr>
            <a:r>
              <a:rPr lang="en-US" sz="1400" dirty="0">
                <a:solidFill>
                  <a:schemeClr val="tx2"/>
                </a:solidFill>
              </a:rPr>
              <a:t>실험 한 번의 비용이 낮아진다</a:t>
            </a:r>
            <a:endParaRPr lang="en-US" sz="1500" dirty="0"/>
          </a:p>
        </p:txBody>
      </p:sp>
      <p:sp>
        <p:nvSpPr>
          <p:cNvPr id="10" name="Shape 7"/>
          <p:cNvSpPr/>
          <p:nvPr/>
        </p:nvSpPr>
        <p:spPr>
          <a:xfrm>
            <a:off x="7360920" y="2176272"/>
            <a:ext cx="502920" cy="0"/>
          </a:xfrm>
          <a:prstGeom prst="line">
            <a:avLst/>
          </a:prstGeom>
          <a:noFill/>
          <a:ln w="19050">
            <a:solidFill>
              <a:srgbClr val="8A90A8"/>
            </a:solidFill>
            <a:prstDash val="solid"/>
            <a:tailEnd type="triangle"/>
          </a:ln>
        </p:spPr>
      </p:sp>
      <p:sp>
        <p:nvSpPr>
          <p:cNvPr id="11" name="Text 8"/>
          <p:cNvSpPr txBox="1"/>
          <p:nvPr/>
        </p:nvSpPr>
        <p:spPr>
          <a:xfrm>
            <a:off x="8046720" y="1874520"/>
            <a:ext cx="914400" cy="548640"/>
          </a:xfrm>
          <a:prstGeom prst="rect">
            <a:avLst/>
          </a:prstGeom>
          <a:noFill/>
          <a:ln/>
        </p:spPr>
        <p:txBody>
          <a:bodyPr wrap="square" lIns="0" tIns="0" rIns="0" bIns="0" rtlCol="0" anchor="t"/>
          <a:lstStyle/>
          <a:p>
            <a:pPr indent="0" marL="0">
              <a:buNone/>
            </a:pPr>
            <a:r>
              <a:rPr lang="en-US" sz="3000" b="1" dirty="0">
                <a:solidFill>
                  <a:schemeClr val="accent1"/>
                </a:solidFill>
              </a:rPr>
              <a:t>03</a:t>
            </a:r>
            <a:endParaRPr lang="en-US" sz="3000" dirty="0"/>
          </a:p>
        </p:txBody>
      </p:sp>
      <p:sp>
        <p:nvSpPr>
          <p:cNvPr id="12" name="Text 9"/>
          <p:cNvSpPr txBox="1"/>
          <p:nvPr/>
        </p:nvSpPr>
        <p:spPr>
          <a:xfrm>
            <a:off x="8046720" y="2514600"/>
            <a:ext cx="3383280" cy="2194560"/>
          </a:xfrm>
          <a:prstGeom prst="rect">
            <a:avLst/>
          </a:prstGeom>
          <a:noFill/>
          <a:ln/>
        </p:spPr>
        <p:txBody>
          <a:bodyPr wrap="square" lIns="0" tIns="0" rIns="0" bIns="0" rtlCol="0" anchor="t"/>
          <a:lstStyle/>
          <a:p>
            <a:pPr indent="0" marL="0">
              <a:buNone/>
            </a:pPr>
            <a:r>
              <a:rPr lang="en-US" sz="2000" b="1" dirty="0">
                <a:solidFill>
                  <a:schemeClr val="tx1"/>
                </a:solidFill>
              </a:rPr>
              <a:t>Democratization</a:t>
            </a:r>
            <a:endParaRPr lang="en-US" sz="1500" dirty="0"/>
          </a:p>
          <a:p>
            <a:pPr indent="0" marL="0">
              <a:spcAft>
                <a:spcPts val="800"/>
              </a:spcAft>
              <a:buNone/>
            </a:pPr>
            <a:r>
              <a:rPr lang="en-US" sz="1500" dirty="0">
                <a:solidFill>
                  <a:schemeClr val="tx1"/>
                </a:solidFill>
              </a:rPr>
              <a:t>누구나 가설을 실험으로 옮긴다</a:t>
            </a:r>
            <a:endParaRPr lang="en-US" sz="1500" dirty="0"/>
          </a:p>
          <a:p>
            <a:pPr indent="0" marL="0">
              <a:buNone/>
            </a:pPr>
            <a:r>
              <a:rPr lang="en-US" sz="1400" dirty="0">
                <a:solidFill>
                  <a:schemeClr val="tx2"/>
                </a:solidFill>
              </a:rPr>
              <a:t>대신 가드레일, SRM 자동 검사, 실험 리뷰로 품질을 지킨다</a:t>
            </a:r>
            <a:endParaRPr lang="en-US" sz="15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Ch5 · 의사결정</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'유의하다'에서 멈추지 말고 결정으로 닫는다</a:t>
            </a:r>
            <a:endParaRPr lang="en-US" sz="2000" dirty="0"/>
          </a:p>
        </p:txBody>
      </p:sp>
      <p:sp>
        <p:nvSpPr>
          <p:cNvPr id="5" name="Text 2"/>
          <p:cNvSpPr txBox="1"/>
          <p:nvPr/>
        </p:nvSpPr>
        <p:spPr>
          <a:xfrm>
            <a:off x="640080" y="1828800"/>
            <a:ext cx="457200" cy="457200"/>
          </a:xfrm>
          <a:prstGeom prst="rect">
            <a:avLst/>
          </a:prstGeom>
          <a:noFill/>
          <a:ln/>
        </p:spPr>
        <p:txBody>
          <a:bodyPr wrap="square" lIns="0" tIns="0" rIns="0" bIns="0" rtlCol="0" anchor="t"/>
          <a:lstStyle/>
          <a:p>
            <a:pPr indent="0" marL="0">
              <a:buNone/>
            </a:pPr>
            <a:r>
              <a:rPr lang="en-US" sz="2000" b="1" dirty="0">
                <a:solidFill>
                  <a:schemeClr val="accent6"/>
                </a:solidFill>
              </a:rPr>
              <a:t>1</a:t>
            </a:r>
            <a:endParaRPr lang="en-US" sz="2000" dirty="0"/>
          </a:p>
        </p:txBody>
      </p:sp>
      <p:sp>
        <p:nvSpPr>
          <p:cNvPr id="6" name="Text 3"/>
          <p:cNvSpPr txBox="1"/>
          <p:nvPr/>
        </p:nvSpPr>
        <p:spPr>
          <a:xfrm>
            <a:off x="1188720" y="1856232"/>
            <a:ext cx="5120640" cy="731520"/>
          </a:xfrm>
          <a:prstGeom prst="rect">
            <a:avLst/>
          </a:prstGeom>
          <a:noFill/>
          <a:ln/>
        </p:spPr>
        <p:txBody>
          <a:bodyPr wrap="square" lIns="0" tIns="0" rIns="0" bIns="0" rtlCol="0" anchor="t"/>
          <a:lstStyle/>
          <a:p>
            <a:pPr indent="0" marL="0">
              <a:buNone/>
            </a:pPr>
            <a:r>
              <a:rPr lang="en-US" sz="2000" dirty="0">
                <a:solidFill>
                  <a:schemeClr val="tx1"/>
                </a:solidFill>
              </a:rPr>
              <a:t>SRM이나 가드레일에 이상이 있다</a:t>
            </a:r>
            <a:endParaRPr lang="en-US" sz="2000" dirty="0"/>
          </a:p>
        </p:txBody>
      </p:sp>
      <p:sp>
        <p:nvSpPr>
          <p:cNvPr id="7" name="Shape 4"/>
          <p:cNvSpPr/>
          <p:nvPr/>
        </p:nvSpPr>
        <p:spPr>
          <a:xfrm>
            <a:off x="5943600" y="2029968"/>
            <a:ext cx="548640" cy="0"/>
          </a:xfrm>
          <a:prstGeom prst="line">
            <a:avLst/>
          </a:prstGeom>
          <a:noFill/>
          <a:ln w="19050">
            <a:solidFill>
              <a:srgbClr val="8A90A8"/>
            </a:solidFill>
            <a:prstDash val="solid"/>
            <a:tailEnd type="triangle"/>
          </a:ln>
        </p:spPr>
      </p:sp>
      <p:sp>
        <p:nvSpPr>
          <p:cNvPr id="8" name="Text 5"/>
          <p:cNvSpPr txBox="1"/>
          <p:nvPr/>
        </p:nvSpPr>
        <p:spPr>
          <a:xfrm>
            <a:off x="6675120" y="1810512"/>
            <a:ext cx="1737360" cy="548640"/>
          </a:xfrm>
          <a:prstGeom prst="rect">
            <a:avLst/>
          </a:prstGeom>
          <a:noFill/>
          <a:ln/>
        </p:spPr>
        <p:txBody>
          <a:bodyPr wrap="square" lIns="0" tIns="0" rIns="0" bIns="0" rtlCol="0" anchor="t"/>
          <a:lstStyle/>
          <a:p>
            <a:pPr indent="0" marL="0">
              <a:buNone/>
            </a:pPr>
            <a:r>
              <a:rPr lang="en-US" sz="2000" b="1" dirty="0">
                <a:solidFill>
                  <a:srgbClr val="D93B41"/>
                </a:solidFill>
              </a:rPr>
              <a:t>중단</a:t>
            </a:r>
            <a:endParaRPr lang="en-US" sz="2000" dirty="0"/>
          </a:p>
        </p:txBody>
      </p:sp>
      <p:sp>
        <p:nvSpPr>
          <p:cNvPr id="9" name="Text 6"/>
          <p:cNvSpPr txBox="1"/>
          <p:nvPr/>
        </p:nvSpPr>
        <p:spPr>
          <a:xfrm>
            <a:off x="8412480" y="1856232"/>
            <a:ext cx="3154680" cy="731520"/>
          </a:xfrm>
          <a:prstGeom prst="rect">
            <a:avLst/>
          </a:prstGeom>
          <a:noFill/>
          <a:ln/>
        </p:spPr>
        <p:txBody>
          <a:bodyPr wrap="square" lIns="0" tIns="0" rIns="0" bIns="0" rtlCol="0" anchor="t"/>
          <a:lstStyle/>
          <a:p>
            <a:pPr indent="0" marL="0">
              <a:buNone/>
            </a:pPr>
            <a:r>
              <a:rPr lang="en-US" sz="1400" dirty="0">
                <a:solidFill>
                  <a:schemeClr val="tx2"/>
                </a:solidFill>
              </a:rPr>
              <a:t>결과 해석을 멈추고 원인을 고친 뒤 다시 돌린다</a:t>
            </a:r>
            <a:endParaRPr lang="en-US" sz="1400" dirty="0"/>
          </a:p>
        </p:txBody>
      </p:sp>
      <p:sp>
        <p:nvSpPr>
          <p:cNvPr id="10" name="Text 7"/>
          <p:cNvSpPr txBox="1"/>
          <p:nvPr/>
        </p:nvSpPr>
        <p:spPr>
          <a:xfrm>
            <a:off x="640080" y="2743200"/>
            <a:ext cx="457200" cy="457200"/>
          </a:xfrm>
          <a:prstGeom prst="rect">
            <a:avLst/>
          </a:prstGeom>
          <a:noFill/>
          <a:ln/>
        </p:spPr>
        <p:txBody>
          <a:bodyPr wrap="square" lIns="0" tIns="0" rIns="0" bIns="0" rtlCol="0" anchor="t"/>
          <a:lstStyle/>
          <a:p>
            <a:pPr indent="0" marL="0">
              <a:buNone/>
            </a:pPr>
            <a:r>
              <a:rPr lang="en-US" sz="2000" b="1" dirty="0">
                <a:solidFill>
                  <a:schemeClr val="accent6"/>
                </a:solidFill>
              </a:rPr>
              <a:t>2</a:t>
            </a:r>
            <a:endParaRPr lang="en-US" sz="2000" dirty="0"/>
          </a:p>
        </p:txBody>
      </p:sp>
      <p:sp>
        <p:nvSpPr>
          <p:cNvPr id="11" name="Text 8"/>
          <p:cNvSpPr txBox="1"/>
          <p:nvPr/>
        </p:nvSpPr>
        <p:spPr>
          <a:xfrm>
            <a:off x="1188720" y="2770632"/>
            <a:ext cx="5120640" cy="731520"/>
          </a:xfrm>
          <a:prstGeom prst="rect">
            <a:avLst/>
          </a:prstGeom>
          <a:noFill/>
          <a:ln/>
        </p:spPr>
        <p:txBody>
          <a:bodyPr wrap="square" lIns="0" tIns="0" rIns="0" bIns="0" rtlCol="0" anchor="t"/>
          <a:lstStyle/>
          <a:p>
            <a:pPr indent="0" marL="0">
              <a:buNone/>
            </a:pPr>
            <a:r>
              <a:rPr lang="en-US" sz="2000" dirty="0">
                <a:solidFill>
                  <a:schemeClr val="tx1"/>
                </a:solidFill>
              </a:rPr>
              <a:t>신뢰구간 전체가 0보다 위, 크기도 의미 있다</a:t>
            </a:r>
            <a:endParaRPr lang="en-US" sz="2000" dirty="0"/>
          </a:p>
        </p:txBody>
      </p:sp>
      <p:sp>
        <p:nvSpPr>
          <p:cNvPr id="12" name="Shape 9"/>
          <p:cNvSpPr/>
          <p:nvPr/>
        </p:nvSpPr>
        <p:spPr>
          <a:xfrm>
            <a:off x="5943600" y="2944368"/>
            <a:ext cx="548640" cy="0"/>
          </a:xfrm>
          <a:prstGeom prst="line">
            <a:avLst/>
          </a:prstGeom>
          <a:noFill/>
          <a:ln w="19050">
            <a:solidFill>
              <a:srgbClr val="8A90A8"/>
            </a:solidFill>
            <a:prstDash val="solid"/>
            <a:tailEnd type="triangle"/>
          </a:ln>
        </p:spPr>
      </p:sp>
      <p:sp>
        <p:nvSpPr>
          <p:cNvPr id="13" name="Text 10"/>
          <p:cNvSpPr txBox="1"/>
          <p:nvPr/>
        </p:nvSpPr>
        <p:spPr>
          <a:xfrm>
            <a:off x="6675120" y="2724912"/>
            <a:ext cx="1737360" cy="548640"/>
          </a:xfrm>
          <a:prstGeom prst="rect">
            <a:avLst/>
          </a:prstGeom>
          <a:noFill/>
          <a:ln/>
        </p:spPr>
        <p:txBody>
          <a:bodyPr wrap="square" lIns="0" tIns="0" rIns="0" bIns="0" rtlCol="0" anchor="t"/>
          <a:lstStyle/>
          <a:p>
            <a:pPr indent="0" marL="0">
              <a:buNone/>
            </a:pPr>
            <a:r>
              <a:rPr lang="en-US" sz="2000" b="1" dirty="0">
                <a:solidFill>
                  <a:srgbClr val="0F9D63"/>
                </a:solidFill>
              </a:rPr>
              <a:t>배포한다</a:t>
            </a:r>
            <a:endParaRPr lang="en-US" sz="2000" dirty="0"/>
          </a:p>
        </p:txBody>
      </p:sp>
      <p:sp>
        <p:nvSpPr>
          <p:cNvPr id="14" name="Text 11"/>
          <p:cNvSpPr txBox="1"/>
          <p:nvPr/>
        </p:nvSpPr>
        <p:spPr>
          <a:xfrm>
            <a:off x="8412480" y="2770632"/>
            <a:ext cx="3154680" cy="731520"/>
          </a:xfrm>
          <a:prstGeom prst="rect">
            <a:avLst/>
          </a:prstGeom>
          <a:noFill/>
          <a:ln/>
        </p:spPr>
        <p:txBody>
          <a:bodyPr wrap="square" lIns="0" tIns="0" rIns="0" bIns="0" rtlCol="0" anchor="t"/>
          <a:lstStyle/>
          <a:p>
            <a:pPr indent="0" marL="0">
              <a:buNone/>
            </a:pPr>
            <a:r>
              <a:rPr lang="en-US" sz="1400" dirty="0">
                <a:solidFill>
                  <a:schemeClr val="tx2"/>
                </a:solidFill>
              </a:rPr>
              <a:t>비용·리스크를 확인하고 단계적으로 출시</a:t>
            </a:r>
            <a:endParaRPr lang="en-US" sz="1400" dirty="0"/>
          </a:p>
        </p:txBody>
      </p:sp>
      <p:sp>
        <p:nvSpPr>
          <p:cNvPr id="15" name="Text 12"/>
          <p:cNvSpPr txBox="1"/>
          <p:nvPr/>
        </p:nvSpPr>
        <p:spPr>
          <a:xfrm>
            <a:off x="640080" y="3657600"/>
            <a:ext cx="457200" cy="457200"/>
          </a:xfrm>
          <a:prstGeom prst="rect">
            <a:avLst/>
          </a:prstGeom>
          <a:noFill/>
          <a:ln/>
        </p:spPr>
        <p:txBody>
          <a:bodyPr wrap="square" lIns="0" tIns="0" rIns="0" bIns="0" rtlCol="0" anchor="t"/>
          <a:lstStyle/>
          <a:p>
            <a:pPr indent="0" marL="0">
              <a:buNone/>
            </a:pPr>
            <a:r>
              <a:rPr lang="en-US" sz="2000" b="1" dirty="0">
                <a:solidFill>
                  <a:schemeClr val="accent6"/>
                </a:solidFill>
              </a:rPr>
              <a:t>3</a:t>
            </a:r>
            <a:endParaRPr lang="en-US" sz="2000" dirty="0"/>
          </a:p>
        </p:txBody>
      </p:sp>
      <p:sp>
        <p:nvSpPr>
          <p:cNvPr id="16" name="Text 13"/>
          <p:cNvSpPr txBox="1"/>
          <p:nvPr/>
        </p:nvSpPr>
        <p:spPr>
          <a:xfrm>
            <a:off x="1188720" y="3685032"/>
            <a:ext cx="5120640" cy="731520"/>
          </a:xfrm>
          <a:prstGeom prst="rect">
            <a:avLst/>
          </a:prstGeom>
          <a:noFill/>
          <a:ln/>
        </p:spPr>
        <p:txBody>
          <a:bodyPr wrap="square" lIns="0" tIns="0" rIns="0" bIns="0" rtlCol="0" anchor="t"/>
          <a:lstStyle/>
          <a:p>
            <a:pPr indent="0" marL="0">
              <a:buNone/>
            </a:pPr>
            <a:r>
              <a:rPr lang="en-US" sz="2000" dirty="0">
                <a:solidFill>
                  <a:schemeClr val="tx1"/>
                </a:solidFill>
              </a:rPr>
              <a:t>구간이 0을 포함하지만 좁다</a:t>
            </a:r>
            <a:endParaRPr lang="en-US" sz="2000" dirty="0"/>
          </a:p>
        </p:txBody>
      </p:sp>
      <p:sp>
        <p:nvSpPr>
          <p:cNvPr id="17" name="Shape 14"/>
          <p:cNvSpPr/>
          <p:nvPr/>
        </p:nvSpPr>
        <p:spPr>
          <a:xfrm>
            <a:off x="5943600" y="3858768"/>
            <a:ext cx="548640" cy="0"/>
          </a:xfrm>
          <a:prstGeom prst="line">
            <a:avLst/>
          </a:prstGeom>
          <a:noFill/>
          <a:ln w="19050">
            <a:solidFill>
              <a:srgbClr val="8A90A8"/>
            </a:solidFill>
            <a:prstDash val="solid"/>
            <a:tailEnd type="triangle"/>
          </a:ln>
        </p:spPr>
      </p:sp>
      <p:sp>
        <p:nvSpPr>
          <p:cNvPr id="18" name="Text 15"/>
          <p:cNvSpPr txBox="1"/>
          <p:nvPr/>
        </p:nvSpPr>
        <p:spPr>
          <a:xfrm>
            <a:off x="6675120" y="3639312"/>
            <a:ext cx="1737360" cy="548640"/>
          </a:xfrm>
          <a:prstGeom prst="rect">
            <a:avLst/>
          </a:prstGeom>
          <a:noFill/>
          <a:ln/>
        </p:spPr>
        <p:txBody>
          <a:bodyPr wrap="square" lIns="0" tIns="0" rIns="0" bIns="0" rtlCol="0" anchor="t"/>
          <a:lstStyle/>
          <a:p>
            <a:pPr indent="0" marL="0">
              <a:buNone/>
            </a:pPr>
            <a:r>
              <a:rPr lang="en-US" sz="2000" b="1" dirty="0">
                <a:solidFill>
                  <a:srgbClr val="8A90A8"/>
                </a:solidFill>
              </a:rPr>
              <a:t>안 한다</a:t>
            </a:r>
            <a:endParaRPr lang="en-US" sz="2000" dirty="0"/>
          </a:p>
        </p:txBody>
      </p:sp>
      <p:sp>
        <p:nvSpPr>
          <p:cNvPr id="19" name="Text 16"/>
          <p:cNvSpPr txBox="1"/>
          <p:nvPr/>
        </p:nvSpPr>
        <p:spPr>
          <a:xfrm>
            <a:off x="8412480" y="3685032"/>
            <a:ext cx="3154680" cy="731520"/>
          </a:xfrm>
          <a:prstGeom prst="rect">
            <a:avLst/>
          </a:prstGeom>
          <a:noFill/>
          <a:ln/>
        </p:spPr>
        <p:txBody>
          <a:bodyPr wrap="square" lIns="0" tIns="0" rIns="0" bIns="0" rtlCol="0" anchor="t"/>
          <a:lstStyle/>
          <a:p>
            <a:pPr indent="0" marL="0">
              <a:buNone/>
            </a:pPr>
            <a:r>
              <a:rPr lang="en-US" sz="1400" dirty="0">
                <a:solidFill>
                  <a:schemeClr val="tx2"/>
                </a:solidFill>
              </a:rPr>
              <a:t>효과가 있어도 MDE보다 작다. 아이디어를 접는다</a:t>
            </a:r>
            <a:endParaRPr lang="en-US" sz="1400" dirty="0"/>
          </a:p>
        </p:txBody>
      </p:sp>
      <p:sp>
        <p:nvSpPr>
          <p:cNvPr id="20" name="Text 17"/>
          <p:cNvSpPr txBox="1"/>
          <p:nvPr/>
        </p:nvSpPr>
        <p:spPr>
          <a:xfrm>
            <a:off x="640080" y="4572000"/>
            <a:ext cx="457200" cy="457200"/>
          </a:xfrm>
          <a:prstGeom prst="rect">
            <a:avLst/>
          </a:prstGeom>
          <a:noFill/>
          <a:ln/>
        </p:spPr>
        <p:txBody>
          <a:bodyPr wrap="square" lIns="0" tIns="0" rIns="0" bIns="0" rtlCol="0" anchor="t"/>
          <a:lstStyle/>
          <a:p>
            <a:pPr indent="0" marL="0">
              <a:buNone/>
            </a:pPr>
            <a:r>
              <a:rPr lang="en-US" sz="2000" b="1" dirty="0">
                <a:solidFill>
                  <a:schemeClr val="accent6"/>
                </a:solidFill>
              </a:rPr>
              <a:t>4</a:t>
            </a:r>
            <a:endParaRPr lang="en-US" sz="2000" dirty="0"/>
          </a:p>
        </p:txBody>
      </p:sp>
      <p:sp>
        <p:nvSpPr>
          <p:cNvPr id="21" name="Text 18"/>
          <p:cNvSpPr txBox="1"/>
          <p:nvPr/>
        </p:nvSpPr>
        <p:spPr>
          <a:xfrm>
            <a:off x="1188720" y="4599432"/>
            <a:ext cx="5120640" cy="731520"/>
          </a:xfrm>
          <a:prstGeom prst="rect">
            <a:avLst/>
          </a:prstGeom>
          <a:noFill/>
          <a:ln/>
        </p:spPr>
        <p:txBody>
          <a:bodyPr wrap="square" lIns="0" tIns="0" rIns="0" bIns="0" rtlCol="0" anchor="t"/>
          <a:lstStyle/>
          <a:p>
            <a:pPr indent="0" marL="0">
              <a:buNone/>
            </a:pPr>
            <a:r>
              <a:rPr lang="en-US" sz="2000" dirty="0">
                <a:solidFill>
                  <a:schemeClr val="tx1"/>
                </a:solidFill>
              </a:rPr>
              <a:t>구간이 0을 포함하고 넓다</a:t>
            </a:r>
            <a:endParaRPr lang="en-US" sz="2000" dirty="0"/>
          </a:p>
        </p:txBody>
      </p:sp>
      <p:sp>
        <p:nvSpPr>
          <p:cNvPr id="22" name="Shape 19"/>
          <p:cNvSpPr/>
          <p:nvPr/>
        </p:nvSpPr>
        <p:spPr>
          <a:xfrm>
            <a:off x="5943600" y="4773168"/>
            <a:ext cx="548640" cy="0"/>
          </a:xfrm>
          <a:prstGeom prst="line">
            <a:avLst/>
          </a:prstGeom>
          <a:noFill/>
          <a:ln w="19050">
            <a:solidFill>
              <a:srgbClr val="8A90A8"/>
            </a:solidFill>
            <a:prstDash val="solid"/>
            <a:tailEnd type="triangle"/>
          </a:ln>
        </p:spPr>
      </p:sp>
      <p:sp>
        <p:nvSpPr>
          <p:cNvPr id="23" name="Text 20"/>
          <p:cNvSpPr txBox="1"/>
          <p:nvPr/>
        </p:nvSpPr>
        <p:spPr>
          <a:xfrm>
            <a:off x="6675120" y="4553712"/>
            <a:ext cx="1737360" cy="548640"/>
          </a:xfrm>
          <a:prstGeom prst="rect">
            <a:avLst/>
          </a:prstGeom>
          <a:noFill/>
          <a:ln/>
        </p:spPr>
        <p:txBody>
          <a:bodyPr wrap="square" lIns="0" tIns="0" rIns="0" bIns="0" rtlCol="0" anchor="t"/>
          <a:lstStyle/>
          <a:p>
            <a:pPr indent="0" marL="0">
              <a:buNone/>
            </a:pPr>
            <a:r>
              <a:rPr lang="en-US" sz="2000" b="1" dirty="0">
                <a:solidFill>
                  <a:srgbClr val="B87700"/>
                </a:solidFill>
              </a:rPr>
              <a:t>재실험한다</a:t>
            </a:r>
            <a:endParaRPr lang="en-US" sz="2000" dirty="0"/>
          </a:p>
        </p:txBody>
      </p:sp>
      <p:sp>
        <p:nvSpPr>
          <p:cNvPr id="24" name="Text 21"/>
          <p:cNvSpPr txBox="1"/>
          <p:nvPr/>
        </p:nvSpPr>
        <p:spPr>
          <a:xfrm>
            <a:off x="8412480" y="4599432"/>
            <a:ext cx="3154680" cy="731520"/>
          </a:xfrm>
          <a:prstGeom prst="rect">
            <a:avLst/>
          </a:prstGeom>
          <a:noFill/>
          <a:ln/>
        </p:spPr>
        <p:txBody>
          <a:bodyPr wrap="square" lIns="0" tIns="0" rIns="0" bIns="0" rtlCol="0" anchor="t"/>
          <a:lstStyle/>
          <a:p>
            <a:pPr indent="0" marL="0">
              <a:buNone/>
            </a:pPr>
            <a:r>
              <a:rPr lang="en-US" sz="1400" dirty="0">
                <a:solidFill>
                  <a:schemeClr val="tx2"/>
                </a:solidFill>
              </a:rPr>
              <a:t>표본·기간을 늘리거나 설계를 고친다</a:t>
            </a:r>
            <a:endParaRPr lang="en-US" sz="14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Ch5 · 판단 프레임</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효과 크기 × 비용 × 리스크를 함께 본다</a:t>
            </a:r>
            <a:endParaRPr lang="en-US" sz="2000" dirty="0"/>
          </a:p>
        </p:txBody>
      </p:sp>
      <p:sp>
        <p:nvSpPr>
          <p:cNvPr id="5" name="Text 2"/>
          <p:cNvSpPr txBox="1"/>
          <p:nvPr/>
        </p:nvSpPr>
        <p:spPr>
          <a:xfrm>
            <a:off x="640080" y="1874520"/>
            <a:ext cx="3383280" cy="2377440"/>
          </a:xfrm>
          <a:prstGeom prst="rect">
            <a:avLst/>
          </a:prstGeom>
          <a:noFill/>
          <a:ln/>
        </p:spPr>
        <p:txBody>
          <a:bodyPr wrap="square" lIns="0" tIns="0" rIns="0" bIns="0" rtlCol="0" anchor="t"/>
          <a:lstStyle/>
          <a:p>
            <a:pPr indent="0" marL="0">
              <a:spcAft>
                <a:spcPts val="1000"/>
              </a:spcAft>
              <a:buNone/>
            </a:pPr>
            <a:r>
              <a:rPr lang="en-US" sz="2000" b="1" dirty="0">
                <a:solidFill>
                  <a:schemeClr val="accent1"/>
                </a:solidFill>
              </a:rPr>
              <a:t>효과 크기</a:t>
            </a:r>
            <a:endParaRPr lang="en-US" sz="1500" dirty="0"/>
          </a:p>
          <a:p>
            <a:pPr marL="342900" indent="-342900">
              <a:spcAft>
                <a:spcPts val="800"/>
              </a:spcAft>
              <a:buSzPct val="100000"/>
              <a:buChar char="•"/>
            </a:pPr>
            <a:r>
              <a:rPr lang="en-US" sz="1500" dirty="0">
                <a:solidFill>
                  <a:schemeClr val="tx1"/>
                </a:solidFill>
              </a:rPr>
              <a:t>구간의 하한이어도 의미 있나?</a:t>
            </a:r>
            <a:endParaRPr lang="en-US" sz="1500" dirty="0"/>
          </a:p>
          <a:p>
            <a:pPr marL="342900" indent="-342900">
              <a:spcAft>
                <a:spcPts val="800"/>
              </a:spcAft>
              <a:buSzPct val="100000"/>
              <a:buChar char="•"/>
            </a:pPr>
            <a:r>
              <a:rPr lang="en-US" sz="1500" dirty="0">
                <a:solidFill>
                  <a:schemeClr val="tx1"/>
                </a:solidFill>
              </a:rPr>
              <a:t>몇 명에게 영향을 주나?</a:t>
            </a:r>
            <a:endParaRPr lang="en-US" sz="1500" dirty="0"/>
          </a:p>
          <a:p>
            <a:pPr marL="342900" indent="-342900">
              <a:spcAft>
                <a:spcPts val="800"/>
              </a:spcAft>
              <a:buSzPct val="100000"/>
              <a:buChar char="•"/>
            </a:pPr>
            <a:r>
              <a:rPr lang="en-US" sz="1500" dirty="0">
                <a:solidFill>
                  <a:schemeClr val="tx1"/>
                </a:solidFill>
              </a:rPr>
              <a:t>장기적으로 유지될 효과인가?</a:t>
            </a:r>
            <a:endParaRPr lang="en-US" sz="1500" dirty="0"/>
          </a:p>
        </p:txBody>
      </p:sp>
      <p:sp>
        <p:nvSpPr>
          <p:cNvPr id="6" name="Text 3"/>
          <p:cNvSpPr txBox="1"/>
          <p:nvPr/>
        </p:nvSpPr>
        <p:spPr>
          <a:xfrm>
            <a:off x="3977640" y="1828800"/>
            <a:ext cx="365760" cy="548640"/>
          </a:xfrm>
          <a:prstGeom prst="rect">
            <a:avLst/>
          </a:prstGeom>
          <a:noFill/>
          <a:ln/>
        </p:spPr>
        <p:txBody>
          <a:bodyPr wrap="square" lIns="0" tIns="0" rIns="0" bIns="0" rtlCol="0" anchor="t"/>
          <a:lstStyle/>
          <a:p>
            <a:pPr algn="ctr" indent="0" marL="0">
              <a:buNone/>
            </a:pPr>
            <a:r>
              <a:rPr lang="en-US" sz="3000" b="1" dirty="0">
                <a:solidFill>
                  <a:schemeClr val="accent6"/>
                </a:solidFill>
              </a:rPr>
              <a:t>×</a:t>
            </a:r>
            <a:endParaRPr lang="en-US" sz="3000" dirty="0"/>
          </a:p>
        </p:txBody>
      </p:sp>
      <p:sp>
        <p:nvSpPr>
          <p:cNvPr id="7" name="Text 4"/>
          <p:cNvSpPr txBox="1"/>
          <p:nvPr/>
        </p:nvSpPr>
        <p:spPr>
          <a:xfrm>
            <a:off x="4343400" y="1874520"/>
            <a:ext cx="3383280" cy="2377440"/>
          </a:xfrm>
          <a:prstGeom prst="rect">
            <a:avLst/>
          </a:prstGeom>
          <a:noFill/>
          <a:ln/>
        </p:spPr>
        <p:txBody>
          <a:bodyPr wrap="square" lIns="0" tIns="0" rIns="0" bIns="0" rtlCol="0" anchor="t"/>
          <a:lstStyle/>
          <a:p>
            <a:pPr indent="0" marL="0">
              <a:spcAft>
                <a:spcPts val="1000"/>
              </a:spcAft>
              <a:buNone/>
            </a:pPr>
            <a:r>
              <a:rPr lang="en-US" sz="2000" b="1" dirty="0">
                <a:solidFill>
                  <a:schemeClr val="accent5"/>
                </a:solidFill>
              </a:rPr>
              <a:t>비용</a:t>
            </a:r>
            <a:endParaRPr lang="en-US" sz="1500" dirty="0"/>
          </a:p>
          <a:p>
            <a:pPr marL="342900" indent="-342900">
              <a:spcAft>
                <a:spcPts val="800"/>
              </a:spcAft>
              <a:buSzPct val="100000"/>
              <a:buChar char="•"/>
            </a:pPr>
            <a:r>
              <a:rPr lang="en-US" sz="1500" dirty="0">
                <a:solidFill>
                  <a:schemeClr val="tx1"/>
                </a:solidFill>
              </a:rPr>
              <a:t>구현·운영·유지보수 비용</a:t>
            </a:r>
            <a:endParaRPr lang="en-US" sz="1500" dirty="0"/>
          </a:p>
          <a:p>
            <a:pPr marL="342900" indent="-342900">
              <a:spcAft>
                <a:spcPts val="800"/>
              </a:spcAft>
              <a:buSzPct val="100000"/>
              <a:buChar char="•"/>
            </a:pPr>
            <a:r>
              <a:rPr lang="en-US" sz="1500" dirty="0">
                <a:solidFill>
                  <a:schemeClr val="tx1"/>
                </a:solidFill>
              </a:rPr>
              <a:t>다른 실험 기회를 막는 비용</a:t>
            </a:r>
            <a:endParaRPr lang="en-US" sz="1500" dirty="0"/>
          </a:p>
          <a:p>
            <a:pPr marL="342900" indent="-342900">
              <a:spcAft>
                <a:spcPts val="800"/>
              </a:spcAft>
              <a:buSzPct val="100000"/>
              <a:buChar char="•"/>
            </a:pPr>
            <a:r>
              <a:rPr lang="en-US" sz="1500" dirty="0">
                <a:solidFill>
                  <a:schemeClr val="tx1"/>
                </a:solidFill>
              </a:rPr>
              <a:t>복잡도가 늘어나는 비용</a:t>
            </a:r>
            <a:endParaRPr lang="en-US" sz="1500" dirty="0"/>
          </a:p>
        </p:txBody>
      </p:sp>
      <p:sp>
        <p:nvSpPr>
          <p:cNvPr id="8" name="Text 5"/>
          <p:cNvSpPr txBox="1"/>
          <p:nvPr/>
        </p:nvSpPr>
        <p:spPr>
          <a:xfrm>
            <a:off x="7680960" y="1828800"/>
            <a:ext cx="365760" cy="548640"/>
          </a:xfrm>
          <a:prstGeom prst="rect">
            <a:avLst/>
          </a:prstGeom>
          <a:noFill/>
          <a:ln/>
        </p:spPr>
        <p:txBody>
          <a:bodyPr wrap="square" lIns="0" tIns="0" rIns="0" bIns="0" rtlCol="0" anchor="t"/>
          <a:lstStyle/>
          <a:p>
            <a:pPr algn="ctr" indent="0" marL="0">
              <a:buNone/>
            </a:pPr>
            <a:r>
              <a:rPr lang="en-US" sz="3000" b="1" dirty="0">
                <a:solidFill>
                  <a:schemeClr val="accent6"/>
                </a:solidFill>
              </a:rPr>
              <a:t>×</a:t>
            </a:r>
            <a:endParaRPr lang="en-US" sz="3000" dirty="0"/>
          </a:p>
        </p:txBody>
      </p:sp>
      <p:sp>
        <p:nvSpPr>
          <p:cNvPr id="9" name="Text 6"/>
          <p:cNvSpPr txBox="1"/>
          <p:nvPr/>
        </p:nvSpPr>
        <p:spPr>
          <a:xfrm>
            <a:off x="8046720" y="1874520"/>
            <a:ext cx="3383280" cy="2377440"/>
          </a:xfrm>
          <a:prstGeom prst="rect">
            <a:avLst/>
          </a:prstGeom>
          <a:noFill/>
          <a:ln/>
        </p:spPr>
        <p:txBody>
          <a:bodyPr wrap="square" lIns="0" tIns="0" rIns="0" bIns="0" rtlCol="0" anchor="t"/>
          <a:lstStyle/>
          <a:p>
            <a:pPr indent="0" marL="0">
              <a:spcAft>
                <a:spcPts val="1000"/>
              </a:spcAft>
              <a:buNone/>
            </a:pPr>
            <a:r>
              <a:rPr lang="en-US" sz="2000" b="1" dirty="0">
                <a:solidFill>
                  <a:schemeClr val="accent4"/>
                </a:solidFill>
              </a:rPr>
              <a:t>리스크</a:t>
            </a:r>
            <a:endParaRPr lang="en-US" sz="1500" dirty="0"/>
          </a:p>
          <a:p>
            <a:pPr marL="342900" indent="-342900">
              <a:spcAft>
                <a:spcPts val="800"/>
              </a:spcAft>
              <a:buSzPct val="100000"/>
              <a:buChar char="•"/>
            </a:pPr>
            <a:r>
              <a:rPr lang="en-US" sz="1500" dirty="0">
                <a:solidFill>
                  <a:schemeClr val="tx1"/>
                </a:solidFill>
              </a:rPr>
              <a:t>가드레일이 조금이라도 나빠졌나?</a:t>
            </a:r>
            <a:endParaRPr lang="en-US" sz="1500" dirty="0"/>
          </a:p>
          <a:p>
            <a:pPr marL="342900" indent="-342900">
              <a:spcAft>
                <a:spcPts val="800"/>
              </a:spcAft>
              <a:buSzPct val="100000"/>
              <a:buChar char="•"/>
            </a:pPr>
            <a:r>
              <a:rPr lang="en-US" sz="1500" dirty="0">
                <a:solidFill>
                  <a:schemeClr val="tx1"/>
                </a:solidFill>
              </a:rPr>
              <a:t>되돌리기 어려운 변화인가?</a:t>
            </a:r>
            <a:endParaRPr lang="en-US" sz="1500" dirty="0"/>
          </a:p>
          <a:p>
            <a:pPr marL="342900" indent="-342900">
              <a:spcAft>
                <a:spcPts val="800"/>
              </a:spcAft>
              <a:buSzPct val="100000"/>
              <a:buChar char="•"/>
            </a:pPr>
            <a:r>
              <a:rPr lang="en-US" sz="1500" dirty="0">
                <a:solidFill>
                  <a:schemeClr val="tx1"/>
                </a:solidFill>
              </a:rPr>
              <a:t>특정 세그먼트에 해가 가나?</a:t>
            </a:r>
            <a:endParaRPr lang="en-US" sz="1500" dirty="0"/>
          </a:p>
        </p:txBody>
      </p:sp>
      <p:sp>
        <p:nvSpPr>
          <p:cNvPr id="10" name="Text 7"/>
          <p:cNvSpPr txBox="1"/>
          <p:nvPr/>
        </p:nvSpPr>
        <p:spPr>
          <a:xfrm>
            <a:off x="640080" y="4846320"/>
            <a:ext cx="10911535" cy="822960"/>
          </a:xfrm>
          <a:prstGeom prst="rect">
            <a:avLst/>
          </a:prstGeom>
          <a:noFill/>
          <a:ln/>
        </p:spPr>
        <p:txBody>
          <a:bodyPr wrap="square" lIns="0" tIns="0" rIns="0" bIns="0" rtlCol="0" anchor="t"/>
          <a:lstStyle/>
          <a:p>
            <a:pPr indent="0" marL="0">
              <a:buNone/>
            </a:pPr>
            <a:r>
              <a:rPr lang="en-US" sz="1500" b="1" dirty="0">
                <a:solidFill>
                  <a:schemeClr val="accent1"/>
                </a:solidFill>
              </a:rPr>
              <a:t>실무에서 이렇게 말한다  </a:t>
            </a:r>
            <a:pPr indent="0" marL="0">
              <a:buNone/>
            </a:pPr>
            <a:r>
              <a:rPr lang="en-US" sz="1500" dirty="0">
                <a:solidFill>
                  <a:schemeClr val="tx1"/>
                </a:solidFill>
              </a:rPr>
              <a:t>"전환율 +0.8%p, 하한 +0.1%p여도 연 유지비를 넘고 가드레일도 문제없어 50%에서 100%로 확대합니다"</a:t>
            </a:r>
            <a:endParaRPr lang="en-US" sz="15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txBox="1"/>
          <p:nvPr/>
        </p:nvSpPr>
        <p:spPr>
          <a:xfrm>
            <a:off x="640080" y="493776"/>
            <a:ext cx="6949440" cy="667512"/>
          </a:xfrm>
          <a:prstGeom prst="rect">
            <a:avLst/>
          </a:prstGeom>
          <a:noFill/>
          <a:ln/>
        </p:spPr>
        <p:txBody>
          <a:bodyPr wrap="square" lIns="0" tIns="0" rIns="0" bIns="0" rtlCol="0" anchor="t"/>
          <a:lstStyle/>
          <a:p>
            <a:pPr indent="0" marL="0">
              <a:buNone/>
            </a:pPr>
            <a:r>
              <a:rPr lang="en-US" sz="4400" b="1" dirty="0">
                <a:solidFill>
                  <a:srgbClr val="FFFFFF"/>
                </a:solidFill>
              </a:rPr>
              <a:t>정리</a:t>
            </a:r>
            <a:endParaRPr lang="en-US" sz="4400" dirty="0"/>
          </a:p>
        </p:txBody>
      </p:sp>
      <p:sp>
        <p:nvSpPr>
          <p:cNvPr id="3" name="Text 1"/>
          <p:cNvSpPr txBox="1"/>
          <p:nvPr/>
        </p:nvSpPr>
        <p:spPr>
          <a:xfrm>
            <a:off x="640080" y="2898648"/>
            <a:ext cx="4754880" cy="1371600"/>
          </a:xfrm>
          <a:prstGeom prst="rect">
            <a:avLst/>
          </a:prstGeom>
          <a:noFill/>
          <a:ln/>
        </p:spPr>
        <p:txBody>
          <a:bodyPr wrap="square" lIns="0" tIns="0" rIns="0" bIns="0" rtlCol="0" anchor="t"/>
          <a:lstStyle/>
          <a:p>
            <a:pPr indent="0" marL="0">
              <a:spcAft>
                <a:spcPts val="1400"/>
              </a:spcAft>
              <a:buNone/>
            </a:pPr>
            <a:r>
              <a:rPr lang="en-US" sz="1500" b="1" dirty="0">
                <a:solidFill>
                  <a:srgbClr val="FFFFFF"/>
                </a:solidFill>
              </a:rPr>
              <a:t>1   랜덤 배정이 인과를 말할 수 있게 해 준다</a:t>
            </a:r>
            <a:endParaRPr lang="en-US" sz="1500" dirty="0"/>
          </a:p>
          <a:p>
            <a:pPr indent="0" marL="0">
              <a:spcAft>
                <a:spcPts val="1400"/>
              </a:spcAft>
              <a:buNone/>
            </a:pPr>
            <a:r>
              <a:rPr lang="en-US" sz="1500" b="1" dirty="0">
                <a:solidFill>
                  <a:srgbClr val="FFFFFF"/>
                </a:solidFill>
              </a:rPr>
              <a:t>2   가설·OEC·가드레일·MDE는 실험 전에 정한다</a:t>
            </a:r>
            <a:endParaRPr lang="en-US" sz="1500" dirty="0"/>
          </a:p>
          <a:p>
            <a:pPr indent="0" marL="0">
              <a:buNone/>
            </a:pPr>
            <a:r>
              <a:rPr lang="en-US" sz="1500" b="1" dirty="0">
                <a:solidFill>
                  <a:srgbClr val="FFFFFF"/>
                </a:solidFill>
              </a:rPr>
              <a:t>3   결과는 구간으로 읽고, 배포 · 접기 · 재실험으로 닫는다</a:t>
            </a:r>
            <a:endParaRPr lang="en-US" sz="1500" dirty="0"/>
          </a:p>
        </p:txBody>
      </p:sp>
      <p:sp>
        <p:nvSpPr>
          <p:cNvPr id="5" name="Text 0"/>
          <p:cNvSpPr/>
          <p:nvPr>
            <p:ph idx="100" type="title" hasCustomPrompt="1"/>
          </p:nvPr>
        </p:nvSpPr>
        <p:spPr>
          <a:xfrm>
            <a:off x="640080" y="2011680"/>
            <a:ext cx="6949440" cy="1737360"/>
          </a:xfrm>
          <a:prstGeom prst="rect">
            <a:avLst/>
          </a:prstGeom>
          <a:noFill/>
          <a:ln/>
        </p:spPr>
        <p:txBody>
          <a:bodyPr wrap="square" lIns="0" tIns="0" rIns="0" bIns="0" rtlCol="0" anchor="b"/>
          <a:lstStyle/>
          <a:p>
            <a:pPr algn="l" indent="0" marL="0">
              <a:buNone/>
            </a:pPr>
            <a:endParaRPr lang="en-US" sz="4400" dirty="0"/>
          </a:p>
        </p:txBody>
      </p:sp>
      <p:sp>
        <p:nvSpPr>
          <p:cNvPr id="6" name="Text 0"/>
          <p:cNvSpPr/>
          <p:nvPr>
            <p:ph idx="101" type="body" hasCustomPrompt="1"/>
          </p:nvPr>
        </p:nvSpPr>
        <p:spPr>
          <a:xfrm>
            <a:off x="640080" y="3977640"/>
            <a:ext cx="6583680" cy="1097280"/>
          </a:xfrm>
          <a:prstGeom prst="rect">
            <a:avLst/>
          </a:prstGeom>
          <a:noFill/>
          <a:ln/>
        </p:spPr>
        <p:txBody>
          <a:bodyPr wrap="square" lIns="0" tIns="0" rIns="0" bIns="0" rtlCol="0" anchor="t"/>
          <a:lstStyle/>
          <a:p>
            <a:pPr algn="l" indent="0" marL="0">
              <a:buNone/>
            </a:pPr>
            <a:endParaRPr lang="en-US" sz="20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복습 퀴즈 1 · 객관식</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결과를 보고 가장 먼저 해야 할 일은 무엇일까요?</a:t>
            </a:r>
            <a:endParaRPr lang="en-US" sz="2000" dirty="0"/>
          </a:p>
        </p:txBody>
      </p:sp>
      <p:sp>
        <p:nvSpPr>
          <p:cNvPr id="5" name="Text 2"/>
          <p:cNvSpPr txBox="1"/>
          <p:nvPr/>
        </p:nvSpPr>
        <p:spPr>
          <a:xfrm>
            <a:off x="640080" y="1737360"/>
            <a:ext cx="10911535" cy="457200"/>
          </a:xfrm>
          <a:prstGeom prst="rect">
            <a:avLst/>
          </a:prstGeom>
          <a:noFill/>
          <a:ln/>
        </p:spPr>
        <p:txBody>
          <a:bodyPr wrap="square" lIns="0" tIns="0" rIns="0" bIns="0" rtlCol="0" anchor="t"/>
          <a:lstStyle/>
          <a:p>
            <a:pPr indent="0" marL="0">
              <a:buNone/>
            </a:pPr>
            <a:r>
              <a:rPr lang="en-US" sz="2000" dirty="0">
                <a:solidFill>
                  <a:schemeClr val="tx1"/>
                </a:solidFill>
              </a:rPr>
              <a:t>50:50으로 설계한 실험에서 B안 전환율이 +3%p, p = 0.01로 나왔습니다.</a:t>
            </a:r>
            <a:endParaRPr lang="en-US" sz="2000" dirty="0"/>
          </a:p>
        </p:txBody>
      </p:sp>
      <p:sp>
        <p:nvSpPr>
          <p:cNvPr id="6" name="Text 3"/>
          <p:cNvSpPr txBox="1"/>
          <p:nvPr/>
        </p:nvSpPr>
        <p:spPr>
          <a:xfrm>
            <a:off x="640080" y="2240280"/>
            <a:ext cx="10911535" cy="685800"/>
          </a:xfrm>
          <a:prstGeom prst="rect">
            <a:avLst/>
          </a:prstGeom>
          <a:noFill/>
          <a:ln/>
        </p:spPr>
        <p:txBody>
          <a:bodyPr wrap="square" lIns="0" tIns="0" rIns="0" bIns="0" rtlCol="0" anchor="t"/>
          <a:lstStyle/>
          <a:p>
            <a:pPr indent="0" marL="0">
              <a:buNone/>
            </a:pPr>
            <a:r>
              <a:rPr lang="en-US" sz="1500" dirty="0">
                <a:solidFill>
                  <a:schemeClr val="tx2"/>
                </a:solidFill>
              </a:rPr>
              <a:t>그런데 실제로 들어온 사용자 수는  </a:t>
            </a:r>
            <a:pPr indent="0" marL="0">
              <a:buNone/>
            </a:pPr>
            <a:r>
              <a:rPr lang="en-US" sz="3000" b="1" dirty="0">
                <a:solidFill>
                  <a:schemeClr val="accent1"/>
                </a:solidFill>
              </a:rPr>
              <a:t>A 50,000명</a:t>
            </a:r>
            <a:pPr indent="0" marL="0">
              <a:buNone/>
            </a:pPr>
            <a:r>
              <a:rPr lang="en-US" sz="3000" dirty="0">
                <a:solidFill>
                  <a:schemeClr val="tx1"/>
                </a:solidFill>
              </a:rPr>
              <a:t>   </a:t>
            </a:r>
            <a:pPr indent="0" marL="0">
              <a:buNone/>
            </a:pPr>
            <a:r>
              <a:rPr lang="en-US" sz="3000" b="1" dirty="0">
                <a:solidFill>
                  <a:schemeClr val="accent3"/>
                </a:solidFill>
              </a:rPr>
              <a:t>B 48,800명</a:t>
            </a:r>
            <a:pPr indent="0" marL="0">
              <a:buNone/>
            </a:pPr>
            <a:r>
              <a:rPr lang="en-US" sz="1500" dirty="0">
                <a:solidFill>
                  <a:schemeClr val="tx2"/>
                </a:solidFill>
              </a:rPr>
              <a:t>  입니다.</a:t>
            </a:r>
            <a:endParaRPr lang="en-US" sz="1500" dirty="0"/>
          </a:p>
        </p:txBody>
      </p:sp>
      <p:sp>
        <p:nvSpPr>
          <p:cNvPr id="7" name="Text 4"/>
          <p:cNvSpPr txBox="1"/>
          <p:nvPr/>
        </p:nvSpPr>
        <p:spPr>
          <a:xfrm>
            <a:off x="640080" y="3063240"/>
            <a:ext cx="10911535" cy="411480"/>
          </a:xfrm>
          <a:prstGeom prst="rect">
            <a:avLst/>
          </a:prstGeom>
          <a:noFill/>
          <a:ln/>
        </p:spPr>
        <p:txBody>
          <a:bodyPr wrap="square" lIns="0" tIns="0" rIns="0" bIns="0" rtlCol="0" anchor="t"/>
          <a:lstStyle/>
          <a:p>
            <a:pPr indent="0" marL="0">
              <a:buNone/>
            </a:pPr>
            <a:r>
              <a:rPr lang="en-US" sz="1500" b="1" dirty="0">
                <a:solidFill>
                  <a:schemeClr val="accent1"/>
                </a:solidFill>
              </a:rPr>
              <a:t>가장 먼저 해야 할 일로 옳은 것을 고르세요.</a:t>
            </a:r>
            <a:endParaRPr lang="en-US" sz="1500" dirty="0"/>
          </a:p>
        </p:txBody>
      </p:sp>
      <p:sp>
        <p:nvSpPr>
          <p:cNvPr id="8" name="Text 5"/>
          <p:cNvSpPr txBox="1"/>
          <p:nvPr/>
        </p:nvSpPr>
        <p:spPr>
          <a:xfrm>
            <a:off x="640080" y="3611880"/>
            <a:ext cx="548640" cy="457200"/>
          </a:xfrm>
          <a:prstGeom prst="rect">
            <a:avLst/>
          </a:prstGeom>
          <a:noFill/>
          <a:ln/>
        </p:spPr>
        <p:txBody>
          <a:bodyPr wrap="square" lIns="0" tIns="0" rIns="0" bIns="0" rtlCol="0" anchor="t"/>
          <a:lstStyle/>
          <a:p>
            <a:pPr indent="0" marL="0">
              <a:buNone/>
            </a:pPr>
            <a:r>
              <a:rPr lang="en-US" sz="2000" b="1" dirty="0">
                <a:solidFill>
                  <a:schemeClr val="accent1"/>
                </a:solidFill>
              </a:rPr>
              <a:t>①</a:t>
            </a:r>
            <a:endParaRPr lang="en-US" sz="2000" dirty="0"/>
          </a:p>
        </p:txBody>
      </p:sp>
      <p:sp>
        <p:nvSpPr>
          <p:cNvPr id="9" name="Text 6"/>
          <p:cNvSpPr txBox="1"/>
          <p:nvPr/>
        </p:nvSpPr>
        <p:spPr>
          <a:xfrm>
            <a:off x="1188720" y="3611880"/>
            <a:ext cx="10362895" cy="457200"/>
          </a:xfrm>
          <a:prstGeom prst="rect">
            <a:avLst/>
          </a:prstGeom>
          <a:noFill/>
          <a:ln/>
        </p:spPr>
        <p:txBody>
          <a:bodyPr wrap="square" lIns="0" tIns="0" rIns="0" bIns="0" rtlCol="0" anchor="t"/>
          <a:lstStyle/>
          <a:p>
            <a:pPr indent="0" marL="0">
              <a:buNone/>
            </a:pPr>
            <a:r>
              <a:rPr lang="en-US" sz="2000" dirty="0">
                <a:solidFill>
                  <a:schemeClr val="tx1"/>
                </a:solidFill>
              </a:rPr>
              <a:t>유의하므로 B안을 배포합니다</a:t>
            </a:r>
            <a:endParaRPr lang="en-US" sz="2000" dirty="0"/>
          </a:p>
        </p:txBody>
      </p:sp>
      <p:sp>
        <p:nvSpPr>
          <p:cNvPr id="10" name="Text 7"/>
          <p:cNvSpPr txBox="1"/>
          <p:nvPr/>
        </p:nvSpPr>
        <p:spPr>
          <a:xfrm>
            <a:off x="640080" y="4142232"/>
            <a:ext cx="548640" cy="457200"/>
          </a:xfrm>
          <a:prstGeom prst="rect">
            <a:avLst/>
          </a:prstGeom>
          <a:noFill/>
          <a:ln/>
        </p:spPr>
        <p:txBody>
          <a:bodyPr wrap="square" lIns="0" tIns="0" rIns="0" bIns="0" rtlCol="0" anchor="t"/>
          <a:lstStyle/>
          <a:p>
            <a:pPr indent="0" marL="0">
              <a:buNone/>
            </a:pPr>
            <a:r>
              <a:rPr lang="en-US" sz="2000" b="1" dirty="0">
                <a:solidFill>
                  <a:schemeClr val="accent1"/>
                </a:solidFill>
              </a:rPr>
              <a:t>②</a:t>
            </a:r>
            <a:endParaRPr lang="en-US" sz="2000" dirty="0"/>
          </a:p>
        </p:txBody>
      </p:sp>
      <p:sp>
        <p:nvSpPr>
          <p:cNvPr id="11" name="Text 8"/>
          <p:cNvSpPr txBox="1"/>
          <p:nvPr/>
        </p:nvSpPr>
        <p:spPr>
          <a:xfrm>
            <a:off x="1188720" y="4142232"/>
            <a:ext cx="10362895" cy="457200"/>
          </a:xfrm>
          <a:prstGeom prst="rect">
            <a:avLst/>
          </a:prstGeom>
          <a:noFill/>
          <a:ln/>
        </p:spPr>
        <p:txBody>
          <a:bodyPr wrap="square" lIns="0" tIns="0" rIns="0" bIns="0" rtlCol="0" anchor="t"/>
          <a:lstStyle/>
          <a:p>
            <a:pPr indent="0" marL="0">
              <a:buNone/>
            </a:pPr>
            <a:r>
              <a:rPr lang="en-US" sz="2000" dirty="0">
                <a:solidFill>
                  <a:schemeClr val="tx1"/>
                </a:solidFill>
              </a:rPr>
              <a:t>표본이 충분하니 신뢰구간만 확인하고 배포합니다</a:t>
            </a:r>
            <a:endParaRPr lang="en-US" sz="2000" dirty="0"/>
          </a:p>
        </p:txBody>
      </p:sp>
      <p:sp>
        <p:nvSpPr>
          <p:cNvPr id="12" name="Text 9"/>
          <p:cNvSpPr txBox="1"/>
          <p:nvPr/>
        </p:nvSpPr>
        <p:spPr>
          <a:xfrm>
            <a:off x="640080" y="4672584"/>
            <a:ext cx="548640" cy="457200"/>
          </a:xfrm>
          <a:prstGeom prst="rect">
            <a:avLst/>
          </a:prstGeom>
          <a:noFill/>
          <a:ln/>
        </p:spPr>
        <p:txBody>
          <a:bodyPr wrap="square" lIns="0" tIns="0" rIns="0" bIns="0" rtlCol="0" anchor="t"/>
          <a:lstStyle/>
          <a:p>
            <a:pPr indent="0" marL="0">
              <a:buNone/>
            </a:pPr>
            <a:r>
              <a:rPr lang="en-US" sz="2000" b="1" dirty="0">
                <a:solidFill>
                  <a:schemeClr val="accent1"/>
                </a:solidFill>
              </a:rPr>
              <a:t>③</a:t>
            </a:r>
            <a:endParaRPr lang="en-US" sz="2000" dirty="0"/>
          </a:p>
        </p:txBody>
      </p:sp>
      <p:sp>
        <p:nvSpPr>
          <p:cNvPr id="13" name="Text 10"/>
          <p:cNvSpPr txBox="1"/>
          <p:nvPr/>
        </p:nvSpPr>
        <p:spPr>
          <a:xfrm>
            <a:off x="1188720" y="4672584"/>
            <a:ext cx="10362895" cy="457200"/>
          </a:xfrm>
          <a:prstGeom prst="rect">
            <a:avLst/>
          </a:prstGeom>
          <a:noFill/>
          <a:ln/>
        </p:spPr>
        <p:txBody>
          <a:bodyPr wrap="square" lIns="0" tIns="0" rIns="0" bIns="0" rtlCol="0" anchor="t"/>
          <a:lstStyle/>
          <a:p>
            <a:pPr indent="0" marL="0">
              <a:buNone/>
            </a:pPr>
            <a:r>
              <a:rPr lang="en-US" sz="2000" dirty="0">
                <a:solidFill>
                  <a:schemeClr val="tx1"/>
                </a:solidFill>
              </a:rPr>
              <a:t>결과 해석을 멈추고 배정·로깅 과정에서 원인을 찾습니다</a:t>
            </a:r>
            <a:endParaRPr lang="en-US" sz="2000" dirty="0"/>
          </a:p>
        </p:txBody>
      </p:sp>
      <p:sp>
        <p:nvSpPr>
          <p:cNvPr id="14" name="Text 11"/>
          <p:cNvSpPr txBox="1"/>
          <p:nvPr/>
        </p:nvSpPr>
        <p:spPr>
          <a:xfrm>
            <a:off x="640080" y="5202936"/>
            <a:ext cx="548640" cy="457200"/>
          </a:xfrm>
          <a:prstGeom prst="rect">
            <a:avLst/>
          </a:prstGeom>
          <a:noFill/>
          <a:ln/>
        </p:spPr>
        <p:txBody>
          <a:bodyPr wrap="square" lIns="0" tIns="0" rIns="0" bIns="0" rtlCol="0" anchor="t"/>
          <a:lstStyle/>
          <a:p>
            <a:pPr indent="0" marL="0">
              <a:buNone/>
            </a:pPr>
            <a:r>
              <a:rPr lang="en-US" sz="2000" b="1" dirty="0">
                <a:solidFill>
                  <a:schemeClr val="accent1"/>
                </a:solidFill>
              </a:rPr>
              <a:t>④</a:t>
            </a:r>
            <a:endParaRPr lang="en-US" sz="2000" dirty="0"/>
          </a:p>
        </p:txBody>
      </p:sp>
      <p:sp>
        <p:nvSpPr>
          <p:cNvPr id="15" name="Text 12"/>
          <p:cNvSpPr txBox="1"/>
          <p:nvPr/>
        </p:nvSpPr>
        <p:spPr>
          <a:xfrm>
            <a:off x="1188720" y="5202936"/>
            <a:ext cx="10362895" cy="457200"/>
          </a:xfrm>
          <a:prstGeom prst="rect">
            <a:avLst/>
          </a:prstGeom>
          <a:noFill/>
          <a:ln/>
        </p:spPr>
        <p:txBody>
          <a:bodyPr wrap="square" lIns="0" tIns="0" rIns="0" bIns="0" rtlCol="0" anchor="t"/>
          <a:lstStyle/>
          <a:p>
            <a:pPr indent="0" marL="0">
              <a:buNone/>
            </a:pPr>
            <a:r>
              <a:rPr lang="en-US" sz="2000" dirty="0">
                <a:solidFill>
                  <a:schemeClr val="tx1"/>
                </a:solidFill>
              </a:rPr>
              <a:t>B안의 이탈 사용자를 제외하고 다시 분석합니다</a:t>
            </a:r>
            <a:endParaRPr lang="en-US" sz="20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복습 퀴즈 2 · 주관식</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이 기능의 실험을 직접 설계해 보세요</a:t>
            </a:r>
            <a:endParaRPr lang="en-US" sz="2000" dirty="0"/>
          </a:p>
        </p:txBody>
      </p:sp>
      <p:sp>
        <p:nvSpPr>
          <p:cNvPr id="5" name="Text 2"/>
          <p:cNvSpPr txBox="1"/>
          <p:nvPr/>
        </p:nvSpPr>
        <p:spPr>
          <a:xfrm>
            <a:off x="640080" y="1737360"/>
            <a:ext cx="10911535" cy="457200"/>
          </a:xfrm>
          <a:prstGeom prst="rect">
            <a:avLst/>
          </a:prstGeom>
          <a:noFill/>
          <a:ln/>
        </p:spPr>
        <p:txBody>
          <a:bodyPr wrap="square" lIns="0" tIns="0" rIns="0" bIns="0" rtlCol="0" anchor="t"/>
          <a:lstStyle/>
          <a:p>
            <a:pPr indent="0" marL="0">
              <a:buNone/>
            </a:pPr>
            <a:r>
              <a:rPr lang="en-US" sz="2000" dirty="0">
                <a:solidFill>
                  <a:schemeClr val="tx1"/>
                </a:solidFill>
              </a:rPr>
              <a:t>중고거래 앱에서 </a:t>
            </a:r>
            <a:pPr indent="0" marL="0">
              <a:buNone/>
            </a:pPr>
            <a:r>
              <a:rPr lang="en-US" sz="2000" b="1" dirty="0">
                <a:solidFill>
                  <a:schemeClr val="accent1"/>
                </a:solidFill>
              </a:rPr>
              <a:t>판매자에게 적정 가격을 추천하는 기능</a:t>
            </a:r>
            <a:pPr indent="0" marL="0">
              <a:buNone/>
            </a:pPr>
            <a:r>
              <a:rPr lang="en-US" sz="2000" dirty="0">
                <a:solidFill>
                  <a:schemeClr val="tx1"/>
                </a:solidFill>
              </a:rPr>
              <a:t>을 실험하려고 합니다.</a:t>
            </a:r>
            <a:endParaRPr lang="en-US" sz="2000" dirty="0"/>
          </a:p>
        </p:txBody>
      </p:sp>
      <p:sp>
        <p:nvSpPr>
          <p:cNvPr id="6" name="Text 3"/>
          <p:cNvSpPr txBox="1"/>
          <p:nvPr/>
        </p:nvSpPr>
        <p:spPr>
          <a:xfrm>
            <a:off x="640080" y="2286000"/>
            <a:ext cx="10911535" cy="411480"/>
          </a:xfrm>
          <a:prstGeom prst="rect">
            <a:avLst/>
          </a:prstGeom>
          <a:noFill/>
          <a:ln/>
        </p:spPr>
        <p:txBody>
          <a:bodyPr wrap="square" lIns="0" tIns="0" rIns="0" bIns="0" rtlCol="0" anchor="t"/>
          <a:lstStyle/>
          <a:p>
            <a:pPr indent="0" marL="0">
              <a:buNone/>
            </a:pPr>
            <a:r>
              <a:rPr lang="en-US" sz="1500" b="1" dirty="0">
                <a:solidFill>
                  <a:schemeClr val="accent1"/>
                </a:solidFill>
              </a:rPr>
              <a:t>아래 세 가지 질문에 답하세요.</a:t>
            </a:r>
            <a:endParaRPr lang="en-US" sz="1500" dirty="0"/>
          </a:p>
        </p:txBody>
      </p:sp>
      <p:sp>
        <p:nvSpPr>
          <p:cNvPr id="7" name="Text 4"/>
          <p:cNvSpPr txBox="1"/>
          <p:nvPr/>
        </p:nvSpPr>
        <p:spPr>
          <a:xfrm>
            <a:off x="640080" y="2926080"/>
            <a:ext cx="914400" cy="548640"/>
          </a:xfrm>
          <a:prstGeom prst="rect">
            <a:avLst/>
          </a:prstGeom>
          <a:noFill/>
          <a:ln/>
        </p:spPr>
        <p:txBody>
          <a:bodyPr wrap="square" lIns="0" tIns="0" rIns="0" bIns="0" rtlCol="0" anchor="t"/>
          <a:lstStyle/>
          <a:p>
            <a:pPr indent="0" marL="0">
              <a:buNone/>
            </a:pPr>
            <a:r>
              <a:rPr lang="en-US" sz="3000" b="1" dirty="0">
                <a:solidFill>
                  <a:schemeClr val="accent1"/>
                </a:solidFill>
              </a:rPr>
              <a:t>01</a:t>
            </a:r>
            <a:endParaRPr lang="en-US" sz="3000" dirty="0"/>
          </a:p>
        </p:txBody>
      </p:sp>
      <p:sp>
        <p:nvSpPr>
          <p:cNvPr id="8" name="Text 5"/>
          <p:cNvSpPr txBox="1"/>
          <p:nvPr/>
        </p:nvSpPr>
        <p:spPr>
          <a:xfrm>
            <a:off x="640080" y="3566160"/>
            <a:ext cx="3383280" cy="1097280"/>
          </a:xfrm>
          <a:prstGeom prst="rect">
            <a:avLst/>
          </a:prstGeom>
          <a:noFill/>
          <a:ln/>
        </p:spPr>
        <p:txBody>
          <a:bodyPr wrap="square" lIns="0" tIns="0" rIns="0" bIns="0" rtlCol="0" anchor="t"/>
          <a:lstStyle/>
          <a:p>
            <a:pPr indent="0" marL="0">
              <a:buNone/>
            </a:pPr>
            <a:r>
              <a:rPr lang="en-US" sz="2000" b="1" dirty="0">
                <a:solidFill>
                  <a:schemeClr val="tx1"/>
                </a:solidFill>
              </a:rPr>
              <a:t>가설</a:t>
            </a:r>
            <a:endParaRPr lang="en-US" sz="1500" dirty="0"/>
          </a:p>
          <a:p>
            <a:pPr indent="0" marL="0">
              <a:buNone/>
            </a:pPr>
            <a:r>
              <a:rPr lang="en-US" sz="1500" dirty="0">
                <a:solidFill>
                  <a:schemeClr val="tx2"/>
                </a:solidFill>
              </a:rPr>
              <a:t>한 문장으로 써 보세요</a:t>
            </a:r>
            <a:endParaRPr lang="en-US" sz="1500" dirty="0"/>
          </a:p>
        </p:txBody>
      </p:sp>
      <p:sp>
        <p:nvSpPr>
          <p:cNvPr id="9" name="Text 6"/>
          <p:cNvSpPr txBox="1"/>
          <p:nvPr/>
        </p:nvSpPr>
        <p:spPr>
          <a:xfrm>
            <a:off x="4343400" y="2926080"/>
            <a:ext cx="914400" cy="548640"/>
          </a:xfrm>
          <a:prstGeom prst="rect">
            <a:avLst/>
          </a:prstGeom>
          <a:noFill/>
          <a:ln/>
        </p:spPr>
        <p:txBody>
          <a:bodyPr wrap="square" lIns="0" tIns="0" rIns="0" bIns="0" rtlCol="0" anchor="t"/>
          <a:lstStyle/>
          <a:p>
            <a:pPr indent="0" marL="0">
              <a:buNone/>
            </a:pPr>
            <a:r>
              <a:rPr lang="en-US" sz="3000" b="1" dirty="0">
                <a:solidFill>
                  <a:schemeClr val="accent1"/>
                </a:solidFill>
              </a:rPr>
              <a:t>02</a:t>
            </a:r>
            <a:endParaRPr lang="en-US" sz="3000" dirty="0"/>
          </a:p>
        </p:txBody>
      </p:sp>
      <p:sp>
        <p:nvSpPr>
          <p:cNvPr id="10" name="Text 7"/>
          <p:cNvSpPr txBox="1"/>
          <p:nvPr/>
        </p:nvSpPr>
        <p:spPr>
          <a:xfrm>
            <a:off x="4343400" y="3566160"/>
            <a:ext cx="3383280" cy="1097280"/>
          </a:xfrm>
          <a:prstGeom prst="rect">
            <a:avLst/>
          </a:prstGeom>
          <a:noFill/>
          <a:ln/>
        </p:spPr>
        <p:txBody>
          <a:bodyPr wrap="square" lIns="0" tIns="0" rIns="0" bIns="0" rtlCol="0" anchor="t"/>
          <a:lstStyle/>
          <a:p>
            <a:pPr indent="0" marL="0">
              <a:buNone/>
            </a:pPr>
            <a:r>
              <a:rPr lang="en-US" sz="2000" b="1" dirty="0">
                <a:solidFill>
                  <a:schemeClr val="tx1"/>
                </a:solidFill>
              </a:rPr>
              <a:t>지표</a:t>
            </a:r>
            <a:endParaRPr lang="en-US" sz="1500" dirty="0"/>
          </a:p>
          <a:p>
            <a:pPr indent="0" marL="0">
              <a:buNone/>
            </a:pPr>
            <a:r>
              <a:rPr lang="en-US" sz="1500" dirty="0">
                <a:solidFill>
                  <a:schemeClr val="tx2"/>
                </a:solidFill>
              </a:rPr>
              <a:t>Primary 지표와 Guardrail 지표를 하나씩 정해 보세요</a:t>
            </a:r>
            <a:endParaRPr lang="en-US" sz="1500" dirty="0"/>
          </a:p>
        </p:txBody>
      </p:sp>
      <p:sp>
        <p:nvSpPr>
          <p:cNvPr id="11" name="Text 8"/>
          <p:cNvSpPr txBox="1"/>
          <p:nvPr/>
        </p:nvSpPr>
        <p:spPr>
          <a:xfrm>
            <a:off x="8046720" y="2926080"/>
            <a:ext cx="914400" cy="548640"/>
          </a:xfrm>
          <a:prstGeom prst="rect">
            <a:avLst/>
          </a:prstGeom>
          <a:noFill/>
          <a:ln/>
        </p:spPr>
        <p:txBody>
          <a:bodyPr wrap="square" lIns="0" tIns="0" rIns="0" bIns="0" rtlCol="0" anchor="t"/>
          <a:lstStyle/>
          <a:p>
            <a:pPr indent="0" marL="0">
              <a:buNone/>
            </a:pPr>
            <a:r>
              <a:rPr lang="en-US" sz="3000" b="1" dirty="0">
                <a:solidFill>
                  <a:schemeClr val="accent1"/>
                </a:solidFill>
              </a:rPr>
              <a:t>03</a:t>
            </a:r>
            <a:endParaRPr lang="en-US" sz="3000" dirty="0"/>
          </a:p>
        </p:txBody>
      </p:sp>
      <p:sp>
        <p:nvSpPr>
          <p:cNvPr id="12" name="Text 9"/>
          <p:cNvSpPr txBox="1"/>
          <p:nvPr/>
        </p:nvSpPr>
        <p:spPr>
          <a:xfrm>
            <a:off x="8046720" y="3566160"/>
            <a:ext cx="3383280" cy="1097280"/>
          </a:xfrm>
          <a:prstGeom prst="rect">
            <a:avLst/>
          </a:prstGeom>
          <a:noFill/>
          <a:ln/>
        </p:spPr>
        <p:txBody>
          <a:bodyPr wrap="square" lIns="0" tIns="0" rIns="0" bIns="0" rtlCol="0" anchor="t"/>
          <a:lstStyle/>
          <a:p>
            <a:pPr indent="0" marL="0">
              <a:buNone/>
            </a:pPr>
            <a:r>
              <a:rPr lang="en-US" sz="2000" b="1" dirty="0">
                <a:solidFill>
                  <a:schemeClr val="tx1"/>
                </a:solidFill>
              </a:rPr>
              <a:t>실험 단위</a:t>
            </a:r>
            <a:endParaRPr lang="en-US" sz="1500" dirty="0"/>
          </a:p>
          <a:p>
            <a:pPr indent="0" marL="0">
              <a:buNone/>
            </a:pPr>
            <a:r>
              <a:rPr lang="en-US" sz="1500" dirty="0">
                <a:solidFill>
                  <a:schemeClr val="tx2"/>
                </a:solidFill>
              </a:rPr>
              <a:t>사용자 단위로 나누면 어떤 문제가 생길 수 있는지, 대안은 무엇인지 써 보세요</a:t>
            </a:r>
            <a:endParaRPr lang="en-US" sz="150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ph idx="100" type="body" hasCustomPrompt="1"/>
          </p:nvPr>
        </p:nvSpPr>
        <p:spPr>
          <a:xfrm>
            <a:off x="640080" y="411480"/>
            <a:ext cx="7315200" cy="320040"/>
          </a:xfrm>
          <a:prstGeom prst="rect">
            <a:avLst/>
          </a:prstGeom>
          <a:noFill/>
          <a:ln/>
        </p:spPr>
        <p:txBody>
          <a:bodyPr wrap="square" lIns="0" tIns="0" rIns="0" bIns="0" rtlCol="0" anchor="t"/>
          <a:lstStyle/>
          <a:p>
            <a:pPr algn="l" indent="0" marL="0">
              <a:buNone/>
            </a:pPr>
            <a:r>
              <a:rPr lang="en-US" sz="1500" b="1" dirty="0">
                <a:solidFill>
                  <a:srgbClr val="3A5BFF"/>
                </a:solidFill>
              </a:rPr>
              <a:t>참고자료 · 42개 고유 링크</a:t>
            </a:r>
            <a:endParaRPr lang="en-US" sz="1500" dirty="0"/>
          </a:p>
        </p:txBody>
      </p:sp>
      <p:sp>
        <p:nvSpPr>
          <p:cNvPr id="3" name="Text 0"/>
          <p:cNvSpPr/>
          <p:nvPr>
            <p:ph idx="101" type="title" hasCustomPrompt="1"/>
          </p:nvPr>
        </p:nvSpPr>
        <p:spPr>
          <a:xfrm>
            <a:off x="640080" y="749808"/>
            <a:ext cx="10911535" cy="777240"/>
          </a:xfrm>
          <a:prstGeom prst="rect">
            <a:avLst/>
          </a:prstGeom>
          <a:noFill/>
          <a:ln/>
        </p:spPr>
        <p:txBody>
          <a:bodyPr wrap="square" lIns="0" tIns="0" rIns="0" bIns="0" rtlCol="0" anchor="t"/>
          <a:lstStyle/>
          <a:p>
            <a:pPr algn="l" indent="0" marL="0">
              <a:buNone/>
            </a:pPr>
            <a:r>
              <a:rPr lang="en-US" sz="2000" b="1" dirty="0">
                <a:solidFill>
                  <a:srgbClr val="1B1F3B"/>
                </a:solidFill>
              </a:rPr>
              <a:t>Reference</a:t>
            </a:r>
            <a:endParaRPr lang="en-US" sz="2000" dirty="0"/>
          </a:p>
        </p:txBody>
      </p:sp>
      <p:sp>
        <p:nvSpPr>
          <p:cNvPr id="5" name="Text 2">
            <a:hlinkClick r:id="rId1" tooltip=""/>
          </p:cNvPr>
          <p:cNvSpPr txBox="1"/>
          <p:nvPr/>
        </p:nvSpPr>
        <p:spPr>
          <a:xfrm>
            <a:off x="640080" y="1627632"/>
            <a:ext cx="2578608" cy="274320"/>
          </a:xfrm>
          <a:prstGeom prst="rect">
            <a:avLst/>
          </a:prstGeom>
          <a:noFill/>
          <a:ln/>
        </p:spPr>
        <p:txBody>
          <a:bodyPr wrap="square" lIns="0" tIns="0" rIns="0" bIns="0" rtlCol="0" anchor="t">
            <a:normAutofit/>
          </a:bodyPr>
          <a:lstStyle/>
          <a:p>
            <a:pPr indent="0" marL="0">
              <a:buNone/>
            </a:pPr>
            <a:r>
              <a:rPr lang="en-US" sz="850" b="1" u="sng" dirty="0">
                <a:solidFill>
                  <a:schemeClr val="accent1"/>
                </a:solidFill>
                <a:hlinkClick r:id="rId1" invalidUrl="" action="" tgtFrame="" tooltip="" history="1" highlightClick="0" endSnd="0">
                  <a:extLst>
                    <a:ext uri="{A12FA001-AC4F-418D-AE19-62706E023703}">
                      <ahyp:hlinkClr xmlns:ahyp="http://schemas.microsoft.com/office/drawing/2018/hyperlinkcolor" val="tx"/>
                    </a:ext>
                  </a:extLst>
                </a:hlinkClick>
              </a:rPr>
              <a:t>Oracle: A/B Testing</a:t>
            </a:r>
            <a:endParaRPr lang="en-US" sz="850" dirty="0"/>
          </a:p>
        </p:txBody>
      </p:sp>
      <p:sp>
        <p:nvSpPr>
          <p:cNvPr id="6" name="Text 3">
            <a:hlinkClick r:id="rId2" tooltip=""/>
          </p:cNvPr>
          <p:cNvSpPr txBox="1"/>
          <p:nvPr/>
        </p:nvSpPr>
        <p:spPr>
          <a:xfrm>
            <a:off x="640080" y="2020824"/>
            <a:ext cx="2578608" cy="274320"/>
          </a:xfrm>
          <a:prstGeom prst="rect">
            <a:avLst/>
          </a:prstGeom>
          <a:noFill/>
          <a:ln/>
        </p:spPr>
        <p:txBody>
          <a:bodyPr wrap="square" lIns="0" tIns="0" rIns="0" bIns="0" rtlCol="0" anchor="t">
            <a:normAutofit/>
          </a:bodyPr>
          <a:lstStyle/>
          <a:p>
            <a:pPr indent="0" marL="0">
              <a:buNone/>
            </a:pPr>
            <a:r>
              <a:rPr lang="en-US" sz="850" b="1" u="sng" dirty="0">
                <a:solidFill>
                  <a:schemeClr val="accent1"/>
                </a:solidFill>
                <a:hlinkClick r:id="rId2" invalidUrl="" action="" tgtFrame="" tooltip="" history="1" highlightClick="0" endSnd="0">
                  <a:extLst>
                    <a:ext uri="{A12FA001-AC4F-418D-AE19-62706E023703}">
                      <ahyp:hlinkClr xmlns:ahyp="http://schemas.microsoft.com/office/drawing/2018/hyperlinkcolor" val="tx"/>
                    </a:ext>
                  </a:extLst>
                </a:hlinkClick>
              </a:rPr>
              <a:t>Datarian: Experiment Bible</a:t>
            </a:r>
            <a:endParaRPr lang="en-US" sz="850" dirty="0"/>
          </a:p>
        </p:txBody>
      </p:sp>
      <p:sp>
        <p:nvSpPr>
          <p:cNvPr id="7" name="Text 4">
            <a:hlinkClick r:id="rId3" tooltip=""/>
          </p:cNvPr>
          <p:cNvSpPr txBox="1"/>
          <p:nvPr/>
        </p:nvSpPr>
        <p:spPr>
          <a:xfrm>
            <a:off x="640080" y="2414016"/>
            <a:ext cx="2578608" cy="274320"/>
          </a:xfrm>
          <a:prstGeom prst="rect">
            <a:avLst/>
          </a:prstGeom>
          <a:noFill/>
          <a:ln/>
        </p:spPr>
        <p:txBody>
          <a:bodyPr wrap="square" lIns="0" tIns="0" rIns="0" bIns="0" rtlCol="0" anchor="t">
            <a:normAutofit/>
          </a:bodyPr>
          <a:lstStyle/>
          <a:p>
            <a:pPr indent="0" marL="0">
              <a:buNone/>
            </a:pPr>
            <a:r>
              <a:rPr lang="en-US" sz="850" b="1" u="sng" dirty="0">
                <a:solidFill>
                  <a:schemeClr val="accent1"/>
                </a:solidFill>
                <a:hlinkClick r:id="rId3" invalidUrl="" action="" tgtFrame="" tooltip="" history="1" highlightClick="0" endSnd="0">
                  <a:extLst>
                    <a:ext uri="{A12FA001-AC4F-418D-AE19-62706E023703}">
                      <ahyp:hlinkClr xmlns:ahyp="http://schemas.microsoft.com/office/drawing/2018/hyperlinkcolor" val="tx"/>
                    </a:ext>
                  </a:extLst>
                </a:hlinkClick>
              </a:rPr>
              <a:t>OCE Case Studies</a:t>
            </a:r>
            <a:endParaRPr lang="en-US" sz="850" dirty="0"/>
          </a:p>
        </p:txBody>
      </p:sp>
      <p:sp>
        <p:nvSpPr>
          <p:cNvPr id="8" name="Text 5">
            <a:hlinkClick r:id="rId4" tooltip=""/>
          </p:cNvPr>
          <p:cNvSpPr txBox="1"/>
          <p:nvPr/>
        </p:nvSpPr>
        <p:spPr>
          <a:xfrm>
            <a:off x="640080" y="2807208"/>
            <a:ext cx="2578608" cy="274320"/>
          </a:xfrm>
          <a:prstGeom prst="rect">
            <a:avLst/>
          </a:prstGeom>
          <a:noFill/>
          <a:ln/>
        </p:spPr>
        <p:txBody>
          <a:bodyPr wrap="square" lIns="0" tIns="0" rIns="0" bIns="0" rtlCol="0" anchor="t">
            <a:normAutofit/>
          </a:bodyPr>
          <a:lstStyle/>
          <a:p>
            <a:pPr indent="0" marL="0">
              <a:buNone/>
            </a:pPr>
            <a:r>
              <a:rPr lang="en-US" sz="850" b="1" u="sng" dirty="0">
                <a:solidFill>
                  <a:schemeClr val="accent1"/>
                </a:solidFill>
                <a:hlinkClick r:id="rId4" invalidUrl="" action="" tgtFrame="" tooltip="" history="1" highlightClick="0" endSnd="0">
                  <a:extLst>
                    <a:ext uri="{A12FA001-AC4F-418D-AE19-62706E023703}">
                      <ahyp:hlinkClr xmlns:ahyp="http://schemas.microsoft.com/office/drawing/2018/hyperlinkcolor" val="tx"/>
                    </a:ext>
                  </a:extLst>
                </a:hlinkClick>
              </a:rPr>
              <a:t>Hypothesis Testing</a:t>
            </a:r>
            <a:endParaRPr lang="en-US" sz="850" dirty="0"/>
          </a:p>
        </p:txBody>
      </p:sp>
      <p:sp>
        <p:nvSpPr>
          <p:cNvPr id="9" name="Text 6">
            <a:hlinkClick r:id="rId5" tooltip=""/>
          </p:cNvPr>
          <p:cNvSpPr txBox="1"/>
          <p:nvPr/>
        </p:nvSpPr>
        <p:spPr>
          <a:xfrm>
            <a:off x="640080" y="3200400"/>
            <a:ext cx="2578608" cy="274320"/>
          </a:xfrm>
          <a:prstGeom prst="rect">
            <a:avLst/>
          </a:prstGeom>
          <a:noFill/>
          <a:ln/>
        </p:spPr>
        <p:txBody>
          <a:bodyPr wrap="square" lIns="0" tIns="0" rIns="0" bIns="0" rtlCol="0" anchor="t">
            <a:normAutofit/>
          </a:bodyPr>
          <a:lstStyle/>
          <a:p>
            <a:pPr indent="0" marL="0">
              <a:buNone/>
            </a:pPr>
            <a:r>
              <a:rPr lang="en-US" sz="850" b="1" u="sng" dirty="0">
                <a:solidFill>
                  <a:schemeClr val="accent1"/>
                </a:solidFill>
                <a:hlinkClick r:id="rId5" invalidUrl="" action="" tgtFrame="" tooltip="" history="1" highlightClick="0" endSnd="0">
                  <a:extLst>
                    <a:ext uri="{A12FA001-AC4F-418D-AE19-62706E023703}">
                      <ahyp:hlinkClr xmlns:ahyp="http://schemas.microsoft.com/office/drawing/2018/hyperlinkcolor" val="tx"/>
                    </a:ext>
                  </a:extLst>
                </a:hlinkClick>
              </a:rPr>
              <a:t>WikiDocs: A/B Guide</a:t>
            </a:r>
            <a:endParaRPr lang="en-US" sz="850" dirty="0"/>
          </a:p>
        </p:txBody>
      </p:sp>
      <p:sp>
        <p:nvSpPr>
          <p:cNvPr id="10" name="Text 7">
            <a:hlinkClick r:id="rId6" tooltip=""/>
          </p:cNvPr>
          <p:cNvSpPr txBox="1"/>
          <p:nvPr/>
        </p:nvSpPr>
        <p:spPr>
          <a:xfrm>
            <a:off x="640080" y="3593592"/>
            <a:ext cx="2578608" cy="274320"/>
          </a:xfrm>
          <a:prstGeom prst="rect">
            <a:avLst/>
          </a:prstGeom>
          <a:noFill/>
          <a:ln/>
        </p:spPr>
        <p:txBody>
          <a:bodyPr wrap="square" lIns="0" tIns="0" rIns="0" bIns="0" rtlCol="0" anchor="t">
            <a:normAutofit/>
          </a:bodyPr>
          <a:lstStyle/>
          <a:p>
            <a:pPr indent="0" marL="0">
              <a:buNone/>
            </a:pPr>
            <a:r>
              <a:rPr lang="en-US" sz="850" b="1" u="sng" dirty="0">
                <a:solidFill>
                  <a:schemeClr val="accent1"/>
                </a:solidFill>
                <a:hlinkClick r:id="rId6" invalidUrl="" action="" tgtFrame="" tooltip="" history="1" highlightClick="0" endSnd="0">
                  <a:extLst>
                    <a:ext uri="{A12FA001-AC4F-418D-AE19-62706E023703}">
                      <ahyp:hlinkClr xmlns:ahyp="http://schemas.microsoft.com/office/drawing/2018/hyperlinkcolor" val="tx"/>
                    </a:ext>
                  </a:extLst>
                </a:hlinkClick>
              </a:rPr>
              <a:t>Growth Culture</a:t>
            </a:r>
            <a:endParaRPr lang="en-US" sz="850" dirty="0"/>
          </a:p>
        </p:txBody>
      </p:sp>
      <p:sp>
        <p:nvSpPr>
          <p:cNvPr id="11" name="Text 8">
            <a:hlinkClick r:id="rId7" tooltip=""/>
          </p:cNvPr>
          <p:cNvSpPr txBox="1"/>
          <p:nvPr/>
        </p:nvSpPr>
        <p:spPr>
          <a:xfrm>
            <a:off x="640080" y="3986784"/>
            <a:ext cx="2578608" cy="274320"/>
          </a:xfrm>
          <a:prstGeom prst="rect">
            <a:avLst/>
          </a:prstGeom>
          <a:noFill/>
          <a:ln/>
        </p:spPr>
        <p:txBody>
          <a:bodyPr wrap="square" lIns="0" tIns="0" rIns="0" bIns="0" rtlCol="0" anchor="t">
            <a:normAutofit/>
          </a:bodyPr>
          <a:lstStyle/>
          <a:p>
            <a:pPr indent="0" marL="0">
              <a:buNone/>
            </a:pPr>
            <a:r>
              <a:rPr lang="en-US" sz="850" b="1" u="sng" dirty="0">
                <a:solidFill>
                  <a:schemeClr val="accent1"/>
                </a:solidFill>
                <a:hlinkClick r:id="rId7" invalidUrl="" action="" tgtFrame="" tooltip="" history="1" highlightClick="0" endSnd="0">
                  <a:extLst>
                    <a:ext uri="{A12FA001-AC4F-418D-AE19-62706E023703}">
                      <ahyp:hlinkClr xmlns:ahyp="http://schemas.microsoft.com/office/drawing/2018/hyperlinkcolor" val="tx"/>
                    </a:ext>
                  </a:extLst>
                </a:hlinkClick>
              </a:rPr>
              <a:t>Problem Definition</a:t>
            </a:r>
            <a:endParaRPr lang="en-US" sz="850" dirty="0"/>
          </a:p>
        </p:txBody>
      </p:sp>
      <p:sp>
        <p:nvSpPr>
          <p:cNvPr id="12" name="Text 9">
            <a:hlinkClick r:id="rId8" tooltip=""/>
          </p:cNvPr>
          <p:cNvSpPr txBox="1"/>
          <p:nvPr/>
        </p:nvSpPr>
        <p:spPr>
          <a:xfrm>
            <a:off x="640080" y="4379976"/>
            <a:ext cx="2578608" cy="274320"/>
          </a:xfrm>
          <a:prstGeom prst="rect">
            <a:avLst/>
          </a:prstGeom>
          <a:noFill/>
          <a:ln/>
        </p:spPr>
        <p:txBody>
          <a:bodyPr wrap="square" lIns="0" tIns="0" rIns="0" bIns="0" rtlCol="0" anchor="t">
            <a:normAutofit/>
          </a:bodyPr>
          <a:lstStyle/>
          <a:p>
            <a:pPr indent="0" marL="0">
              <a:buNone/>
            </a:pPr>
            <a:r>
              <a:rPr lang="en-US" sz="850" b="1" u="sng" dirty="0">
                <a:solidFill>
                  <a:schemeClr val="accent1"/>
                </a:solidFill>
                <a:hlinkClick r:id="rId8" invalidUrl="" action="" tgtFrame="" tooltip="" history="1" highlightClick="0" endSnd="0">
                  <a:extLst>
                    <a:ext uri="{A12FA001-AC4F-418D-AE19-62706E023703}">
                      <ahyp:hlinkClr xmlns:ahyp="http://schemas.microsoft.com/office/drawing/2018/hyperlinkcolor" val="tx"/>
                    </a:ext>
                  </a:extLst>
                </a:hlinkClick>
              </a:rPr>
              <a:t>Null vs Alternative</a:t>
            </a:r>
            <a:endParaRPr lang="en-US" sz="850" dirty="0"/>
          </a:p>
        </p:txBody>
      </p:sp>
      <p:sp>
        <p:nvSpPr>
          <p:cNvPr id="13" name="Text 10">
            <a:hlinkClick r:id="rId9" tooltip=""/>
          </p:cNvPr>
          <p:cNvSpPr txBox="1"/>
          <p:nvPr/>
        </p:nvSpPr>
        <p:spPr>
          <a:xfrm>
            <a:off x="640080" y="4773168"/>
            <a:ext cx="2578608" cy="274320"/>
          </a:xfrm>
          <a:prstGeom prst="rect">
            <a:avLst/>
          </a:prstGeom>
          <a:noFill/>
          <a:ln/>
        </p:spPr>
        <p:txBody>
          <a:bodyPr wrap="square" lIns="0" tIns="0" rIns="0" bIns="0" rtlCol="0" anchor="t">
            <a:normAutofit/>
          </a:bodyPr>
          <a:lstStyle/>
          <a:p>
            <a:pPr indent="0" marL="0">
              <a:buNone/>
            </a:pPr>
            <a:r>
              <a:rPr lang="en-US" sz="850" b="1" u="sng" dirty="0">
                <a:solidFill>
                  <a:schemeClr val="accent1"/>
                </a:solidFill>
                <a:hlinkClick r:id="rId9" invalidUrl="" action="" tgtFrame="" tooltip="" history="1" highlightClick="0" endSnd="0">
                  <a:extLst>
                    <a:ext uri="{A12FA001-AC4F-418D-AE19-62706E023703}">
                      <ahyp:hlinkClr xmlns:ahyp="http://schemas.microsoft.com/office/drawing/2018/hyperlinkcolor" val="tx"/>
                    </a:ext>
                  </a:extLst>
                </a:hlinkClick>
              </a:rPr>
              <a:t>One vs Two Tailed</a:t>
            </a:r>
            <a:endParaRPr lang="en-US" sz="850" dirty="0"/>
          </a:p>
        </p:txBody>
      </p:sp>
      <p:sp>
        <p:nvSpPr>
          <p:cNvPr id="14" name="Text 11">
            <a:hlinkClick r:id="rId10" tooltip=""/>
          </p:cNvPr>
          <p:cNvSpPr txBox="1"/>
          <p:nvPr/>
        </p:nvSpPr>
        <p:spPr>
          <a:xfrm>
            <a:off x="640080" y="5166360"/>
            <a:ext cx="2578608" cy="274320"/>
          </a:xfrm>
          <a:prstGeom prst="rect">
            <a:avLst/>
          </a:prstGeom>
          <a:noFill/>
          <a:ln/>
        </p:spPr>
        <p:txBody>
          <a:bodyPr wrap="square" lIns="0" tIns="0" rIns="0" bIns="0" rtlCol="0" anchor="t">
            <a:normAutofit/>
          </a:bodyPr>
          <a:lstStyle/>
          <a:p>
            <a:pPr indent="0" marL="0">
              <a:buNone/>
            </a:pPr>
            <a:r>
              <a:rPr lang="en-US" sz="850" b="1" u="sng" dirty="0">
                <a:solidFill>
                  <a:schemeClr val="accent1"/>
                </a:solidFill>
                <a:hlinkClick r:id="rId10" invalidUrl="" action="" tgtFrame="" tooltip="" history="1" highlightClick="0" endSnd="0">
                  <a:extLst>
                    <a:ext uri="{A12FA001-AC4F-418D-AE19-62706E023703}">
                      <ahyp:hlinkClr xmlns:ahyp="http://schemas.microsoft.com/office/drawing/2018/hyperlinkcolor" val="tx"/>
                    </a:ext>
                  </a:extLst>
                </a:hlinkClick>
              </a:rPr>
              <a:t>OEC / KPI / Driver</a:t>
            </a:r>
            <a:endParaRPr lang="en-US" sz="850" dirty="0"/>
          </a:p>
        </p:txBody>
      </p:sp>
      <p:sp>
        <p:nvSpPr>
          <p:cNvPr id="15" name="Text 12">
            <a:hlinkClick r:id="rId11" tooltip=""/>
          </p:cNvPr>
          <p:cNvSpPr txBox="1"/>
          <p:nvPr/>
        </p:nvSpPr>
        <p:spPr>
          <a:xfrm>
            <a:off x="640080" y="5559552"/>
            <a:ext cx="2578608" cy="274320"/>
          </a:xfrm>
          <a:prstGeom prst="rect">
            <a:avLst/>
          </a:prstGeom>
          <a:noFill/>
          <a:ln/>
        </p:spPr>
        <p:txBody>
          <a:bodyPr wrap="square" lIns="0" tIns="0" rIns="0" bIns="0" rtlCol="0" anchor="t">
            <a:normAutofit/>
          </a:bodyPr>
          <a:lstStyle/>
          <a:p>
            <a:pPr indent="0" marL="0">
              <a:buNone/>
            </a:pPr>
            <a:r>
              <a:rPr lang="en-US" sz="850" b="1" u="sng" dirty="0">
                <a:solidFill>
                  <a:schemeClr val="accent1"/>
                </a:solidFill>
                <a:hlinkClick r:id="rId11" invalidUrl="" action="" tgtFrame="" tooltip="" history="1" highlightClick="0" endSnd="0">
                  <a:extLst>
                    <a:ext uri="{A12FA001-AC4F-418D-AE19-62706E023703}">
                      <ahyp:hlinkClr xmlns:ahyp="http://schemas.microsoft.com/office/drawing/2018/hyperlinkcolor" val="tx"/>
                    </a:ext>
                  </a:extLst>
                </a:hlinkClick>
              </a:rPr>
              <a:t>Metric Selection</a:t>
            </a:r>
            <a:endParaRPr lang="en-US" sz="850" dirty="0"/>
          </a:p>
        </p:txBody>
      </p:sp>
      <p:sp>
        <p:nvSpPr>
          <p:cNvPr id="16" name="Text 13">
            <a:hlinkClick r:id="rId12" tooltip=""/>
          </p:cNvPr>
          <p:cNvSpPr txBox="1"/>
          <p:nvPr/>
        </p:nvSpPr>
        <p:spPr>
          <a:xfrm>
            <a:off x="3401568" y="1627632"/>
            <a:ext cx="2578608" cy="274320"/>
          </a:xfrm>
          <a:prstGeom prst="rect">
            <a:avLst/>
          </a:prstGeom>
          <a:noFill/>
          <a:ln/>
        </p:spPr>
        <p:txBody>
          <a:bodyPr wrap="square" lIns="0" tIns="0" rIns="0" bIns="0" rtlCol="0" anchor="t">
            <a:normAutofit/>
          </a:bodyPr>
          <a:lstStyle/>
          <a:p>
            <a:pPr indent="0" marL="0">
              <a:buNone/>
            </a:pPr>
            <a:r>
              <a:rPr lang="en-US" sz="850" b="1" u="sng" dirty="0">
                <a:solidFill>
                  <a:schemeClr val="accent1"/>
                </a:solidFill>
                <a:hlinkClick r:id="rId12" invalidUrl="" action="" tgtFrame="" tooltip="" history="1" highlightClick="0" endSnd="0">
                  <a:extLst>
                    <a:ext uri="{A12FA001-AC4F-418D-AE19-62706E023703}">
                      <ahyp:hlinkClr xmlns:ahyp="http://schemas.microsoft.com/office/drawing/2018/hyperlinkcolor" val="tx"/>
                    </a:ext>
                  </a:extLst>
                </a:hlinkClick>
              </a:rPr>
              <a:t>Ably: Product Metrics</a:t>
            </a:r>
            <a:endParaRPr lang="en-US" sz="850" dirty="0"/>
          </a:p>
        </p:txBody>
      </p:sp>
      <p:sp>
        <p:nvSpPr>
          <p:cNvPr id="17" name="Text 14">
            <a:hlinkClick r:id="rId13" tooltip=""/>
          </p:cNvPr>
          <p:cNvSpPr txBox="1"/>
          <p:nvPr/>
        </p:nvSpPr>
        <p:spPr>
          <a:xfrm>
            <a:off x="3401568" y="2020824"/>
            <a:ext cx="2578608" cy="274320"/>
          </a:xfrm>
          <a:prstGeom prst="rect">
            <a:avLst/>
          </a:prstGeom>
          <a:noFill/>
          <a:ln/>
        </p:spPr>
        <p:txBody>
          <a:bodyPr wrap="square" lIns="0" tIns="0" rIns="0" bIns="0" rtlCol="0" anchor="t">
            <a:normAutofit/>
          </a:bodyPr>
          <a:lstStyle/>
          <a:p>
            <a:pPr indent="0" marL="0">
              <a:buNone/>
            </a:pPr>
            <a:r>
              <a:rPr lang="en-US" sz="850" b="1" u="sng" dirty="0">
                <a:solidFill>
                  <a:schemeClr val="accent1"/>
                </a:solidFill>
                <a:hlinkClick r:id="rId13" invalidUrl="" action="" tgtFrame="" tooltip="" history="1" highlightClick="0" endSnd="0">
                  <a:extLst>
                    <a:ext uri="{A12FA001-AC4F-418D-AE19-62706E023703}">
                      <ahyp:hlinkClr xmlns:ahyp="http://schemas.microsoft.com/office/drawing/2018/hyperlinkcolor" val="tx"/>
                    </a:ext>
                  </a:extLst>
                </a:hlinkClick>
              </a:rPr>
              <a:t>OEC Design</a:t>
            </a:r>
            <a:endParaRPr lang="en-US" sz="850" dirty="0"/>
          </a:p>
        </p:txBody>
      </p:sp>
      <p:sp>
        <p:nvSpPr>
          <p:cNvPr id="18" name="Text 15">
            <a:hlinkClick r:id="rId14" tooltip=""/>
          </p:cNvPr>
          <p:cNvSpPr txBox="1"/>
          <p:nvPr/>
        </p:nvSpPr>
        <p:spPr>
          <a:xfrm>
            <a:off x="3401568" y="2414016"/>
            <a:ext cx="2578608" cy="274320"/>
          </a:xfrm>
          <a:prstGeom prst="rect">
            <a:avLst/>
          </a:prstGeom>
          <a:noFill/>
          <a:ln/>
        </p:spPr>
        <p:txBody>
          <a:bodyPr wrap="square" lIns="0" tIns="0" rIns="0" bIns="0" rtlCol="0" anchor="t">
            <a:normAutofit/>
          </a:bodyPr>
          <a:lstStyle/>
          <a:p>
            <a:pPr indent="0" marL="0">
              <a:buNone/>
            </a:pPr>
            <a:r>
              <a:rPr lang="en-US" sz="850" b="1" u="sng" dirty="0">
                <a:solidFill>
                  <a:schemeClr val="accent1"/>
                </a:solidFill>
                <a:hlinkClick r:id="rId14" invalidUrl="" action="" tgtFrame="" tooltip="" history="1" highlightClick="0" endSnd="0">
                  <a:extLst>
                    <a:ext uri="{A12FA001-AC4F-418D-AE19-62706E023703}">
                      <ahyp:hlinkClr xmlns:ahyp="http://schemas.microsoft.com/office/drawing/2018/hyperlinkcolor" val="tx"/>
                    </a:ext>
                  </a:extLst>
                </a:hlinkClick>
              </a:rPr>
              <a:t>A/B Data Quality</a:t>
            </a:r>
            <a:endParaRPr lang="en-US" sz="850" dirty="0"/>
          </a:p>
        </p:txBody>
      </p:sp>
      <p:sp>
        <p:nvSpPr>
          <p:cNvPr id="19" name="Text 16">
            <a:hlinkClick r:id="rId15" tooltip=""/>
          </p:cNvPr>
          <p:cNvSpPr txBox="1"/>
          <p:nvPr/>
        </p:nvSpPr>
        <p:spPr>
          <a:xfrm>
            <a:off x="3401568" y="2807208"/>
            <a:ext cx="2578608" cy="274320"/>
          </a:xfrm>
          <a:prstGeom prst="rect">
            <a:avLst/>
          </a:prstGeom>
          <a:noFill/>
          <a:ln/>
        </p:spPr>
        <p:txBody>
          <a:bodyPr wrap="square" lIns="0" tIns="0" rIns="0" bIns="0" rtlCol="0" anchor="t">
            <a:normAutofit/>
          </a:bodyPr>
          <a:lstStyle/>
          <a:p>
            <a:pPr indent="0" marL="0">
              <a:buNone/>
            </a:pPr>
            <a:r>
              <a:rPr lang="en-US" sz="850" b="1" u="sng" dirty="0">
                <a:solidFill>
                  <a:schemeClr val="accent1"/>
                </a:solidFill>
                <a:hlinkClick r:id="rId15" invalidUrl="" action="" tgtFrame="" tooltip="" history="1" highlightClick="0" endSnd="0">
                  <a:extLst>
                    <a:ext uri="{A12FA001-AC4F-418D-AE19-62706E023703}">
                      <ahyp:hlinkClr xmlns:ahyp="http://schemas.microsoft.com/office/drawing/2018/hyperlinkcolor" val="tx"/>
                    </a:ext>
                  </a:extLst>
                </a:hlinkClick>
              </a:rPr>
              <a:t>Hackle: User ID</a:t>
            </a:r>
            <a:endParaRPr lang="en-US" sz="850" dirty="0"/>
          </a:p>
        </p:txBody>
      </p:sp>
      <p:sp>
        <p:nvSpPr>
          <p:cNvPr id="20" name="Text 17">
            <a:hlinkClick r:id="rId16" tooltip=""/>
          </p:cNvPr>
          <p:cNvSpPr txBox="1"/>
          <p:nvPr/>
        </p:nvSpPr>
        <p:spPr>
          <a:xfrm>
            <a:off x="3401568" y="3200400"/>
            <a:ext cx="2578608" cy="274320"/>
          </a:xfrm>
          <a:prstGeom prst="rect">
            <a:avLst/>
          </a:prstGeom>
          <a:noFill/>
          <a:ln/>
        </p:spPr>
        <p:txBody>
          <a:bodyPr wrap="square" lIns="0" tIns="0" rIns="0" bIns="0" rtlCol="0" anchor="t">
            <a:normAutofit/>
          </a:bodyPr>
          <a:lstStyle/>
          <a:p>
            <a:pPr indent="0" marL="0">
              <a:buNone/>
            </a:pPr>
            <a:r>
              <a:rPr lang="en-US" sz="850" b="1" u="sng" dirty="0">
                <a:solidFill>
                  <a:schemeClr val="accent1"/>
                </a:solidFill>
                <a:hlinkClick r:id="rId16" invalidUrl="" action="" tgtFrame="" tooltip="" history="1" highlightClick="0" endSnd="0">
                  <a:extLst>
                    <a:ext uri="{A12FA001-AC4F-418D-AE19-62706E023703}">
                      <ahyp:hlinkClr xmlns:ahyp="http://schemas.microsoft.com/office/drawing/2018/hyperlinkcolor" val="tx"/>
                    </a:ext>
                  </a:extLst>
                </a:hlinkClick>
              </a:rPr>
              <a:t>Conversion Unit</a:t>
            </a:r>
            <a:endParaRPr lang="en-US" sz="850" dirty="0"/>
          </a:p>
        </p:txBody>
      </p:sp>
      <p:sp>
        <p:nvSpPr>
          <p:cNvPr id="21" name="Text 18">
            <a:hlinkClick r:id="rId17" tooltip=""/>
          </p:cNvPr>
          <p:cNvSpPr txBox="1"/>
          <p:nvPr/>
        </p:nvSpPr>
        <p:spPr>
          <a:xfrm>
            <a:off x="3401568" y="3593592"/>
            <a:ext cx="2578608" cy="274320"/>
          </a:xfrm>
          <a:prstGeom prst="rect">
            <a:avLst/>
          </a:prstGeom>
          <a:noFill/>
          <a:ln/>
        </p:spPr>
        <p:txBody>
          <a:bodyPr wrap="square" lIns="0" tIns="0" rIns="0" bIns="0" rtlCol="0" anchor="t">
            <a:normAutofit/>
          </a:bodyPr>
          <a:lstStyle/>
          <a:p>
            <a:pPr indent="0" marL="0">
              <a:buNone/>
            </a:pPr>
            <a:r>
              <a:rPr lang="en-US" sz="850" b="1" u="sng" dirty="0">
                <a:solidFill>
                  <a:schemeClr val="accent1"/>
                </a:solidFill>
                <a:hlinkClick r:id="rId17" invalidUrl="" action="" tgtFrame="" tooltip="" history="1" highlightClick="0" endSnd="0">
                  <a:extLst>
                    <a:ext uri="{A12FA001-AC4F-418D-AE19-62706E023703}">
                      <ahyp:hlinkClr xmlns:ahyp="http://schemas.microsoft.com/office/drawing/2018/hyperlinkcolor" val="tx"/>
                    </a:ext>
                  </a:extLst>
                </a:hlinkClick>
              </a:rPr>
              <a:t>Randomization Unit</a:t>
            </a:r>
            <a:endParaRPr lang="en-US" sz="850" dirty="0"/>
          </a:p>
        </p:txBody>
      </p:sp>
      <p:sp>
        <p:nvSpPr>
          <p:cNvPr id="22" name="Text 19">
            <a:hlinkClick r:id="rId18" tooltip=""/>
          </p:cNvPr>
          <p:cNvSpPr txBox="1"/>
          <p:nvPr/>
        </p:nvSpPr>
        <p:spPr>
          <a:xfrm>
            <a:off x="3401568" y="3986784"/>
            <a:ext cx="2578608" cy="274320"/>
          </a:xfrm>
          <a:prstGeom prst="rect">
            <a:avLst/>
          </a:prstGeom>
          <a:noFill/>
          <a:ln/>
        </p:spPr>
        <p:txBody>
          <a:bodyPr wrap="square" lIns="0" tIns="0" rIns="0" bIns="0" rtlCol="0" anchor="t">
            <a:normAutofit/>
          </a:bodyPr>
          <a:lstStyle/>
          <a:p>
            <a:pPr indent="0" marL="0">
              <a:buNone/>
            </a:pPr>
            <a:r>
              <a:rPr lang="en-US" sz="850" b="1" u="sng" dirty="0">
                <a:solidFill>
                  <a:schemeClr val="accent1"/>
                </a:solidFill>
                <a:hlinkClick r:id="rId18" invalidUrl="" action="" tgtFrame="" tooltip="" history="1" highlightClick="0" endSnd="0">
                  <a:extLst>
                    <a:ext uri="{A12FA001-AC4F-418D-AE19-62706E023703}">
                      <ahyp:hlinkClr xmlns:ahyp="http://schemas.microsoft.com/office/drawing/2018/hyperlinkcolor" val="tx"/>
                    </a:ext>
                  </a:extLst>
                </a:hlinkClick>
              </a:rPr>
              <a:t>Sample Proportion</a:t>
            </a:r>
            <a:endParaRPr lang="en-US" sz="850" dirty="0"/>
          </a:p>
        </p:txBody>
      </p:sp>
      <p:sp>
        <p:nvSpPr>
          <p:cNvPr id="23" name="Text 20">
            <a:hlinkClick r:id="rId19" tooltip=""/>
          </p:cNvPr>
          <p:cNvSpPr txBox="1"/>
          <p:nvPr/>
        </p:nvSpPr>
        <p:spPr>
          <a:xfrm>
            <a:off x="3401568" y="4379976"/>
            <a:ext cx="2578608" cy="274320"/>
          </a:xfrm>
          <a:prstGeom prst="rect">
            <a:avLst/>
          </a:prstGeom>
          <a:noFill/>
          <a:ln/>
        </p:spPr>
        <p:txBody>
          <a:bodyPr wrap="square" lIns="0" tIns="0" rIns="0" bIns="0" rtlCol="0" anchor="t">
            <a:normAutofit/>
          </a:bodyPr>
          <a:lstStyle/>
          <a:p>
            <a:pPr indent="0" marL="0">
              <a:buNone/>
            </a:pPr>
            <a:r>
              <a:rPr lang="en-US" sz="850" b="1" u="sng" dirty="0">
                <a:solidFill>
                  <a:schemeClr val="accent1"/>
                </a:solidFill>
                <a:hlinkClick r:id="rId19" invalidUrl="" action="" tgtFrame="" tooltip="" history="1" highlightClick="0" endSnd="0">
                  <a:extLst>
                    <a:ext uri="{A12FA001-AC4F-418D-AE19-62706E023703}">
                      <ahyp:hlinkClr xmlns:ahyp="http://schemas.microsoft.com/office/drawing/2018/hyperlinkcolor" val="tx"/>
                    </a:ext>
                  </a:extLst>
                </a:hlinkClick>
              </a:rPr>
              <a:t>MDE Guide</a:t>
            </a:r>
            <a:endParaRPr lang="en-US" sz="850" dirty="0"/>
          </a:p>
        </p:txBody>
      </p:sp>
      <p:sp>
        <p:nvSpPr>
          <p:cNvPr id="24" name="Text 21">
            <a:hlinkClick r:id="rId20" tooltip=""/>
          </p:cNvPr>
          <p:cNvSpPr txBox="1"/>
          <p:nvPr/>
        </p:nvSpPr>
        <p:spPr>
          <a:xfrm>
            <a:off x="3401568" y="4773168"/>
            <a:ext cx="2578608" cy="274320"/>
          </a:xfrm>
          <a:prstGeom prst="rect">
            <a:avLst/>
          </a:prstGeom>
          <a:noFill/>
          <a:ln/>
        </p:spPr>
        <p:txBody>
          <a:bodyPr wrap="square" lIns="0" tIns="0" rIns="0" bIns="0" rtlCol="0" anchor="t">
            <a:normAutofit/>
          </a:bodyPr>
          <a:lstStyle/>
          <a:p>
            <a:pPr indent="0" marL="0">
              <a:buNone/>
            </a:pPr>
            <a:r>
              <a:rPr lang="en-US" sz="850" b="1" u="sng" dirty="0">
                <a:solidFill>
                  <a:schemeClr val="accent1"/>
                </a:solidFill>
                <a:hlinkClick r:id="rId20" invalidUrl="" action="" tgtFrame="" tooltip="" history="1" highlightClick="0" endSnd="0">
                  <a:extLst>
                    <a:ext uri="{A12FA001-AC4F-418D-AE19-62706E023703}">
                      <ahyp:hlinkClr xmlns:ahyp="http://schemas.microsoft.com/office/drawing/2018/hyperlinkcolor" val="tx"/>
                    </a:ext>
                  </a:extLst>
                </a:hlinkClick>
              </a:rPr>
              <a:t>GA: Cookie + Dimension</a:t>
            </a:r>
            <a:endParaRPr lang="en-US" sz="850" dirty="0"/>
          </a:p>
        </p:txBody>
      </p:sp>
      <p:sp>
        <p:nvSpPr>
          <p:cNvPr id="25" name="Text 22">
            <a:hlinkClick r:id="rId21" tooltip=""/>
          </p:cNvPr>
          <p:cNvSpPr txBox="1"/>
          <p:nvPr/>
        </p:nvSpPr>
        <p:spPr>
          <a:xfrm>
            <a:off x="3401568" y="5166360"/>
            <a:ext cx="2578608" cy="274320"/>
          </a:xfrm>
          <a:prstGeom prst="rect">
            <a:avLst/>
          </a:prstGeom>
          <a:noFill/>
          <a:ln/>
        </p:spPr>
        <p:txBody>
          <a:bodyPr wrap="square" lIns="0" tIns="0" rIns="0" bIns="0" rtlCol="0" anchor="t">
            <a:normAutofit/>
          </a:bodyPr>
          <a:lstStyle/>
          <a:p>
            <a:pPr indent="0" marL="0">
              <a:buNone/>
            </a:pPr>
            <a:r>
              <a:rPr lang="en-US" sz="850" b="1" u="sng" dirty="0">
                <a:solidFill>
                  <a:schemeClr val="accent1"/>
                </a:solidFill>
                <a:hlinkClick r:id="rId21" invalidUrl="" action="" tgtFrame="" tooltip="" history="1" highlightClick="0" endSnd="0">
                  <a:extLst>
                    <a:ext uri="{A12FA001-AC4F-418D-AE19-62706E023703}">
                      <ahyp:hlinkClr xmlns:ahyp="http://schemas.microsoft.com/office/drawing/2018/hyperlinkcolor" val="tx"/>
                    </a:ext>
                  </a:extLst>
                </a:hlinkClick>
              </a:rPr>
              <a:t>Wanted: A/B Basics</a:t>
            </a:r>
            <a:endParaRPr lang="en-US" sz="850" dirty="0"/>
          </a:p>
        </p:txBody>
      </p:sp>
      <p:sp>
        <p:nvSpPr>
          <p:cNvPr id="26" name="Text 23">
            <a:hlinkClick r:id="rId22" tooltip=""/>
          </p:cNvPr>
          <p:cNvSpPr txBox="1"/>
          <p:nvPr/>
        </p:nvSpPr>
        <p:spPr>
          <a:xfrm>
            <a:off x="3401568" y="5559552"/>
            <a:ext cx="2578608" cy="274320"/>
          </a:xfrm>
          <a:prstGeom prst="rect">
            <a:avLst/>
          </a:prstGeom>
          <a:noFill/>
          <a:ln/>
        </p:spPr>
        <p:txBody>
          <a:bodyPr wrap="square" lIns="0" tIns="0" rIns="0" bIns="0" rtlCol="0" anchor="t">
            <a:normAutofit/>
          </a:bodyPr>
          <a:lstStyle/>
          <a:p>
            <a:pPr indent="0" marL="0">
              <a:buNone/>
            </a:pPr>
            <a:r>
              <a:rPr lang="en-US" sz="850" b="1" u="sng" dirty="0">
                <a:solidFill>
                  <a:schemeClr val="accent1"/>
                </a:solidFill>
                <a:hlinkClick r:id="rId22" invalidUrl="" action="" tgtFrame="" tooltip="" history="1" highlightClick="0" endSnd="0">
                  <a:extLst>
                    <a:ext uri="{A12FA001-AC4F-418D-AE19-62706E023703}">
                      <ahyp:hlinkClr xmlns:ahyp="http://schemas.microsoft.com/office/drawing/2018/hyperlinkcolor" val="tx"/>
                    </a:ext>
                  </a:extLst>
                </a:hlinkClick>
              </a:rPr>
              <a:t>Hash Assignment</a:t>
            </a:r>
            <a:endParaRPr lang="en-US" sz="850" dirty="0"/>
          </a:p>
        </p:txBody>
      </p:sp>
      <p:sp>
        <p:nvSpPr>
          <p:cNvPr id="27" name="Text 24">
            <a:hlinkClick r:id="rId23" tooltip=""/>
          </p:cNvPr>
          <p:cNvSpPr txBox="1"/>
          <p:nvPr/>
        </p:nvSpPr>
        <p:spPr>
          <a:xfrm>
            <a:off x="6163056" y="1627632"/>
            <a:ext cx="2578608" cy="274320"/>
          </a:xfrm>
          <a:prstGeom prst="rect">
            <a:avLst/>
          </a:prstGeom>
          <a:noFill/>
          <a:ln/>
        </p:spPr>
        <p:txBody>
          <a:bodyPr wrap="square" lIns="0" tIns="0" rIns="0" bIns="0" rtlCol="0" anchor="t">
            <a:normAutofit/>
          </a:bodyPr>
          <a:lstStyle/>
          <a:p>
            <a:pPr indent="0" marL="0">
              <a:buNone/>
            </a:pPr>
            <a:r>
              <a:rPr lang="en-US" sz="850" b="1" u="sng" dirty="0">
                <a:solidFill>
                  <a:schemeClr val="accent1"/>
                </a:solidFill>
                <a:hlinkClick r:id="rId23" invalidUrl="" action="" tgtFrame="" tooltip="" history="1" highlightClick="0" endSnd="0">
                  <a:extLst>
                    <a:ext uri="{A12FA001-AC4F-418D-AE19-62706E023703}">
                      <ahyp:hlinkClr xmlns:ahyp="http://schemas.microsoft.com/office/drawing/2018/hyperlinkcolor" val="tx"/>
                    </a:ext>
                  </a:extLst>
                </a:hlinkClick>
              </a:rPr>
              <a:t>Experiment Guide</a:t>
            </a:r>
            <a:endParaRPr lang="en-US" sz="850" dirty="0"/>
          </a:p>
        </p:txBody>
      </p:sp>
      <p:sp>
        <p:nvSpPr>
          <p:cNvPr id="28" name="Text 25">
            <a:hlinkClick r:id="rId24" tooltip=""/>
          </p:cNvPr>
          <p:cNvSpPr txBox="1"/>
          <p:nvPr/>
        </p:nvSpPr>
        <p:spPr>
          <a:xfrm>
            <a:off x="6163056" y="2020824"/>
            <a:ext cx="2578608" cy="274320"/>
          </a:xfrm>
          <a:prstGeom prst="rect">
            <a:avLst/>
          </a:prstGeom>
          <a:noFill/>
          <a:ln/>
        </p:spPr>
        <p:txBody>
          <a:bodyPr wrap="square" lIns="0" tIns="0" rIns="0" bIns="0" rtlCol="0" anchor="t">
            <a:normAutofit/>
          </a:bodyPr>
          <a:lstStyle/>
          <a:p>
            <a:pPr indent="0" marL="0">
              <a:buNone/>
            </a:pPr>
            <a:r>
              <a:rPr lang="en-US" sz="850" b="1" u="sng" dirty="0">
                <a:solidFill>
                  <a:schemeClr val="accent1"/>
                </a:solidFill>
                <a:hlinkClick r:id="rId24" invalidUrl="" action="" tgtFrame="" tooltip="" history="1" highlightClick="0" endSnd="0">
                  <a:extLst>
                    <a:ext uri="{A12FA001-AC4F-418D-AE19-62706E023703}">
                      <ahyp:hlinkClr xmlns:ahyp="http://schemas.microsoft.com/office/drawing/2018/hyperlinkcolor" val="tx"/>
                    </a:ext>
                  </a:extLst>
                </a:hlinkClick>
              </a:rPr>
              <a:t>SUTVA &amp; Interference</a:t>
            </a:r>
            <a:endParaRPr lang="en-US" sz="850" dirty="0"/>
          </a:p>
        </p:txBody>
      </p:sp>
      <p:sp>
        <p:nvSpPr>
          <p:cNvPr id="29" name="Text 26">
            <a:hlinkClick r:id="rId25" tooltip=""/>
          </p:cNvPr>
          <p:cNvSpPr txBox="1"/>
          <p:nvPr/>
        </p:nvSpPr>
        <p:spPr>
          <a:xfrm>
            <a:off x="6163056" y="2414016"/>
            <a:ext cx="2578608" cy="274320"/>
          </a:xfrm>
          <a:prstGeom prst="rect">
            <a:avLst/>
          </a:prstGeom>
          <a:noFill/>
          <a:ln/>
        </p:spPr>
        <p:txBody>
          <a:bodyPr wrap="square" lIns="0" tIns="0" rIns="0" bIns="0" rtlCol="0" anchor="t">
            <a:normAutofit/>
          </a:bodyPr>
          <a:lstStyle/>
          <a:p>
            <a:pPr indent="0" marL="0">
              <a:buNone/>
            </a:pPr>
            <a:r>
              <a:rPr lang="en-US" sz="850" b="1" u="sng" dirty="0">
                <a:solidFill>
                  <a:schemeClr val="accent1"/>
                </a:solidFill>
                <a:hlinkClick r:id="rId25" invalidUrl="" action="" tgtFrame="" tooltip="" history="1" highlightClick="0" endSnd="0">
                  <a:extLst>
                    <a:ext uri="{A12FA001-AC4F-418D-AE19-62706E023703}">
                      <ahyp:hlinkClr xmlns:ahyp="http://schemas.microsoft.com/office/drawing/2018/hyperlinkcolor" val="tx"/>
                    </a:ext>
                  </a:extLst>
                </a:hlinkClick>
              </a:rPr>
              <a:t>OCE: Leakage</a:t>
            </a:r>
            <a:endParaRPr lang="en-US" sz="850" dirty="0"/>
          </a:p>
        </p:txBody>
      </p:sp>
      <p:sp>
        <p:nvSpPr>
          <p:cNvPr id="30" name="Text 27">
            <a:hlinkClick r:id="rId26" tooltip=""/>
          </p:cNvPr>
          <p:cNvSpPr txBox="1"/>
          <p:nvPr/>
        </p:nvSpPr>
        <p:spPr>
          <a:xfrm>
            <a:off x="6163056" y="2807208"/>
            <a:ext cx="2578608" cy="274320"/>
          </a:xfrm>
          <a:prstGeom prst="rect">
            <a:avLst/>
          </a:prstGeom>
          <a:noFill/>
          <a:ln/>
        </p:spPr>
        <p:txBody>
          <a:bodyPr wrap="square" lIns="0" tIns="0" rIns="0" bIns="0" rtlCol="0" anchor="t">
            <a:normAutofit/>
          </a:bodyPr>
          <a:lstStyle/>
          <a:p>
            <a:pPr indent="0" marL="0">
              <a:buNone/>
            </a:pPr>
            <a:r>
              <a:rPr lang="en-US" sz="850" b="1" u="sng" dirty="0">
                <a:solidFill>
                  <a:schemeClr val="accent1"/>
                </a:solidFill>
                <a:hlinkClick r:id="rId26" invalidUrl="" action="" tgtFrame="" tooltip="" history="1" highlightClick="0" endSnd="0">
                  <a:extLst>
                    <a:ext uri="{A12FA001-AC4F-418D-AE19-62706E023703}">
                      <ahyp:hlinkClr xmlns:ahyp="http://schemas.microsoft.com/office/drawing/2018/hyperlinkcolor" val="tx"/>
                    </a:ext>
                  </a:extLst>
                </a:hlinkClick>
              </a:rPr>
              <a:t>Causal Workshop 2022</a:t>
            </a:r>
            <a:endParaRPr lang="en-US" sz="850" dirty="0"/>
          </a:p>
        </p:txBody>
      </p:sp>
      <p:sp>
        <p:nvSpPr>
          <p:cNvPr id="31" name="Text 28">
            <a:hlinkClick r:id="rId27" tooltip=""/>
          </p:cNvPr>
          <p:cNvSpPr txBox="1"/>
          <p:nvPr/>
        </p:nvSpPr>
        <p:spPr>
          <a:xfrm>
            <a:off x="6163056" y="3200400"/>
            <a:ext cx="2578608" cy="274320"/>
          </a:xfrm>
          <a:prstGeom prst="rect">
            <a:avLst/>
          </a:prstGeom>
          <a:noFill/>
          <a:ln/>
        </p:spPr>
        <p:txBody>
          <a:bodyPr wrap="square" lIns="0" tIns="0" rIns="0" bIns="0" rtlCol="0" anchor="t">
            <a:normAutofit/>
          </a:bodyPr>
          <a:lstStyle/>
          <a:p>
            <a:pPr indent="0" marL="0">
              <a:buNone/>
            </a:pPr>
            <a:r>
              <a:rPr lang="en-US" sz="850" b="1" u="sng" dirty="0">
                <a:solidFill>
                  <a:schemeClr val="accent1"/>
                </a:solidFill>
                <a:hlinkClick r:id="rId27" invalidUrl="" action="" tgtFrame="" tooltip="" history="1" highlightClick="0" endSnd="0">
                  <a:extLst>
                    <a:ext uri="{A12FA001-AC4F-418D-AE19-62706E023703}">
                      <ahyp:hlinkClr xmlns:ahyp="http://schemas.microsoft.com/office/drawing/2018/hyperlinkcolor" val="tx"/>
                    </a:ext>
                  </a:extLst>
                </a:hlinkClick>
              </a:rPr>
              <a:t>Facebook: Contagion</a:t>
            </a:r>
            <a:endParaRPr lang="en-US" sz="850" dirty="0"/>
          </a:p>
        </p:txBody>
      </p:sp>
      <p:sp>
        <p:nvSpPr>
          <p:cNvPr id="32" name="Text 29">
            <a:hlinkClick r:id="rId28" tooltip=""/>
          </p:cNvPr>
          <p:cNvSpPr txBox="1"/>
          <p:nvPr/>
        </p:nvSpPr>
        <p:spPr>
          <a:xfrm>
            <a:off x="6163056" y="3593592"/>
            <a:ext cx="2578608" cy="274320"/>
          </a:xfrm>
          <a:prstGeom prst="rect">
            <a:avLst/>
          </a:prstGeom>
          <a:noFill/>
          <a:ln/>
        </p:spPr>
        <p:txBody>
          <a:bodyPr wrap="square" lIns="0" tIns="0" rIns="0" bIns="0" rtlCol="0" anchor="t">
            <a:normAutofit/>
          </a:bodyPr>
          <a:lstStyle/>
          <a:p>
            <a:pPr indent="0" marL="0">
              <a:buNone/>
            </a:pPr>
            <a:r>
              <a:rPr lang="en-US" sz="850" b="1" u="sng" dirty="0">
                <a:solidFill>
                  <a:schemeClr val="accent1"/>
                </a:solidFill>
                <a:hlinkClick r:id="rId28" invalidUrl="" action="" tgtFrame="" tooltip="" history="1" highlightClick="0" endSnd="0">
                  <a:extLst>
                    <a:ext uri="{A12FA001-AC4F-418D-AE19-62706E023703}">
                      <ahyp:hlinkClr xmlns:ahyp="http://schemas.microsoft.com/office/drawing/2018/hyperlinkcolor" val="tx"/>
                    </a:ext>
                  </a:extLst>
                </a:hlinkClick>
              </a:rPr>
              <a:t>Contagion: Editorial Note</a:t>
            </a:r>
            <a:endParaRPr lang="en-US" sz="850" dirty="0"/>
          </a:p>
        </p:txBody>
      </p:sp>
      <p:sp>
        <p:nvSpPr>
          <p:cNvPr id="33" name="Text 30">
            <a:hlinkClick r:id="rId29" tooltip=""/>
          </p:cNvPr>
          <p:cNvSpPr txBox="1"/>
          <p:nvPr/>
        </p:nvSpPr>
        <p:spPr>
          <a:xfrm>
            <a:off x="6163056" y="3986784"/>
            <a:ext cx="2578608" cy="274320"/>
          </a:xfrm>
          <a:prstGeom prst="rect">
            <a:avLst/>
          </a:prstGeom>
          <a:noFill/>
          <a:ln/>
        </p:spPr>
        <p:txBody>
          <a:bodyPr wrap="square" lIns="0" tIns="0" rIns="0" bIns="0" rtlCol="0" anchor="t">
            <a:normAutofit/>
          </a:bodyPr>
          <a:lstStyle/>
          <a:p>
            <a:pPr indent="0" marL="0">
              <a:buNone/>
            </a:pPr>
            <a:r>
              <a:rPr lang="en-US" sz="850" b="1" u="sng" dirty="0">
                <a:solidFill>
                  <a:schemeClr val="accent1"/>
                </a:solidFill>
                <a:hlinkClick r:id="rId29" invalidUrl="" action="" tgtFrame="" tooltip="" history="1" highlightClick="0" endSnd="0">
                  <a:extLst>
                    <a:ext uri="{A12FA001-AC4F-418D-AE19-62706E023703}">
                      <ahyp:hlinkClr xmlns:ahyp="http://schemas.microsoft.com/office/drawing/2018/hyperlinkcolor" val="tx"/>
                    </a:ext>
                  </a:extLst>
                </a:hlinkClick>
              </a:rPr>
              <a:t>61M Social Influence</a:t>
            </a:r>
            <a:endParaRPr lang="en-US" sz="850" dirty="0"/>
          </a:p>
        </p:txBody>
      </p:sp>
      <p:sp>
        <p:nvSpPr>
          <p:cNvPr id="34" name="Text 31">
            <a:hlinkClick r:id="rId30" tooltip=""/>
          </p:cNvPr>
          <p:cNvSpPr txBox="1"/>
          <p:nvPr/>
        </p:nvSpPr>
        <p:spPr>
          <a:xfrm>
            <a:off x="6163056" y="4379976"/>
            <a:ext cx="2578608" cy="274320"/>
          </a:xfrm>
          <a:prstGeom prst="rect">
            <a:avLst/>
          </a:prstGeom>
          <a:noFill/>
          <a:ln/>
        </p:spPr>
        <p:txBody>
          <a:bodyPr wrap="square" lIns="0" tIns="0" rIns="0" bIns="0" rtlCol="0" anchor="t">
            <a:normAutofit/>
          </a:bodyPr>
          <a:lstStyle/>
          <a:p>
            <a:pPr indent="0" marL="0">
              <a:buNone/>
            </a:pPr>
            <a:r>
              <a:rPr lang="en-US" sz="850" b="1" u="sng" dirty="0">
                <a:solidFill>
                  <a:schemeClr val="accent1"/>
                </a:solidFill>
                <a:hlinkClick r:id="rId30" invalidUrl="" action="" tgtFrame="" tooltip="" history="1" highlightClick="0" endSnd="0">
                  <a:extLst>
                    <a:ext uri="{A12FA001-AC4F-418D-AE19-62706E023703}">
                      <ahyp:hlinkClr xmlns:ahyp="http://schemas.microsoft.com/office/drawing/2018/hyperlinkcolor" val="tx"/>
                    </a:ext>
                  </a:extLst>
                </a:hlinkClick>
              </a:rPr>
              <a:t>TOCE: A/A Test</a:t>
            </a:r>
            <a:endParaRPr lang="en-US" sz="850" dirty="0"/>
          </a:p>
        </p:txBody>
      </p:sp>
      <p:sp>
        <p:nvSpPr>
          <p:cNvPr id="35" name="Text 32">
            <a:hlinkClick r:id="rId31" tooltip=""/>
          </p:cNvPr>
          <p:cNvSpPr txBox="1"/>
          <p:nvPr/>
        </p:nvSpPr>
        <p:spPr>
          <a:xfrm>
            <a:off x="6163056" y="4773168"/>
            <a:ext cx="2578608" cy="274320"/>
          </a:xfrm>
          <a:prstGeom prst="rect">
            <a:avLst/>
          </a:prstGeom>
          <a:noFill/>
          <a:ln/>
        </p:spPr>
        <p:txBody>
          <a:bodyPr wrap="square" lIns="0" tIns="0" rIns="0" bIns="0" rtlCol="0" anchor="t">
            <a:normAutofit/>
          </a:bodyPr>
          <a:lstStyle/>
          <a:p>
            <a:pPr indent="0" marL="0">
              <a:buNone/>
            </a:pPr>
            <a:r>
              <a:rPr lang="en-US" sz="850" b="1" u="sng" dirty="0">
                <a:solidFill>
                  <a:schemeClr val="accent1"/>
                </a:solidFill>
                <a:hlinkClick r:id="rId31" invalidUrl="" action="" tgtFrame="" tooltip="" history="1" highlightClick="0" endSnd="0">
                  <a:extLst>
                    <a:ext uri="{A12FA001-AC4F-418D-AE19-62706E023703}">
                      <ahyp:hlinkClr xmlns:ahyp="http://schemas.microsoft.com/office/drawing/2018/hyperlinkcolor" val="tx"/>
                    </a:ext>
                  </a:extLst>
                </a:hlinkClick>
              </a:rPr>
              <a:t>TOCE: Ramp-up</a:t>
            </a:r>
            <a:endParaRPr lang="en-US" sz="850" dirty="0"/>
          </a:p>
        </p:txBody>
      </p:sp>
      <p:sp>
        <p:nvSpPr>
          <p:cNvPr id="36" name="Text 33">
            <a:hlinkClick r:id="rId32" tooltip=""/>
          </p:cNvPr>
          <p:cNvSpPr txBox="1"/>
          <p:nvPr/>
        </p:nvSpPr>
        <p:spPr>
          <a:xfrm>
            <a:off x="6163056" y="5166360"/>
            <a:ext cx="2578608" cy="274320"/>
          </a:xfrm>
          <a:prstGeom prst="rect">
            <a:avLst/>
          </a:prstGeom>
          <a:noFill/>
          <a:ln/>
        </p:spPr>
        <p:txBody>
          <a:bodyPr wrap="square" lIns="0" tIns="0" rIns="0" bIns="0" rtlCol="0" anchor="t">
            <a:normAutofit/>
          </a:bodyPr>
          <a:lstStyle/>
          <a:p>
            <a:pPr indent="0" marL="0">
              <a:buNone/>
            </a:pPr>
            <a:r>
              <a:rPr lang="en-US" sz="850" b="1" u="sng" dirty="0">
                <a:solidFill>
                  <a:schemeClr val="accent1"/>
                </a:solidFill>
                <a:hlinkClick r:id="rId32" invalidUrl="" action="" tgtFrame="" tooltip="" history="1" highlightClick="0" endSnd="0">
                  <a:extLst>
                    <a:ext uri="{A12FA001-AC4F-418D-AE19-62706E023703}">
                      <ahyp:hlinkClr xmlns:ahyp="http://schemas.microsoft.com/office/drawing/2018/hyperlinkcolor" val="tx"/>
                    </a:ext>
                  </a:extLst>
                </a:hlinkClick>
              </a:rPr>
              <a:t>Unexpected OCE Results</a:t>
            </a:r>
            <a:endParaRPr lang="en-US" sz="850" dirty="0"/>
          </a:p>
        </p:txBody>
      </p:sp>
      <p:sp>
        <p:nvSpPr>
          <p:cNvPr id="37" name="Text 34">
            <a:hlinkClick r:id="rId33" tooltip=""/>
          </p:cNvPr>
          <p:cNvSpPr txBox="1"/>
          <p:nvPr/>
        </p:nvSpPr>
        <p:spPr>
          <a:xfrm>
            <a:off x="6163056" y="5559552"/>
            <a:ext cx="2578608" cy="274320"/>
          </a:xfrm>
          <a:prstGeom prst="rect">
            <a:avLst/>
          </a:prstGeom>
          <a:noFill/>
          <a:ln/>
        </p:spPr>
        <p:txBody>
          <a:bodyPr wrap="square" lIns="0" tIns="0" rIns="0" bIns="0" rtlCol="0" anchor="t">
            <a:normAutofit/>
          </a:bodyPr>
          <a:lstStyle/>
          <a:p>
            <a:pPr indent="0" marL="0">
              <a:buNone/>
            </a:pPr>
            <a:r>
              <a:rPr lang="en-US" sz="850" b="1" u="sng" dirty="0">
                <a:solidFill>
                  <a:schemeClr val="accent1"/>
                </a:solidFill>
                <a:hlinkClick r:id="rId33" invalidUrl="" action="" tgtFrame="" tooltip="" history="1" highlightClick="0" endSnd="0">
                  <a:extLst>
                    <a:ext uri="{A12FA001-AC4F-418D-AE19-62706E023703}">
                      <ahyp:hlinkClr xmlns:ahyp="http://schemas.microsoft.com/office/drawing/2018/hyperlinkcolor" val="tx"/>
                    </a:ext>
                  </a:extLst>
                </a:hlinkClick>
              </a:rPr>
              <a:t>CUPED</a:t>
            </a:r>
            <a:endParaRPr lang="en-US" sz="850" dirty="0"/>
          </a:p>
        </p:txBody>
      </p:sp>
      <p:sp>
        <p:nvSpPr>
          <p:cNvPr id="38" name="Text 35">
            <a:hlinkClick r:id="rId34" tooltip=""/>
          </p:cNvPr>
          <p:cNvSpPr txBox="1"/>
          <p:nvPr/>
        </p:nvSpPr>
        <p:spPr>
          <a:xfrm>
            <a:off x="8924544" y="1627632"/>
            <a:ext cx="2578608" cy="274320"/>
          </a:xfrm>
          <a:prstGeom prst="rect">
            <a:avLst/>
          </a:prstGeom>
          <a:noFill/>
          <a:ln/>
        </p:spPr>
        <p:txBody>
          <a:bodyPr wrap="square" lIns="0" tIns="0" rIns="0" bIns="0" rtlCol="0" anchor="t">
            <a:normAutofit/>
          </a:bodyPr>
          <a:lstStyle/>
          <a:p>
            <a:pPr indent="0" marL="0">
              <a:buNone/>
            </a:pPr>
            <a:r>
              <a:rPr lang="en-US" sz="850" b="1" u="sng" dirty="0">
                <a:solidFill>
                  <a:schemeClr val="accent1"/>
                </a:solidFill>
                <a:hlinkClick r:id="rId34" invalidUrl="" action="" tgtFrame="" tooltip="" history="1" highlightClick="0" endSnd="0">
                  <a:extLst>
                    <a:ext uri="{A12FA001-AC4F-418D-AE19-62706E023703}">
                      <ahyp:hlinkClr xmlns:ahyp="http://schemas.microsoft.com/office/drawing/2018/hyperlinkcolor" val="tx"/>
                    </a:ext>
                  </a:extLst>
                </a:hlinkClick>
              </a:rPr>
              <a:t>ASA: p-values</a:t>
            </a:r>
            <a:endParaRPr lang="en-US" sz="850" dirty="0"/>
          </a:p>
        </p:txBody>
      </p:sp>
      <p:sp>
        <p:nvSpPr>
          <p:cNvPr id="39" name="Text 36">
            <a:hlinkClick r:id="rId35" tooltip=""/>
          </p:cNvPr>
          <p:cNvSpPr txBox="1"/>
          <p:nvPr/>
        </p:nvSpPr>
        <p:spPr>
          <a:xfrm>
            <a:off x="8924544" y="2020824"/>
            <a:ext cx="2578608" cy="274320"/>
          </a:xfrm>
          <a:prstGeom prst="rect">
            <a:avLst/>
          </a:prstGeom>
          <a:noFill/>
          <a:ln/>
        </p:spPr>
        <p:txBody>
          <a:bodyPr wrap="square" lIns="0" tIns="0" rIns="0" bIns="0" rtlCol="0" anchor="t">
            <a:normAutofit/>
          </a:bodyPr>
          <a:lstStyle/>
          <a:p>
            <a:pPr indent="0" marL="0">
              <a:buNone/>
            </a:pPr>
            <a:r>
              <a:rPr lang="en-US" sz="850" b="1" u="sng" dirty="0">
                <a:solidFill>
                  <a:schemeClr val="accent1"/>
                </a:solidFill>
                <a:hlinkClick r:id="rId35" invalidUrl="" action="" tgtFrame="" tooltip="" history="1" highlightClick="0" endSnd="0">
                  <a:extLst>
                    <a:ext uri="{A12FA001-AC4F-418D-AE19-62706E023703}">
                      <ahyp:hlinkClr xmlns:ahyp="http://schemas.microsoft.com/office/drawing/2018/hyperlinkcolor" val="tx"/>
                    </a:ext>
                  </a:extLst>
                </a:hlinkClick>
              </a:rPr>
              <a:t>Benjamini-Hochberg FDR</a:t>
            </a:r>
            <a:endParaRPr lang="en-US" sz="850" dirty="0"/>
          </a:p>
        </p:txBody>
      </p:sp>
      <p:sp>
        <p:nvSpPr>
          <p:cNvPr id="40" name="Text 37">
            <a:hlinkClick r:id="rId36" tooltip=""/>
          </p:cNvPr>
          <p:cNvSpPr txBox="1"/>
          <p:nvPr/>
        </p:nvSpPr>
        <p:spPr>
          <a:xfrm>
            <a:off x="8924544" y="2414016"/>
            <a:ext cx="2578608" cy="274320"/>
          </a:xfrm>
          <a:prstGeom prst="rect">
            <a:avLst/>
          </a:prstGeom>
          <a:noFill/>
          <a:ln/>
        </p:spPr>
        <p:txBody>
          <a:bodyPr wrap="square" lIns="0" tIns="0" rIns="0" bIns="0" rtlCol="0" anchor="t">
            <a:normAutofit/>
          </a:bodyPr>
          <a:lstStyle/>
          <a:p>
            <a:pPr indent="0" marL="0">
              <a:buNone/>
            </a:pPr>
            <a:r>
              <a:rPr lang="en-US" sz="850" b="1" u="sng" dirty="0">
                <a:solidFill>
                  <a:schemeClr val="accent1"/>
                </a:solidFill>
                <a:hlinkClick r:id="rId36" invalidUrl="" action="" tgtFrame="" tooltip="" history="1" highlightClick="0" endSnd="0">
                  <a:extLst>
                    <a:ext uri="{A12FA001-AC4F-418D-AE19-62706E023703}">
                      <ahyp:hlinkClr xmlns:ahyp="http://schemas.microsoft.com/office/drawing/2018/hyperlinkcolor" val="tx"/>
                    </a:ext>
                  </a:extLst>
                </a:hlinkClick>
              </a:rPr>
              <a:t>OCE: A/A Materials</a:t>
            </a:r>
            <a:endParaRPr lang="en-US" sz="850" dirty="0"/>
          </a:p>
        </p:txBody>
      </p:sp>
      <p:sp>
        <p:nvSpPr>
          <p:cNvPr id="41" name="Text 38">
            <a:hlinkClick r:id="rId37" tooltip=""/>
          </p:cNvPr>
          <p:cNvSpPr txBox="1"/>
          <p:nvPr/>
        </p:nvSpPr>
        <p:spPr>
          <a:xfrm>
            <a:off x="8924544" y="2807208"/>
            <a:ext cx="2578608" cy="274320"/>
          </a:xfrm>
          <a:prstGeom prst="rect">
            <a:avLst/>
          </a:prstGeom>
          <a:noFill/>
          <a:ln/>
        </p:spPr>
        <p:txBody>
          <a:bodyPr wrap="square" lIns="0" tIns="0" rIns="0" bIns="0" rtlCol="0" anchor="t">
            <a:normAutofit/>
          </a:bodyPr>
          <a:lstStyle/>
          <a:p>
            <a:pPr indent="0" marL="0">
              <a:buNone/>
            </a:pPr>
            <a:r>
              <a:rPr lang="en-US" sz="850" b="1" u="sng" dirty="0">
                <a:solidFill>
                  <a:schemeClr val="accent1"/>
                </a:solidFill>
                <a:hlinkClick r:id="rId37" invalidUrl="" action="" tgtFrame="" tooltip="" history="1" highlightClick="0" endSnd="0">
                  <a:extLst>
                    <a:ext uri="{A12FA001-AC4F-418D-AE19-62706E023703}">
                      <ahyp:hlinkClr xmlns:ahyp="http://schemas.microsoft.com/office/drawing/2018/hyperlinkcolor" val="tx"/>
                    </a:ext>
                  </a:extLst>
                </a:hlinkClick>
              </a:rPr>
              <a:t>SRM Diagnosis Guide</a:t>
            </a:r>
            <a:endParaRPr lang="en-US" sz="850" dirty="0"/>
          </a:p>
        </p:txBody>
      </p:sp>
      <p:sp>
        <p:nvSpPr>
          <p:cNvPr id="42" name="Text 39">
            <a:hlinkClick r:id="rId38" tooltip=""/>
          </p:cNvPr>
          <p:cNvSpPr txBox="1"/>
          <p:nvPr/>
        </p:nvSpPr>
        <p:spPr>
          <a:xfrm>
            <a:off x="8924544" y="3200400"/>
            <a:ext cx="2578608" cy="274320"/>
          </a:xfrm>
          <a:prstGeom prst="rect">
            <a:avLst/>
          </a:prstGeom>
          <a:noFill/>
          <a:ln/>
        </p:spPr>
        <p:txBody>
          <a:bodyPr wrap="square" lIns="0" tIns="0" rIns="0" bIns="0" rtlCol="0" anchor="t">
            <a:normAutofit/>
          </a:bodyPr>
          <a:lstStyle/>
          <a:p>
            <a:pPr indent="0" marL="0">
              <a:buNone/>
            </a:pPr>
            <a:r>
              <a:rPr lang="en-US" sz="850" b="1" u="sng" dirty="0">
                <a:solidFill>
                  <a:schemeClr val="accent1"/>
                </a:solidFill>
                <a:hlinkClick r:id="rId38" invalidUrl="" action="" tgtFrame="" tooltip="" history="1" highlightClick="0" endSnd="0">
                  <a:extLst>
                    <a:ext uri="{A12FA001-AC4F-418D-AE19-62706E023703}">
                      <ahyp:hlinkClr xmlns:ahyp="http://schemas.microsoft.com/office/drawing/2018/hyperlinkcolor" val="tx"/>
                    </a:ext>
                  </a:extLst>
                </a:hlinkClick>
              </a:rPr>
              <a:t>SRM Diagnosis Paper</a:t>
            </a:r>
            <a:endParaRPr lang="en-US" sz="850" dirty="0"/>
          </a:p>
        </p:txBody>
      </p:sp>
      <p:sp>
        <p:nvSpPr>
          <p:cNvPr id="43" name="Text 40">
            <a:hlinkClick r:id="rId39" tooltip=""/>
          </p:cNvPr>
          <p:cNvSpPr txBox="1"/>
          <p:nvPr/>
        </p:nvSpPr>
        <p:spPr>
          <a:xfrm>
            <a:off x="8924544" y="3593592"/>
            <a:ext cx="2578608" cy="274320"/>
          </a:xfrm>
          <a:prstGeom prst="rect">
            <a:avLst/>
          </a:prstGeom>
          <a:noFill/>
          <a:ln/>
        </p:spPr>
        <p:txBody>
          <a:bodyPr wrap="square" lIns="0" tIns="0" rIns="0" bIns="0" rtlCol="0" anchor="t">
            <a:normAutofit/>
          </a:bodyPr>
          <a:lstStyle/>
          <a:p>
            <a:pPr indent="0" marL="0">
              <a:buNone/>
            </a:pPr>
            <a:r>
              <a:rPr lang="en-US" sz="850" b="1" u="sng" dirty="0">
                <a:solidFill>
                  <a:schemeClr val="accent1"/>
                </a:solidFill>
                <a:hlinkClick r:id="rId39" invalidUrl="" action="" tgtFrame="" tooltip="" history="1" highlightClick="0" endSnd="0">
                  <a:extLst>
                    <a:ext uri="{A12FA001-AC4F-418D-AE19-62706E023703}">
                      <ahyp:hlinkClr xmlns:ahyp="http://schemas.microsoft.com/office/drawing/2018/hyperlinkcolor" val="tx"/>
                    </a:ext>
                  </a:extLst>
                </a:hlinkClick>
              </a:rPr>
              <a:t>Always Valid Inference</a:t>
            </a:r>
            <a:endParaRPr lang="en-US" sz="850" dirty="0"/>
          </a:p>
        </p:txBody>
      </p:sp>
      <p:sp>
        <p:nvSpPr>
          <p:cNvPr id="44" name="Text 41">
            <a:hlinkClick r:id="rId40" tooltip=""/>
          </p:cNvPr>
          <p:cNvSpPr txBox="1"/>
          <p:nvPr/>
        </p:nvSpPr>
        <p:spPr>
          <a:xfrm>
            <a:off x="8924544" y="3986784"/>
            <a:ext cx="2578608" cy="274320"/>
          </a:xfrm>
          <a:prstGeom prst="rect">
            <a:avLst/>
          </a:prstGeom>
          <a:noFill/>
          <a:ln/>
        </p:spPr>
        <p:txBody>
          <a:bodyPr wrap="square" lIns="0" tIns="0" rIns="0" bIns="0" rtlCol="0" anchor="t">
            <a:normAutofit/>
          </a:bodyPr>
          <a:lstStyle/>
          <a:p>
            <a:pPr indent="0" marL="0">
              <a:buNone/>
            </a:pPr>
            <a:r>
              <a:rPr lang="en-US" sz="850" b="1" u="sng" dirty="0">
                <a:solidFill>
                  <a:schemeClr val="accent1"/>
                </a:solidFill>
                <a:hlinkClick r:id="rId40" invalidUrl="" action="" tgtFrame="" tooltip="" history="1" highlightClick="0" endSnd="0">
                  <a:extLst>
                    <a:ext uri="{A12FA001-AC4F-418D-AE19-62706E023703}">
                      <ahyp:hlinkClr xmlns:ahyp="http://schemas.microsoft.com/office/drawing/2018/hyperlinkcolor" val="tx"/>
                    </a:ext>
                  </a:extLst>
                </a:hlinkClick>
              </a:rPr>
              <a:t>Oracle: A/B Pitfalls</a:t>
            </a:r>
            <a:endParaRPr lang="en-US" sz="850" dirty="0"/>
          </a:p>
        </p:txBody>
      </p:sp>
      <p:sp>
        <p:nvSpPr>
          <p:cNvPr id="45" name="Text 42">
            <a:hlinkClick r:id="rId41" tooltip=""/>
          </p:cNvPr>
          <p:cNvSpPr txBox="1"/>
          <p:nvPr/>
        </p:nvSpPr>
        <p:spPr>
          <a:xfrm>
            <a:off x="8924544" y="4379976"/>
            <a:ext cx="2578608" cy="274320"/>
          </a:xfrm>
          <a:prstGeom prst="rect">
            <a:avLst/>
          </a:prstGeom>
          <a:noFill/>
          <a:ln/>
        </p:spPr>
        <p:txBody>
          <a:bodyPr wrap="square" lIns="0" tIns="0" rIns="0" bIns="0" rtlCol="0" anchor="t">
            <a:normAutofit/>
          </a:bodyPr>
          <a:lstStyle/>
          <a:p>
            <a:pPr indent="0" marL="0">
              <a:buNone/>
            </a:pPr>
            <a:r>
              <a:rPr lang="en-US" sz="850" b="1" u="sng" dirty="0">
                <a:solidFill>
                  <a:schemeClr val="accent1"/>
                </a:solidFill>
                <a:hlinkClick r:id="rId41" invalidUrl="" action="" tgtFrame="" tooltip="" history="1" highlightClick="0" endSnd="0">
                  <a:extLst>
                    <a:ext uri="{A12FA001-AC4F-418D-AE19-62706E023703}">
                      <ahyp:hlinkClr xmlns:ahyp="http://schemas.microsoft.com/office/drawing/2018/hyperlinkcolor" val="tx"/>
                    </a:ext>
                  </a:extLst>
                </a:hlinkClick>
              </a:rPr>
              <a:t>Experiment Platform</a:t>
            </a:r>
            <a:endParaRPr lang="en-US" sz="850" dirty="0"/>
          </a:p>
        </p:txBody>
      </p:sp>
      <p:sp>
        <p:nvSpPr>
          <p:cNvPr id="46" name="Text 43">
            <a:hlinkClick r:id="rId42" tooltip=""/>
          </p:cNvPr>
          <p:cNvSpPr txBox="1"/>
          <p:nvPr/>
        </p:nvSpPr>
        <p:spPr>
          <a:xfrm>
            <a:off x="8924544" y="4773168"/>
            <a:ext cx="2578608" cy="274320"/>
          </a:xfrm>
          <a:prstGeom prst="rect">
            <a:avLst/>
          </a:prstGeom>
          <a:noFill/>
          <a:ln/>
        </p:spPr>
        <p:txBody>
          <a:bodyPr wrap="square" lIns="0" tIns="0" rIns="0" bIns="0" rtlCol="0" anchor="t">
            <a:normAutofit/>
          </a:bodyPr>
          <a:lstStyle/>
          <a:p>
            <a:pPr indent="0" marL="0">
              <a:buNone/>
            </a:pPr>
            <a:r>
              <a:rPr lang="en-US" sz="850" b="1" u="sng" dirty="0">
                <a:solidFill>
                  <a:schemeClr val="accent1"/>
                </a:solidFill>
                <a:hlinkClick r:id="rId42" invalidUrl="" action="" tgtFrame="" tooltip="" history="1" highlightClick="0" endSnd="0">
                  <a:extLst>
                    <a:ext uri="{A12FA001-AC4F-418D-AE19-62706E023703}">
                      <ahyp:hlinkClr xmlns:ahyp="http://schemas.microsoft.com/office/drawing/2018/hyperlinkcolor" val="tx"/>
                    </a:ext>
                  </a:extLst>
                </a:hlinkClick>
              </a:rPr>
              <a:t>Platform &amp; Culture</a:t>
            </a:r>
            <a:endParaRPr lang="en-US" sz="850" dirty="0"/>
          </a:p>
        </p:txBody>
      </p:sp>
      <p:sp>
        <p:nvSpPr>
          <p:cNvPr id="25" name="Slide Number Placeholder 0"/>
          <p:cNvSpPr>
            <a:spLocks noGrp="1"/>
          </p:cNvSpPr>
          <p:nvPr>
            <p:ph type="sldNum" sz="quarter" idx="4294967295"/>
          </p:nvPr>
        </p:nvSpPr>
        <p:spPr>
          <a:xfrm>
            <a:off x="1110996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0A8"/>
                </a:solidFill>
              </a:defRPr>
            </a:lvl1pPr>
          </a:lstStyle>
          <a:p>
            <a:pPr algn="r"/>
            <a:fld id="{F7021451-1387-4CA6-816F-3879F97B5CBC}" type="slidenum">
              <a:rPr b="0" lang="en-US"/>
              <a:t>82</a:t>
            </a:fld>
            <a:endParaRPr lang="en-US"/>
          </a:p>
        </p:txBody>
      </p:sp>
    </p:spTree>
  </p:cSld>
  <p:clrMapOvr>
    <a:masterClrMapping/>
  </p:clrMapOvr>
</p:sld>
</file>

<file path=ppt/theme/theme1.xml><?xml version="1.0" encoding="utf-8"?>
<a:theme xmlns:a="http://schemas.openxmlformats.org/drawingml/2006/main" name="Lab Rats">
  <a:themeElements>
    <a:clrScheme name="Lab Rats">
      <a:dk1>
        <a:srgbClr val="1B1F3B"/>
      </a:dk1>
      <a:lt1>
        <a:srgbClr val="FFFFFF"/>
      </a:lt1>
      <a:dk2>
        <a:srgbClr val="555C7A"/>
      </a:dk2>
      <a:lt2>
        <a:srgbClr val="F3F5FA"/>
      </a:lt2>
      <a:accent1>
        <a:srgbClr val="3A5BFF"/>
      </a:accent1>
      <a:accent2>
        <a:srgbClr val="0E9C9C"/>
      </a:accent2>
      <a:accent3>
        <a:srgbClr val="0F9D63"/>
      </a:accent3>
      <a:accent4>
        <a:srgbClr val="D93B41"/>
      </a:accent4>
      <a:accent5>
        <a:srgbClr val="B87700"/>
      </a:accent5>
      <a:accent6>
        <a:srgbClr val="8A90A8"/>
      </a:accent6>
      <a:hlink>
        <a:srgbClr val="3A5BFF"/>
      </a:hlink>
      <a:folHlink>
        <a:srgbClr val="555C7A"/>
      </a:folHlink>
    </a:clrScheme>
    <a:fontScheme name="Lab Rats">
      <a:majorFont>
        <a:latin typeface="Apple SD Gothic Neo"/>
        <a:ea typeface="Apple SD Gothic Neo"/>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 SD Gothic Neo"/>
        <a:ea typeface="Apple SD Gothic Neo"/>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82</Slides>
  <Notes>82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82</vt:i4>
      </vt:variant>
    </vt:vector>
  </HeadingPairs>
  <TitlesOfParts>
    <vt:vector size="8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 테스트 설계 및 실습 — 이론 파트</dc:title>
  <dc:subject>PptxGenJS Presentation</dc:subject>
  <dc:creator>LeeJungYeon</dc:creator>
  <cp:lastModifiedBy>LeeJungYeon</cp:lastModifiedBy>
  <cp:revision>1</cp:revision>
  <dcterms:created xsi:type="dcterms:W3CDTF">2026-10-08T02:57:59Z</dcterms:created>
  <dcterms:modified xsi:type="dcterms:W3CDTF">2026-10-08T02:57:59Z</dcterms:modified>
</cp:coreProperties>
</file>