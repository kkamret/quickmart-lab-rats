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rts/chart1.xml" ContentType="application/vnd.openxmlformats-officedocument.drawingml.chart+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rts/chart2.xml" ContentType="application/vnd.openxmlformats-officedocument.drawingml.chart+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rts/chart3.xml" ContentType="application/vnd.openxmlformats-officedocument.drawingml.chart+xml"/>
  <Override PartName="/ppt/notesSlides/notesSlide55.xml" ContentType="application/vnd.openxmlformats-officedocument.presentationml.notesSlide+xml"/>
  <Override PartName="/ppt/charts/chart4.xml" ContentType="application/vnd.openxmlformats-officedocument.drawingml.chart+xml"/>
  <Override PartName="/ppt/notesSlides/notesSlide56.xml" ContentType="application/vnd.openxmlformats-officedocument.presentationml.notesSlide+xml"/>
  <Override PartName="/ppt/charts/chart5.xml" ContentType="application/vnd.openxmlformats-officedocument.drawingml.chart+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charts/chart6.xml" ContentType="application/vnd.openxmlformats-officedocument.drawingml.chart+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D63775AA-C105-9948-55C9-626B94E91BA6}">
          <p14:sldIdLst>
            <p14:sldId id="256"/>
            <p14:sldId id="257"/>
            <p14:sldId id="258"/>
          </p14:sldIdLst>
        </p14:section>
        <p14:section name="Ch1 실험과 인과추론" id="{F85B86B7-48E4-265B-A645-1F65C88C1728}">
          <p14:sldIdLst>
            <p14:sldId id="259"/>
            <p14:sldId id="260"/>
            <p14:sldId id="261"/>
            <p14:sldId id="262"/>
            <p14:sldId id="263"/>
            <p14:sldId id="264"/>
            <p14:sldId id="265"/>
            <p14:sldId id="266"/>
            <p14:sldId id="267"/>
            <p14:sldId id="268"/>
          </p14:sldIdLst>
        </p14:section>
        <p14:section name="Ch2 설계 구성요소" id="{0EFE4BCF-D505-1894-D372-AAE1A7DD7FD2}">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Ch3 실행과 분석" id="{12B12AE1-4394-13CC-0E7A-79B5F09A73A0}">
          <p14:sldIdLst>
            <p14:sldId id="298"/>
            <p14:sldId id="299"/>
            <p14:sldId id="300"/>
            <p14:sldId id="301"/>
            <p14:sldId id="302"/>
            <p14:sldId id="303"/>
            <p14:sldId id="304"/>
            <p14:sldId id="305"/>
            <p14:sldId id="306"/>
            <p14:sldId id="307"/>
            <p14:sldId id="308"/>
            <p14:sldId id="309"/>
            <p14:sldId id="310"/>
            <p14:sldId id="311"/>
            <p14:sldId id="312"/>
          </p14:sldIdLst>
        </p14:section>
        <p14:section name="Ch4 함정과 고급 설계" id="{68683303-7E03-8982-12AD-2B574CAEF6D8}">
          <p14:sldIdLst>
            <p14:sldId id="313"/>
            <p14:sldId id="314"/>
            <p14:sldId id="315"/>
            <p14:sldId id="316"/>
            <p14:sldId id="317"/>
            <p14:sldId id="318"/>
            <p14:sldId id="319"/>
            <p14:sldId id="320"/>
            <p14:sldId id="321"/>
            <p14:sldId id="322"/>
            <p14:sldId id="323"/>
            <p14:sldId id="324"/>
          </p14:sldIdLst>
        </p14:section>
        <p14:section name="Ch5 사례와 결정" id="{68304317-246E-149E-3038-28EE7E1E844E}">
          <p14:sldIdLst>
            <p14:sldId id="325"/>
            <p14:sldId id="326"/>
            <p14:sldId id="327"/>
            <p14:sldId id="328"/>
            <p14:sldId id="329"/>
            <p14:sldId id="330"/>
            <p14:sldId id="331"/>
            <p14:sldId id="332"/>
            <p14:sldId id="333"/>
            <p14:sldId id="334"/>
            <p14:sldId id="335"/>
            <p14:sldId id="336"/>
            <p14:sldId id="33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77" d="100"/>
          <a:sy n="77" d="100"/>
        </p:scale>
        <p:origin x="1816" y="18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_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____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____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____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____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B1F3B"/>
                </a:solidFill>
                <a:latin typeface="+mn-lt"/>
              </a:defRPr>
            </a:pPr>
            <a:r>
              <a:rPr lang="ko-KR" altLang="en-US" sz="1400" b="0" i="0" u="none" strike="noStrike">
                <a:solidFill>
                  <a:srgbClr val="1B1F3B"/>
                </a:solidFill>
                <a:latin typeface="+mn-lt"/>
              </a:rPr>
              <a:t>그룹당 필요 사용자 수 </a:t>
            </a:r>
            <a:r>
              <a:rPr lang="en-US" altLang="ko-KR" sz="1400" b="0" i="0" u="none" strike="noStrike">
                <a:solidFill>
                  <a:srgbClr val="1B1F3B"/>
                </a:solidFill>
                <a:latin typeface="+mn-lt"/>
              </a:rPr>
              <a:t>(</a:t>
            </a:r>
            <a:r>
              <a:rPr lang="ko-KR" altLang="en-US" sz="1400" b="0" i="0" u="none" strike="noStrike">
                <a:solidFill>
                  <a:srgbClr val="1B1F3B"/>
                </a:solidFill>
                <a:latin typeface="+mn-lt"/>
              </a:rPr>
              <a:t>기준 전환율 </a:t>
            </a:r>
            <a:r>
              <a:rPr lang="en-US" altLang="ko-KR" sz="1400" b="0" i="0" u="none" strike="noStrike">
                <a:solidFill>
                  <a:srgbClr val="1B1F3B"/>
                </a:solidFill>
                <a:latin typeface="+mn-lt"/>
              </a:rPr>
              <a:t>10%, </a:t>
            </a:r>
            <a:r>
              <a:rPr lang="el-GR" sz="1400" b="0" i="0" u="none" strike="noStrike">
                <a:solidFill>
                  <a:srgbClr val="1B1F3B"/>
                </a:solidFill>
                <a:latin typeface="+mn-lt"/>
              </a:rPr>
              <a:t>α 5%, </a:t>
            </a:r>
            <a:r>
              <a:rPr lang="ko-KR" altLang="en-US" sz="1400" b="0" i="0" u="none" strike="noStrike">
                <a:solidFill>
                  <a:srgbClr val="1B1F3B"/>
                </a:solidFill>
                <a:latin typeface="+mn-lt"/>
              </a:rPr>
              <a:t>검정력 </a:t>
            </a:r>
            <a:r>
              <a:rPr lang="en-US" altLang="ko-KR" sz="1400" b="0" i="0" u="none" strike="noStrike">
                <a:solidFill>
                  <a:srgbClr val="1B1F3B"/>
                </a:solidFill>
                <a:latin typeface="+mn-lt"/>
              </a:rPr>
              <a:t>80%)</a:t>
            </a:r>
          </a:p>
        </c:rich>
      </c:tx>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spPr>
              <a:noFill/>
              <a:ln>
                <a:noFill/>
              </a:ln>
              <a:effectLst/>
            </c:spPr>
            <c:txPr>
              <a:bodyPr/>
              <a:lstStyle/>
              <a:p>
                <a:pPr>
                  <a:defRPr sz="1200" b="0" i="0" u="none" strike="noStrike">
                    <a:solidFill>
                      <a:srgbClr val="1B1F3B"/>
                    </a:solidFill>
                    <a:latin typeface="+mn-lt"/>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MDE 2%</c:v>
                </c:pt>
                <c:pt idx="1">
                  <c:v>MDE 5%</c:v>
                </c:pt>
                <c:pt idx="2">
                  <c:v>MDE 10%</c:v>
                </c:pt>
                <c:pt idx="3">
                  <c:v>MDE 20%</c:v>
                </c:pt>
              </c:strCache>
            </c:strRef>
          </c:cat>
          <c:val>
            <c:numRef>
              <c:f>Sheet1!$B$2:$B$5</c:f>
              <c:numCache>
                <c:formatCode>General</c:formatCode>
                <c:ptCount val="4"/>
                <c:pt idx="0">
                  <c:v>360000</c:v>
                </c:pt>
                <c:pt idx="1">
                  <c:v>57600</c:v>
                </c:pt>
                <c:pt idx="2">
                  <c:v>14400</c:v>
                </c:pt>
                <c:pt idx="3">
                  <c:v>3600</c:v>
                </c:pt>
              </c:numCache>
            </c:numRef>
          </c:val>
          <c:extLst>
            <c:ext xmlns:c16="http://schemas.microsoft.com/office/drawing/2014/chart" uri="{C3380CC4-5D6E-409C-BE32-E72D297353CC}">
              <c16:uniqueId val="{00000000-4351-0F42-AA0F-61607F9F3738}"/>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B1F3B"/>
                </a:solidFill>
                <a:latin typeface="+mn-lt"/>
              </a:defRPr>
            </a:pPr>
            <a:r>
              <a:rPr lang="ko-KR" altLang="en-US" sz="1400" b="0" i="0" u="none" strike="noStrike">
                <a:solidFill>
                  <a:srgbClr val="1B1F3B"/>
                </a:solidFill>
                <a:latin typeface="+mn-lt"/>
              </a:rPr>
              <a:t>일별 상대 효과</a:t>
            </a:r>
            <a:r>
              <a:rPr lang="en-US" altLang="ko-KR" sz="1400" b="0" i="0" u="none" strike="noStrike">
                <a:solidFill>
                  <a:srgbClr val="1B1F3B"/>
                </a:solidFill>
                <a:latin typeface="+mn-lt"/>
              </a:rPr>
              <a:t>(%) · </a:t>
            </a:r>
            <a:r>
              <a:rPr lang="ko-KR" altLang="en-US" sz="1400" b="0" i="0" u="none" strike="noStrike">
                <a:solidFill>
                  <a:srgbClr val="1B1F3B"/>
                </a:solidFill>
                <a:latin typeface="+mn-lt"/>
              </a:rPr>
              <a:t>교육용 예시 수치</a:t>
            </a:r>
          </a:p>
        </c:rich>
      </c:tx>
      <c:overlay val="0"/>
    </c:title>
    <c:autoTitleDeleted val="0"/>
    <c:plotArea>
      <c:layout/>
      <c:lineChart>
        <c:grouping val="standard"/>
        <c:varyColors val="0"/>
        <c:ser>
          <c:idx val="0"/>
          <c:order val="0"/>
          <c:tx>
            <c:strRef>
              <c:f>Sheet1!$B$1</c:f>
              <c:strCache>
                <c:ptCount val="1"/>
                <c:pt idx="0">
                  <c:v>일별 효과(%)</c:v>
                </c:pt>
              </c:strCache>
            </c:strRef>
          </c:tx>
          <c:spPr>
            <a:ln w="31750" cap="flat">
              <a:solidFill>
                <a:srgbClr val="3A5BFF"/>
              </a:solidFill>
              <a:prstDash val="solid"/>
              <a:round/>
            </a:ln>
            <a:effectLst/>
          </c:spPr>
          <c:marker>
            <c:symbol val="circle"/>
            <c:size val="6"/>
            <c:spPr>
              <a:solidFill>
                <a:srgbClr val="3A5BFF"/>
              </a:solidFill>
              <a:ln w="9525" cap="flat">
                <a:solidFill>
                  <a:srgbClr val="3A5BFF"/>
                </a:solidFill>
                <a:prstDash val="solid"/>
                <a:round/>
              </a:ln>
              <a:effectLst/>
            </c:spPr>
          </c:marker>
          <c:cat>
            <c:strRef>
              <c:f>Sheet1!$A$2:$A$15</c:f>
              <c:strCache>
                <c:ptCount val="14"/>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strCache>
            </c:strRef>
          </c:cat>
          <c:val>
            <c:numRef>
              <c:f>Sheet1!$B$2:$B$15</c:f>
              <c:numCache>
                <c:formatCode>General</c:formatCode>
                <c:ptCount val="14"/>
                <c:pt idx="0">
                  <c:v>6</c:v>
                </c:pt>
                <c:pt idx="1">
                  <c:v>5.2</c:v>
                </c:pt>
                <c:pt idx="2">
                  <c:v>4.4000000000000004</c:v>
                </c:pt>
                <c:pt idx="3">
                  <c:v>3.8</c:v>
                </c:pt>
                <c:pt idx="4">
                  <c:v>3.3</c:v>
                </c:pt>
                <c:pt idx="5">
                  <c:v>2.1</c:v>
                </c:pt>
                <c:pt idx="6">
                  <c:v>2.4</c:v>
                </c:pt>
                <c:pt idx="7">
                  <c:v>2.6</c:v>
                </c:pt>
                <c:pt idx="8">
                  <c:v>2.2999999999999998</c:v>
                </c:pt>
                <c:pt idx="9">
                  <c:v>2.1</c:v>
                </c:pt>
                <c:pt idx="10">
                  <c:v>2</c:v>
                </c:pt>
                <c:pt idx="11">
                  <c:v>1.9</c:v>
                </c:pt>
                <c:pt idx="12">
                  <c:v>1.3</c:v>
                </c:pt>
                <c:pt idx="13">
                  <c:v>1.6</c:v>
                </c:pt>
              </c:numCache>
            </c:numRef>
          </c:val>
          <c:smooth val="0"/>
          <c:extLst>
            <c:ext xmlns:c16="http://schemas.microsoft.com/office/drawing/2014/chart" uri="{C3380CC4-5D6E-409C-BE32-E72D297353CC}">
              <c16:uniqueId val="{00000000-3AF7-724A-9133-37A4CE0EDB0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B1F3B"/>
                </a:solidFill>
                <a:latin typeface="+mn-lt"/>
              </a:defRPr>
            </a:pPr>
            <a:r>
              <a:rPr lang="ko-KR" altLang="en-US" sz="1400" b="0" i="0" u="none" strike="noStrike">
                <a:solidFill>
                  <a:srgbClr val="1B1F3B"/>
                </a:solidFill>
                <a:latin typeface="+mn-lt"/>
              </a:rPr>
              <a:t>효과가 전혀 없을 때</a:t>
            </a:r>
            <a:r>
              <a:rPr lang="en-US" altLang="ko-KR" sz="1400" b="0" i="0" u="none" strike="noStrike">
                <a:solidFill>
                  <a:srgbClr val="1B1F3B"/>
                </a:solidFill>
                <a:latin typeface="+mn-lt"/>
              </a:rPr>
              <a:t>, </a:t>
            </a:r>
            <a:r>
              <a:rPr lang="ko-KR" altLang="en-US" sz="1400" b="0" i="0" u="none" strike="noStrike">
                <a:solidFill>
                  <a:srgbClr val="1B1F3B"/>
                </a:solidFill>
                <a:latin typeface="+mn-lt"/>
              </a:rPr>
              <a:t>지표 수별 </a:t>
            </a:r>
            <a:r>
              <a:rPr lang="en-US" altLang="ko-KR" sz="1400" b="0" i="0" u="none" strike="noStrike">
                <a:solidFill>
                  <a:srgbClr val="1B1F3B"/>
                </a:solidFill>
                <a:latin typeface="+mn-lt"/>
              </a:rPr>
              <a:t>'</a:t>
            </a:r>
            <a:r>
              <a:rPr lang="ko-KR" altLang="en-US" sz="1400" b="0" i="0" u="none" strike="noStrike">
                <a:solidFill>
                  <a:srgbClr val="1B1F3B"/>
                </a:solidFill>
                <a:latin typeface="+mn-lt"/>
              </a:rPr>
              <a:t>하나 이상 유의</a:t>
            </a:r>
            <a:r>
              <a:rPr lang="en-US" altLang="ko-KR" sz="1400" b="0" i="0" u="none" strike="noStrike">
                <a:solidFill>
                  <a:srgbClr val="1B1F3B"/>
                </a:solidFill>
                <a:latin typeface="+mn-lt"/>
              </a:rPr>
              <a:t>' </a:t>
            </a:r>
            <a:r>
              <a:rPr lang="ko-KR" altLang="en-US" sz="1400" b="0" i="0" u="none" strike="noStrike">
                <a:solidFill>
                  <a:srgbClr val="1B1F3B"/>
                </a:solidFill>
                <a:latin typeface="+mn-lt"/>
              </a:rPr>
              <a:t>확률</a:t>
            </a:r>
            <a:r>
              <a:rPr lang="en-US" altLang="ko-KR" sz="1400" b="0" i="0" u="none" strike="noStrike">
                <a:solidFill>
                  <a:srgbClr val="1B1F3B"/>
                </a:solidFill>
                <a:latin typeface="+mn-lt"/>
              </a:rPr>
              <a:t>(%)</a:t>
            </a:r>
          </a:p>
        </c:rich>
      </c:tx>
      <c:overlay val="0"/>
    </c:title>
    <c:autoTitleDeleted val="0"/>
    <c:plotArea>
      <c:layout/>
      <c:lineChart>
        <c:grouping val="standard"/>
        <c:varyColors val="0"/>
        <c:ser>
          <c:idx val="0"/>
          <c:order val="0"/>
          <c:tx>
            <c:strRef>
              <c:f>Sheet1!$B$1</c:f>
              <c:strCache>
                <c:ptCount val="1"/>
                <c:pt idx="0">
                  <c:v>거짓 양성이 하나 이상 나올 확률(%)</c:v>
                </c:pt>
              </c:strCache>
            </c:strRef>
          </c:tx>
          <c:spPr>
            <a:ln w="31750" cap="flat">
              <a:solidFill>
                <a:srgbClr val="D93B41"/>
              </a:solidFill>
              <a:prstDash val="solid"/>
              <a:round/>
            </a:ln>
            <a:effectLst/>
          </c:spPr>
          <c:marker>
            <c:symbol val="circle"/>
            <c:size val="7"/>
            <c:spPr>
              <a:solidFill>
                <a:srgbClr val="D93B41"/>
              </a:solidFill>
              <a:ln w="9525" cap="flat">
                <a:solidFill>
                  <a:srgbClr val="D93B41"/>
                </a:solidFill>
                <a:prstDash val="solid"/>
                <a:round/>
              </a:ln>
              <a:effectLst/>
            </c:spPr>
          </c:marker>
          <c:dLbls>
            <c:numFmt formatCode="0.0" sourceLinked="0"/>
            <c:spPr>
              <a:noFill/>
              <a:ln>
                <a:noFill/>
              </a:ln>
              <a:effectLst/>
            </c:spPr>
            <c:txPr>
              <a:bodyPr/>
              <a:lstStyle/>
              <a:p>
                <a:pPr>
                  <a:defRPr sz="1200" b="0" i="0" u="none" strike="noStrike">
                    <a:solidFill>
                      <a:srgbClr val="1B1F3B"/>
                    </a:solidFill>
                    <a:latin typeface="+mn-lt"/>
                  </a:defRPr>
                </a:pPr>
                <a:endParaRPr lang="ko-KR"/>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1개</c:v>
                </c:pt>
                <c:pt idx="1">
                  <c:v>2개</c:v>
                </c:pt>
                <c:pt idx="2">
                  <c:v>3개</c:v>
                </c:pt>
                <c:pt idx="3">
                  <c:v>5개</c:v>
                </c:pt>
                <c:pt idx="4">
                  <c:v>10개</c:v>
                </c:pt>
                <c:pt idx="5">
                  <c:v>20개</c:v>
                </c:pt>
              </c:strCache>
            </c:strRef>
          </c:cat>
          <c:val>
            <c:numRef>
              <c:f>Sheet1!$B$2:$B$7</c:f>
              <c:numCache>
                <c:formatCode>General</c:formatCode>
                <c:ptCount val="6"/>
                <c:pt idx="0">
                  <c:v>5</c:v>
                </c:pt>
                <c:pt idx="1">
                  <c:v>9.8000000000000007</c:v>
                </c:pt>
                <c:pt idx="2">
                  <c:v>14.3</c:v>
                </c:pt>
                <c:pt idx="3">
                  <c:v>22.6</c:v>
                </c:pt>
                <c:pt idx="4">
                  <c:v>40.1</c:v>
                </c:pt>
                <c:pt idx="5">
                  <c:v>64.2</c:v>
                </c:pt>
              </c:numCache>
            </c:numRef>
          </c:val>
          <c:smooth val="0"/>
          <c:extLst>
            <c:ext xmlns:c16="http://schemas.microsoft.com/office/drawing/2014/chart" uri="{C3380CC4-5D6E-409C-BE32-E72D297353CC}">
              <c16:uniqueId val="{00000000-63E3-A44F-88CA-5B4C2BED3D0F}"/>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lblOffset val="100"/>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B1F3B"/>
                </a:solidFill>
                <a:latin typeface="+mn-lt"/>
              </a:defRPr>
            </a:pPr>
            <a:r>
              <a:rPr lang="en" sz="1400" b="0" i="0" u="none" strike="noStrike">
                <a:solidFill>
                  <a:srgbClr val="1B1F3B"/>
                </a:solidFill>
                <a:latin typeface="+mn-lt"/>
              </a:rPr>
              <a:t>A/A </a:t>
            </a:r>
            <a:r>
              <a:rPr lang="ko-KR" altLang="en-US" sz="1400" b="0" i="0" u="none" strike="noStrike">
                <a:solidFill>
                  <a:srgbClr val="1B1F3B"/>
                </a:solidFill>
                <a:latin typeface="+mn-lt"/>
              </a:rPr>
              <a:t>실험에서 </a:t>
            </a:r>
            <a:r>
              <a:rPr lang="en-US" altLang="ko-KR" sz="1400" b="0" i="0" u="none" strike="noStrike">
                <a:solidFill>
                  <a:srgbClr val="1B1F3B"/>
                </a:solidFill>
                <a:latin typeface="+mn-lt"/>
              </a:rPr>
              <a:t>'</a:t>
            </a:r>
            <a:r>
              <a:rPr lang="ko-KR" altLang="en-US" sz="1400" b="0" i="0" u="none" strike="noStrike">
                <a:solidFill>
                  <a:srgbClr val="1B1F3B"/>
                </a:solidFill>
                <a:latin typeface="+mn-lt"/>
              </a:rPr>
              <a:t>유의</a:t>
            </a:r>
            <a:r>
              <a:rPr lang="en-US" altLang="ko-KR" sz="1400" b="0" i="0" u="none" strike="noStrike">
                <a:solidFill>
                  <a:srgbClr val="1B1F3B"/>
                </a:solidFill>
                <a:latin typeface="+mn-lt"/>
              </a:rPr>
              <a:t>'</a:t>
            </a:r>
            <a:r>
              <a:rPr lang="ko-KR" altLang="en-US" sz="1400" b="0" i="0" u="none" strike="noStrike">
                <a:solidFill>
                  <a:srgbClr val="1B1F3B"/>
                </a:solidFill>
                <a:latin typeface="+mn-lt"/>
              </a:rPr>
              <a:t>로 끝난 비율</a:t>
            </a:r>
            <a:r>
              <a:rPr lang="en-US" altLang="ko-KR" sz="1400" b="0" i="0" u="none" strike="noStrike">
                <a:solidFill>
                  <a:srgbClr val="1B1F3B"/>
                </a:solidFill>
                <a:latin typeface="+mn-lt"/>
              </a:rPr>
              <a:t>(%) · </a:t>
            </a:r>
            <a:r>
              <a:rPr lang="ko-KR" altLang="en-US" sz="1400" b="0" i="0" u="none" strike="noStrike">
                <a:solidFill>
                  <a:srgbClr val="1B1F3B"/>
                </a:solidFill>
                <a:latin typeface="+mn-lt"/>
              </a:rPr>
              <a:t>누적</a:t>
            </a:r>
          </a:p>
        </c:rich>
      </c:tx>
      <c:overlay val="0"/>
    </c:title>
    <c:autoTitleDeleted val="0"/>
    <c:plotArea>
      <c:layout/>
      <c:lineChart>
        <c:grouping val="standard"/>
        <c:varyColors val="0"/>
        <c:ser>
          <c:idx val="0"/>
          <c:order val="0"/>
          <c:tx>
            <c:strRef>
              <c:f>Sheet1!$B$1</c:f>
              <c:strCache>
                <c:ptCount val="1"/>
                <c:pt idx="0">
                  <c:v>매일 확인하고 유의하면 멈춤</c:v>
                </c:pt>
              </c:strCache>
            </c:strRef>
          </c:tx>
          <c:spPr>
            <a:ln w="31750" cap="flat">
              <a:solidFill>
                <a:srgbClr val="D93B41"/>
              </a:solidFill>
              <a:prstDash val="solid"/>
              <a:round/>
            </a:ln>
            <a:effectLst/>
          </c:spPr>
          <c:marker>
            <c:symbol val="none"/>
          </c:marker>
          <c:cat>
            <c:strRef>
              <c:f>Sheet1!$A$2:$A$15</c:f>
              <c:strCache>
                <c:ptCount val="14"/>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strCache>
            </c:strRef>
          </c:cat>
          <c:val>
            <c:numRef>
              <c:f>Sheet1!$B$2:$B$15</c:f>
              <c:numCache>
                <c:formatCode>General</c:formatCode>
                <c:ptCount val="14"/>
                <c:pt idx="0">
                  <c:v>4.5</c:v>
                </c:pt>
                <c:pt idx="1">
                  <c:v>8</c:v>
                </c:pt>
                <c:pt idx="2">
                  <c:v>10.4</c:v>
                </c:pt>
                <c:pt idx="3">
                  <c:v>12.5</c:v>
                </c:pt>
                <c:pt idx="4">
                  <c:v>13.7</c:v>
                </c:pt>
                <c:pt idx="5">
                  <c:v>15.2</c:v>
                </c:pt>
                <c:pt idx="6">
                  <c:v>16.3</c:v>
                </c:pt>
                <c:pt idx="7">
                  <c:v>17.3</c:v>
                </c:pt>
                <c:pt idx="8">
                  <c:v>18.100000000000001</c:v>
                </c:pt>
                <c:pt idx="9">
                  <c:v>18.899999999999999</c:v>
                </c:pt>
                <c:pt idx="10">
                  <c:v>19.399999999999999</c:v>
                </c:pt>
                <c:pt idx="11">
                  <c:v>20.100000000000001</c:v>
                </c:pt>
                <c:pt idx="12">
                  <c:v>20.9</c:v>
                </c:pt>
                <c:pt idx="13">
                  <c:v>21.5</c:v>
                </c:pt>
              </c:numCache>
            </c:numRef>
          </c:val>
          <c:smooth val="0"/>
          <c:extLst>
            <c:ext xmlns:c16="http://schemas.microsoft.com/office/drawing/2014/chart" uri="{C3380CC4-5D6E-409C-BE32-E72D297353CC}">
              <c16:uniqueId val="{00000000-38CA-E749-B539-E410A30A6C9A}"/>
            </c:ext>
          </c:extLst>
        </c:ser>
        <c:ser>
          <c:idx val="1"/>
          <c:order val="1"/>
          <c:tx>
            <c:strRef>
              <c:f>Sheet1!$C$1</c:f>
              <c:strCache>
                <c:ptCount val="1"/>
                <c:pt idx="0">
                  <c:v>마지막 날 한 번만 확인</c:v>
                </c:pt>
              </c:strCache>
            </c:strRef>
          </c:tx>
          <c:spPr>
            <a:ln w="31750" cap="flat">
              <a:solidFill>
                <a:srgbClr val="8A90A8"/>
              </a:solidFill>
              <a:prstDash val="solid"/>
              <a:round/>
            </a:ln>
            <a:effectLst/>
          </c:spPr>
          <c:marker>
            <c:symbol val="none"/>
          </c:marker>
          <c:cat>
            <c:strRef>
              <c:f>Sheet1!$A$2:$A$15</c:f>
              <c:strCache>
                <c:ptCount val="14"/>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strCache>
            </c: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extLst>
            <c:ext xmlns:c16="http://schemas.microsoft.com/office/drawing/2014/chart" uri="{C3380CC4-5D6E-409C-BE32-E72D297353CC}">
              <c16:uniqueId val="{00000001-38CA-E749-B539-E410A30A6C9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lblOffset val="100"/>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B1F3B"/>
                </a:solidFill>
                <a:latin typeface="+mn-lt"/>
              </a:defRPr>
            </a:pPr>
            <a:r>
              <a:rPr lang="ko-KR" altLang="en-US" sz="1400" b="0" i="0" u="none" strike="noStrike">
                <a:solidFill>
                  <a:srgbClr val="1B1F3B"/>
                </a:solidFill>
                <a:latin typeface="+mn-lt"/>
              </a:rPr>
              <a:t>주차별 상대 효과</a:t>
            </a:r>
            <a:r>
              <a:rPr lang="en-US" altLang="ko-KR" sz="1400" b="0" i="0" u="none" strike="noStrike">
                <a:solidFill>
                  <a:srgbClr val="1B1F3B"/>
                </a:solidFill>
                <a:latin typeface="+mn-lt"/>
              </a:rPr>
              <a:t>(%) · </a:t>
            </a:r>
            <a:r>
              <a:rPr lang="ko-KR" altLang="en-US" sz="1400" b="0" i="0" u="none" strike="noStrike">
                <a:solidFill>
                  <a:srgbClr val="1B1F3B"/>
                </a:solidFill>
                <a:latin typeface="+mn-lt"/>
              </a:rPr>
              <a:t>교육용 예시 곡선</a:t>
            </a:r>
          </a:p>
        </c:rich>
      </c:tx>
      <c:overlay val="0"/>
    </c:title>
    <c:autoTitleDeleted val="0"/>
    <c:plotArea>
      <c:layout/>
      <c:lineChart>
        <c:grouping val="standard"/>
        <c:varyColors val="0"/>
        <c:ser>
          <c:idx val="0"/>
          <c:order val="0"/>
          <c:tx>
            <c:strRef>
              <c:f>Sheet1!$B$1</c:f>
              <c:strCache>
                <c:ptCount val="1"/>
                <c:pt idx="0">
                  <c:v>신규성 효과: 새로워서 눌러본다</c:v>
                </c:pt>
              </c:strCache>
            </c:strRef>
          </c:tx>
          <c:spPr>
            <a:ln w="31750" cap="flat">
              <a:solidFill>
                <a:srgbClr val="3A5BFF"/>
              </a:solidFill>
              <a:prstDash val="solid"/>
              <a:round/>
            </a:ln>
            <a:effectLst/>
          </c:spPr>
          <c:marker>
            <c:symbol val="circle"/>
            <c:size val="6"/>
            <c:spPr>
              <a:solidFill>
                <a:srgbClr val="3A5BFF"/>
              </a:solidFill>
              <a:ln w="9525" cap="flat">
                <a:solidFill>
                  <a:srgbClr val="3A5BFF"/>
                </a:solidFill>
                <a:prstDash val="solid"/>
                <a:round/>
              </a:ln>
              <a:effectLst/>
            </c:spPr>
          </c:marker>
          <c:cat>
            <c:strRef>
              <c:f>Sheet1!$A$2:$A$7</c:f>
              <c:strCache>
                <c:ptCount val="6"/>
                <c:pt idx="0">
                  <c:v>1주</c:v>
                </c:pt>
                <c:pt idx="1">
                  <c:v>2주</c:v>
                </c:pt>
                <c:pt idx="2">
                  <c:v>3주</c:v>
                </c:pt>
                <c:pt idx="3">
                  <c:v>4주</c:v>
                </c:pt>
                <c:pt idx="4">
                  <c:v>5주</c:v>
                </c:pt>
                <c:pt idx="5">
                  <c:v>6주</c:v>
                </c:pt>
              </c:strCache>
            </c:strRef>
          </c:cat>
          <c:val>
            <c:numRef>
              <c:f>Sheet1!$B$2:$B$7</c:f>
              <c:numCache>
                <c:formatCode>General</c:formatCode>
                <c:ptCount val="6"/>
                <c:pt idx="0">
                  <c:v>4</c:v>
                </c:pt>
                <c:pt idx="1">
                  <c:v>2.4</c:v>
                </c:pt>
                <c:pt idx="2">
                  <c:v>1.6</c:v>
                </c:pt>
                <c:pt idx="3">
                  <c:v>1.2</c:v>
                </c:pt>
                <c:pt idx="4">
                  <c:v>1</c:v>
                </c:pt>
                <c:pt idx="5">
                  <c:v>1</c:v>
                </c:pt>
              </c:numCache>
            </c:numRef>
          </c:val>
          <c:smooth val="0"/>
          <c:extLst>
            <c:ext xmlns:c16="http://schemas.microsoft.com/office/drawing/2014/chart" uri="{C3380CC4-5D6E-409C-BE32-E72D297353CC}">
              <c16:uniqueId val="{00000000-AF9D-C041-B695-9B9AF336E38F}"/>
            </c:ext>
          </c:extLst>
        </c:ser>
        <c:ser>
          <c:idx val="1"/>
          <c:order val="1"/>
          <c:tx>
            <c:strRef>
              <c:f>Sheet1!$C$1</c:f>
              <c:strCache>
                <c:ptCount val="1"/>
                <c:pt idx="0">
                  <c:v>초두 효과: 낯설어서 불편하다</c:v>
                </c:pt>
              </c:strCache>
            </c:strRef>
          </c:tx>
          <c:spPr>
            <a:ln w="31750" cap="flat">
              <a:solidFill>
                <a:srgbClr val="B87700"/>
              </a:solidFill>
              <a:prstDash val="solid"/>
              <a:round/>
            </a:ln>
            <a:effectLst/>
          </c:spPr>
          <c:marker>
            <c:symbol val="circle"/>
            <c:size val="6"/>
            <c:spPr>
              <a:solidFill>
                <a:srgbClr val="B87700"/>
              </a:solidFill>
              <a:ln w="9525" cap="flat">
                <a:solidFill>
                  <a:srgbClr val="B87700"/>
                </a:solidFill>
                <a:prstDash val="solid"/>
                <a:round/>
              </a:ln>
              <a:effectLst/>
            </c:spPr>
          </c:marker>
          <c:cat>
            <c:strRef>
              <c:f>Sheet1!$A$2:$A$7</c:f>
              <c:strCache>
                <c:ptCount val="6"/>
                <c:pt idx="0">
                  <c:v>1주</c:v>
                </c:pt>
                <c:pt idx="1">
                  <c:v>2주</c:v>
                </c:pt>
                <c:pt idx="2">
                  <c:v>3주</c:v>
                </c:pt>
                <c:pt idx="3">
                  <c:v>4주</c:v>
                </c:pt>
                <c:pt idx="4">
                  <c:v>5주</c:v>
                </c:pt>
                <c:pt idx="5">
                  <c:v>6주</c:v>
                </c:pt>
              </c:strCache>
            </c:strRef>
          </c:cat>
          <c:val>
            <c:numRef>
              <c:f>Sheet1!$C$2:$C$7</c:f>
              <c:numCache>
                <c:formatCode>General</c:formatCode>
                <c:ptCount val="6"/>
                <c:pt idx="0">
                  <c:v>-2</c:v>
                </c:pt>
                <c:pt idx="1">
                  <c:v>-0.6</c:v>
                </c:pt>
                <c:pt idx="2">
                  <c:v>0.4</c:v>
                </c:pt>
                <c:pt idx="3">
                  <c:v>0.9</c:v>
                </c:pt>
                <c:pt idx="4">
                  <c:v>1.1000000000000001</c:v>
                </c:pt>
                <c:pt idx="5">
                  <c:v>1.2</c:v>
                </c:pt>
              </c:numCache>
            </c:numRef>
          </c:val>
          <c:smooth val="0"/>
          <c:extLst>
            <c:ext xmlns:c16="http://schemas.microsoft.com/office/drawing/2014/chart" uri="{C3380CC4-5D6E-409C-BE32-E72D297353CC}">
              <c16:uniqueId val="{00000001-AF9D-C041-B695-9B9AF336E38F}"/>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B1F3B"/>
                </a:solidFill>
                <a:latin typeface="+mn-lt"/>
              </a:defRPr>
            </a:pPr>
            <a:r>
              <a:rPr lang="en" sz="1400" b="0" i="0" u="none" strike="noStrike">
                <a:solidFill>
                  <a:srgbClr val="1B1F3B"/>
                </a:solidFill>
                <a:latin typeface="+mn-lt"/>
              </a:rPr>
              <a:t>DID: 4</a:t>
            </a:r>
            <a:r>
              <a:rPr lang="ko-KR" altLang="en-US" sz="1400" b="0" i="0" u="none" strike="noStrike">
                <a:solidFill>
                  <a:srgbClr val="1B1F3B"/>
                </a:solidFill>
                <a:latin typeface="+mn-lt"/>
              </a:rPr>
              <a:t>월 정책 도입 전후 주문 수 </a:t>
            </a:r>
            <a:r>
              <a:rPr lang="en-US" altLang="ko-KR" sz="1400" b="0" i="0" u="none" strike="noStrike">
                <a:solidFill>
                  <a:srgbClr val="1B1F3B"/>
                </a:solidFill>
                <a:latin typeface="+mn-lt"/>
              </a:rPr>
              <a:t>· </a:t>
            </a:r>
            <a:r>
              <a:rPr lang="ko-KR" altLang="en-US" sz="1400" b="0" i="0" u="none" strike="noStrike">
                <a:solidFill>
                  <a:srgbClr val="1B1F3B"/>
                </a:solidFill>
                <a:latin typeface="+mn-lt"/>
              </a:rPr>
              <a:t>교육용 예시</a:t>
            </a:r>
          </a:p>
        </c:rich>
      </c:tx>
      <c:overlay val="0"/>
    </c:title>
    <c:autoTitleDeleted val="0"/>
    <c:plotArea>
      <c:layout/>
      <c:lineChart>
        <c:grouping val="standard"/>
        <c:varyColors val="0"/>
        <c:ser>
          <c:idx val="0"/>
          <c:order val="0"/>
          <c:tx>
            <c:strRef>
              <c:f>Sheet1!$B$1</c:f>
              <c:strCache>
                <c:ptCount val="1"/>
                <c:pt idx="0">
                  <c:v>처치 지역</c:v>
                </c:pt>
              </c:strCache>
            </c:strRef>
          </c:tx>
          <c:spPr>
            <a:ln w="31750" cap="flat">
              <a:solidFill>
                <a:srgbClr val="3A5BFF"/>
              </a:solidFill>
              <a:prstDash val="solid"/>
              <a:round/>
            </a:ln>
            <a:effectLst/>
          </c:spPr>
          <c:marker>
            <c:symbol val="none"/>
          </c:marker>
          <c:cat>
            <c:strRef>
              <c:f>Sheet1!$A$2:$A$7</c:f>
              <c:strCache>
                <c:ptCount val="6"/>
                <c:pt idx="0">
                  <c:v>1월</c:v>
                </c:pt>
                <c:pt idx="1">
                  <c:v>2월</c:v>
                </c:pt>
                <c:pt idx="2">
                  <c:v>3월</c:v>
                </c:pt>
                <c:pt idx="3">
                  <c:v>4월</c:v>
                </c:pt>
                <c:pt idx="4">
                  <c:v>5월</c:v>
                </c:pt>
                <c:pt idx="5">
                  <c:v>6월</c:v>
                </c:pt>
              </c:strCache>
            </c:strRef>
          </c:cat>
          <c:val>
            <c:numRef>
              <c:f>Sheet1!$B$2:$B$7</c:f>
              <c:numCache>
                <c:formatCode>General</c:formatCode>
                <c:ptCount val="6"/>
                <c:pt idx="0">
                  <c:v>10</c:v>
                </c:pt>
                <c:pt idx="1">
                  <c:v>10.5</c:v>
                </c:pt>
                <c:pt idx="2">
                  <c:v>11</c:v>
                </c:pt>
                <c:pt idx="3">
                  <c:v>13</c:v>
                </c:pt>
                <c:pt idx="4">
                  <c:v>13.6</c:v>
                </c:pt>
                <c:pt idx="5">
                  <c:v>14.1</c:v>
                </c:pt>
              </c:numCache>
            </c:numRef>
          </c:val>
          <c:smooth val="0"/>
          <c:extLst>
            <c:ext xmlns:c16="http://schemas.microsoft.com/office/drawing/2014/chart" uri="{C3380CC4-5D6E-409C-BE32-E72D297353CC}">
              <c16:uniqueId val="{00000000-1FA5-D745-9631-47D5EB6F5901}"/>
            </c:ext>
          </c:extLst>
        </c:ser>
        <c:ser>
          <c:idx val="1"/>
          <c:order val="1"/>
          <c:tx>
            <c:strRef>
              <c:f>Sheet1!$C$1</c:f>
              <c:strCache>
                <c:ptCount val="1"/>
                <c:pt idx="0">
                  <c:v>비교 지역</c:v>
                </c:pt>
              </c:strCache>
            </c:strRef>
          </c:tx>
          <c:spPr>
            <a:ln w="31750" cap="flat">
              <a:solidFill>
                <a:srgbClr val="8A90A8"/>
              </a:solidFill>
              <a:prstDash val="solid"/>
              <a:round/>
            </a:ln>
            <a:effectLst/>
          </c:spPr>
          <c:marker>
            <c:symbol val="none"/>
          </c:marker>
          <c:cat>
            <c:strRef>
              <c:f>Sheet1!$A$2:$A$7</c:f>
              <c:strCache>
                <c:ptCount val="6"/>
                <c:pt idx="0">
                  <c:v>1월</c:v>
                </c:pt>
                <c:pt idx="1">
                  <c:v>2월</c:v>
                </c:pt>
                <c:pt idx="2">
                  <c:v>3월</c:v>
                </c:pt>
                <c:pt idx="3">
                  <c:v>4월</c:v>
                </c:pt>
                <c:pt idx="4">
                  <c:v>5월</c:v>
                </c:pt>
                <c:pt idx="5">
                  <c:v>6월</c:v>
                </c:pt>
              </c:strCache>
            </c:strRef>
          </c:cat>
          <c:val>
            <c:numRef>
              <c:f>Sheet1!$C$2:$C$7</c:f>
              <c:numCache>
                <c:formatCode>General</c:formatCode>
                <c:ptCount val="6"/>
                <c:pt idx="0">
                  <c:v>8</c:v>
                </c:pt>
                <c:pt idx="1">
                  <c:v>8.5</c:v>
                </c:pt>
                <c:pt idx="2">
                  <c:v>9</c:v>
                </c:pt>
                <c:pt idx="3">
                  <c:v>9.4</c:v>
                </c:pt>
                <c:pt idx="4">
                  <c:v>9.9</c:v>
                </c:pt>
                <c:pt idx="5">
                  <c:v>10.3</c:v>
                </c:pt>
              </c:numCache>
            </c:numRef>
          </c:val>
          <c:smooth val="0"/>
          <c:extLst>
            <c:ext xmlns:c16="http://schemas.microsoft.com/office/drawing/2014/chart" uri="{C3380CC4-5D6E-409C-BE32-E72D297353CC}">
              <c16:uniqueId val="{00000001-1FA5-D745-9631-47D5EB6F5901}"/>
            </c:ext>
          </c:extLst>
        </c:ser>
        <c:ser>
          <c:idx val="2"/>
          <c:order val="2"/>
          <c:tx>
            <c:strRef>
              <c:f>Sheet1!$D$1</c:f>
              <c:strCache>
                <c:ptCount val="1"/>
                <c:pt idx="0">
                  <c:v>처치가 없었다면 (반사실)</c:v>
                </c:pt>
              </c:strCache>
            </c:strRef>
          </c:tx>
          <c:spPr>
            <a:ln w="31750" cap="flat">
              <a:solidFill>
                <a:srgbClr val="C9D3FF"/>
              </a:solidFill>
              <a:prstDash val="solid"/>
              <a:round/>
            </a:ln>
            <a:effectLst/>
          </c:spPr>
          <c:marker>
            <c:symbol val="none"/>
          </c:marker>
          <c:cat>
            <c:strRef>
              <c:f>Sheet1!$A$2:$A$7</c:f>
              <c:strCache>
                <c:ptCount val="6"/>
                <c:pt idx="0">
                  <c:v>1월</c:v>
                </c:pt>
                <c:pt idx="1">
                  <c:v>2월</c:v>
                </c:pt>
                <c:pt idx="2">
                  <c:v>3월</c:v>
                </c:pt>
                <c:pt idx="3">
                  <c:v>4월</c:v>
                </c:pt>
                <c:pt idx="4">
                  <c:v>5월</c:v>
                </c:pt>
                <c:pt idx="5">
                  <c:v>6월</c:v>
                </c:pt>
              </c:strCache>
            </c:strRef>
          </c:cat>
          <c:val>
            <c:numRef>
              <c:f>Sheet1!$D$2:$D$7</c:f>
              <c:numCache>
                <c:formatCode>General</c:formatCode>
                <c:ptCount val="6"/>
                <c:pt idx="0">
                  <c:v>10</c:v>
                </c:pt>
                <c:pt idx="1">
                  <c:v>10.5</c:v>
                </c:pt>
                <c:pt idx="2">
                  <c:v>11</c:v>
                </c:pt>
                <c:pt idx="3">
                  <c:v>11.4</c:v>
                </c:pt>
                <c:pt idx="4">
                  <c:v>11.9</c:v>
                </c:pt>
                <c:pt idx="5">
                  <c:v>12.3</c:v>
                </c:pt>
              </c:numCache>
            </c:numRef>
          </c:val>
          <c:smooth val="0"/>
          <c:extLst>
            <c:ext xmlns:c16="http://schemas.microsoft.com/office/drawing/2014/chart" uri="{C3380CC4-5D6E-409C-BE32-E72D297353CC}">
              <c16:uniqueId val="{00000002-1FA5-D745-9631-47D5EB6F590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lblOffset val="100"/>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8792523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Ch4의 함정은 개념만 소개하고, 직접 겪어보는 것은 뒤의 함정·해석·공유 세션에서 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11편: Microsoft에서 실험한 아이디어 중 지표를 개선한 것은 약 3분의 1뿐이었습니다. 출처: Kohavi &amp; Thomke, HBR 2017.</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4.1. α와 Power는 마지막 검정 때 쓰는 숫자가 아니라 실험 전에 필요한 표본 수를 정하는 입력값입니다. 0.05와 80%는 절대적인 정답이 아니라 관행입니다. 헛배포(False Positive) 비용이 크면 α를 더 엄격하게, 기회를 놓치기(False Negative) 싫으면 Power를 높이되, 둘 다 표본과 기간이 늘어나는 대가가 있습니다. 예: 하루 실험 대상 10,000명, 필요한 표본 140,000명이면 약 14일.</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4.2. MDE는 감지할 수 있는 가장 작은 효과가 아니라, 주어진 α와 Power에서 일정한 확률로 잡도록 설계한 최소 효과 크기입니다. MDE보다 작은 효과도 유의하게 나올 수는 있습니다. 구현 비용을 정당화하려면 5%는 올라야 하는데 0.5%까지 잡도록 설계하면 표본과 시간을 낭비하고(Overpowered), 50%로 잡으면 20~30%의 의미 있는 개선도 놓칩니다(Underpowered). 기간부터 정하고 MDE를 역으로 맞추지 말고, 의미 있는 효과부터 정합니다. 표본 크기는 Baseline·분산, MDE, α, Power로 정해지며, Baseline의 영향은 지표 형태에 따라 다릅니다.</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4.3. 두 그룹의 조건이 같다면 같은 전체 표본에서 50:50이 비교 효율이 가장 좋습니다. 장애 위험이 있는 기능은 90:10처럼 일부에게 먼저 노출할 수 있지만, 실험군 표본이 천천히 쌓여 같은 검정력에 더 많은 트래픽이나 시간이 필요합니다. 비대칭 배정은 통계적 효율보다 위험 관리, 비용, 트래픽 제약 때문에 선택합니다. 좋은 배정의 핵심은 사용자 수를 맞추는 것이 아니라 처치 여부와 사용자 특성이 체계적으로 연결되지 않게 하는 것입니다.</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 위키 09편 1.2: 비율은 정해진 표준이 아니고, 초기 단계에서는 Primary의 유의성보다 오류율·로딩·로깅·Guardrail을 먼저 봅니다.</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 위키 09편 1.1: A/A의 핵심은 차이가 없어야 한다가 아니라, 차이가 없는 상황에서 시스템이 차이를 만들어내지 않는지 확인하는 것입니다.</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1.5. CUPED는 효과의 중심값을 키우지 않고 신뢰구간만 좁힙니다(예: +1.0%p [-0.4, +2.4] → 약 +1.0%p [+0.2, +1.8], 교육용 예시). 공변량은 반드시 실험 전에 측정한 값이어야 하고, 실험 후 행동을 쓰면 처치가 그 값 자체를 바꿨을 수 있어 인과효과가 왜곡됩니다.</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 위키 10편 2장: SRM 검정은 왜 문제가 생겼는지까지 알려주지 않는 경고등이고, 빠진 사용자가 무작위가 아니면 Selection Bias가 생깁니다.</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1.2. 온라인 서비스는 무작위 배정, 행동 측정, 기능 배포가 비교적 쉬워 실험 환경을 만들기 좋습니다. 작은 시도를 반복하며 제품을 개선하는 방식들 안에서 A/B 테스트는 측정하고 검증하는 역할을 합니다.</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해설은 위키 12편에 있습니다. 1~2분 생각할 시간을 주고 손을 들어 답을 고르게 합니다.</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모범 답안과 채점 포인트는 위키 12편에 있습니다. 조별로 5분 정도 토의하고 한두 조가 발표합니다.</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docs/ab-testing 01~11편의 Reference 링크를 URL 기준으로 중복 제거했습니다.</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2011680"/>
            <a:ext cx="6949440" cy="1737360"/>
          </a:xfrm>
          <a:prstGeom prst="rect">
            <a:avLst/>
          </a:prstGeom>
          <a:noFill/>
          <a:ln/>
        </p:spPr>
        <p:txBody>
          <a:bodyPr wrap="square" rtlCol="0"/>
          <a:lstStyle>
            <a:lvl1pPr marL="0" indent="0" algn="l">
              <a:buNone/>
              <a:defRPr lang="en-US" sz="4400" b="1" dirty="0">
                <a:solidFill>
                  <a:srgbClr val="FFFFFF"/>
                </a:solidFill>
              </a:defRPr>
            </a:lvl1pPr>
          </a:lstStyle>
          <a:p>
            <a:pPr marL="0" indent="0" algn="l">
              <a:buNone/>
            </a:pPr>
            <a:endParaRPr lang="en-US" sz="4400" dirty="0"/>
          </a:p>
        </p:txBody>
      </p:sp>
      <p:sp>
        <p:nvSpPr>
          <p:cNvPr id="3" name="Text 0"/>
          <p:cNvSpPr>
            <a:spLocks noGrp="1"/>
          </p:cNvSpPr>
          <p:nvPr>
            <p:ph type="body" idx="101" hasCustomPrompt="1"/>
          </p:nvPr>
        </p:nvSpPr>
        <p:spPr>
          <a:xfrm>
            <a:off x="640080" y="3977640"/>
            <a:ext cx="6583680" cy="1097280"/>
          </a:xfrm>
          <a:prstGeom prst="rect">
            <a:avLst/>
          </a:prstGeom>
          <a:noFill/>
          <a:ln/>
        </p:spPr>
        <p:txBody>
          <a:bodyPr wrap="square" rtlCol="0"/>
          <a:lstStyle>
            <a:lvl1pPr marL="0" indent="0" algn="l">
              <a:buNone/>
              <a:defRPr lang="en-US" sz="2000" dirty="0">
                <a:solidFill>
                  <a:srgbClr val="AEB3C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371600"/>
            <a:ext cx="3657600" cy="1463040"/>
          </a:xfrm>
          <a:prstGeom prst="rect">
            <a:avLst/>
          </a:prstGeom>
          <a:noFill/>
          <a:ln/>
        </p:spPr>
        <p:txBody>
          <a:bodyPr wrap="square" rtlCol="0"/>
          <a:lstStyle>
            <a:lvl1pPr marL="0" indent="0" algn="l">
              <a:buNone/>
              <a:defRPr lang="en-US" sz="9600" b="1" dirty="0">
                <a:solidFill>
                  <a:srgbClr val="7B93FF"/>
                </a:solidFill>
              </a:defRPr>
            </a:lvl1pPr>
          </a:lstStyle>
          <a:p>
            <a:pPr marL="0" indent="0" algn="l">
              <a:buNone/>
            </a:pPr>
            <a:endParaRPr lang="en-US" sz="9600" dirty="0"/>
          </a:p>
        </p:txBody>
      </p:sp>
      <p:sp>
        <p:nvSpPr>
          <p:cNvPr id="3" name="Text 0"/>
          <p:cNvSpPr>
            <a:spLocks noGrp="1"/>
          </p:cNvSpPr>
          <p:nvPr>
            <p:ph type="title" idx="101" hasCustomPrompt="1"/>
          </p:nvPr>
        </p:nvSpPr>
        <p:spPr>
          <a:xfrm>
            <a:off x="640080" y="3017520"/>
            <a:ext cx="10058400" cy="914400"/>
          </a:xfrm>
          <a:prstGeom prst="rect">
            <a:avLst/>
          </a:prstGeom>
          <a:noFill/>
          <a:ln/>
        </p:spPr>
        <p:txBody>
          <a:bodyPr wrap="square" rtlCol="0"/>
          <a:lstStyle>
            <a:lvl1pPr marL="0" indent="0" algn="l">
              <a:buNone/>
              <a:defRPr lang="en-US" sz="4000" b="1" dirty="0">
                <a:solidFill>
                  <a:srgbClr val="FFFFFF"/>
                </a:solidFill>
              </a:defRPr>
            </a:lvl1pPr>
          </a:lstStyle>
          <a:p>
            <a:pPr marL="0" indent="0" algn="l">
              <a:buNone/>
            </a:pPr>
            <a:endParaRPr lang="en-US" sz="4000" dirty="0"/>
          </a:p>
        </p:txBody>
      </p:sp>
      <p:sp>
        <p:nvSpPr>
          <p:cNvPr id="4" name="Text 0"/>
          <p:cNvSpPr>
            <a:spLocks noGrp="1"/>
          </p:cNvSpPr>
          <p:nvPr>
            <p:ph type="body" idx="102" hasCustomPrompt="1"/>
          </p:nvPr>
        </p:nvSpPr>
        <p:spPr>
          <a:xfrm>
            <a:off x="640080" y="4069080"/>
            <a:ext cx="10058400" cy="731520"/>
          </a:xfrm>
          <a:prstGeom prst="rect">
            <a:avLst/>
          </a:prstGeom>
          <a:noFill/>
          <a:ln/>
        </p:spPr>
        <p:txBody>
          <a:bodyPr wrap="square" rtlCol="0"/>
          <a:lstStyle>
            <a:lvl1pPr marL="0" indent="0" algn="l">
              <a:buNone/>
              <a:defRPr lang="en-US" sz="2000" dirty="0">
                <a:solidFill>
                  <a:srgbClr val="AEB3CC"/>
                </a:solidFill>
              </a:defRPr>
            </a:lvl1pPr>
          </a:lstStyle>
          <a:p>
            <a:pPr marL="0" indent="0" algn="l">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rtlCol="0"/>
          <a:lstStyle>
            <a:lvl1pPr marL="0" indent="0" algn="l">
              <a:buNone/>
              <a:defRPr lang="en-US" sz="1500" b="1" dirty="0">
                <a:solidFill>
                  <a:srgbClr val="3A5BFF"/>
                </a:solidFill>
              </a:defRPr>
            </a:lvl1pPr>
          </a:lstStyle>
          <a:p>
            <a:pPr marL="0" indent="0" algn="l">
              <a:buNone/>
            </a:pP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rtlCol="0"/>
          <a:lstStyle>
            <a:lvl1pPr marL="0" indent="0" algn="l">
              <a:buNone/>
              <a:defRPr lang="en-US" sz="2000" b="1" dirty="0">
                <a:solidFill>
                  <a:srgbClr val="1B1F3B"/>
                </a:solidFill>
              </a:defRPr>
            </a:lvl1pPr>
          </a:lstStyle>
          <a:p>
            <a:pPr marL="0" indent="0" algn="l">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marL="0" indent="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3" Type="http://schemas.openxmlformats.org/officeDocument/2006/relationships/hyperlink" Target="https://medium.com/alexandersyoon/%EC%A7%80%ED%91%9C%EC%84%A0%EC%A0%95-%EC%9E%90%EB%A6%AC%EC%97%90%EC%84%9C-%ED%95%B4%EC%95%BC%ED%95%98%EB%8A%94-5%EA%B0%80%EC%A7%80-%EC%A7%88%EB%AC%B8%EB%93%A4-data-analyst-%EC%9D%98-%EC%BB%A8%EC%84%A4%ED%8C%85-f7012d61a572" TargetMode="External"/><Relationship Id="rId18" Type="http://schemas.openxmlformats.org/officeDocument/2006/relationships/hyperlink" Target="https://wikidocs.net/198646" TargetMode="External"/><Relationship Id="rId26" Type="http://schemas.openxmlformats.org/officeDocument/2006/relationships/hyperlink" Target="https://jong-min.org/blog/2025/exp-network-interference/" TargetMode="External"/><Relationship Id="rId39" Type="http://schemas.openxmlformats.org/officeDocument/2006/relationships/hyperlink" Target="https://www.microsoft.com/en-us/research/articles/diagnosing-sample-ratio-mismatch-in-a-b-testing/" TargetMode="External"/><Relationship Id="rId21" Type="http://schemas.openxmlformats.org/officeDocument/2006/relationships/hyperlink" Target="https://playinpap.github.io/abtest-setting-mde" TargetMode="External"/><Relationship Id="rId34" Type="http://schemas.openxmlformats.org/officeDocument/2006/relationships/hyperlink" Target="https://www.kdd.org/exploration_files/v12-02-8-UR-Kohavi.pdf" TargetMode="External"/><Relationship Id="rId42" Type="http://schemas.openxmlformats.org/officeDocument/2006/relationships/hyperlink" Target="https://blogs.oracle.com/marketingcloud/ab-testing-pitfalls-how-marketers-can-avoid-costly-mistakes" TargetMode="External"/><Relationship Id="rId7" Type="http://schemas.openxmlformats.org/officeDocument/2006/relationships/hyperlink" Target="https://wikidocs.net/book/9534" TargetMode="External"/><Relationship Id="rId2" Type="http://schemas.openxmlformats.org/officeDocument/2006/relationships/notesSlide" Target="../notesSlides/notesSlide82.xml"/><Relationship Id="rId16" Type="http://schemas.openxmlformats.org/officeDocument/2006/relationships/hyperlink" Target="https://playinpap.github.io/data-quality-for-ab-testing/" TargetMode="External"/><Relationship Id="rId20" Type="http://schemas.openxmlformats.org/officeDocument/2006/relationships/hyperlink" Target="https://datarian.io/blog/ab-test-statistics-part-4-sample-proportion" TargetMode="External"/><Relationship Id="rId29" Type="http://schemas.openxmlformats.org/officeDocument/2006/relationships/hyperlink" Target="https://www.pnas.org/doi/full/10.1073/pnas.1320040111" TargetMode="External"/><Relationship Id="rId41" Type="http://schemas.openxmlformats.org/officeDocument/2006/relationships/hyperlink" Target="https://arxiv.org/abs/1512.04922" TargetMode="External"/><Relationship Id="rId1" Type="http://schemas.openxmlformats.org/officeDocument/2006/relationships/slideLayout" Target="../slideLayouts/slideLayout4.xml"/><Relationship Id="rId6" Type="http://schemas.openxmlformats.org/officeDocument/2006/relationships/hyperlink" Target="https://datarian.io/blog/ab-test-statistics-part-7-logic-of-hypothesis-testing" TargetMode="External"/><Relationship Id="rId11" Type="http://schemas.openxmlformats.org/officeDocument/2006/relationships/hyperlink" Target="https://www.invespcro.com/blog/one-tailed-vs-two-tailed-a-b-testing-everything-you-possibly-need-to-know/#elementor-toc__heading-anchor-0" TargetMode="External"/><Relationship Id="rId24" Type="http://schemas.openxmlformats.org/officeDocument/2006/relationships/hyperlink" Target="https://mojito.mx/docs/example-hash-function-split-test-assignment/" TargetMode="External"/><Relationship Id="rId32" Type="http://schemas.openxmlformats.org/officeDocument/2006/relationships/hyperlink" Target="https://www.cambridge.org/core/books/abs/trustworthy-online-controlled-experiments/aa-test/D0779D2FB153D36DD4C624BA207E41C2" TargetMode="External"/><Relationship Id="rId37" Type="http://schemas.openxmlformats.org/officeDocument/2006/relationships/hyperlink" Target="https://academic.oup.com/jrsssb/article/57/1/289/7035855" TargetMode="External"/><Relationship Id="rId40" Type="http://schemas.openxmlformats.org/officeDocument/2006/relationships/hyperlink" Target="https://www.microsoft.com/en-us/research/publication/diagnosing-sample-ratio-mismatch-in-online-controlled-experiments-a-taxonomy-and-rules-of-thumb-for-practitioners/" TargetMode="External"/><Relationship Id="rId5" Type="http://schemas.openxmlformats.org/officeDocument/2006/relationships/hyperlink" Target="https://mjrecord.tistory.com/39" TargetMode="External"/><Relationship Id="rId15" Type="http://schemas.openxmlformats.org/officeDocument/2006/relationships/hyperlink" Target="https://mjrecord.tistory.com/42" TargetMode="External"/><Relationship Id="rId23" Type="http://schemas.openxmlformats.org/officeDocument/2006/relationships/hyperlink" Target="https://medium.com/wantedjobs/a-b%ED%85%8C%EC%8A%A4%ED%8A%B8-%EA%B8%B0%EC%B4%88-what-why-how-6f571ddc19fc" TargetMode="External"/><Relationship Id="rId28" Type="http://schemas.openxmlformats.org/officeDocument/2006/relationships/hyperlink" Target="https://www.slideshare.net/slideshow/causal-inference-workshop-2022-applications-of-causal-inference-in-product-analytics/267698546" TargetMode="External"/><Relationship Id="rId36" Type="http://schemas.openxmlformats.org/officeDocument/2006/relationships/hyperlink" Target="https://www.stat.berkeley.edu/~aldous/Real_World/ASA_statement.pdf" TargetMode="External"/><Relationship Id="rId10" Type="http://schemas.openxmlformats.org/officeDocument/2006/relationships/hyperlink" Target="https://code-lab.tistory.com/entry/AB-%ED%85%8C%EC%8A%A4%ED%8A%B8%EC%97%90%EC%84%9C-%EA%B7%80%EB%AC%B4%EA%B0%80%EC%84%A4%EA%B3%BC-%EB%8C%80%EB%A6%BD%EA%B0%80%EC%84%A4-%EC%9D%B4%ED%95%B4%ED%95%98%EA%B8%B0-%EC%89%AC%EC%9A%B4-%EC%84%A4%EB%AA%85" TargetMode="External"/><Relationship Id="rId19" Type="http://schemas.openxmlformats.org/officeDocument/2006/relationships/hyperlink" Target="https://okpy.net/blog/choosing-unit-of-randomization" TargetMode="External"/><Relationship Id="rId31" Type="http://schemas.openxmlformats.org/officeDocument/2006/relationships/hyperlink" Target="https://www.nature.com/articles/nature11421" TargetMode="External"/><Relationship Id="rId44" Type="http://schemas.openxmlformats.org/officeDocument/2006/relationships/hyperlink" Target="https://walkingfox.tistory.com/205" TargetMode="External"/><Relationship Id="rId4" Type="http://schemas.openxmlformats.org/officeDocument/2006/relationships/hyperlink" Target="https://datarian.io/blog/experiment-bible-for-product-growth-1" TargetMode="External"/><Relationship Id="rId9" Type="http://schemas.openxmlformats.org/officeDocument/2006/relationships/hyperlink" Target="https://ljyljy0813.tistory.com/31" TargetMode="External"/><Relationship Id="rId14" Type="http://schemas.openxmlformats.org/officeDocument/2006/relationships/hyperlink" Target="https://ably.team/news/Z6xdlBIAAFGbReza" TargetMode="External"/><Relationship Id="rId22" Type="http://schemas.openxmlformats.org/officeDocument/2006/relationships/hyperlink" Target="https://medium.com/daangn/%EA%B5%AC%EA%B8%80-%EC%95%A0%EB%84%90%EB%A6%AC%ED%8B%B1%EC%8A%A4-a-b-%ED%85%8C%EC%8A%A4%ED%8A%B8-%ED%95%98%EA%B8%B0-%EC%BF%A0%ED%82%A4-demension-%ED%99%9C%EC%9A%A9-6f994e1247e8" TargetMode="External"/><Relationship Id="rId27" Type="http://schemas.openxmlformats.org/officeDocument/2006/relationships/hyperlink" Target="https://github.com/CausalInferenceLab/OCE-Materials/blob/main/%EB%B0%9C%ED%91%9C%20%EC%9E%90%EB%A3%8C/20240528_%EC%8B%A4%ED%97%98%EA%B0%84%EC%9D%98%20%EB%88%84%EC%B6%9C%20%EB%B0%8F%20%EA%B0%84%EC%84%AD.pdf" TargetMode="External"/><Relationship Id="rId30" Type="http://schemas.openxmlformats.org/officeDocument/2006/relationships/hyperlink" Target="https://pmc.ncbi.nlm.nih.gov/articles/PMC4115552" TargetMode="External"/><Relationship Id="rId35" Type="http://schemas.openxmlformats.org/officeDocument/2006/relationships/hyperlink" Target="https://exp-platform.com/cuped/" TargetMode="External"/><Relationship Id="rId43" Type="http://schemas.openxmlformats.org/officeDocument/2006/relationships/hyperlink" Target="https://mjrecord.tistory.com/40" TargetMode="External"/><Relationship Id="rId8" Type="http://schemas.openxmlformats.org/officeDocument/2006/relationships/hyperlink" Target="https://brunch.co.kr/@2sin1/13" TargetMode="External"/><Relationship Id="rId3" Type="http://schemas.openxmlformats.org/officeDocument/2006/relationships/hyperlink" Target="https://www.oracle.com/kr/cx/marketing/what-is-ab-testing/" TargetMode="External"/><Relationship Id="rId12" Type="http://schemas.openxmlformats.org/officeDocument/2006/relationships/hyperlink" Target="https://playinpap.github.io/summary-of-indicator-concepts-explained-by-bread/#metric-%EC%9D%B4%EB%9E%80" TargetMode="External"/><Relationship Id="rId17" Type="http://schemas.openxmlformats.org/officeDocument/2006/relationships/hyperlink" Target="https://blog.hackle.io/post/conquering-abtest-4" TargetMode="External"/><Relationship Id="rId25" Type="http://schemas.openxmlformats.org/officeDocument/2006/relationships/hyperlink" Target="https://experimentguide.com/" TargetMode="External"/><Relationship Id="rId33" Type="http://schemas.openxmlformats.org/officeDocument/2006/relationships/hyperlink" Target="https://www.cambridge.org/core/books/abs/trustworthy-online-controlled-experiments/ramping-experiment-exposure-trading-off-speed-quality-and-risk/1C177E1AAEDAFBF79840AFDFE15E7F5D" TargetMode="External"/><Relationship Id="rId38" Type="http://schemas.openxmlformats.org/officeDocument/2006/relationships/hyperlink" Target="https://github.com/CausalInferenceLab/OCE-Materials/blob/main/%EB%B0%9C%ED%91%9C%20%EC%9E%90%EB%A3%8C/20240507_A%3AA%20%ED%85%8C%EC%8A%A4%ED%8A%B8.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2011680"/>
            <a:ext cx="6949440" cy="1737360"/>
          </a:xfrm>
          <a:prstGeom prst="rect">
            <a:avLst/>
          </a:prstGeom>
          <a:noFill/>
          <a:ln/>
        </p:spPr>
        <p:txBody>
          <a:bodyPr wrap="square" lIns="0" tIns="0" rIns="0" bIns="0" rtlCol="0" anchor="b"/>
          <a:lstStyle/>
          <a:p>
            <a:pPr marL="0" indent="0" algn="l">
              <a:buNone/>
            </a:pPr>
            <a:r>
              <a:rPr lang="en-US" sz="4400" b="1" dirty="0">
                <a:solidFill>
                  <a:srgbClr val="FFFFFF"/>
                </a:solidFill>
              </a:rPr>
              <a:t>A/B 테스트</a:t>
            </a:r>
            <a:endParaRPr lang="en-US" sz="4400" dirty="0"/>
          </a:p>
          <a:p>
            <a:pPr marL="0" indent="0" algn="l">
              <a:buNone/>
            </a:pPr>
            <a:r>
              <a:rPr lang="en-US" sz="4400" b="1" dirty="0">
                <a:solidFill>
                  <a:srgbClr val="FFFFFF"/>
                </a:solidFill>
              </a:rPr>
              <a:t>설계 및 실습</a:t>
            </a:r>
            <a:endParaRPr lang="en-US" sz="4400" dirty="0"/>
          </a:p>
        </p:txBody>
      </p:sp>
      <p:sp>
        <p:nvSpPr>
          <p:cNvPr id="3" name="Text 0"/>
          <p:cNvSpPr>
            <a:spLocks noGrp="1"/>
          </p:cNvSpPr>
          <p:nvPr>
            <p:ph type="body" idx="101" hasCustomPrompt="1"/>
          </p:nvPr>
        </p:nvSpPr>
        <p:spPr>
          <a:xfrm>
            <a:off x="640080" y="3977640"/>
            <a:ext cx="6583680" cy="293146"/>
          </a:xfrm>
          <a:prstGeom prst="rect">
            <a:avLst/>
          </a:prstGeom>
          <a:noFill/>
          <a:ln/>
        </p:spPr>
        <p:txBody>
          <a:bodyPr wrap="square" lIns="0" tIns="0" rIns="0" bIns="0" rtlCol="0" anchor="t"/>
          <a:lstStyle/>
          <a:p>
            <a:pPr marL="0" indent="0" algn="l">
              <a:buNone/>
            </a:pPr>
            <a:r>
              <a:rPr lang="en-US" sz="2000" dirty="0" err="1">
                <a:solidFill>
                  <a:srgbClr val="AEB3CC"/>
                </a:solidFill>
              </a:rPr>
              <a:t>개선</a:t>
            </a:r>
            <a:r>
              <a:rPr lang="en-US" sz="2000" dirty="0">
                <a:solidFill>
                  <a:srgbClr val="AEB3CC"/>
                </a:solidFill>
              </a:rPr>
              <a:t>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txBody>
          <a:bodyPr/>
          <a:lstStyle/>
          <a:p>
            <a:endParaRPr lang="ko-KR" altLang="en-US"/>
          </a:p>
        </p:txBody>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txBody>
          <a:bodyPr/>
          <a:lstStyle/>
          <a:p>
            <a:endParaRPr lang="ko-KR" altLang="en-US"/>
          </a:p>
        </p:txBody>
      </p:sp>
      <p:sp>
        <p:nvSpPr>
          <p:cNvPr id="134" name="TextBox 133">
            <a:extLst>
              <a:ext uri="{FF2B5EF4-FFF2-40B4-BE49-F238E27FC236}">
                <a16:creationId xmlns:a16="http://schemas.microsoft.com/office/drawing/2014/main" id="{923A74D3-763C-859F-73E8-9CDD5C436306}"/>
              </a:ext>
            </a:extLst>
          </p:cNvPr>
          <p:cNvSpPr txBox="1"/>
          <p:nvPr/>
        </p:nvSpPr>
        <p:spPr>
          <a:xfrm>
            <a:off x="548573" y="4393721"/>
            <a:ext cx="3187091" cy="338554"/>
          </a:xfrm>
          <a:prstGeom prst="rect">
            <a:avLst/>
          </a:prstGeom>
          <a:noFill/>
        </p:spPr>
        <p:txBody>
          <a:bodyPr wrap="none" rtlCol="0">
            <a:spAutoFit/>
          </a:bodyPr>
          <a:lstStyle/>
          <a:p>
            <a:r>
              <a:rPr kumimoji="1" lang="ko-KR" altLang="en-US" sz="1600" dirty="0">
                <a:solidFill>
                  <a:schemeClr val="bg1"/>
                </a:solidFill>
              </a:rPr>
              <a:t>발표자</a:t>
            </a:r>
            <a:r>
              <a:rPr kumimoji="1" lang="en-US" altLang="ko-KR" sz="1600" dirty="0">
                <a:solidFill>
                  <a:schemeClr val="bg1"/>
                </a:solidFill>
              </a:rPr>
              <a:t>:</a:t>
            </a:r>
            <a:r>
              <a:rPr kumimoji="1" lang="ko-KR" altLang="en-US" sz="1600" dirty="0">
                <a:solidFill>
                  <a:schemeClr val="bg1"/>
                </a:solidFill>
              </a:rPr>
              <a:t> </a:t>
            </a:r>
            <a:r>
              <a:rPr kumimoji="1" lang="en-US" altLang="ko-KR" sz="1600" dirty="0">
                <a:solidFill>
                  <a:schemeClr val="bg1"/>
                </a:solidFill>
              </a:rPr>
              <a:t>25</a:t>
            </a:r>
            <a:r>
              <a:rPr kumimoji="1" lang="ko-KR" altLang="en-US" sz="1600" dirty="0">
                <a:solidFill>
                  <a:schemeClr val="bg1"/>
                </a:solidFill>
              </a:rPr>
              <a:t>기 이정연</a:t>
            </a:r>
            <a:r>
              <a:rPr kumimoji="1" lang="en-US" altLang="ko-KR" sz="1600" dirty="0">
                <a:solidFill>
                  <a:schemeClr val="bg1"/>
                </a:solidFill>
              </a:rPr>
              <a:t>,</a:t>
            </a:r>
            <a:r>
              <a:rPr kumimoji="1" lang="ko-KR" altLang="en-US" sz="1600" dirty="0">
                <a:solidFill>
                  <a:schemeClr val="bg1"/>
                </a:solidFill>
              </a:rPr>
              <a:t> </a:t>
            </a:r>
            <a:r>
              <a:rPr kumimoji="1" lang="en-US" altLang="ko-KR" sz="1600" dirty="0">
                <a:solidFill>
                  <a:schemeClr val="bg1"/>
                </a:solidFill>
              </a:rPr>
              <a:t>25</a:t>
            </a:r>
            <a:r>
              <a:rPr kumimoji="1" lang="ko-KR" altLang="en-US" sz="1600" dirty="0">
                <a:solidFill>
                  <a:schemeClr val="bg1"/>
                </a:solidFill>
              </a:rPr>
              <a:t>기 </a:t>
            </a:r>
            <a:r>
              <a:rPr kumimoji="1" lang="ko-KR" altLang="en-US" sz="1600" dirty="0" err="1">
                <a:solidFill>
                  <a:schemeClr val="bg1"/>
                </a:solidFill>
              </a:rPr>
              <a:t>이유민</a:t>
            </a:r>
            <a:endParaRPr kumimoji="1" lang="en-US" altLang="ko-KR" sz="1600"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오프닝</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marL="0" indent="0">
              <a:lnSpc>
                <a:spcPct val="115000"/>
              </a:lnSpc>
              <a:buNone/>
            </a:pPr>
            <a:r>
              <a:rPr lang="en-US" sz="3000" dirty="0">
                <a:solidFill>
                  <a:schemeClr val="tx1"/>
                </a:solidFill>
              </a:rPr>
              <a:t>개선 아이디어를 </a:t>
            </a:r>
            <a:r>
              <a:rPr lang="en-US" sz="3000" b="1" dirty="0">
                <a:solidFill>
                  <a:schemeClr val="accent1"/>
                </a:solidFill>
              </a:rPr>
              <a:t>검증 가능한 실험</a:t>
            </a:r>
            <a:r>
              <a:rPr lang="en-US" sz="3000" dirty="0">
                <a:solidFill>
                  <a:schemeClr val="tx1"/>
                </a:solidFill>
              </a:rPr>
              <a:t>으로 설계하고,</a:t>
            </a:r>
            <a:endParaRPr lang="en-US" sz="3000" dirty="0"/>
          </a:p>
          <a:p>
            <a:pPr marL="0" indent="0">
              <a:lnSpc>
                <a:spcPct val="115000"/>
              </a:lnSpc>
              <a:buNone/>
            </a:pPr>
            <a:r>
              <a:rPr lang="en-US" sz="3000" dirty="0">
                <a:solidFill>
                  <a:schemeClr val="tx1"/>
                </a:solidFill>
              </a:rPr>
              <a:t>결과를 </a:t>
            </a:r>
            <a:r>
              <a:rPr lang="en-US" sz="3000" dirty="0" err="1">
                <a:solidFill>
                  <a:schemeClr val="tx1"/>
                </a:solidFill>
              </a:rPr>
              <a:t>근거로</a:t>
            </a:r>
            <a:r>
              <a:rPr lang="en-US" sz="3000" dirty="0">
                <a:solidFill>
                  <a:schemeClr val="tx1"/>
                </a:solidFill>
              </a:rPr>
              <a:t> </a:t>
            </a:r>
            <a:r>
              <a:rPr lang="en-US" sz="3000" b="1" dirty="0" err="1">
                <a:solidFill>
                  <a:schemeClr val="accent1"/>
                </a:solidFill>
              </a:rPr>
              <a:t>배포한다</a:t>
            </a:r>
            <a:r>
              <a:rPr lang="en-US" sz="3000" b="1" dirty="0">
                <a:solidFill>
                  <a:schemeClr val="accent1"/>
                </a:solidFill>
              </a:rPr>
              <a:t> / 안 한다</a:t>
            </a: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marL="0" indent="0">
              <a:buNone/>
            </a:pPr>
            <a:r>
              <a:rPr lang="en-US" sz="2000" b="1" dirty="0">
                <a:solidFill>
                  <a:schemeClr val="tx1"/>
                </a:solidFill>
              </a:rPr>
              <a:t>SQL</a:t>
            </a:r>
            <a:endParaRPr lang="en-US" sz="1500" dirty="0"/>
          </a:p>
          <a:p>
            <a:pPr marL="0" indent="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txBody>
          <a:bodyPr/>
          <a:lstStyle/>
          <a:p>
            <a:endParaRPr lang="ko-KR" altLang="en-US"/>
          </a:p>
        </p:txBody>
      </p:sp>
      <p:sp>
        <p:nvSpPr>
          <p:cNvPr id="8" name="Text 5"/>
          <p:cNvSpPr txBox="1"/>
          <p:nvPr/>
        </p:nvSpPr>
        <p:spPr>
          <a:xfrm>
            <a:off x="3474720" y="4206240"/>
            <a:ext cx="2514600" cy="914400"/>
          </a:xfrm>
          <a:prstGeom prst="rect">
            <a:avLst/>
          </a:prstGeom>
          <a:noFill/>
          <a:ln/>
        </p:spPr>
        <p:txBody>
          <a:bodyPr wrap="square" lIns="0" tIns="0" rIns="0" bIns="0" rtlCol="0" anchor="t"/>
          <a:lstStyle/>
          <a:p>
            <a:pPr marL="0" indent="0">
              <a:buNone/>
            </a:pPr>
            <a:r>
              <a:rPr lang="en-US" sz="2000" b="1" dirty="0">
                <a:solidFill>
                  <a:schemeClr val="tx1"/>
                </a:solidFill>
              </a:rPr>
              <a:t>시각화</a:t>
            </a:r>
            <a:endParaRPr lang="en-US" sz="1500" dirty="0"/>
          </a:p>
          <a:p>
            <a:pPr marL="0" indent="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txBody>
          <a:bodyPr/>
          <a:lstStyle/>
          <a:p>
            <a:endParaRPr lang="ko-KR" altLang="en-US"/>
          </a:p>
        </p:txBody>
      </p:sp>
      <p:sp>
        <p:nvSpPr>
          <p:cNvPr id="10" name="Text 7"/>
          <p:cNvSpPr txBox="1"/>
          <p:nvPr/>
        </p:nvSpPr>
        <p:spPr>
          <a:xfrm>
            <a:off x="6309360" y="4206240"/>
            <a:ext cx="2514600" cy="914400"/>
          </a:xfrm>
          <a:prstGeom prst="rect">
            <a:avLst/>
          </a:prstGeom>
          <a:noFill/>
          <a:ln/>
        </p:spPr>
        <p:txBody>
          <a:bodyPr wrap="square" lIns="0" tIns="0" rIns="0" bIns="0" rtlCol="0" anchor="t"/>
          <a:lstStyle/>
          <a:p>
            <a:pPr marL="0" indent="0">
              <a:buNone/>
            </a:pPr>
            <a:r>
              <a:rPr lang="en-US" sz="2000" b="1" dirty="0">
                <a:solidFill>
                  <a:schemeClr val="tx1"/>
                </a:solidFill>
              </a:rPr>
              <a:t>그로스</a:t>
            </a:r>
            <a:endParaRPr lang="en-US" sz="1500" dirty="0"/>
          </a:p>
          <a:p>
            <a:pPr marL="0" indent="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txBody>
          <a:bodyPr/>
          <a:lstStyle/>
          <a:p>
            <a:endParaRPr lang="ko-KR" altLang="en-US"/>
          </a:p>
        </p:txBody>
      </p:sp>
      <p:sp>
        <p:nvSpPr>
          <p:cNvPr id="12" name="Text 9"/>
          <p:cNvSpPr txBox="1"/>
          <p:nvPr/>
        </p:nvSpPr>
        <p:spPr>
          <a:xfrm>
            <a:off x="9144000" y="4206240"/>
            <a:ext cx="2514600" cy="914400"/>
          </a:xfrm>
          <a:prstGeom prst="rect">
            <a:avLst/>
          </a:prstGeom>
          <a:noFill/>
          <a:ln/>
        </p:spPr>
        <p:txBody>
          <a:bodyPr wrap="square" lIns="0" tIns="0" rIns="0" bIns="0" rtlCol="0" anchor="t"/>
          <a:lstStyle/>
          <a:p>
            <a:pPr marL="0" indent="0">
              <a:buNone/>
            </a:pPr>
            <a:r>
              <a:rPr lang="en-US" sz="2000" b="1" dirty="0">
                <a:solidFill>
                  <a:schemeClr val="accent1"/>
                </a:solidFill>
              </a:rPr>
              <a:t>A/B 테스트</a:t>
            </a:r>
            <a:endParaRPr lang="en-US" sz="1500" dirty="0"/>
          </a:p>
          <a:p>
            <a:pPr marL="0" indent="0">
              <a:buNone/>
            </a:pPr>
            <a:r>
              <a:rPr lang="en-US" sz="1500" dirty="0">
                <a:solidFill>
                  <a:schemeClr val="tx2"/>
                </a:solidFill>
              </a:rPr>
              <a:t>검증한다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오프닝</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ko-KR" altLang="en-US" sz="2000" b="1" dirty="0">
                <a:solidFill>
                  <a:srgbClr val="1B1F3B"/>
                </a:solidFill>
              </a:rPr>
              <a:t>목차</a:t>
            </a:r>
            <a:endParaRPr lang="en-US" sz="2000" dirty="0"/>
          </a:p>
        </p:txBody>
      </p:sp>
      <p:sp>
        <p:nvSpPr>
          <p:cNvPr id="5" name="Text 2"/>
          <p:cNvSpPr txBox="1"/>
          <p:nvPr/>
        </p:nvSpPr>
        <p:spPr>
          <a:xfrm>
            <a:off x="655624" y="2606040"/>
            <a:ext cx="2094525" cy="822960"/>
          </a:xfrm>
          <a:prstGeom prst="rect">
            <a:avLst/>
          </a:prstGeom>
          <a:noFill/>
          <a:ln/>
        </p:spPr>
        <p:txBody>
          <a:bodyPr wrap="square" lIns="0" tIns="0" rIns="0" bIns="0" rtlCol="0" anchor="t"/>
          <a:lstStyle/>
          <a:p>
            <a:pPr marL="0" indent="0">
              <a:buNone/>
            </a:pPr>
            <a:r>
              <a:rPr lang="en-US" sz="1400" b="1" dirty="0">
                <a:solidFill>
                  <a:schemeClr val="accent1"/>
                </a:solidFill>
              </a:rPr>
              <a:t>Ch1</a:t>
            </a:r>
            <a:endParaRPr lang="en-US" sz="1500" dirty="0"/>
          </a:p>
          <a:p>
            <a:pPr marL="0" indent="0">
              <a:buNone/>
            </a:pPr>
            <a:r>
              <a:rPr lang="en-US" sz="1500" b="1" dirty="0">
                <a:solidFill>
                  <a:schemeClr val="tx1"/>
                </a:solidFill>
              </a:rPr>
              <a:t>실험과 인과추론</a:t>
            </a:r>
            <a:endParaRPr lang="en-US" sz="1500" dirty="0"/>
          </a:p>
        </p:txBody>
      </p:sp>
      <p:sp>
        <p:nvSpPr>
          <p:cNvPr id="6" name="Shape 3"/>
          <p:cNvSpPr/>
          <p:nvPr/>
        </p:nvSpPr>
        <p:spPr>
          <a:xfrm>
            <a:off x="655624" y="3657600"/>
            <a:ext cx="2094525" cy="0"/>
          </a:xfrm>
          <a:prstGeom prst="line">
            <a:avLst/>
          </a:prstGeom>
          <a:noFill/>
          <a:ln w="76200">
            <a:solidFill>
              <a:srgbClr val="3A5BFF"/>
            </a:solidFill>
            <a:prstDash val="solid"/>
          </a:ln>
        </p:spPr>
        <p:txBody>
          <a:bodyPr/>
          <a:lstStyle/>
          <a:p>
            <a:endParaRPr lang="ko-KR" altLang="en-US"/>
          </a:p>
        </p:txBody>
      </p:sp>
      <p:sp>
        <p:nvSpPr>
          <p:cNvPr id="7" name="Text 4"/>
          <p:cNvSpPr txBox="1"/>
          <p:nvPr/>
        </p:nvSpPr>
        <p:spPr>
          <a:xfrm>
            <a:off x="2859877" y="2606040"/>
            <a:ext cx="2094525" cy="822960"/>
          </a:xfrm>
          <a:prstGeom prst="rect">
            <a:avLst/>
          </a:prstGeom>
          <a:noFill/>
          <a:ln/>
        </p:spPr>
        <p:txBody>
          <a:bodyPr wrap="square" lIns="0" tIns="0" rIns="0" bIns="0" rtlCol="0" anchor="t"/>
          <a:lstStyle/>
          <a:p>
            <a:pPr marL="0" indent="0">
              <a:buNone/>
            </a:pPr>
            <a:r>
              <a:rPr lang="en-US" sz="1400" b="1" dirty="0">
                <a:solidFill>
                  <a:schemeClr val="accent1"/>
                </a:solidFill>
              </a:rPr>
              <a:t>Ch2</a:t>
            </a:r>
            <a:endParaRPr lang="en-US" sz="1500" dirty="0"/>
          </a:p>
          <a:p>
            <a:pPr marL="0" indent="0">
              <a:buNone/>
            </a:pPr>
            <a:r>
              <a:rPr lang="en-US" sz="1500" b="1" dirty="0">
                <a:solidFill>
                  <a:schemeClr val="tx1"/>
                </a:solidFill>
              </a:rPr>
              <a:t>설계의 핵심 구성요소</a:t>
            </a:r>
            <a:endParaRPr lang="en-US" sz="1500" dirty="0"/>
          </a:p>
        </p:txBody>
      </p:sp>
      <p:sp>
        <p:nvSpPr>
          <p:cNvPr id="8" name="Shape 5"/>
          <p:cNvSpPr/>
          <p:nvPr/>
        </p:nvSpPr>
        <p:spPr>
          <a:xfrm>
            <a:off x="2859877" y="3657600"/>
            <a:ext cx="2094525" cy="0"/>
          </a:xfrm>
          <a:prstGeom prst="line">
            <a:avLst/>
          </a:prstGeom>
          <a:noFill/>
          <a:ln w="76200">
            <a:solidFill>
              <a:srgbClr val="3A5BFF"/>
            </a:solidFill>
            <a:prstDash val="solid"/>
          </a:ln>
        </p:spPr>
        <p:txBody>
          <a:bodyPr/>
          <a:lstStyle/>
          <a:p>
            <a:endParaRPr lang="ko-KR" altLang="en-US"/>
          </a:p>
        </p:txBody>
      </p:sp>
      <p:sp>
        <p:nvSpPr>
          <p:cNvPr id="9" name="Text 6"/>
          <p:cNvSpPr txBox="1"/>
          <p:nvPr/>
        </p:nvSpPr>
        <p:spPr>
          <a:xfrm>
            <a:off x="5064129" y="2606040"/>
            <a:ext cx="2094525" cy="822960"/>
          </a:xfrm>
          <a:prstGeom prst="rect">
            <a:avLst/>
          </a:prstGeom>
          <a:noFill/>
          <a:ln/>
        </p:spPr>
        <p:txBody>
          <a:bodyPr wrap="square" lIns="0" tIns="0" rIns="0" bIns="0" rtlCol="0" anchor="t"/>
          <a:lstStyle/>
          <a:p>
            <a:pPr marL="0" indent="0">
              <a:buNone/>
            </a:pPr>
            <a:r>
              <a:rPr lang="en-US" sz="1400" b="1" dirty="0">
                <a:solidFill>
                  <a:schemeClr val="accent1"/>
                </a:solidFill>
              </a:rPr>
              <a:t>Ch3</a:t>
            </a:r>
            <a:endParaRPr lang="en-US" sz="1500" dirty="0"/>
          </a:p>
          <a:p>
            <a:pPr marL="0" indent="0">
              <a:buNone/>
            </a:pPr>
            <a:r>
              <a:rPr lang="en-US" sz="1500" b="1" dirty="0">
                <a:solidFill>
                  <a:schemeClr val="tx1"/>
                </a:solidFill>
              </a:rPr>
              <a:t>실행과 통계 분석</a:t>
            </a:r>
            <a:endParaRPr lang="en-US" sz="1500" dirty="0"/>
          </a:p>
        </p:txBody>
      </p:sp>
      <p:sp>
        <p:nvSpPr>
          <p:cNvPr id="10" name="Shape 7"/>
          <p:cNvSpPr/>
          <p:nvPr/>
        </p:nvSpPr>
        <p:spPr>
          <a:xfrm>
            <a:off x="5064129" y="3657600"/>
            <a:ext cx="2094525" cy="0"/>
          </a:xfrm>
          <a:prstGeom prst="line">
            <a:avLst/>
          </a:prstGeom>
          <a:noFill/>
          <a:ln w="76200">
            <a:solidFill>
              <a:srgbClr val="3A5BFF"/>
            </a:solidFill>
            <a:prstDash val="solid"/>
          </a:ln>
        </p:spPr>
        <p:txBody>
          <a:bodyPr/>
          <a:lstStyle/>
          <a:p>
            <a:endParaRPr lang="ko-KR" altLang="en-US"/>
          </a:p>
        </p:txBody>
      </p:sp>
      <p:sp>
        <p:nvSpPr>
          <p:cNvPr id="11" name="Text 8"/>
          <p:cNvSpPr txBox="1"/>
          <p:nvPr/>
        </p:nvSpPr>
        <p:spPr>
          <a:xfrm>
            <a:off x="7268382" y="2606040"/>
            <a:ext cx="2094525" cy="822960"/>
          </a:xfrm>
          <a:prstGeom prst="rect">
            <a:avLst/>
          </a:prstGeom>
          <a:noFill/>
          <a:ln/>
        </p:spPr>
        <p:txBody>
          <a:bodyPr wrap="square" lIns="0" tIns="0" rIns="0" bIns="0" rtlCol="0" anchor="t"/>
          <a:lstStyle/>
          <a:p>
            <a:pPr marL="0" indent="0">
              <a:buNone/>
            </a:pPr>
            <a:r>
              <a:rPr lang="en-US" sz="1400" b="1" dirty="0">
                <a:solidFill>
                  <a:schemeClr val="accent1"/>
                </a:solidFill>
              </a:rPr>
              <a:t>Ch4</a:t>
            </a:r>
            <a:endParaRPr lang="en-US" sz="1500" dirty="0"/>
          </a:p>
          <a:p>
            <a:pPr marL="0" indent="0">
              <a:buNone/>
            </a:pPr>
            <a:r>
              <a:rPr lang="en-US" sz="1500" b="1" dirty="0">
                <a:solidFill>
                  <a:schemeClr val="tx1"/>
                </a:solidFill>
              </a:rPr>
              <a:t>실무 함정과 고급 설계</a:t>
            </a:r>
            <a:endParaRPr lang="en-US" sz="1500" dirty="0"/>
          </a:p>
        </p:txBody>
      </p:sp>
      <p:sp>
        <p:nvSpPr>
          <p:cNvPr id="12" name="Shape 9"/>
          <p:cNvSpPr/>
          <p:nvPr/>
        </p:nvSpPr>
        <p:spPr>
          <a:xfrm>
            <a:off x="7268382" y="3657600"/>
            <a:ext cx="2094525" cy="0"/>
          </a:xfrm>
          <a:prstGeom prst="line">
            <a:avLst/>
          </a:prstGeom>
          <a:noFill/>
          <a:ln w="76200">
            <a:solidFill>
              <a:srgbClr val="3A5BFF"/>
            </a:solidFill>
            <a:prstDash val="solid"/>
          </a:ln>
        </p:spPr>
        <p:txBody>
          <a:bodyPr/>
          <a:lstStyle/>
          <a:p>
            <a:endParaRPr lang="ko-KR" altLang="en-US"/>
          </a:p>
        </p:txBody>
      </p:sp>
      <p:sp>
        <p:nvSpPr>
          <p:cNvPr id="13" name="Text 10"/>
          <p:cNvSpPr txBox="1"/>
          <p:nvPr/>
        </p:nvSpPr>
        <p:spPr>
          <a:xfrm>
            <a:off x="9472635" y="2606040"/>
            <a:ext cx="2094525" cy="822960"/>
          </a:xfrm>
          <a:prstGeom prst="rect">
            <a:avLst/>
          </a:prstGeom>
          <a:noFill/>
          <a:ln/>
        </p:spPr>
        <p:txBody>
          <a:bodyPr wrap="square" lIns="0" tIns="0" rIns="0" bIns="0" rtlCol="0" anchor="t"/>
          <a:lstStyle/>
          <a:p>
            <a:pPr marL="0" indent="0">
              <a:buNone/>
            </a:pPr>
            <a:r>
              <a:rPr lang="en-US" sz="1400" b="1" dirty="0">
                <a:solidFill>
                  <a:schemeClr val="accent1"/>
                </a:solidFill>
              </a:rPr>
              <a:t>Ch5</a:t>
            </a:r>
            <a:endParaRPr lang="en-US" sz="1500" dirty="0"/>
          </a:p>
          <a:p>
            <a:pPr marL="0" indent="0">
              <a:buNone/>
            </a:pPr>
            <a:r>
              <a:rPr lang="en-US" sz="1500" b="1" dirty="0">
                <a:solidFill>
                  <a:schemeClr val="tx1"/>
                </a:solidFill>
              </a:rPr>
              <a:t>사례·문화·의사결정</a:t>
            </a:r>
            <a:endParaRPr lang="en-US" sz="1500" dirty="0"/>
          </a:p>
        </p:txBody>
      </p:sp>
      <p:sp>
        <p:nvSpPr>
          <p:cNvPr id="14" name="Shape 11"/>
          <p:cNvSpPr/>
          <p:nvPr/>
        </p:nvSpPr>
        <p:spPr>
          <a:xfrm>
            <a:off x="9472635" y="3657600"/>
            <a:ext cx="2094525" cy="0"/>
          </a:xfrm>
          <a:prstGeom prst="line">
            <a:avLst/>
          </a:prstGeom>
          <a:noFill/>
          <a:ln w="76200">
            <a:solidFill>
              <a:srgbClr val="3A5BFF"/>
            </a:solidFill>
            <a:prstDash val="solid"/>
          </a:ln>
        </p:spPr>
        <p:txBody>
          <a:bodyPr/>
          <a:lstStyle/>
          <a:p>
            <a:endParaRPr lang="ko-KR" altLang="en-US"/>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371600"/>
            <a:ext cx="3657600" cy="1463040"/>
          </a:xfrm>
          <a:prstGeom prst="rect">
            <a:avLst/>
          </a:prstGeom>
          <a:noFill/>
          <a:ln/>
        </p:spPr>
        <p:txBody>
          <a:bodyPr wrap="square" lIns="0" tIns="0" rIns="0" bIns="0" rtlCol="0" anchor="b"/>
          <a:lstStyle/>
          <a:p>
            <a:pPr marL="0" indent="0" algn="l">
              <a:buNone/>
            </a:pPr>
            <a:r>
              <a:rPr lang="en-US" sz="9600" b="1" dirty="0">
                <a:solidFill>
                  <a:srgbClr val="7B93FF"/>
                </a:solidFill>
              </a:rPr>
              <a:t>01</a:t>
            </a:r>
            <a:endParaRPr lang="en-US" sz="9600" dirty="0"/>
          </a:p>
        </p:txBody>
      </p:sp>
      <p:sp>
        <p:nvSpPr>
          <p:cNvPr id="3" name="Text 0"/>
          <p:cNvSpPr>
            <a:spLocks noGrp="1"/>
          </p:cNvSpPr>
          <p:nvPr>
            <p:ph type="title" idx="101" hasCustomPrompt="1"/>
          </p:nvPr>
        </p:nvSpPr>
        <p:spPr>
          <a:xfrm>
            <a:off x="640080" y="3017520"/>
            <a:ext cx="10058400" cy="914400"/>
          </a:xfrm>
          <a:prstGeom prst="rect">
            <a:avLst/>
          </a:prstGeom>
          <a:noFill/>
          <a:ln/>
        </p:spPr>
        <p:txBody>
          <a:bodyPr wrap="square" lIns="0" tIns="0" rIns="0" bIns="0" rtlCol="0" anchor="t"/>
          <a:lstStyle/>
          <a:p>
            <a:pPr marL="0" indent="0" algn="l">
              <a:buNone/>
            </a:pPr>
            <a:r>
              <a:rPr lang="en-US" sz="4000" b="1" dirty="0">
                <a:solidFill>
                  <a:srgbClr val="FFFFFF"/>
                </a:solidFill>
              </a:rPr>
              <a:t>실험 설계의 기초와 인과추론</a:t>
            </a:r>
            <a:endParaRPr lang="en-US" sz="4000" dirty="0"/>
          </a:p>
        </p:txBody>
      </p:sp>
      <p:sp>
        <p:nvSpPr>
          <p:cNvPr id="4" name="Text 0"/>
          <p:cNvSpPr>
            <a:spLocks noGrp="1"/>
          </p:cNvSpPr>
          <p:nvPr>
            <p:ph type="body" idx="102" hasCustomPrompt="1"/>
          </p:nvPr>
        </p:nvSpPr>
        <p:spPr>
          <a:xfrm>
            <a:off x="640080" y="4069080"/>
            <a:ext cx="10058400" cy="731520"/>
          </a:xfrm>
          <a:prstGeom prst="rect">
            <a:avLst/>
          </a:prstGeom>
          <a:noFill/>
          <a:ln/>
        </p:spPr>
        <p:txBody>
          <a:bodyPr wrap="square" lIns="0" tIns="0" rIns="0" bIns="0" rtlCol="0" anchor="t"/>
          <a:lstStyle/>
          <a:p>
            <a:pPr marL="0" indent="0" algn="l">
              <a:buNone/>
            </a:pPr>
            <a:r>
              <a:rPr lang="en-US" sz="2000" dirty="0">
                <a:solidFill>
                  <a:srgbClr val="AEB3CC"/>
                </a:solidFill>
              </a:rPr>
              <a:t>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Ch1 · 오프닝 질문</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marL="0" indent="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marL="0" indent="0">
              <a:buNone/>
            </a:pPr>
            <a:r>
              <a:rPr lang="en-US" sz="1500" dirty="0">
                <a:solidFill>
                  <a:schemeClr val="tx2"/>
                </a:solidFill>
              </a:rPr>
              <a:t>새 장바구니 화면 배포 전 2주 vs 배포 후 2주</a:t>
            </a:r>
            <a:endParaRPr lang="en-US" sz="1500" dirty="0"/>
          </a:p>
          <a:p>
            <a:pPr marL="0" indent="0">
              <a:buNone/>
            </a:pPr>
            <a:r>
              <a:rPr lang="en-US" sz="1500" dirty="0" err="1">
                <a:solidFill>
                  <a:schemeClr val="tx2"/>
                </a:solidFill>
              </a:rPr>
              <a:t>결제</a:t>
            </a:r>
            <a:r>
              <a:rPr lang="en-US" sz="1500" dirty="0">
                <a:solidFill>
                  <a:schemeClr val="tx2"/>
                </a:solidFill>
              </a:rPr>
              <a:t> </a:t>
            </a:r>
            <a:r>
              <a:rPr lang="en-US" sz="1500" dirty="0" err="1">
                <a:solidFill>
                  <a:schemeClr val="tx2"/>
                </a:solidFill>
              </a:rPr>
              <a:t>전환율</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marL="0" indent="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marL="0" indent="0">
              <a:buNone/>
            </a:pPr>
            <a:r>
              <a:rPr lang="en-US" sz="2000" dirty="0">
                <a:solidFill>
                  <a:schemeClr val="tx1"/>
                </a:solidFill>
              </a:rPr>
              <a:t>전후 비교로는 </a:t>
            </a:r>
            <a:r>
              <a:rPr lang="en-US" sz="2000" b="1" dirty="0">
                <a:solidFill>
                  <a:schemeClr val="accent4"/>
                </a:solidFill>
              </a:rPr>
              <a:t>무엇 때문에</a:t>
            </a:r>
            <a:r>
              <a:rPr lang="en-US" sz="2000" dirty="0">
                <a:solidFill>
                  <a:schemeClr val="tx1"/>
                </a:solidFill>
              </a:rPr>
              <a:t> 올랐는지 가를 수 없다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Ch1 · 상관관계 vs 인과관계</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txBody>
          <a:bodyPr/>
          <a:lstStyle/>
          <a:p>
            <a:endParaRPr lang="ko-KR" altLang="en-US"/>
          </a:p>
        </p:txBody>
      </p:sp>
      <p:sp>
        <p:nvSpPr>
          <p:cNvPr id="6" name="Text 3"/>
          <p:cNvSpPr txBox="1"/>
          <p:nvPr/>
        </p:nvSpPr>
        <p:spPr>
          <a:xfrm>
            <a:off x="4069080" y="1965960"/>
            <a:ext cx="2377440" cy="731520"/>
          </a:xfrm>
          <a:prstGeom prst="rect">
            <a:avLst/>
          </a:prstGeom>
          <a:noFill/>
          <a:ln/>
        </p:spPr>
        <p:txBody>
          <a:bodyPr wrap="square" lIns="0" tIns="0" rIns="0" bIns="0" rtlCol="0" anchor="t"/>
          <a:lstStyle/>
          <a:p>
            <a:pPr marL="0" indent="0">
              <a:buNone/>
            </a:pPr>
            <a:r>
              <a:rPr lang="en-US" sz="2000" b="1" dirty="0">
                <a:solidFill>
                  <a:schemeClr val="tx1"/>
                </a:solidFill>
              </a:rPr>
              <a:t>충성도</a:t>
            </a:r>
            <a:endParaRPr lang="en-US" sz="1500" dirty="0"/>
          </a:p>
          <a:p>
            <a:pPr marL="0" indent="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txBody>
          <a:bodyPr/>
          <a:lstStyle/>
          <a:p>
            <a:endParaRPr lang="ko-KR" altLang="en-US"/>
          </a:p>
        </p:txBody>
      </p:sp>
      <p:sp>
        <p:nvSpPr>
          <p:cNvPr id="8" name="Text 5"/>
          <p:cNvSpPr txBox="1"/>
          <p:nvPr/>
        </p:nvSpPr>
        <p:spPr>
          <a:xfrm>
            <a:off x="1417320" y="4206240"/>
            <a:ext cx="2194560" cy="457200"/>
          </a:xfrm>
          <a:prstGeom prst="rect">
            <a:avLst/>
          </a:prstGeom>
          <a:noFill/>
          <a:ln/>
        </p:spPr>
        <p:txBody>
          <a:bodyPr wrap="square" lIns="0" tIns="0" rIns="0" bIns="0" rtlCol="0" anchor="t"/>
          <a:lstStyle/>
          <a:p>
            <a:pPr marL="0" indent="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txBody>
          <a:bodyPr/>
          <a:lstStyle/>
          <a:p>
            <a:endParaRPr lang="ko-KR" altLang="en-US"/>
          </a:p>
        </p:txBody>
      </p:sp>
      <p:sp>
        <p:nvSpPr>
          <p:cNvPr id="10" name="Text 7"/>
          <p:cNvSpPr txBox="1"/>
          <p:nvPr/>
        </p:nvSpPr>
        <p:spPr>
          <a:xfrm>
            <a:off x="6720840" y="4206240"/>
            <a:ext cx="2194560" cy="457200"/>
          </a:xfrm>
          <a:prstGeom prst="rect">
            <a:avLst/>
          </a:prstGeom>
          <a:noFill/>
          <a:ln/>
        </p:spPr>
        <p:txBody>
          <a:bodyPr wrap="square" lIns="0" tIns="0" rIns="0" bIns="0" rtlCol="0" anchor="t"/>
          <a:lstStyle/>
          <a:p>
            <a:pPr marL="0" indent="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txBody>
          <a:bodyPr/>
          <a:lstStyle/>
          <a:p>
            <a:endParaRPr lang="ko-KR" altLang="en-US"/>
          </a:p>
        </p:txBody>
      </p:sp>
      <p:sp>
        <p:nvSpPr>
          <p:cNvPr id="12" name="Shape 9"/>
          <p:cNvSpPr/>
          <p:nvPr/>
        </p:nvSpPr>
        <p:spPr>
          <a:xfrm>
            <a:off x="4572000" y="2743200"/>
            <a:ext cx="1920240" cy="1280160"/>
          </a:xfrm>
          <a:prstGeom prst="line">
            <a:avLst/>
          </a:prstGeom>
          <a:noFill/>
          <a:ln w="25400">
            <a:solidFill>
              <a:srgbClr val="B87700"/>
            </a:solidFill>
            <a:prstDash val="solid"/>
            <a:tailEnd type="triangle"/>
          </a:ln>
        </p:spPr>
        <p:txBody>
          <a:bodyPr/>
          <a:lstStyle/>
          <a:p>
            <a:endParaRPr lang="ko-KR" altLang="en-US"/>
          </a:p>
        </p:txBody>
      </p:sp>
      <p:sp>
        <p:nvSpPr>
          <p:cNvPr id="13" name="Shape 10"/>
          <p:cNvSpPr/>
          <p:nvPr/>
        </p:nvSpPr>
        <p:spPr>
          <a:xfrm>
            <a:off x="3017520" y="4315968"/>
            <a:ext cx="3200400" cy="0"/>
          </a:xfrm>
          <a:prstGeom prst="line">
            <a:avLst/>
          </a:prstGeom>
          <a:noFill/>
          <a:ln w="25400">
            <a:solidFill>
              <a:srgbClr val="8A90A8"/>
            </a:solidFill>
            <a:prstDash val="dash"/>
            <a:tailEnd type="triangle"/>
          </a:ln>
        </p:spPr>
        <p:txBody>
          <a:bodyPr/>
          <a:lstStyle/>
          <a:p>
            <a:endParaRPr lang="ko-KR" altLang="en-US"/>
          </a:p>
        </p:txBody>
      </p:sp>
      <p:sp>
        <p:nvSpPr>
          <p:cNvPr id="14" name="Text 11"/>
          <p:cNvSpPr txBox="1"/>
          <p:nvPr/>
        </p:nvSpPr>
        <p:spPr>
          <a:xfrm>
            <a:off x="4434840" y="4434840"/>
            <a:ext cx="457200" cy="457200"/>
          </a:xfrm>
          <a:prstGeom prst="rect">
            <a:avLst/>
          </a:prstGeom>
          <a:noFill/>
          <a:ln/>
        </p:spPr>
        <p:txBody>
          <a:bodyPr wrap="square" lIns="0" tIns="0" rIns="0" bIns="0" rtlCol="0" anchor="t"/>
          <a:lstStyle/>
          <a:p>
            <a:pPr marL="0" indent="0" algn="ctr">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marL="0" indent="0">
              <a:buNone/>
            </a:pPr>
            <a:r>
              <a:rPr lang="en-US" sz="2000" b="1" dirty="0">
                <a:solidFill>
                  <a:schemeClr val="accent5"/>
                </a:solidFill>
              </a:rPr>
              <a:t>Confounding</a:t>
            </a:r>
            <a:endParaRPr lang="en-US" sz="1500" dirty="0"/>
          </a:p>
          <a:p>
            <a:pPr marL="0" indent="0">
              <a:spcAft>
                <a:spcPts val="1400"/>
              </a:spcAft>
              <a:buNone/>
            </a:pPr>
            <a:r>
              <a:rPr lang="en-US" sz="1500" dirty="0">
                <a:solidFill>
                  <a:schemeClr val="tx2"/>
                </a:solidFill>
              </a:rPr>
              <a:t>두 변수를 동시에 움직이는 제3의 변수</a:t>
            </a:r>
            <a:endParaRPr lang="en-US" sz="1500" dirty="0"/>
          </a:p>
          <a:p>
            <a:pPr marL="0" indent="0">
              <a:buNone/>
            </a:pPr>
            <a:r>
              <a:rPr lang="en-US" sz="2000" b="1" dirty="0">
                <a:solidFill>
                  <a:schemeClr val="accent5"/>
                </a:solidFill>
              </a:rPr>
              <a:t>Selection Bias</a:t>
            </a:r>
            <a:endParaRPr lang="en-US" sz="1500" dirty="0"/>
          </a:p>
          <a:p>
            <a:pPr marL="0" indent="0">
              <a:spcAft>
                <a:spcPts val="1400"/>
              </a:spcAft>
              <a:buNone/>
            </a:pPr>
            <a:r>
              <a:rPr lang="en-US" sz="1500" dirty="0">
                <a:solidFill>
                  <a:schemeClr val="tx2"/>
                </a:solidFill>
              </a:rPr>
              <a:t>처치를 스스로 고른 사람은 처음부터 다르다</a:t>
            </a:r>
            <a:endParaRPr lang="en-US" sz="1500" dirty="0"/>
          </a:p>
          <a:p>
            <a:pPr marL="0" indent="0">
              <a:buNone/>
            </a:pPr>
            <a:r>
              <a:rPr lang="en-US" sz="2000" b="1" dirty="0">
                <a:solidFill>
                  <a:schemeClr val="tx1"/>
                </a:solidFill>
              </a:rPr>
              <a:t>확인할 수 있는 것</a:t>
            </a:r>
            <a:endParaRPr lang="en-US" sz="1500" dirty="0"/>
          </a:p>
          <a:p>
            <a:pPr marL="0" indent="0">
              <a:buNone/>
            </a:pPr>
            <a:r>
              <a:rPr lang="en-US" sz="1500" dirty="0">
                <a:solidFill>
                  <a:schemeClr val="tx2"/>
                </a:solidFill>
              </a:rPr>
              <a:t>새 기능 사용 ↔ 낮은 이탈률 (상관)</a:t>
            </a:r>
            <a:endParaRPr lang="en-US" sz="1500" dirty="0"/>
          </a:p>
          <a:p>
            <a:pPr marL="0" indent="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Ch1 · Potential Outcomes Framework</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2286000"/>
        </p:xfrm>
        <a:graphic>
          <a:graphicData uri="http://schemas.openxmlformats.org/drawingml/2006/table">
            <a:tbl>
              <a:tblPr/>
              <a:tblGrid>
                <a:gridCol w="12801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57200">
                <a:tc>
                  <a:txBody>
                    <a:bodyPr/>
                    <a:lstStyle/>
                    <a:p>
                      <a:pPr marL="0" indent="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457200">
                <a:tc>
                  <a:txBody>
                    <a:bodyPr/>
                    <a:lstStyle/>
                    <a:p>
                      <a:pPr marL="0" indent="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marL="0" indent="0">
              <a:buNone/>
            </a:pPr>
            <a:r>
              <a:rPr lang="en-US" sz="2000" b="1" dirty="0">
                <a:solidFill>
                  <a:schemeClr val="tx1"/>
                </a:solidFill>
              </a:rPr>
              <a:t>관측하지 못한 칸이 반드시 생긴다</a:t>
            </a:r>
            <a:endParaRPr lang="en-US" sz="1500" dirty="0"/>
          </a:p>
          <a:p>
            <a:pPr marL="0" indent="0">
              <a:buNone/>
            </a:pPr>
            <a:r>
              <a:rPr lang="en-US" sz="1500" dirty="0">
                <a:solidFill>
                  <a:schemeClr val="tx2"/>
                </a:solidFill>
              </a:rPr>
              <a:t>인과추론의 근본 문제 (Fundamental Problem of Causal Inference) → 개인 대신 집단 평균을 비교</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marL="0" indent="0">
              <a:buNone/>
            </a:pPr>
            <a:r>
              <a:rPr lang="en-US" sz="2000" b="1" dirty="0">
                <a:solidFill>
                  <a:schemeClr val="accent1"/>
                </a:solidFill>
              </a:rPr>
              <a:t>ATE = E[Y(1)] - E[Y(0)]</a:t>
            </a:r>
            <a:endParaRPr lang="en-US" sz="2000" dirty="0"/>
          </a:p>
        </p:txBody>
      </p:sp>
      <p:sp>
        <p:nvSpPr>
          <p:cNvPr id="4" name="Text 4"/>
          <p:cNvSpPr txBox="1"/>
          <p:nvPr/>
        </p:nvSpPr>
        <p:spPr>
          <a:xfrm>
            <a:off x="7863840" y="4224528"/>
            <a:ext cx="4410635" cy="822960"/>
          </a:xfrm>
          <a:prstGeom prst="rect">
            <a:avLst/>
          </a:prstGeom>
          <a:noFill/>
          <a:ln/>
        </p:spPr>
        <p:txBody>
          <a:bodyPr wrap="square" lIns="0" tIns="0" rIns="0" bIns="0" rtlCol="0" anchor="t"/>
          <a:lstStyle/>
          <a:p>
            <a:pPr marL="0" indent="0">
              <a:buNone/>
            </a:pPr>
            <a:r>
              <a:rPr lang="en-US" sz="1500" dirty="0">
                <a:solidFill>
                  <a:schemeClr val="tx2"/>
                </a:solidFill>
              </a:rPr>
              <a:t>랜덤 배정 → 두 그룹 평균 차이가 ATE의 편향 없는 추정치</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Ch1 · 무작위 통제 실험(RCT)</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txBody>
          <a:bodyPr/>
          <a:lstStyle/>
          <a:p>
            <a:endParaRPr lang="ko-KR" altLang="en-US"/>
          </a:p>
        </p:txBody>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txBody>
          <a:bodyPr/>
          <a:lstStyle/>
          <a:p>
            <a:endParaRPr lang="ko-KR" altLang="en-US"/>
          </a:p>
        </p:txBody>
      </p:sp>
      <p:sp>
        <p:nvSpPr>
          <p:cNvPr id="69" name="Text 66"/>
          <p:cNvSpPr txBox="1"/>
          <p:nvPr/>
        </p:nvSpPr>
        <p:spPr>
          <a:xfrm>
            <a:off x="640080" y="4617720"/>
            <a:ext cx="2743200" cy="365760"/>
          </a:xfrm>
          <a:prstGeom prst="rect">
            <a:avLst/>
          </a:prstGeom>
          <a:noFill/>
          <a:ln/>
        </p:spPr>
        <p:txBody>
          <a:bodyPr wrap="square" lIns="0" tIns="0" rIns="0" bIns="0" rtlCol="0" anchor="t"/>
          <a:lstStyle/>
          <a:p>
            <a:pPr marL="0" indent="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txBody>
          <a:bodyPr/>
          <a:lstStyle/>
          <a:p>
            <a:endParaRPr lang="ko-KR" altLang="en-US"/>
          </a:p>
        </p:txBody>
      </p:sp>
      <p:sp>
        <p:nvSpPr>
          <p:cNvPr id="71" name="Text 68"/>
          <p:cNvSpPr txBox="1"/>
          <p:nvPr/>
        </p:nvSpPr>
        <p:spPr>
          <a:xfrm>
            <a:off x="3246120" y="3246120"/>
            <a:ext cx="1371600" cy="365760"/>
          </a:xfrm>
          <a:prstGeom prst="rect">
            <a:avLst/>
          </a:prstGeom>
          <a:noFill/>
          <a:ln/>
        </p:spPr>
        <p:txBody>
          <a:bodyPr wrap="square" lIns="0" tIns="0" rIns="0" bIns="0" rtlCol="0" anchor="t"/>
          <a:lstStyle/>
          <a:p>
            <a:pPr marL="0" indent="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txBody>
          <a:bodyPr/>
          <a:lstStyle/>
          <a:p>
            <a:endParaRPr lang="ko-KR" altLang="en-US"/>
          </a:p>
        </p:txBody>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txBody>
          <a:bodyPr/>
          <a:lstStyle/>
          <a:p>
            <a:endParaRPr lang="ko-KR" altLang="en-US"/>
          </a:p>
        </p:txBody>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txBody>
          <a:bodyPr/>
          <a:lstStyle/>
          <a:p>
            <a:endParaRPr lang="ko-KR" altLang="en-US"/>
          </a:p>
        </p:txBody>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txBody>
          <a:bodyPr/>
          <a:lstStyle/>
          <a:p>
            <a:endParaRPr lang="ko-KR" altLang="en-US"/>
          </a:p>
        </p:txBody>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txBody>
          <a:bodyPr/>
          <a:lstStyle/>
          <a:p>
            <a:endParaRPr lang="ko-KR" altLang="en-US"/>
          </a:p>
        </p:txBody>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txBody>
          <a:bodyPr/>
          <a:lstStyle/>
          <a:p>
            <a:endParaRPr lang="ko-KR" altLang="en-US"/>
          </a:p>
        </p:txBody>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txBody>
          <a:bodyPr/>
          <a:lstStyle/>
          <a:p>
            <a:endParaRPr lang="ko-KR" altLang="en-US"/>
          </a:p>
        </p:txBody>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txBody>
          <a:bodyPr/>
          <a:lstStyle/>
          <a:p>
            <a:endParaRPr lang="ko-KR" altLang="en-US"/>
          </a:p>
        </p:txBody>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txBody>
          <a:bodyPr/>
          <a:lstStyle/>
          <a:p>
            <a:endParaRPr lang="ko-KR" altLang="en-US"/>
          </a:p>
        </p:txBody>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txBody>
          <a:bodyPr/>
          <a:lstStyle/>
          <a:p>
            <a:endParaRPr lang="ko-KR" altLang="en-US"/>
          </a:p>
        </p:txBody>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txBody>
          <a:bodyPr/>
          <a:lstStyle/>
          <a:p>
            <a:endParaRPr lang="ko-KR" altLang="en-US"/>
          </a:p>
        </p:txBody>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txBody>
          <a:bodyPr/>
          <a:lstStyle/>
          <a:p>
            <a:endParaRPr lang="ko-KR" altLang="en-US"/>
          </a:p>
        </p:txBody>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txBody>
          <a:bodyPr/>
          <a:lstStyle/>
          <a:p>
            <a:endParaRPr lang="ko-KR" altLang="en-US"/>
          </a:p>
        </p:txBody>
      </p:sp>
      <p:sp>
        <p:nvSpPr>
          <p:cNvPr id="100" name="Text 97"/>
          <p:cNvSpPr txBox="1"/>
          <p:nvPr/>
        </p:nvSpPr>
        <p:spPr>
          <a:xfrm>
            <a:off x="4663440" y="4617720"/>
            <a:ext cx="2194560" cy="731520"/>
          </a:xfrm>
          <a:prstGeom prst="rect">
            <a:avLst/>
          </a:prstGeom>
          <a:noFill/>
          <a:ln/>
        </p:spPr>
        <p:txBody>
          <a:bodyPr wrap="square" lIns="0" tIns="0" rIns="0" bIns="0" rtlCol="0" anchor="t"/>
          <a:lstStyle/>
          <a:p>
            <a:pPr marL="0" indent="0">
              <a:buNone/>
            </a:pPr>
            <a:r>
              <a:rPr lang="en-US" sz="1500" b="1" dirty="0">
                <a:solidFill>
                  <a:schemeClr val="accent1"/>
                </a:solidFill>
              </a:rPr>
              <a:t>A 대조군</a:t>
            </a:r>
            <a:endParaRPr lang="en-US" sz="1500" dirty="0"/>
          </a:p>
          <a:p>
            <a:pPr marL="0" indent="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txBody>
          <a:bodyPr/>
          <a:lstStyle/>
          <a:p>
            <a:endParaRPr lang="ko-KR" altLang="en-US"/>
          </a:p>
        </p:txBody>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txBody>
          <a:bodyPr/>
          <a:lstStyle/>
          <a:p>
            <a:endParaRPr lang="ko-KR" altLang="en-US"/>
          </a:p>
        </p:txBody>
      </p:sp>
      <p:sp>
        <p:nvSpPr>
          <p:cNvPr id="137" name="Text 134"/>
          <p:cNvSpPr txBox="1"/>
          <p:nvPr/>
        </p:nvSpPr>
        <p:spPr>
          <a:xfrm>
            <a:off x="6949440" y="4617720"/>
            <a:ext cx="2194560" cy="731520"/>
          </a:xfrm>
          <a:prstGeom prst="rect">
            <a:avLst/>
          </a:prstGeom>
          <a:noFill/>
          <a:ln/>
        </p:spPr>
        <p:txBody>
          <a:bodyPr wrap="square" lIns="0" tIns="0" rIns="0" bIns="0" rtlCol="0" anchor="t"/>
          <a:lstStyle/>
          <a:p>
            <a:pPr marL="0" indent="0">
              <a:buNone/>
            </a:pPr>
            <a:r>
              <a:rPr lang="en-US" sz="1500" b="1" dirty="0">
                <a:solidFill>
                  <a:schemeClr val="accent2"/>
                </a:solidFill>
              </a:rPr>
              <a:t>B 실험군</a:t>
            </a:r>
            <a:endParaRPr lang="en-US" sz="1500" dirty="0"/>
          </a:p>
          <a:p>
            <a:pPr marL="0" indent="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marL="0" indent="0">
              <a:buNone/>
            </a:pPr>
            <a:r>
              <a:rPr lang="en-US" sz="2000" b="1" dirty="0">
                <a:solidFill>
                  <a:schemeClr val="tx1"/>
                </a:solidFill>
              </a:rPr>
              <a:t>두 그룹의 차이</a:t>
            </a:r>
            <a:endParaRPr lang="en-US" sz="1500" dirty="0"/>
          </a:p>
          <a:p>
            <a:pPr marL="0" indent="0">
              <a:spcAft>
                <a:spcPts val="1400"/>
              </a:spcAft>
              <a:buNone/>
            </a:pPr>
            <a:r>
              <a:rPr lang="en-US" sz="2000" b="1" dirty="0">
                <a:solidFill>
                  <a:schemeClr val="accent1"/>
                </a:solidFill>
              </a:rPr>
              <a:t>= 처치 효과 + 우연</a:t>
            </a:r>
            <a:endParaRPr lang="en-US" sz="1500" dirty="0"/>
          </a:p>
          <a:p>
            <a:pPr marL="0" indent="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4"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Ch1 · Bing 사례</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6개월 미뤄 둔 아이디어가 매출을 12% 올렸다</a:t>
            </a:r>
            <a:endParaRPr lang="en-US" sz="2000" dirty="0"/>
          </a:p>
        </p:txBody>
      </p:sp>
      <p:pic>
        <p:nvPicPr>
          <p:cNvPr id="5" name="Bing 실험 그림" descr="Bing 광고 제목을 길게 표시한 실험 전후 비교"/>
          <p:cNvPicPr>
            <a:picLocks noChangeAspect="1"/>
          </p:cNvPicPr>
          <p:nvPr/>
        </p:nvPicPr>
        <p:blipFill>
          <a:blip r:embed="rId3"/>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marL="0" indent="0">
              <a:buNone/>
            </a:pPr>
            <a:r>
              <a:rPr lang="en-US" sz="5400" b="1" dirty="0">
                <a:solidFill>
                  <a:schemeClr val="accent1"/>
                </a:solidFill>
              </a:rPr>
              <a:t>+12%</a:t>
            </a: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marL="0" indent="0">
              <a:buNone/>
            </a:pPr>
            <a:r>
              <a:rPr lang="en-US" sz="1500" dirty="0">
                <a:solidFill>
                  <a:schemeClr val="tx2"/>
                </a:solidFill>
              </a:rPr>
              <a:t>광고 제목 길게 표시 · 사용자 경험 지표(세션 수, 이용량, 관련성) 악화 없음</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marL="0" indent="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marL="0" indent="0">
              <a:buNone/>
            </a:pPr>
            <a:r>
              <a:rPr lang="en-US" sz="1500" b="1" dirty="0">
                <a:solidFill>
                  <a:schemeClr val="tx1"/>
                </a:solidFill>
              </a:rPr>
              <a:t>아이디어의 가치는 사전에 판단하기 어렵다</a:t>
            </a:r>
            <a:endParaRPr lang="en-US" sz="1500" dirty="0"/>
          </a:p>
          <a:p>
            <a:pPr marL="0" indent="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marL="0" indent="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marL="0" indent="0">
              <a:buNone/>
            </a:pPr>
            <a:r>
              <a:rPr lang="en-US" sz="1500" b="1" dirty="0">
                <a:solidFill>
                  <a:schemeClr val="tx1"/>
                </a:solidFill>
              </a:rPr>
              <a:t>큰 효과를 내는 실험은 드물다</a:t>
            </a:r>
            <a:endParaRPr lang="en-US" sz="1500" dirty="0"/>
          </a:p>
          <a:p>
            <a:pPr marL="0" indent="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marL="0" indent="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marL="0" indent="0">
              <a:buNone/>
            </a:pPr>
            <a:r>
              <a:rPr lang="en-US" sz="1500" b="1" dirty="0">
                <a:solidFill>
                  <a:schemeClr val="tx1"/>
                </a:solidFill>
              </a:rPr>
              <a:t>효과가 있는 것과 없는 것을 가린다</a:t>
            </a:r>
            <a:endParaRPr lang="en-US" sz="1500" dirty="0"/>
          </a:p>
          <a:p>
            <a:pPr marL="0" indent="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그림: Kohavi, Tang, Xu (2020) 그림 1.1 · 출처: Kohavi &amp; Thomke (2017), HBR · 위키 01편 1장, 11편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Ch1 · 용어 정리</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3840480"/>
        </p:xfrm>
        <a:graphic>
          <a:graphicData uri="http://schemas.openxmlformats.org/drawingml/2006/table">
            <a:tbl>
              <a:tblPr/>
              <a:tblGrid>
                <a:gridCol w="26517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416552">
                  <a:extLst>
                    <a:ext uri="{9D8B030D-6E8A-4147-A177-3AD203B41FA5}">
                      <a16:colId xmlns:a16="http://schemas.microsoft.com/office/drawing/2014/main" val="20002"/>
                    </a:ext>
                  </a:extLst>
                </a:gridCol>
              </a:tblGrid>
              <a:tr h="548640">
                <a:tc>
                  <a:txBody>
                    <a:bodyPr/>
                    <a:lstStyle/>
                    <a:p>
                      <a:pPr marL="0" indent="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548640">
                <a:tc>
                  <a:txBody>
                    <a:bodyPr/>
                    <a:lstStyle/>
                    <a:p>
                      <a:pPr marL="0" indent="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4"/>
                  </a:ext>
                </a:extLst>
              </a:tr>
              <a:tr h="548640">
                <a:tc>
                  <a:txBody>
                    <a:bodyPr/>
                    <a:lstStyle/>
                    <a:p>
                      <a:pPr marL="0" indent="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5"/>
                  </a:ext>
                </a:extLst>
              </a:tr>
              <a:tr h="548640">
                <a:tc>
                  <a:txBody>
                    <a:bodyPr/>
                    <a:lstStyle/>
                    <a:p>
                      <a:pPr marL="0" indent="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marL="0" indent="0">
              <a:buNone/>
            </a:pPr>
            <a:r>
              <a:rPr lang="en-US" sz="1400" dirty="0">
                <a:solidFill>
                  <a:schemeClr val="tx2"/>
                </a:solidFill>
              </a:rPr>
              <a:t>같은 말: 온라인 통제 실험(Online Controlled Experiment), 분할 테스트, 버킷 테스트, 플라이트</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Ch1 · A/B 테스트의 정의</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marL="0" indent="0">
              <a:buNone/>
            </a:pPr>
            <a:r>
              <a:rPr lang="en-US" sz="1400" b="1" dirty="0">
                <a:solidFill>
                  <a:schemeClr val="accent1"/>
                </a:solidFill>
              </a:rPr>
              <a:t>01</a:t>
            </a:r>
            <a:endParaRPr lang="en-US" sz="1500" dirty="0"/>
          </a:p>
          <a:p>
            <a:pPr marL="0" indent="0">
              <a:buNone/>
            </a:pPr>
            <a:r>
              <a:rPr lang="en-US" sz="2000" b="1" dirty="0">
                <a:solidFill>
                  <a:schemeClr val="tx1"/>
                </a:solidFill>
              </a:rPr>
              <a:t>목표와 지표 설정</a:t>
            </a:r>
            <a:endParaRPr lang="en-US" sz="1500" dirty="0"/>
          </a:p>
          <a:p>
            <a:pPr marL="0" indent="0">
              <a:spcAft>
                <a:spcPts val="400"/>
              </a:spcAft>
              <a:buNone/>
            </a:pPr>
            <a:r>
              <a:rPr lang="en-US" sz="1400" dirty="0">
                <a:solidFill>
                  <a:schemeClr val="tx2"/>
                </a:solidFill>
              </a:rPr>
              <a:t>무엇을 개선할지, OEC와 주요 지표</a:t>
            </a:r>
            <a:endParaRPr lang="en-US" sz="1500" dirty="0"/>
          </a:p>
          <a:p>
            <a:pPr marL="0" indent="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marL="0" indent="0">
              <a:buNone/>
            </a:pPr>
            <a:r>
              <a:rPr lang="en-US" sz="1400" b="1" dirty="0">
                <a:solidFill>
                  <a:schemeClr val="accent1"/>
                </a:solidFill>
              </a:rPr>
              <a:t>02</a:t>
            </a:r>
            <a:endParaRPr lang="en-US" sz="1500" dirty="0"/>
          </a:p>
          <a:p>
            <a:pPr marL="0" indent="0">
              <a:buNone/>
            </a:pPr>
            <a:r>
              <a:rPr lang="en-US" sz="2000" b="1" dirty="0">
                <a:solidFill>
                  <a:schemeClr val="tx1"/>
                </a:solidFill>
              </a:rPr>
              <a:t>가설 설정</a:t>
            </a:r>
            <a:endParaRPr lang="en-US" sz="1500" dirty="0"/>
          </a:p>
          <a:p>
            <a:pPr marL="0" indent="0">
              <a:spcAft>
                <a:spcPts val="400"/>
              </a:spcAft>
              <a:buNone/>
            </a:pPr>
            <a:r>
              <a:rPr lang="en-US" sz="1400" dirty="0">
                <a:solidFill>
                  <a:schemeClr val="tx2"/>
                </a:solidFill>
              </a:rPr>
              <a:t>어떤 변화가 어떤 지표를 움직일지</a:t>
            </a:r>
            <a:endParaRPr lang="en-US" sz="1500" dirty="0"/>
          </a:p>
          <a:p>
            <a:pPr marL="0" indent="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marL="0" indent="0">
              <a:buNone/>
            </a:pPr>
            <a:r>
              <a:rPr lang="en-US" sz="1400" b="1" dirty="0">
                <a:solidFill>
                  <a:schemeClr val="accent1"/>
                </a:solidFill>
              </a:rPr>
              <a:t>03</a:t>
            </a:r>
            <a:endParaRPr lang="en-US" sz="1500" dirty="0"/>
          </a:p>
          <a:p>
            <a:pPr marL="0" indent="0">
              <a:buNone/>
            </a:pPr>
            <a:r>
              <a:rPr lang="en-US" sz="2000" b="1" dirty="0">
                <a:solidFill>
                  <a:schemeClr val="tx1"/>
                </a:solidFill>
              </a:rPr>
              <a:t>대조군·실험군 설계</a:t>
            </a:r>
            <a:endParaRPr lang="en-US" sz="1500" dirty="0"/>
          </a:p>
          <a:p>
            <a:pPr marL="0" indent="0">
              <a:spcAft>
                <a:spcPts val="400"/>
              </a:spcAft>
              <a:buNone/>
            </a:pPr>
            <a:r>
              <a:rPr lang="en-US" sz="1400" dirty="0">
                <a:solidFill>
                  <a:schemeClr val="tx2"/>
                </a:solidFill>
              </a:rPr>
              <a:t>기존 = A, 변경 = B</a:t>
            </a:r>
            <a:endParaRPr lang="en-US" sz="1500" dirty="0"/>
          </a:p>
          <a:p>
            <a:pPr marL="0" indent="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marL="0" indent="0">
              <a:buNone/>
            </a:pPr>
            <a:r>
              <a:rPr lang="en-US" sz="1400" b="1" dirty="0">
                <a:solidFill>
                  <a:schemeClr val="accent1"/>
                </a:solidFill>
              </a:rPr>
              <a:t>04</a:t>
            </a:r>
            <a:endParaRPr lang="en-US" sz="1500" dirty="0"/>
          </a:p>
          <a:p>
            <a:pPr marL="0" indent="0">
              <a:buNone/>
            </a:pPr>
            <a:r>
              <a:rPr lang="en-US" sz="2000" b="1" dirty="0">
                <a:solidFill>
                  <a:schemeClr val="tx1"/>
                </a:solidFill>
              </a:rPr>
              <a:t>무작위 배정</a:t>
            </a:r>
            <a:endParaRPr lang="en-US" sz="1500" dirty="0"/>
          </a:p>
          <a:p>
            <a:pPr marL="0" indent="0">
              <a:spcAft>
                <a:spcPts val="400"/>
              </a:spcAft>
              <a:buNone/>
            </a:pPr>
            <a:r>
              <a:rPr lang="en-US" sz="1400" dirty="0">
                <a:solidFill>
                  <a:schemeClr val="tx2"/>
                </a:solidFill>
              </a:rPr>
              <a:t>같은 사용자는 같은 그룹, 배정은 서로 독립</a:t>
            </a:r>
            <a:endParaRPr lang="en-US" sz="1500" dirty="0"/>
          </a:p>
          <a:p>
            <a:pPr marL="0" indent="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marL="0" indent="0">
              <a:buNone/>
            </a:pPr>
            <a:r>
              <a:rPr lang="en-US" sz="1400" b="1" dirty="0">
                <a:solidFill>
                  <a:schemeClr val="accent1"/>
                </a:solidFill>
              </a:rPr>
              <a:t>05</a:t>
            </a:r>
            <a:endParaRPr lang="en-US" sz="1500" dirty="0"/>
          </a:p>
          <a:p>
            <a:pPr marL="0" indent="0">
              <a:buNone/>
            </a:pPr>
            <a:r>
              <a:rPr lang="en-US" sz="2000" b="1" dirty="0">
                <a:solidFill>
                  <a:schemeClr val="tx1"/>
                </a:solidFill>
              </a:rPr>
              <a:t>실행과 데이터 수집</a:t>
            </a:r>
            <a:endParaRPr lang="en-US" sz="1500" dirty="0"/>
          </a:p>
          <a:p>
            <a:pPr marL="0" indent="0">
              <a:spcAft>
                <a:spcPts val="400"/>
              </a:spcAft>
              <a:buNone/>
            </a:pPr>
            <a:r>
              <a:rPr lang="en-US" sz="1400" dirty="0">
                <a:solidFill>
                  <a:schemeClr val="tx2"/>
                </a:solidFill>
              </a:rPr>
              <a:t>미리 정한 지표를 측정</a:t>
            </a:r>
            <a:endParaRPr lang="en-US" sz="1500" dirty="0"/>
          </a:p>
          <a:p>
            <a:pPr marL="0" indent="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marL="0" indent="0">
              <a:buNone/>
            </a:pPr>
            <a:r>
              <a:rPr lang="en-US" sz="1400" b="1" dirty="0">
                <a:solidFill>
                  <a:schemeClr val="accent1"/>
                </a:solidFill>
              </a:rPr>
              <a:t>06</a:t>
            </a:r>
            <a:endParaRPr lang="en-US" sz="1500" dirty="0"/>
          </a:p>
          <a:p>
            <a:pPr marL="0" indent="0">
              <a:buNone/>
            </a:pPr>
            <a:r>
              <a:rPr lang="en-US" sz="2000" b="1" dirty="0">
                <a:solidFill>
                  <a:schemeClr val="tx1"/>
                </a:solidFill>
              </a:rPr>
              <a:t>분석과 비교</a:t>
            </a:r>
            <a:endParaRPr lang="en-US" sz="1500" dirty="0"/>
          </a:p>
          <a:p>
            <a:pPr marL="0" indent="0">
              <a:spcAft>
                <a:spcPts val="400"/>
              </a:spcAft>
              <a:buNone/>
            </a:pPr>
            <a:r>
              <a:rPr lang="en-US" sz="1400" dirty="0">
                <a:solidFill>
                  <a:schemeClr val="tx2"/>
                </a:solidFill>
              </a:rPr>
              <a:t>차이가 우연인지 통계적으로 평가</a:t>
            </a:r>
            <a:endParaRPr lang="en-US" sz="1500" dirty="0"/>
          </a:p>
          <a:p>
            <a:pPr marL="0" indent="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marL="0" indent="0">
              <a:buNone/>
            </a:pPr>
            <a:r>
              <a:rPr lang="en-US" sz="1400" b="1" dirty="0">
                <a:solidFill>
                  <a:schemeClr val="accent1"/>
                </a:solidFill>
              </a:rPr>
              <a:t>07</a:t>
            </a:r>
            <a:endParaRPr lang="en-US" sz="1500" dirty="0"/>
          </a:p>
          <a:p>
            <a:pPr marL="0" indent="0">
              <a:buNone/>
            </a:pPr>
            <a:r>
              <a:rPr lang="en-US" sz="2000" b="1" dirty="0">
                <a:solidFill>
                  <a:schemeClr val="tx1"/>
                </a:solidFill>
              </a:rPr>
              <a:t>결정과 반복</a:t>
            </a:r>
            <a:endParaRPr lang="en-US" sz="1500" dirty="0"/>
          </a:p>
          <a:p>
            <a:pPr marL="0" indent="0">
              <a:spcAft>
                <a:spcPts val="400"/>
              </a:spcAft>
              <a:buNone/>
            </a:pPr>
            <a:r>
              <a:rPr lang="en-US" sz="1400" dirty="0">
                <a:solidFill>
                  <a:schemeClr val="tx2"/>
                </a:solidFill>
              </a:rPr>
              <a:t>적용 여부를 정하고, 가설을 고쳐 다음 실험</a:t>
            </a:r>
            <a:endParaRPr lang="en-US" sz="1500" dirty="0"/>
          </a:p>
          <a:p>
            <a:pPr marL="0" indent="0">
              <a:buNone/>
            </a:pPr>
            <a:r>
              <a:rPr lang="en-US" sz="1400" b="1" dirty="0">
                <a:solidFill>
                  <a:schemeClr val="accent6"/>
                </a:solidFill>
              </a:rPr>
              <a:t>Ch5</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Ch1 · 타당성</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rPr>
              <a:t>내적 타당성</a:t>
            </a:r>
            <a:endParaRPr lang="en-US" sz="1500" dirty="0"/>
          </a:p>
          <a:p>
            <a:pPr marL="0" indent="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txBody>
          <a:bodyPr/>
          <a:lstStyle/>
          <a:p>
            <a:endParaRPr lang="ko-KR" altLang="en-US"/>
          </a:p>
        </p:txBody>
      </p:sp>
      <p:sp>
        <p:nvSpPr>
          <p:cNvPr id="7" name="Text 4"/>
          <p:cNvSpPr txBox="1"/>
          <p:nvPr/>
        </p:nvSpPr>
        <p:spPr>
          <a:xfrm>
            <a:off x="6355080" y="1783080"/>
            <a:ext cx="4754880" cy="2194560"/>
          </a:xfrm>
          <a:prstGeom prst="rect">
            <a:avLst/>
          </a:prstGeom>
          <a:noFill/>
          <a:ln/>
        </p:spPr>
        <p:txBody>
          <a:bodyPr wrap="square" lIns="0" tIns="0" rIns="0" bIns="0" rtlCol="0" anchor="t"/>
          <a:lstStyle/>
          <a:p>
            <a:pPr marL="0" indent="0">
              <a:spcAft>
                <a:spcPts val="400"/>
              </a:spcAft>
              <a:buNone/>
            </a:pPr>
            <a:r>
              <a:rPr lang="en-US" sz="2000" b="1" dirty="0">
                <a:solidFill>
                  <a:schemeClr val="accent2"/>
                </a:solidFill>
              </a:rPr>
              <a:t>외적 타당성</a:t>
            </a:r>
            <a:endParaRPr lang="en-US" sz="1500" dirty="0"/>
          </a:p>
          <a:p>
            <a:pPr marL="0" indent="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marL="0" indent="0">
              <a:buNone/>
            </a:pPr>
            <a:r>
              <a:rPr lang="en-US" sz="1500" dirty="0">
                <a:solidFill>
                  <a:schemeClr val="tx2"/>
                </a:solidFill>
              </a:rPr>
              <a:t>통제를 엄격하게 할수록 내적 타당성 ↑, 현실과의 거리 ↑ → 단계적으로 확보</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marL="0" indent="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txBody>
          <a:bodyPr/>
          <a:lstStyle/>
          <a:p>
            <a:endParaRPr lang="ko-KR" altLang="en-US"/>
          </a:p>
        </p:txBody>
      </p:sp>
      <p:sp>
        <p:nvSpPr>
          <p:cNvPr id="11" name="Text 8"/>
          <p:cNvSpPr txBox="1"/>
          <p:nvPr/>
        </p:nvSpPr>
        <p:spPr>
          <a:xfrm>
            <a:off x="4297680" y="4663440"/>
            <a:ext cx="3108960" cy="457200"/>
          </a:xfrm>
          <a:prstGeom prst="rect">
            <a:avLst/>
          </a:prstGeom>
          <a:noFill/>
          <a:ln/>
        </p:spPr>
        <p:txBody>
          <a:bodyPr wrap="square" lIns="0" tIns="0" rIns="0" bIns="0" rtlCol="0" anchor="t"/>
          <a:lstStyle/>
          <a:p>
            <a:pPr marL="0" indent="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txBody>
          <a:bodyPr/>
          <a:lstStyle/>
          <a:p>
            <a:endParaRPr lang="ko-KR" altLang="en-US"/>
          </a:p>
        </p:txBody>
      </p:sp>
      <p:sp>
        <p:nvSpPr>
          <p:cNvPr id="13" name="Text 10"/>
          <p:cNvSpPr txBox="1"/>
          <p:nvPr/>
        </p:nvSpPr>
        <p:spPr>
          <a:xfrm>
            <a:off x="7955280" y="4663440"/>
            <a:ext cx="3108960" cy="457200"/>
          </a:xfrm>
          <a:prstGeom prst="rect">
            <a:avLst/>
          </a:prstGeom>
          <a:noFill/>
          <a:ln/>
        </p:spPr>
        <p:txBody>
          <a:bodyPr wrap="square" lIns="0" tIns="0" rIns="0" bIns="0" rtlCol="0" anchor="t"/>
          <a:lstStyle/>
          <a:p>
            <a:pPr marL="0" indent="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marL="0" indent="0">
              <a:buNone/>
            </a:pPr>
            <a:r>
              <a:rPr lang="en-US" sz="1500" b="1" dirty="0">
                <a:solidFill>
                  <a:schemeClr val="accent1"/>
                </a:solidFill>
              </a:rPr>
              <a:t>실무에서 이렇게 말한다  </a:t>
            </a: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Ch1 · 한계</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marL="0" indent="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marL="0" indent="0">
              <a:buNone/>
            </a:pPr>
            <a:r>
              <a:rPr lang="en-US" sz="2000" b="1" dirty="0">
                <a:solidFill>
                  <a:schemeClr val="tx1"/>
                </a:solidFill>
              </a:rPr>
              <a:t>윤리·법</a:t>
            </a:r>
            <a:endParaRPr lang="en-US" sz="1500" dirty="0"/>
          </a:p>
          <a:p>
            <a:pPr marL="0" indent="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marL="0" indent="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marL="0" indent="0">
              <a:buNone/>
            </a:pPr>
            <a:r>
              <a:rPr lang="en-US" sz="2000" b="1" dirty="0">
                <a:solidFill>
                  <a:schemeClr val="tx1"/>
                </a:solidFill>
              </a:rPr>
              <a:t>네트워크 효과</a:t>
            </a:r>
            <a:endParaRPr lang="en-US" sz="1500" dirty="0"/>
          </a:p>
          <a:p>
            <a:pPr marL="0" indent="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marL="0" indent="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marL="0" indent="0">
              <a:buNone/>
            </a:pPr>
            <a:r>
              <a:rPr lang="en-US" sz="2000" b="1" dirty="0">
                <a:solidFill>
                  <a:schemeClr val="tx1"/>
                </a:solidFill>
              </a:rPr>
              <a:t>표본 부족</a:t>
            </a:r>
            <a:endParaRPr lang="en-US" sz="1500" dirty="0"/>
          </a:p>
          <a:p>
            <a:pPr marL="0" indent="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marL="0" indent="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marL="0" indent="0">
              <a:buNone/>
            </a:pPr>
            <a:r>
              <a:rPr lang="en-US" sz="2000" b="1" dirty="0">
                <a:solidFill>
                  <a:schemeClr val="tx1"/>
                </a:solidFill>
              </a:rPr>
              <a:t>비교할 두 세계를 만들 수 없음</a:t>
            </a:r>
            <a:endParaRPr lang="en-US" sz="1500" dirty="0"/>
          </a:p>
          <a:p>
            <a:pPr marL="0" indent="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marL="0" indent="0">
              <a:buNone/>
            </a:pPr>
            <a:r>
              <a:rPr lang="en-US" sz="1500" b="1" dirty="0">
                <a:solidFill>
                  <a:schemeClr val="accent1"/>
                </a:solidFill>
              </a:rPr>
              <a:t>→ Ch4 대안: </a:t>
            </a: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371600"/>
            <a:ext cx="3657600" cy="1463040"/>
          </a:xfrm>
          <a:prstGeom prst="rect">
            <a:avLst/>
          </a:prstGeom>
          <a:noFill/>
          <a:ln/>
        </p:spPr>
        <p:txBody>
          <a:bodyPr wrap="square" lIns="0" tIns="0" rIns="0" bIns="0" rtlCol="0" anchor="b"/>
          <a:lstStyle/>
          <a:p>
            <a:pPr marL="0" indent="0" algn="l">
              <a:buNone/>
            </a:pPr>
            <a:r>
              <a:rPr lang="en-US" sz="9600" b="1" dirty="0">
                <a:solidFill>
                  <a:srgbClr val="7B93FF"/>
                </a:solidFill>
              </a:rPr>
              <a:t>02</a:t>
            </a:r>
            <a:endParaRPr lang="en-US" sz="9600" dirty="0"/>
          </a:p>
        </p:txBody>
      </p:sp>
      <p:sp>
        <p:nvSpPr>
          <p:cNvPr id="3" name="Text 0"/>
          <p:cNvSpPr>
            <a:spLocks noGrp="1"/>
          </p:cNvSpPr>
          <p:nvPr>
            <p:ph type="title" idx="101" hasCustomPrompt="1"/>
          </p:nvPr>
        </p:nvSpPr>
        <p:spPr>
          <a:xfrm>
            <a:off x="640080" y="3017520"/>
            <a:ext cx="10058400" cy="914400"/>
          </a:xfrm>
          <a:prstGeom prst="rect">
            <a:avLst/>
          </a:prstGeom>
          <a:noFill/>
          <a:ln/>
        </p:spPr>
        <p:txBody>
          <a:bodyPr wrap="square" lIns="0" tIns="0" rIns="0" bIns="0" rtlCol="0" anchor="t"/>
          <a:lstStyle/>
          <a:p>
            <a:pPr marL="0" indent="0" algn="l">
              <a:buNone/>
            </a:pPr>
            <a:r>
              <a:rPr lang="en-US" sz="4000" b="1" dirty="0">
                <a:solidFill>
                  <a:srgbClr val="FFFFFF"/>
                </a:solidFill>
              </a:rPr>
              <a:t>A/B 테스트 설계의 핵심 구성요소</a:t>
            </a:r>
            <a:endParaRPr lang="en-US" sz="4000" dirty="0"/>
          </a:p>
        </p:txBody>
      </p:sp>
      <p:sp>
        <p:nvSpPr>
          <p:cNvPr id="4" name="Text 0"/>
          <p:cNvSpPr>
            <a:spLocks noGrp="1"/>
          </p:cNvSpPr>
          <p:nvPr>
            <p:ph type="body" idx="102" hasCustomPrompt="1"/>
          </p:nvPr>
        </p:nvSpPr>
        <p:spPr>
          <a:xfrm>
            <a:off x="640080" y="4069080"/>
            <a:ext cx="10058400" cy="731520"/>
          </a:xfrm>
          <a:prstGeom prst="rect">
            <a:avLst/>
          </a:prstGeom>
          <a:noFill/>
          <a:ln/>
        </p:spPr>
        <p:txBody>
          <a:bodyPr wrap="square" lIns="0" tIns="0" rIns="0" bIns="0" rtlCol="0" anchor="t"/>
          <a:lstStyle/>
          <a:p>
            <a:pPr marL="0" indent="0" algn="l">
              <a:buNone/>
            </a:pPr>
            <a:r>
              <a:rPr lang="en-US" sz="2000" dirty="0">
                <a:solidFill>
                  <a:srgbClr val="AEB3CC"/>
                </a:solidFill>
              </a:rPr>
              <a:t>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문제 정의</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marL="0" indent="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marL="0" indent="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marL="0" indent="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marL="0" indent="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marL="0" indent="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marL="0" indent="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marL="0" indent="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marL="0" indent="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marL="0" indent="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marL="0" indent="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marL="0" indent="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marL="0" indent="0">
              <a:spcAft>
                <a:spcPts val="600"/>
              </a:spcAft>
              <a:buNone/>
            </a:pPr>
            <a:r>
              <a:rPr lang="en-US" sz="2000" b="1" dirty="0">
                <a:solidFill>
                  <a:schemeClr val="tx1"/>
                </a:solidFill>
              </a:rPr>
              <a:t>왜 끝까지 좁히나</a:t>
            </a:r>
            <a:endParaRPr lang="en-US" sz="1500" dirty="0"/>
          </a:p>
          <a:p>
            <a:pPr marL="342900" indent="-342900">
              <a:spcAft>
                <a:spcPts val="400"/>
              </a:spcAft>
              <a:buSzPct val="100000"/>
              <a:buChar char="•"/>
            </a:pPr>
            <a:r>
              <a:rPr lang="en-US" sz="1500" dirty="0">
                <a:solidFill>
                  <a:schemeClr val="tx2"/>
                </a:solidFill>
              </a:rPr>
              <a:t>A/B는 "무엇을 바꿨을 때 이 지표가 얼마나 달라졌나"를 비교</a:t>
            </a:r>
            <a:endParaRPr lang="en-US" sz="1500" dirty="0"/>
          </a:p>
          <a:p>
            <a:pPr marL="342900" indent="-342900">
              <a:spcAft>
                <a:spcPts val="400"/>
              </a:spcAft>
              <a:buSzPct val="100000"/>
              <a:buChar char="•"/>
            </a:pPr>
            <a:r>
              <a:rPr lang="en-US" sz="1500" dirty="0">
                <a:solidFill>
                  <a:schemeClr val="tx2"/>
                </a:solidFill>
              </a:rPr>
              <a:t>지표·구간까지 좁혀야 바꿀 곳이 보인다</a:t>
            </a:r>
            <a:endParaRPr lang="en-US" sz="1500" dirty="0"/>
          </a:p>
          <a:p>
            <a:pPr marL="342900" indent="-342900">
              <a:buSzPct val="100000"/>
              <a:buChar char="•"/>
            </a:pPr>
            <a:r>
              <a:rPr lang="en-US" sz="1500" dirty="0">
                <a:solidFill>
                  <a:schemeClr val="tx2"/>
                </a:solidFill>
              </a:rPr>
              <a:t>엉뚱한 Treatment를 실험하지 않게 된다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marL="0" indent="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무엇을 바꿀까</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marL="0" indent="0">
              <a:spcAft>
                <a:spcPts val="600"/>
              </a:spcAft>
              <a:buNone/>
            </a:pPr>
            <a:r>
              <a:rPr lang="en-US" sz="1400" b="1" dirty="0">
                <a:solidFill>
                  <a:schemeClr val="accent6"/>
                </a:solidFill>
              </a:rPr>
              <a:t>문제</a:t>
            </a:r>
            <a:endParaRPr lang="en-US" sz="1500" dirty="0"/>
          </a:p>
          <a:p>
            <a:pPr marL="0" indent="0">
              <a:spcAft>
                <a:spcPts val="1400"/>
              </a:spcAft>
              <a:buNone/>
            </a:pPr>
            <a:r>
              <a:rPr lang="en-US" sz="2000" b="1" dirty="0">
                <a:solidFill>
                  <a:schemeClr val="tx1"/>
                </a:solidFill>
              </a:rPr>
              <a:t>프로모션으로 들어온 사용자의 재예약률이 낮다</a:t>
            </a:r>
            <a:endParaRPr lang="en-US" sz="1500" dirty="0"/>
          </a:p>
          <a:p>
            <a:pPr marL="0" indent="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txBody>
          <a:bodyPr/>
          <a:lstStyle/>
          <a:p>
            <a:endParaRPr lang="ko-KR" altLang="en-US"/>
          </a:p>
        </p:txBody>
      </p:sp>
      <p:sp>
        <p:nvSpPr>
          <p:cNvPr id="7" name="Text 4"/>
          <p:cNvSpPr txBox="1"/>
          <p:nvPr/>
        </p:nvSpPr>
        <p:spPr>
          <a:xfrm>
            <a:off x="6355080" y="1783080"/>
            <a:ext cx="5212080" cy="3657600"/>
          </a:xfrm>
          <a:prstGeom prst="rect">
            <a:avLst/>
          </a:prstGeom>
          <a:noFill/>
          <a:ln/>
        </p:spPr>
        <p:txBody>
          <a:bodyPr wrap="square" lIns="0" tIns="0" rIns="0" bIns="0" rtlCol="0" anchor="t"/>
          <a:lstStyle/>
          <a:p>
            <a:pPr marL="0" indent="0">
              <a:spcAft>
                <a:spcPts val="1000"/>
              </a:spcAft>
              <a:buNone/>
            </a:pPr>
            <a:r>
              <a:rPr lang="en-US" sz="2000" b="1" dirty="0">
                <a:solidFill>
                  <a:schemeClr val="tx1"/>
                </a:solidFill>
              </a:rPr>
              <a:t>실험군에서 한 번에 다 바꾸면</a:t>
            </a:r>
            <a:endParaRPr lang="en-US" sz="1500" dirty="0"/>
          </a:p>
          <a:p>
            <a:pPr marL="0" indent="0">
              <a:buNone/>
            </a:pPr>
            <a:r>
              <a:rPr lang="en-US" sz="1500" b="1" dirty="0">
                <a:solidFill>
                  <a:schemeClr val="accent4"/>
                </a:solidFill>
              </a:rPr>
              <a:t>할인율 변경</a:t>
            </a:r>
            <a:r>
              <a:rPr lang="en-US" sz="1500" dirty="0">
                <a:solidFill>
                  <a:schemeClr val="tx1"/>
                </a:solidFill>
              </a:rPr>
              <a:t>  +  </a:t>
            </a:r>
            <a:r>
              <a:rPr lang="en-US" sz="1500" b="1" dirty="0">
                <a:solidFill>
                  <a:schemeClr val="accent4"/>
                </a:solidFill>
              </a:rPr>
              <a:t>버튼 색 변경</a:t>
            </a:r>
            <a:r>
              <a:rPr lang="en-US" sz="1500" dirty="0">
                <a:solidFill>
                  <a:schemeClr val="tx1"/>
                </a:solidFill>
              </a:rPr>
              <a:t>  +  </a:t>
            </a:r>
            <a:r>
              <a:rPr lang="en-US" sz="1500" b="1" dirty="0">
                <a:solidFill>
                  <a:schemeClr val="accent4"/>
                </a:solidFill>
              </a:rPr>
              <a:t>추천 영역 변경</a:t>
            </a:r>
            <a:endParaRPr lang="en-US" sz="1500" dirty="0"/>
          </a:p>
          <a:p>
            <a:pPr marL="0" indent="0">
              <a:spcAft>
                <a:spcPts val="1800"/>
              </a:spcAft>
              <a:buNone/>
            </a:pPr>
            <a:r>
              <a:rPr lang="en-US" sz="1500" dirty="0">
                <a:solidFill>
                  <a:schemeClr val="tx2"/>
                </a:solidFill>
              </a:rPr>
              <a:t>→ 전환율이 올라도 원인을 모른다</a:t>
            </a:r>
            <a:endParaRPr lang="en-US" sz="1500" dirty="0"/>
          </a:p>
          <a:p>
            <a:pPr marL="0" indent="0">
              <a:buNone/>
            </a:pPr>
            <a:r>
              <a:rPr lang="en-US" sz="2000" b="1" dirty="0">
                <a:solidFill>
                  <a:schemeClr val="accent1"/>
                </a:solidFill>
              </a:rPr>
              <a:t>대조군과의 차이는 핵심 변화 하나만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가설 수립</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marL="0" indent="0">
              <a:buNone/>
            </a:pPr>
            <a:r>
              <a:rPr lang="en-US" sz="2000" b="1" dirty="0">
                <a:solidFill>
                  <a:schemeClr val="accent1"/>
                </a:solidFill>
              </a:rPr>
              <a:t>[대상]</a:t>
            </a:r>
            <a:r>
              <a:rPr lang="en-US" sz="2000" dirty="0">
                <a:solidFill>
                  <a:schemeClr val="tx1"/>
                </a:solidFill>
              </a:rPr>
              <a:t>에게 </a:t>
            </a:r>
            <a:r>
              <a:rPr lang="en-US" sz="2000" b="1" dirty="0">
                <a:solidFill>
                  <a:schemeClr val="accent2"/>
                </a:solidFill>
              </a:rPr>
              <a:t>[Treatment]</a:t>
            </a:r>
            <a:r>
              <a:rPr lang="en-US" sz="2000" dirty="0">
                <a:solidFill>
                  <a:schemeClr val="tx1"/>
                </a:solidFill>
              </a:rPr>
              <a:t>를 적용하면, </a:t>
            </a:r>
            <a:r>
              <a:rPr lang="en-US" sz="2000" b="1" dirty="0">
                <a:solidFill>
                  <a:schemeClr val="accent5"/>
                </a:solidFill>
              </a:rPr>
              <a:t>[이유]</a:t>
            </a:r>
            <a:r>
              <a:rPr lang="en-US" sz="2000" dirty="0">
                <a:solidFill>
                  <a:schemeClr val="tx1"/>
                </a:solidFill>
              </a:rPr>
              <a:t> 때문에 </a:t>
            </a:r>
            <a:r>
              <a:rPr lang="en-US" sz="2000" b="1" dirty="0">
                <a:solidFill>
                  <a:schemeClr val="accent1"/>
                </a:solidFill>
              </a:rPr>
              <a:t>[Metric]</a:t>
            </a:r>
            <a:r>
              <a:rPr lang="en-US" sz="2000" dirty="0">
                <a:solidFill>
                  <a:schemeClr val="tx1"/>
                </a:solidFill>
              </a:rPr>
              <a:t>이 </a:t>
            </a:r>
            <a:r>
              <a:rPr lang="en-US" sz="2000" b="1" dirty="0">
                <a:solidFill>
                  <a:schemeClr val="accent2"/>
                </a:solidFill>
              </a:rPr>
              <a:t>[방향]</a:t>
            </a: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marL="0" indent="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marL="0" indent="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txBody>
          <a:bodyPr/>
          <a:lstStyle/>
          <a:p>
            <a:endParaRPr lang="ko-KR" altLang="en-US"/>
          </a:p>
        </p:txBody>
      </p:sp>
      <p:sp>
        <p:nvSpPr>
          <p:cNvPr id="9" name="Text 6"/>
          <p:cNvSpPr txBox="1"/>
          <p:nvPr/>
        </p:nvSpPr>
        <p:spPr>
          <a:xfrm>
            <a:off x="3749040" y="3063240"/>
            <a:ext cx="2560320" cy="457200"/>
          </a:xfrm>
          <a:prstGeom prst="rect">
            <a:avLst/>
          </a:prstGeom>
          <a:noFill/>
          <a:ln/>
        </p:spPr>
        <p:txBody>
          <a:bodyPr wrap="square" lIns="0" tIns="0" rIns="0" bIns="0" rtlCol="0" anchor="t"/>
          <a:lstStyle/>
          <a:p>
            <a:pPr marL="0" indent="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txBody>
          <a:bodyPr/>
          <a:lstStyle/>
          <a:p>
            <a:endParaRPr lang="ko-KR" altLang="en-US"/>
          </a:p>
        </p:txBody>
      </p:sp>
      <p:sp>
        <p:nvSpPr>
          <p:cNvPr id="11" name="Text 8"/>
          <p:cNvSpPr txBox="1"/>
          <p:nvPr/>
        </p:nvSpPr>
        <p:spPr>
          <a:xfrm>
            <a:off x="6858000" y="3063240"/>
            <a:ext cx="2560320" cy="457200"/>
          </a:xfrm>
          <a:prstGeom prst="rect">
            <a:avLst/>
          </a:prstGeom>
          <a:noFill/>
          <a:ln/>
        </p:spPr>
        <p:txBody>
          <a:bodyPr wrap="square" lIns="0" tIns="0" rIns="0" bIns="0" rtlCol="0" anchor="t"/>
          <a:lstStyle/>
          <a:p>
            <a:pPr marL="0" indent="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marL="0" indent="0">
              <a:buNone/>
            </a:pPr>
            <a:r>
              <a:rPr lang="en-US" sz="1400" dirty="0">
                <a:solidFill>
                  <a:schemeClr val="tx2"/>
                </a:solidFill>
              </a:rPr>
              <a:t>이 연결을 설명할 수 있어야 한다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marL="0" indent="0">
              <a:buNone/>
            </a:pPr>
            <a:r>
              <a:rPr lang="en-US" sz="1400" b="1" dirty="0">
                <a:solidFill>
                  <a:schemeClr val="accent3"/>
                </a:solidFill>
              </a:rPr>
              <a:t>예시 가설</a:t>
            </a:r>
            <a:endParaRPr lang="en-US" sz="2000" dirty="0"/>
          </a:p>
          <a:p>
            <a:pPr marL="0" indent="0">
              <a:buNone/>
            </a:pPr>
            <a:r>
              <a:rPr lang="en-US" sz="2000" b="1" dirty="0">
                <a:solidFill>
                  <a:schemeClr val="accent1"/>
                </a:solidFill>
              </a:rPr>
              <a:t>재방문 가능성이 높은 사용자</a:t>
            </a:r>
            <a:r>
              <a:rPr lang="en-US" sz="2000" dirty="0">
                <a:solidFill>
                  <a:schemeClr val="tx1"/>
                </a:solidFill>
              </a:rPr>
              <a:t>에게만 </a:t>
            </a:r>
            <a:r>
              <a:rPr lang="en-US" sz="2000" b="1" dirty="0">
                <a:solidFill>
                  <a:schemeClr val="accent2"/>
                </a:solidFill>
              </a:rPr>
              <a:t>프로모션을 노출하면</a:t>
            </a:r>
            <a:r>
              <a:rPr lang="en-US" sz="2000" dirty="0">
                <a:solidFill>
                  <a:schemeClr val="tx1"/>
                </a:solidFill>
              </a:rPr>
              <a:t>, </a:t>
            </a:r>
            <a:r>
              <a:rPr lang="en-US" sz="2000" b="1" dirty="0">
                <a:solidFill>
                  <a:schemeClr val="accent5"/>
                </a:solidFill>
              </a:rPr>
              <a:t>저품질 유입 비중이 줄어</a:t>
            </a:r>
            <a:r>
              <a:rPr lang="en-US" sz="2000" dirty="0">
                <a:solidFill>
                  <a:schemeClr val="tx1"/>
                </a:solidFill>
              </a:rPr>
              <a:t> </a:t>
            </a:r>
            <a:r>
              <a:rPr lang="en-US" sz="2000" b="1" dirty="0">
                <a:solidFill>
                  <a:schemeClr val="accent1"/>
                </a:solidFill>
              </a:rPr>
              <a:t>검색 → 예약완료 CVR</a:t>
            </a:r>
            <a:r>
              <a:rPr lang="en-US" sz="2000" dirty="0">
                <a:solidFill>
                  <a:schemeClr val="tx1"/>
                </a:solidFill>
              </a:rPr>
              <a:t>이 </a:t>
            </a: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좋은 가설의 조건</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marL="0" indent="0">
              <a:buNone/>
            </a:pPr>
            <a:r>
              <a:rPr lang="en-US" sz="2000" b="1" dirty="0">
                <a:solidFill>
                  <a:schemeClr val="tx1"/>
                </a:solidFill>
              </a:rPr>
              <a:t>구체적이다</a:t>
            </a:r>
            <a:endParaRPr lang="en-US" sz="1500" dirty="0"/>
          </a:p>
          <a:p>
            <a:pPr marL="0" indent="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marL="0" indent="0">
              <a:buNone/>
            </a:pPr>
            <a:r>
              <a:rPr lang="en-US" sz="2000" b="1" dirty="0">
                <a:solidFill>
                  <a:schemeClr val="tx1"/>
                </a:solidFill>
              </a:rPr>
              <a:t>측정할 수 있다</a:t>
            </a:r>
            <a:endParaRPr lang="en-US" sz="1500" dirty="0"/>
          </a:p>
          <a:p>
            <a:pPr marL="0" indent="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marL="0" indent="0">
              <a:buNone/>
            </a:pPr>
            <a:r>
              <a:rPr lang="en-US" sz="2000" b="1" dirty="0">
                <a:solidFill>
                  <a:schemeClr val="tx1"/>
                </a:solidFill>
              </a:rPr>
              <a:t>반증할 수 있다</a:t>
            </a:r>
            <a:endParaRPr lang="en-US" sz="1500" dirty="0"/>
          </a:p>
          <a:p>
            <a:pPr marL="0" indent="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marL="0" indent="0">
              <a:buNone/>
            </a:pPr>
            <a:r>
              <a:rPr lang="en-US" sz="1400" b="1" dirty="0">
                <a:solidFill>
                  <a:schemeClr val="accent4"/>
                </a:solidFill>
              </a:rPr>
              <a:t>나쁜 예</a:t>
            </a:r>
            <a:endParaRPr lang="en-US" sz="1500" dirty="0"/>
          </a:p>
          <a:p>
            <a:pPr marL="0" indent="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marL="0" indent="0">
              <a:buNone/>
            </a:pPr>
            <a:r>
              <a:rPr lang="en-US" sz="1500" dirty="0">
                <a:solidFill>
                  <a:schemeClr val="tx2"/>
                </a:solidFill>
              </a:rPr>
              <a:t>대상·이유·지표가 없음 → 어떤 결과로도 '틀렸다'고 할 수 없다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marL="0" indent="0">
              <a:buNone/>
            </a:pPr>
            <a:r>
              <a:rPr lang="en-US" sz="2000" b="1" dirty="0">
                <a:solidFill>
                  <a:schemeClr val="accent1"/>
                </a:solidFill>
              </a:rPr>
              <a:t>가설을 쓴 뒤 스스로 묻기  </a:t>
            </a: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제품 가설에서 통계적 가설로</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제품 가설을 통계적 가설로 바꾼다</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marL="0" indent="0">
              <a:buNone/>
            </a:pPr>
            <a:r>
              <a:rPr lang="en-US" sz="1500" b="1" dirty="0">
                <a:solidFill>
                  <a:schemeClr val="tx2"/>
                </a:solidFill>
              </a:rPr>
              <a:t>제품 가설</a:t>
            </a:r>
            <a:endParaRPr lang="en-US" sz="1500" dirty="0"/>
          </a:p>
          <a:p>
            <a:pPr marL="0" indent="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txBody>
          <a:bodyPr/>
          <a:lstStyle/>
          <a:p>
            <a:endParaRPr lang="ko-KR" altLang="en-US"/>
          </a:p>
        </p:txBody>
      </p:sp>
      <p:sp>
        <p:nvSpPr>
          <p:cNvPr id="7" name="Text 4"/>
          <p:cNvSpPr txBox="1"/>
          <p:nvPr/>
        </p:nvSpPr>
        <p:spPr>
          <a:xfrm>
            <a:off x="6355080" y="1783080"/>
            <a:ext cx="5212080" cy="822960"/>
          </a:xfrm>
          <a:prstGeom prst="rect">
            <a:avLst/>
          </a:prstGeom>
          <a:noFill/>
          <a:ln/>
        </p:spPr>
        <p:txBody>
          <a:bodyPr wrap="square" lIns="0" tIns="0" rIns="0" bIns="0" rtlCol="0" anchor="t"/>
          <a:lstStyle/>
          <a:p>
            <a:pPr marL="0" indent="0">
              <a:buNone/>
            </a:pPr>
            <a:r>
              <a:rPr lang="en-US" sz="1500" b="1" dirty="0">
                <a:solidFill>
                  <a:schemeClr val="accent1"/>
                </a:solidFill>
              </a:rPr>
              <a:t>통계적 가설</a:t>
            </a:r>
            <a:endParaRPr lang="en-US" sz="1500" dirty="0"/>
          </a:p>
          <a:p>
            <a:pPr marL="0" indent="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marL="0" indent="0">
              <a:spcAft>
                <a:spcPts val="600"/>
              </a:spcAft>
              <a:buNone/>
            </a:pPr>
            <a:r>
              <a:rPr lang="en-US" sz="2000" b="1" dirty="0">
                <a:solidFill>
                  <a:schemeClr val="accent1"/>
                </a:solidFill>
              </a:rPr>
              <a:t>양측검정</a:t>
            </a:r>
            <a:endParaRPr lang="en-US" sz="1500" dirty="0"/>
          </a:p>
          <a:p>
            <a:pPr marL="0" indent="0">
              <a:buNone/>
            </a:pPr>
            <a:r>
              <a:rPr lang="en-US" sz="2000" dirty="0">
                <a:solidFill>
                  <a:schemeClr val="tx1"/>
                </a:solidFill>
              </a:rPr>
              <a:t>H0 :  p_T = p_C</a:t>
            </a:r>
            <a:endParaRPr lang="en-US" sz="1500" dirty="0"/>
          </a:p>
          <a:p>
            <a:pPr marL="0" indent="0">
              <a:spcAft>
                <a:spcPts val="600"/>
              </a:spcAft>
              <a:buNone/>
            </a:pPr>
            <a:r>
              <a:rPr lang="en-US" sz="2000" dirty="0">
                <a:solidFill>
                  <a:schemeClr val="tx1"/>
                </a:solidFill>
              </a:rPr>
              <a:t>H1 :  p_T ≠ p_C</a:t>
            </a:r>
            <a:endParaRPr lang="en-US" sz="1500" dirty="0"/>
          </a:p>
          <a:p>
            <a:pPr marL="0" indent="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txBody>
          <a:bodyPr/>
          <a:lstStyle/>
          <a:p>
            <a:endParaRPr lang="ko-KR" altLang="en-US"/>
          </a:p>
        </p:txBody>
      </p:sp>
      <p:sp>
        <p:nvSpPr>
          <p:cNvPr id="10" name="Text 7"/>
          <p:cNvSpPr txBox="1"/>
          <p:nvPr/>
        </p:nvSpPr>
        <p:spPr>
          <a:xfrm>
            <a:off x="6355080" y="3017520"/>
            <a:ext cx="5212080" cy="1828800"/>
          </a:xfrm>
          <a:prstGeom prst="rect">
            <a:avLst/>
          </a:prstGeom>
          <a:noFill/>
          <a:ln/>
        </p:spPr>
        <p:txBody>
          <a:bodyPr wrap="square" lIns="0" tIns="0" rIns="0" bIns="0" rtlCol="0" anchor="t"/>
          <a:lstStyle/>
          <a:p>
            <a:pPr marL="0" indent="0">
              <a:spcAft>
                <a:spcPts val="600"/>
              </a:spcAft>
              <a:buNone/>
            </a:pPr>
            <a:r>
              <a:rPr lang="en-US" sz="2000" b="1" dirty="0">
                <a:solidFill>
                  <a:schemeClr val="accent5"/>
                </a:solidFill>
              </a:rPr>
              <a:t>단측검정</a:t>
            </a:r>
            <a:endParaRPr lang="en-US" sz="1500" dirty="0"/>
          </a:p>
          <a:p>
            <a:pPr marL="0" indent="0">
              <a:buNone/>
            </a:pPr>
            <a:r>
              <a:rPr lang="en-US" sz="2000" dirty="0">
                <a:solidFill>
                  <a:schemeClr val="tx1"/>
                </a:solidFill>
              </a:rPr>
              <a:t>H0 :  p_T ≤ p_C</a:t>
            </a:r>
            <a:endParaRPr lang="en-US" sz="1500" dirty="0"/>
          </a:p>
          <a:p>
            <a:pPr marL="0" indent="0">
              <a:spcAft>
                <a:spcPts val="600"/>
              </a:spcAft>
              <a:buNone/>
            </a:pPr>
            <a:r>
              <a:rPr lang="en-US" sz="2000" dirty="0">
                <a:solidFill>
                  <a:schemeClr val="tx1"/>
                </a:solidFill>
              </a:rPr>
              <a:t>H1 :  p_T &gt; p_C</a:t>
            </a:r>
            <a:endParaRPr lang="en-US" sz="1500" dirty="0"/>
          </a:p>
          <a:p>
            <a:pPr marL="0" indent="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marL="0" indent="0">
              <a:buNone/>
            </a:pPr>
            <a:r>
              <a:rPr lang="en-US" sz="1500" b="1" dirty="0">
                <a:solidFill>
                  <a:schemeClr val="accent1"/>
                </a:solidFill>
              </a:rPr>
              <a:t>왜 '효과 없음'부터 가정하나  </a:t>
            </a:r>
            <a:r>
              <a:rPr lang="en-US" sz="1500" dirty="0">
                <a:solidFill>
                  <a:schemeClr val="tx1"/>
                </a:solidFill>
              </a:rPr>
              <a:t>H0를 참이라 두고 → 지금 데이터가 얼마나 드문지 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단측검정 vs 양측검정</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txBody>
          <a:bodyPr/>
          <a:lstStyle/>
          <a:p>
            <a:endParaRPr lang="ko-KR" altLang="en-US"/>
          </a:p>
        </p:txBody>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txBody>
          <a:bodyPr/>
          <a:lstStyle/>
          <a:p>
            <a:endParaRPr lang="ko-KR" altLang="en-US"/>
          </a:p>
        </p:txBody>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txBody>
          <a:bodyPr/>
          <a:lstStyle/>
          <a:p>
            <a:endParaRPr lang="ko-KR" altLang="en-US"/>
          </a:p>
        </p:txBody>
      </p:sp>
      <p:sp>
        <p:nvSpPr>
          <p:cNvPr id="8" name="Shape 5"/>
          <p:cNvSpPr/>
          <p:nvPr/>
        </p:nvSpPr>
        <p:spPr>
          <a:xfrm>
            <a:off x="640080" y="4480560"/>
            <a:ext cx="6035040" cy="0"/>
          </a:xfrm>
          <a:prstGeom prst="line">
            <a:avLst/>
          </a:prstGeom>
          <a:noFill/>
          <a:ln w="12700">
            <a:solidFill>
              <a:srgbClr val="8A90A8"/>
            </a:solidFill>
            <a:prstDash val="solid"/>
          </a:ln>
        </p:spPr>
        <p:txBody>
          <a:bodyPr/>
          <a:lstStyle/>
          <a:p>
            <a:endParaRPr lang="ko-KR" altLang="en-US"/>
          </a:p>
        </p:txBody>
      </p:sp>
      <p:sp>
        <p:nvSpPr>
          <p:cNvPr id="9" name="Text 6"/>
          <p:cNvSpPr txBox="1"/>
          <p:nvPr/>
        </p:nvSpPr>
        <p:spPr>
          <a:xfrm>
            <a:off x="1868005" y="4553712"/>
            <a:ext cx="1097280" cy="274320"/>
          </a:xfrm>
          <a:prstGeom prst="rect">
            <a:avLst/>
          </a:prstGeom>
          <a:noFill/>
          <a:ln/>
        </p:spPr>
        <p:txBody>
          <a:bodyPr wrap="square" lIns="0" tIns="0" rIns="0" bIns="0" rtlCol="0" anchor="t"/>
          <a:lstStyle/>
          <a:p>
            <a:pPr marL="0" indent="0" algn="ctr">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marL="0" indent="0" algn="ctr">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marL="0" indent="0" algn="ctr">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marL="0" indent="0">
              <a:buNone/>
            </a:pPr>
            <a:r>
              <a:rPr lang="en-US" sz="1400" dirty="0">
                <a:solidFill>
                  <a:schemeClr val="accent1"/>
                </a:solidFill>
              </a:rPr>
              <a:t>■ </a:t>
            </a:r>
            <a:r>
              <a:rPr lang="en-US" sz="1400" dirty="0">
                <a:solidFill>
                  <a:schemeClr val="tx2"/>
                </a:solidFill>
              </a:rPr>
              <a:t>미리 정한 방향  5%      </a:t>
            </a:r>
            <a:r>
              <a:rPr lang="en-US" sz="1400" dirty="0">
                <a:solidFill>
                  <a:schemeClr val="accent4"/>
                </a:solidFill>
              </a:rPr>
              <a:t>■ </a:t>
            </a: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marL="0" indent="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marL="0" indent="0">
              <a:buNone/>
            </a:pPr>
            <a:r>
              <a:rPr lang="en-US" sz="5400" b="1" dirty="0">
                <a:solidFill>
                  <a:schemeClr val="accent4"/>
                </a:solidFill>
              </a:rPr>
              <a:t>5% → 10%</a:t>
            </a:r>
            <a:endParaRPr lang="en-US" sz="1500" dirty="0"/>
          </a:p>
          <a:p>
            <a:pPr marL="0" indent="0">
              <a:spcAft>
                <a:spcPts val="1600"/>
              </a:spcAft>
              <a:buNone/>
            </a:pPr>
            <a:r>
              <a:rPr lang="en-US" sz="1500" dirty="0">
                <a:solidFill>
                  <a:schemeClr val="tx2"/>
                </a:solidFill>
              </a:rPr>
              <a:t>결과를 보고 방향을 고를 때 실제 1종 오류율</a:t>
            </a:r>
            <a:endParaRPr lang="en-US" sz="1500" dirty="0"/>
          </a:p>
          <a:p>
            <a:pPr marL="0" indent="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marL="0" indent="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비열등성 검정</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marL="0" indent="0">
              <a:buNone/>
            </a:pPr>
            <a:r>
              <a:rPr lang="en-US" sz="2000" dirty="0">
                <a:solidFill>
                  <a:schemeClr val="tx1"/>
                </a:solidFill>
              </a:rPr>
              <a:t>H0 :  Δ ≤ -마진</a:t>
            </a:r>
            <a:endParaRPr lang="en-US" sz="1500" dirty="0"/>
          </a:p>
          <a:p>
            <a:pPr marL="0" indent="0">
              <a:spcAft>
                <a:spcPts val="800"/>
              </a:spcAft>
              <a:buNone/>
            </a:pPr>
            <a:r>
              <a:rPr lang="en-US" sz="2000" dirty="0">
                <a:solidFill>
                  <a:schemeClr val="tx1"/>
                </a:solidFill>
              </a:rPr>
              <a:t>H1 :  Δ &gt; -마진</a:t>
            </a:r>
            <a:endParaRPr lang="en-US" sz="1500" dirty="0"/>
          </a:p>
          <a:p>
            <a:pPr marL="0" indent="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marL="0" indent="0">
              <a:spcAft>
                <a:spcPts val="400"/>
              </a:spcAft>
              <a:buNone/>
            </a:pPr>
            <a:r>
              <a:rPr lang="en-US" sz="1500" b="1" dirty="0">
                <a:solidFill>
                  <a:schemeClr val="tx1"/>
                </a:solidFill>
              </a:rPr>
              <a:t>언제 쓰나</a:t>
            </a:r>
            <a:endParaRPr lang="en-US" sz="1500" dirty="0"/>
          </a:p>
          <a:p>
            <a:pPr marL="0" indent="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txBody>
          <a:bodyPr/>
          <a:lstStyle/>
          <a:p>
            <a:endParaRPr lang="ko-KR" altLang="en-US"/>
          </a:p>
        </p:txBody>
      </p:sp>
      <p:sp>
        <p:nvSpPr>
          <p:cNvPr id="8" name="Shape 5"/>
          <p:cNvSpPr/>
          <p:nvPr/>
        </p:nvSpPr>
        <p:spPr>
          <a:xfrm>
            <a:off x="5303520" y="3337560"/>
            <a:ext cx="0" cy="1645920"/>
          </a:xfrm>
          <a:prstGeom prst="line">
            <a:avLst/>
          </a:prstGeom>
          <a:noFill/>
          <a:ln w="19050">
            <a:solidFill>
              <a:srgbClr val="D93B41"/>
            </a:solidFill>
            <a:prstDash val="dash"/>
          </a:ln>
        </p:spPr>
        <p:txBody>
          <a:bodyPr/>
          <a:lstStyle/>
          <a:p>
            <a:endParaRPr lang="ko-KR" altLang="en-US"/>
          </a:p>
        </p:txBody>
      </p:sp>
      <p:sp>
        <p:nvSpPr>
          <p:cNvPr id="9" name="Text 6"/>
          <p:cNvSpPr txBox="1"/>
          <p:nvPr/>
        </p:nvSpPr>
        <p:spPr>
          <a:xfrm>
            <a:off x="4754880" y="3017520"/>
            <a:ext cx="1097280" cy="274320"/>
          </a:xfrm>
          <a:prstGeom prst="rect">
            <a:avLst/>
          </a:prstGeom>
          <a:noFill/>
          <a:ln/>
        </p:spPr>
        <p:txBody>
          <a:bodyPr wrap="square" lIns="0" tIns="0" rIns="0" bIns="0" rtlCol="0" anchor="t"/>
          <a:lstStyle/>
          <a:p>
            <a:pPr marL="0" indent="0" algn="ctr">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marL="0" indent="0" algn="ctr">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marL="0" indent="0" algn="ctr">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marL="0" indent="0" algn="ctr">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marL="0" indent="0" algn="ctr">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marL="0" indent="0" algn="ctr">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marL="0" indent="0" algn="ctr">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marL="0" indent="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txBody>
          <a:bodyPr/>
          <a:lstStyle/>
          <a:p>
            <a:endParaRPr lang="ko-KR" altLang="en-US"/>
          </a:p>
        </p:txBody>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txBody>
          <a:bodyPr/>
          <a:lstStyle/>
          <a:p>
            <a:endParaRPr lang="ko-KR" altLang="en-US"/>
          </a:p>
        </p:txBody>
      </p:sp>
      <p:sp>
        <p:nvSpPr>
          <p:cNvPr id="19" name="Text 16"/>
          <p:cNvSpPr txBox="1"/>
          <p:nvPr/>
        </p:nvSpPr>
        <p:spPr>
          <a:xfrm>
            <a:off x="8869680" y="3474720"/>
            <a:ext cx="2743200" cy="548640"/>
          </a:xfrm>
          <a:prstGeom prst="rect">
            <a:avLst/>
          </a:prstGeom>
          <a:noFill/>
          <a:ln/>
        </p:spPr>
        <p:txBody>
          <a:bodyPr wrap="square" lIns="0" tIns="0" rIns="0" bIns="0" rtlCol="0" anchor="t"/>
          <a:lstStyle/>
          <a:p>
            <a:pPr marL="0" indent="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marL="0" indent="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txBody>
          <a:bodyPr/>
          <a:lstStyle/>
          <a:p>
            <a:endParaRPr lang="ko-KR" altLang="en-US"/>
          </a:p>
        </p:txBody>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txBody>
          <a:bodyPr/>
          <a:lstStyle/>
          <a:p>
            <a:endParaRPr lang="ko-KR" altLang="en-US"/>
          </a:p>
        </p:txBody>
      </p:sp>
      <p:sp>
        <p:nvSpPr>
          <p:cNvPr id="23" name="Text 20"/>
          <p:cNvSpPr txBox="1"/>
          <p:nvPr/>
        </p:nvSpPr>
        <p:spPr>
          <a:xfrm>
            <a:off x="8869680" y="4251960"/>
            <a:ext cx="2743200" cy="548640"/>
          </a:xfrm>
          <a:prstGeom prst="rect">
            <a:avLst/>
          </a:prstGeom>
          <a:noFill/>
          <a:ln/>
        </p:spPr>
        <p:txBody>
          <a:bodyPr wrap="square" lIns="0" tIns="0" rIns="0" bIns="0" rtlCol="0" anchor="t"/>
          <a:lstStyle/>
          <a:p>
            <a:pPr marL="0" indent="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marL="0" indent="0">
              <a:buNone/>
            </a:pPr>
            <a:r>
              <a:rPr lang="en-US" sz="1500" b="1" dirty="0">
                <a:solidFill>
                  <a:schemeClr val="accent1"/>
                </a:solidFill>
              </a:rPr>
              <a:t>둘 다 우월성 검정으로는 '차이 없음'  </a:t>
            </a:r>
            <a:r>
              <a:rPr lang="en-US" sz="1500" dirty="0">
                <a:solidFill>
                  <a:schemeClr val="tx1"/>
                </a:solidFill>
              </a:rPr>
              <a:t>→ "나빠지지 않았다"는 결과 1만 가능 · 마진은 실험 전에 비즈니스와 합의</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지표 설계</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marL="0" indent="0">
              <a:buNone/>
            </a:pPr>
            <a:r>
              <a:rPr lang="en-US" sz="1500" b="1" dirty="0">
                <a:solidFill>
                  <a:schemeClr val="accent6"/>
                </a:solidFill>
              </a:rPr>
              <a:t>가설  </a:t>
            </a: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marL="0" indent="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marL="0" indent="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marL="0" indent="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marL="0" indent="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marL="0" indent="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marL="0" indent="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marL="0" indent="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marL="0" indent="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marL="0" indent="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marL="0" indent="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marL="0" indent="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marL="0" indent="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marL="0" indent="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marL="0" indent="0">
              <a:buNone/>
            </a:pPr>
            <a:r>
              <a:rPr lang="en-US" sz="1500" b="1" dirty="0">
                <a:solidFill>
                  <a:schemeClr val="accent1"/>
                </a:solidFill>
              </a:rPr>
              <a:t>① Primary</a:t>
            </a:r>
            <a:endParaRPr lang="en-US" sz="1500" dirty="0"/>
          </a:p>
          <a:p>
            <a:pPr marL="0" indent="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txBody>
          <a:bodyPr/>
          <a:lstStyle/>
          <a:p>
            <a:endParaRPr lang="ko-KR" altLang="en-US"/>
          </a:p>
        </p:txBody>
      </p:sp>
      <p:sp>
        <p:nvSpPr>
          <p:cNvPr id="21" name="Text 18"/>
          <p:cNvSpPr txBox="1"/>
          <p:nvPr/>
        </p:nvSpPr>
        <p:spPr>
          <a:xfrm>
            <a:off x="4343400" y="5440680"/>
            <a:ext cx="3108960" cy="685800"/>
          </a:xfrm>
          <a:prstGeom prst="rect">
            <a:avLst/>
          </a:prstGeom>
          <a:noFill/>
          <a:ln/>
        </p:spPr>
        <p:txBody>
          <a:bodyPr wrap="square" lIns="0" tIns="0" rIns="0" bIns="0" rtlCol="0" anchor="t"/>
          <a:lstStyle/>
          <a:p>
            <a:pPr marL="0" indent="0">
              <a:buNone/>
            </a:pPr>
            <a:r>
              <a:rPr lang="en-US" sz="1500" b="1" dirty="0">
                <a:solidFill>
                  <a:schemeClr val="accent1"/>
                </a:solidFill>
              </a:rPr>
              <a:t>② Secondary · Driver</a:t>
            </a:r>
            <a:endParaRPr lang="en-US" sz="1500" dirty="0"/>
          </a:p>
          <a:p>
            <a:pPr marL="0" indent="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txBody>
          <a:bodyPr/>
          <a:lstStyle/>
          <a:p>
            <a:endParaRPr lang="ko-KR" altLang="en-US"/>
          </a:p>
        </p:txBody>
      </p:sp>
      <p:sp>
        <p:nvSpPr>
          <p:cNvPr id="23" name="Text 20"/>
          <p:cNvSpPr txBox="1"/>
          <p:nvPr/>
        </p:nvSpPr>
        <p:spPr>
          <a:xfrm>
            <a:off x="8046720" y="5440680"/>
            <a:ext cx="3108960" cy="685800"/>
          </a:xfrm>
          <a:prstGeom prst="rect">
            <a:avLst/>
          </a:prstGeom>
          <a:noFill/>
          <a:ln/>
        </p:spPr>
        <p:txBody>
          <a:bodyPr wrap="square" lIns="0" tIns="0" rIns="0" bIns="0" rtlCol="0" anchor="t"/>
          <a:lstStyle/>
          <a:p>
            <a:pPr marL="0" indent="0">
              <a:buNone/>
            </a:pPr>
            <a:r>
              <a:rPr lang="en-US" sz="1500" b="1" dirty="0">
                <a:solidFill>
                  <a:schemeClr val="accent1"/>
                </a:solidFill>
              </a:rPr>
              <a:t>③ Guardrail</a:t>
            </a:r>
            <a:endParaRPr lang="en-US" sz="1500" dirty="0"/>
          </a:p>
          <a:p>
            <a:pPr marL="0" indent="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OEC</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좋은 OEC는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txBody>
          <a:bodyPr/>
          <a:lstStyle/>
          <a:p>
            <a:endParaRPr lang="ko-KR" altLang="en-US"/>
          </a:p>
        </p:txBody>
      </p:sp>
      <p:sp>
        <p:nvSpPr>
          <p:cNvPr id="10" name="Text 7"/>
          <p:cNvSpPr txBox="1"/>
          <p:nvPr/>
        </p:nvSpPr>
        <p:spPr>
          <a:xfrm>
            <a:off x="640080" y="4937760"/>
            <a:ext cx="10911535" cy="548640"/>
          </a:xfrm>
          <a:prstGeom prst="rect">
            <a:avLst/>
          </a:prstGeom>
          <a:noFill/>
          <a:ln/>
        </p:spPr>
        <p:txBody>
          <a:bodyPr wrap="square" lIns="0" tIns="0" rIns="0" bIns="0" rtlCol="0" anchor="t"/>
          <a:lstStyle/>
          <a:p>
            <a:pPr marL="0" indent="0">
              <a:buNone/>
            </a:pPr>
            <a:r>
              <a:rPr lang="en-US" sz="1500" b="1" dirty="0">
                <a:solidFill>
                  <a:schemeClr val="accent1"/>
                </a:solidFill>
              </a:rPr>
              <a:t>OEC는 하나여야 하나?  </a:t>
            </a:r>
            <a:r>
              <a:rPr lang="en-US" sz="1500" dirty="0">
                <a:solidFill>
                  <a:schemeClr val="tx1"/>
                </a:solidFill>
              </a:rPr>
              <a:t>가능하면 하나. 품질·사용량·광고 수익처럼 균형이 필요하면 실험 전에 정한 가중치로 조합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OEC와 North Star Metric</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노스스타는 방향을, OEC는 이번 실험을 판단한다</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3401568"/>
        </p:xfrm>
        <a:graphic>
          <a:graphicData uri="http://schemas.openxmlformats.org/drawingml/2006/table">
            <a:tbl>
              <a:tblPr/>
              <a:tblGrid>
                <a:gridCol w="237744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4233672">
                  <a:extLst>
                    <a:ext uri="{9D8B030D-6E8A-4147-A177-3AD203B41FA5}">
                      <a16:colId xmlns:a16="http://schemas.microsoft.com/office/drawing/2014/main" val="20002"/>
                    </a:ext>
                  </a:extLst>
                </a:gridCol>
              </a:tblGrid>
              <a:tr h="566928">
                <a:tc>
                  <a:txBody>
                    <a:bodyPr/>
                    <a:lstStyle/>
                    <a:p>
                      <a:pPr marL="0" indent="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marL="0" indent="0">
              <a:buNone/>
            </a:pPr>
            <a:r>
              <a:rPr lang="en-US" sz="1500" b="1" dirty="0">
                <a:solidFill>
                  <a:schemeClr val="accent1"/>
                </a:solidFill>
              </a:rPr>
              <a:t>← 그로스 세션 노스스타  </a:t>
            </a: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4"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Primary Metric</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txBody>
          <a:bodyPr/>
          <a:lstStyle/>
          <a:p>
            <a:endParaRPr lang="ko-KR" altLang="en-US"/>
          </a:p>
        </p:txBody>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txBody>
          <a:bodyPr/>
          <a:lstStyle/>
          <a:p>
            <a:endParaRPr lang="ko-KR" altLang="en-US"/>
          </a:p>
        </p:txBody>
      </p:sp>
      <p:sp>
        <p:nvSpPr>
          <p:cNvPr id="7" name="Text 4"/>
          <p:cNvSpPr txBox="1"/>
          <p:nvPr/>
        </p:nvSpPr>
        <p:spPr>
          <a:xfrm>
            <a:off x="640080" y="2286000"/>
            <a:ext cx="3291840" cy="731520"/>
          </a:xfrm>
          <a:prstGeom prst="rect">
            <a:avLst/>
          </a:prstGeom>
          <a:noFill/>
          <a:ln/>
        </p:spPr>
        <p:txBody>
          <a:bodyPr wrap="square" lIns="0" tIns="0" rIns="0" bIns="0" rtlCol="0" anchor="t"/>
          <a:lstStyle/>
          <a:p>
            <a:pPr marL="0" indent="0" algn="l">
              <a:buNone/>
            </a:pPr>
            <a:r>
              <a:rPr lang="en-US" sz="1500" b="1" dirty="0">
                <a:solidFill>
                  <a:schemeClr val="tx1"/>
                </a:solidFill>
              </a:rPr>
              <a:t>추천 CTR</a:t>
            </a:r>
            <a:endParaRPr lang="en-US" sz="1500" dirty="0"/>
          </a:p>
          <a:p>
            <a:pPr marL="0" indent="0" algn="l">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txBody>
          <a:bodyPr/>
          <a:lstStyle/>
          <a:p>
            <a:endParaRPr lang="ko-KR" altLang="en-US"/>
          </a:p>
        </p:txBody>
      </p:sp>
      <p:sp>
        <p:nvSpPr>
          <p:cNvPr id="9" name="Text 6"/>
          <p:cNvSpPr txBox="1"/>
          <p:nvPr/>
        </p:nvSpPr>
        <p:spPr>
          <a:xfrm>
            <a:off x="4389120" y="2286000"/>
            <a:ext cx="3291840" cy="731520"/>
          </a:xfrm>
          <a:prstGeom prst="rect">
            <a:avLst/>
          </a:prstGeom>
          <a:noFill/>
          <a:ln/>
        </p:spPr>
        <p:txBody>
          <a:bodyPr wrap="square" lIns="0" tIns="0" rIns="0" bIns="0" rtlCol="0" anchor="t"/>
          <a:lstStyle/>
          <a:p>
            <a:pPr marL="0" indent="0" algn="ctr">
              <a:buNone/>
            </a:pPr>
            <a:r>
              <a:rPr lang="en-US" sz="1500" b="1" dirty="0">
                <a:solidFill>
                  <a:schemeClr val="accent1"/>
                </a:solidFill>
              </a:rPr>
              <a:t>검색 → 예약완료 CVR</a:t>
            </a:r>
            <a:endParaRPr lang="en-US" sz="1500" dirty="0"/>
          </a:p>
          <a:p>
            <a:pPr marL="0" indent="0" algn="ctr">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txBody>
          <a:bodyPr/>
          <a:lstStyle/>
          <a:p>
            <a:endParaRPr lang="ko-KR" altLang="en-US"/>
          </a:p>
        </p:txBody>
      </p:sp>
      <p:sp>
        <p:nvSpPr>
          <p:cNvPr id="11" name="Text 8"/>
          <p:cNvSpPr txBox="1"/>
          <p:nvPr/>
        </p:nvSpPr>
        <p:spPr>
          <a:xfrm>
            <a:off x="8259775" y="2286000"/>
            <a:ext cx="3291840" cy="731520"/>
          </a:xfrm>
          <a:prstGeom prst="rect">
            <a:avLst/>
          </a:prstGeom>
          <a:noFill/>
          <a:ln/>
        </p:spPr>
        <p:txBody>
          <a:bodyPr wrap="square" lIns="0" tIns="0" rIns="0" bIns="0" rtlCol="0" anchor="t"/>
          <a:lstStyle/>
          <a:p>
            <a:pPr marL="0" indent="0" algn="r">
              <a:buNone/>
            </a:pPr>
            <a:r>
              <a:rPr lang="en-US" sz="1500" b="1" dirty="0">
                <a:solidFill>
                  <a:schemeClr val="tx1"/>
                </a:solidFill>
              </a:rPr>
              <a:t>LTV</a:t>
            </a:r>
            <a:endParaRPr lang="en-US" sz="1500" dirty="0"/>
          </a:p>
          <a:p>
            <a:pPr marL="0" indent="0" algn="r">
              <a:buNone/>
            </a:pPr>
            <a:r>
              <a:rPr lang="en-US" sz="1400" dirty="0">
                <a:solidFill>
                  <a:schemeClr val="tx2"/>
                </a:solidFill>
              </a:rPr>
              <a:t>중요하지만 실험 기간 안에 잘 안 움직인다</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457200">
                <a:tc>
                  <a:txBody>
                    <a:bodyPr/>
                    <a:lstStyle/>
                    <a:p>
                      <a:pPr marL="0" indent="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457200">
                <a:tc>
                  <a:txBody>
                    <a:bodyPr/>
                    <a:lstStyle/>
                    <a:p>
                      <a:pPr marL="0" indent="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marL="0" indent="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Secondary · Driver Metric</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Driver 지표는 Primary가 움직인 경로를 보여준다</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marL="0" indent="0">
              <a:buNone/>
            </a:pPr>
            <a:r>
              <a:rPr lang="en-US" sz="1400" b="1" dirty="0">
                <a:solidFill>
                  <a:schemeClr val="tx2"/>
                </a:solidFill>
              </a:rPr>
              <a:t>Treatment</a:t>
            </a:r>
            <a:endParaRPr lang="en-US" sz="1500" dirty="0"/>
          </a:p>
          <a:p>
            <a:pPr marL="0" indent="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txBody>
          <a:bodyPr/>
          <a:lstStyle/>
          <a:p>
            <a:endParaRPr lang="ko-KR" altLang="en-US"/>
          </a:p>
        </p:txBody>
      </p:sp>
      <p:sp>
        <p:nvSpPr>
          <p:cNvPr id="7" name="Text 4"/>
          <p:cNvSpPr txBox="1"/>
          <p:nvPr/>
        </p:nvSpPr>
        <p:spPr>
          <a:xfrm>
            <a:off x="2889504" y="1783080"/>
            <a:ext cx="1965960" cy="822960"/>
          </a:xfrm>
          <a:prstGeom prst="rect">
            <a:avLst/>
          </a:prstGeom>
          <a:noFill/>
          <a:ln/>
        </p:spPr>
        <p:txBody>
          <a:bodyPr wrap="square" lIns="0" tIns="0" rIns="0" bIns="0" rtlCol="0" anchor="t"/>
          <a:lstStyle/>
          <a:p>
            <a:pPr marL="0" indent="0">
              <a:buNone/>
            </a:pPr>
            <a:r>
              <a:rPr lang="en-US" sz="1400" b="1" dirty="0">
                <a:solidFill>
                  <a:schemeClr val="accent2"/>
                </a:solidFill>
              </a:rPr>
              <a:t>Driver</a:t>
            </a:r>
            <a:endParaRPr lang="en-US" sz="1500" dirty="0"/>
          </a:p>
          <a:p>
            <a:pPr marL="0" indent="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txBody>
          <a:bodyPr/>
          <a:lstStyle/>
          <a:p>
            <a:endParaRPr lang="ko-KR" altLang="en-US"/>
          </a:p>
        </p:txBody>
      </p:sp>
      <p:sp>
        <p:nvSpPr>
          <p:cNvPr id="9" name="Text 6"/>
          <p:cNvSpPr txBox="1"/>
          <p:nvPr/>
        </p:nvSpPr>
        <p:spPr>
          <a:xfrm>
            <a:off x="5138928" y="1783080"/>
            <a:ext cx="1965960" cy="822960"/>
          </a:xfrm>
          <a:prstGeom prst="rect">
            <a:avLst/>
          </a:prstGeom>
          <a:noFill/>
          <a:ln/>
        </p:spPr>
        <p:txBody>
          <a:bodyPr wrap="square" lIns="0" tIns="0" rIns="0" bIns="0" rtlCol="0" anchor="t"/>
          <a:lstStyle/>
          <a:p>
            <a:pPr marL="0" indent="0">
              <a:buNone/>
            </a:pPr>
            <a:r>
              <a:rPr lang="en-US" sz="1400" b="1" dirty="0">
                <a:solidFill>
                  <a:schemeClr val="accent2"/>
                </a:solidFill>
              </a:rPr>
              <a:t>Driver</a:t>
            </a:r>
            <a:endParaRPr lang="en-US" sz="1500" dirty="0"/>
          </a:p>
          <a:p>
            <a:pPr marL="0" indent="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txBody>
          <a:bodyPr/>
          <a:lstStyle/>
          <a:p>
            <a:endParaRPr lang="ko-KR" altLang="en-US"/>
          </a:p>
        </p:txBody>
      </p:sp>
      <p:sp>
        <p:nvSpPr>
          <p:cNvPr id="11" name="Text 8"/>
          <p:cNvSpPr txBox="1"/>
          <p:nvPr/>
        </p:nvSpPr>
        <p:spPr>
          <a:xfrm>
            <a:off x="7388352" y="1783080"/>
            <a:ext cx="1965960" cy="822960"/>
          </a:xfrm>
          <a:prstGeom prst="rect">
            <a:avLst/>
          </a:prstGeom>
          <a:noFill/>
          <a:ln/>
        </p:spPr>
        <p:txBody>
          <a:bodyPr wrap="square" lIns="0" tIns="0" rIns="0" bIns="0" rtlCol="0" anchor="t"/>
          <a:lstStyle/>
          <a:p>
            <a:pPr marL="0" indent="0">
              <a:buNone/>
            </a:pPr>
            <a:r>
              <a:rPr lang="en-US" sz="1400" b="1" dirty="0">
                <a:solidFill>
                  <a:schemeClr val="accent2"/>
                </a:solidFill>
              </a:rPr>
              <a:t>Driver</a:t>
            </a:r>
            <a:endParaRPr lang="en-US" sz="1500" dirty="0"/>
          </a:p>
          <a:p>
            <a:pPr marL="0" indent="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txBody>
          <a:bodyPr/>
          <a:lstStyle/>
          <a:p>
            <a:endParaRPr lang="ko-KR" altLang="en-US"/>
          </a:p>
        </p:txBody>
      </p:sp>
      <p:sp>
        <p:nvSpPr>
          <p:cNvPr id="13" name="Text 10"/>
          <p:cNvSpPr txBox="1"/>
          <p:nvPr/>
        </p:nvSpPr>
        <p:spPr>
          <a:xfrm>
            <a:off x="9637776" y="1783080"/>
            <a:ext cx="1965960" cy="822960"/>
          </a:xfrm>
          <a:prstGeom prst="rect">
            <a:avLst/>
          </a:prstGeom>
          <a:noFill/>
          <a:ln/>
        </p:spPr>
        <p:txBody>
          <a:bodyPr wrap="square" lIns="0" tIns="0" rIns="0" bIns="0" rtlCol="0" anchor="t"/>
          <a:lstStyle/>
          <a:p>
            <a:pPr marL="0" indent="0">
              <a:buNone/>
            </a:pPr>
            <a:r>
              <a:rPr lang="en-US" sz="1400" b="1" dirty="0">
                <a:solidFill>
                  <a:schemeClr val="accent1"/>
                </a:solidFill>
              </a:rPr>
              <a:t>Primary</a:t>
            </a:r>
            <a:endParaRPr lang="en-US" sz="1500" dirty="0"/>
          </a:p>
          <a:p>
            <a:pPr marL="0" indent="0">
              <a:buNone/>
            </a:pPr>
            <a:r>
              <a:rPr lang="en-US" sz="1500" b="1" dirty="0">
                <a:solidFill>
                  <a:schemeClr val="tx1"/>
                </a:solidFill>
              </a:rPr>
              <a:t>구매전환율</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457200">
                <a:tc>
                  <a:txBody>
                    <a:bodyPr/>
                    <a:lstStyle/>
                    <a:p>
                      <a:pPr marL="0" indent="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457200">
                <a:tc>
                  <a:txBody>
                    <a:bodyPr/>
                    <a:lstStyle/>
                    <a:p>
                      <a:pPr marL="0" indent="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marL="0" indent="0">
              <a:buNone/>
            </a:pPr>
            <a:r>
              <a:rPr lang="en-US" sz="1500" b="1" dirty="0">
                <a:solidFill>
                  <a:schemeClr val="accent4"/>
                </a:solidFill>
              </a:rPr>
              <a:t>주의 1</a:t>
            </a:r>
            <a:endParaRPr lang="en-US" sz="1500" dirty="0"/>
          </a:p>
          <a:p>
            <a:pPr marL="0" indent="0">
              <a:spcAft>
                <a:spcPts val="1200"/>
              </a:spcAft>
              <a:buNone/>
            </a:pPr>
            <a:r>
              <a:rPr lang="en-US" sz="1500" dirty="0">
                <a:solidFill>
                  <a:schemeClr val="tx1"/>
                </a:solidFill>
              </a:rPr>
              <a:t>Driver는 진단용입니다. 중간 단계의 인과를 증명하지 않습니다</a:t>
            </a:r>
            <a:endParaRPr lang="en-US" sz="1500" dirty="0"/>
          </a:p>
          <a:p>
            <a:pPr marL="0" indent="0">
              <a:buNone/>
            </a:pPr>
            <a:r>
              <a:rPr lang="en-US" sz="1500" b="1" dirty="0">
                <a:solidFill>
                  <a:schemeClr val="accent4"/>
                </a:solidFill>
              </a:rPr>
              <a:t>주의 2</a:t>
            </a:r>
            <a:endParaRPr lang="en-US" sz="1500" dirty="0"/>
          </a:p>
          <a:p>
            <a:pPr marL="0" indent="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비율 지표</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CTR이 올랐다: 더 눌러서인가, 덜 보여줘서인가</a:t>
            </a:r>
            <a:endParaRPr lang="en-US" sz="2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548640">
                <a:tc>
                  <a:txBody>
                    <a:bodyPr/>
                    <a:lstStyle/>
                    <a:p>
                      <a:pPr marL="0" indent="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548640">
                <a:tc>
                  <a:txBody>
                    <a:bodyPr/>
                    <a:lstStyle/>
                    <a:p>
                      <a:pPr marL="0" indent="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marL="0" indent="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rPr>
              <a:t>CTR 변화 = 두 효과의 합</a:t>
            </a:r>
            <a:endParaRPr lang="en-US" sz="1500" dirty="0"/>
          </a:p>
          <a:p>
            <a:pPr marL="0" indent="0">
              <a:buNone/>
            </a:pPr>
            <a:r>
              <a:rPr lang="en-US" sz="1500" b="1" dirty="0">
                <a:solidFill>
                  <a:schemeClr val="accent5"/>
                </a:solidFill>
              </a:rPr>
              <a:t>구성 효과  </a:t>
            </a:r>
            <a:r>
              <a:rPr lang="en-US" sz="1500" dirty="0">
                <a:solidFill>
                  <a:schemeClr val="tx1"/>
                </a:solidFill>
              </a:rPr>
              <a:t>원래 안 누르던 노출이 분모에서 빠짐</a:t>
            </a:r>
            <a:endParaRPr lang="en-US" sz="1500" dirty="0"/>
          </a:p>
          <a:p>
            <a:pPr marL="0" indent="0">
              <a:buNone/>
            </a:pPr>
            <a:r>
              <a:rPr lang="en-US" sz="1500" b="1" dirty="0">
                <a:solidFill>
                  <a:schemeClr val="accent1"/>
                </a:solidFill>
              </a:rPr>
              <a:t>행동 효과  </a:t>
            </a:r>
            <a:r>
              <a:rPr lang="en-US" sz="1500" dirty="0">
                <a:solidFill>
                  <a:schemeClr val="tx1"/>
                </a:solidFill>
              </a:rPr>
              <a:t>남은 노출에 실제로 더 반응함</a:t>
            </a:r>
            <a:endParaRPr lang="en-US" sz="1500" dirty="0"/>
          </a:p>
          <a:p>
            <a:pPr marL="0" indent="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marL="0" indent="0">
              <a:buNone/>
            </a:pPr>
            <a:r>
              <a:rPr lang="en-US" sz="1500" b="1" dirty="0">
                <a:solidFill>
                  <a:schemeClr val="accent1"/>
                </a:solidFill>
              </a:rPr>
              <a:t>실무에서 이렇게 말한다  </a:t>
            </a: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Guardrail Metric</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marL="0" indent="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marL="0" indent="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marL="0" indent="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marL="0" indent="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marL="0" indent="0">
              <a:buNone/>
            </a:pPr>
            <a:r>
              <a:rPr lang="en-US" sz="1500" b="1" dirty="0">
                <a:solidFill>
                  <a:schemeClr val="accent1"/>
                </a:solidFill>
              </a:rPr>
              <a:t>고르는 기준  </a:t>
            </a: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marL="0" indent="0">
              <a:buNone/>
            </a:pPr>
            <a:r>
              <a:rPr lang="en-US" sz="1500" b="1" dirty="0">
                <a:solidFill>
                  <a:schemeClr val="accent1"/>
                </a:solidFill>
              </a:rPr>
              <a:t>실무에서 이렇게 말한다  </a:t>
            </a: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Goodhart's Law</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지표는 목표가 아니라 가치를 대신 재는 숫자다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marL="0" indent="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marL="0" indent="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marL="0" indent="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marL="0" indent="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marL="0" indent="0">
              <a:buNone/>
            </a:pPr>
            <a:r>
              <a:rPr lang="en-US" sz="1500" dirty="0">
                <a:solidFill>
                  <a:schemeClr val="tx2"/>
                </a:solidFill>
              </a:rPr>
              <a:t>"무조건 CTR 최대화" → 숫자는 오르는데 그 숫자가 대변하던 가치는 떨어질 수 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marL="0" indent="0">
              <a:spcAft>
                <a:spcPts val="400"/>
              </a:spcAft>
              <a:buNone/>
            </a:pPr>
            <a:r>
              <a:rPr lang="en-US" sz="2000" b="1" dirty="0">
                <a:solidFill>
                  <a:schemeClr val="tx1"/>
                </a:solidFill>
              </a:rPr>
              <a:t>지표는 proxy</a:t>
            </a:r>
            <a:endParaRPr lang="en-US" sz="1500" dirty="0"/>
          </a:p>
          <a:p>
            <a:pPr marL="0" indent="0">
              <a:spcAft>
                <a:spcPts val="1400"/>
              </a:spcAft>
              <a:buNone/>
            </a:pPr>
            <a:r>
              <a:rPr lang="en-US" sz="1500" dirty="0">
                <a:solidFill>
                  <a:schemeClr val="tx2"/>
                </a:solidFill>
              </a:rPr>
              <a:t>진짜 가치를 대신 재는 숫자</a:t>
            </a:r>
            <a:endParaRPr lang="en-US" sz="1500" dirty="0"/>
          </a:p>
          <a:p>
            <a:pPr marL="0" indent="0">
              <a:spcAft>
                <a:spcPts val="400"/>
              </a:spcAft>
              <a:buNone/>
            </a:pPr>
            <a:r>
              <a:rPr lang="en-US" sz="2000" b="1" dirty="0">
                <a:solidFill>
                  <a:schemeClr val="tx1"/>
                </a:solidFill>
              </a:rPr>
              <a:t>유의성의 한계</a:t>
            </a:r>
            <a:endParaRPr lang="en-US" sz="1500" dirty="0"/>
          </a:p>
          <a:p>
            <a:pPr marL="0" indent="0">
              <a:buNone/>
            </a:pPr>
            <a:r>
              <a:rPr lang="en-US" sz="1500" dirty="0">
                <a:solidFill>
                  <a:schemeClr val="tx2"/>
                </a:solidFill>
              </a:rPr>
              <a:t>유의하다 ≠ 지표를 잘 골랐다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사전 정의</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marL="0" indent="0">
              <a:spcAft>
                <a:spcPts val="800"/>
              </a:spcAft>
              <a:buNone/>
            </a:pPr>
            <a:r>
              <a:rPr lang="en-US" sz="1400" b="1" dirty="0">
                <a:solidFill>
                  <a:schemeClr val="accent6"/>
                </a:solidFill>
              </a:rPr>
              <a:t>실험 전에 적어 둘 것</a:t>
            </a:r>
            <a:endParaRPr lang="en-US" sz="1500" dirty="0"/>
          </a:p>
          <a:p>
            <a:pPr marL="0" indent="0">
              <a:buNone/>
            </a:pPr>
            <a:r>
              <a:rPr lang="en-US" sz="1500" b="1" dirty="0">
                <a:solidFill>
                  <a:schemeClr val="tx1"/>
                </a:solidFill>
              </a:rPr>
              <a:t>가설  </a:t>
            </a:r>
            <a:r>
              <a:rPr lang="en-US" sz="1500" dirty="0">
                <a:solidFill>
                  <a:schemeClr val="tx1"/>
                </a:solidFill>
              </a:rPr>
              <a:t>개인화 추천이 예약전환율을 높인다</a:t>
            </a:r>
            <a:endParaRPr lang="en-US" sz="1500" dirty="0"/>
          </a:p>
          <a:p>
            <a:pPr marL="0" indent="0">
              <a:buNone/>
            </a:pPr>
            <a:r>
              <a:rPr lang="en-US" sz="1500" b="1" dirty="0">
                <a:solidFill>
                  <a:schemeClr val="accent1"/>
                </a:solidFill>
              </a:rPr>
              <a:t>Primary  </a:t>
            </a:r>
            <a:r>
              <a:rPr lang="en-US" sz="1500" dirty="0">
                <a:solidFill>
                  <a:schemeClr val="tx1"/>
                </a:solidFill>
              </a:rPr>
              <a:t>검색 → 예약완료 CVR</a:t>
            </a:r>
            <a:endParaRPr lang="en-US" sz="1500" dirty="0"/>
          </a:p>
          <a:p>
            <a:pPr marL="0" indent="0">
              <a:buNone/>
            </a:pPr>
            <a:r>
              <a:rPr lang="en-US" sz="1500" b="1" dirty="0">
                <a:solidFill>
                  <a:schemeClr val="accent2"/>
                </a:solidFill>
              </a:rPr>
              <a:t>Secondary  </a:t>
            </a:r>
            <a:r>
              <a:rPr lang="en-US" sz="1500" dirty="0">
                <a:solidFill>
                  <a:schemeClr val="tx1"/>
                </a:solidFill>
              </a:rPr>
              <a:t>추천 CTR, 상세페이지 도달률</a:t>
            </a:r>
            <a:endParaRPr lang="en-US" sz="1500" dirty="0"/>
          </a:p>
          <a:p>
            <a:pPr marL="0" indent="0">
              <a:buNone/>
            </a:pPr>
            <a:r>
              <a:rPr lang="en-US" sz="1500" b="1" dirty="0">
                <a:solidFill>
                  <a:schemeClr val="accent4"/>
                </a:solidFill>
              </a:rPr>
              <a:t>Guardrail  </a:t>
            </a: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txBody>
          <a:bodyPr/>
          <a:lstStyle/>
          <a:p>
            <a:endParaRPr lang="ko-KR" altLang="en-US"/>
          </a:p>
        </p:txBody>
      </p:sp>
      <p:sp>
        <p:nvSpPr>
          <p:cNvPr id="7" name="Text 4"/>
          <p:cNvSpPr txBox="1"/>
          <p:nvPr/>
        </p:nvSpPr>
        <p:spPr>
          <a:xfrm>
            <a:off x="6035040" y="1783080"/>
            <a:ext cx="5486400" cy="320040"/>
          </a:xfrm>
          <a:prstGeom prst="rect">
            <a:avLst/>
          </a:prstGeom>
          <a:noFill/>
          <a:ln/>
        </p:spPr>
        <p:txBody>
          <a:bodyPr wrap="square" lIns="0" tIns="0" rIns="0" bIns="0" rtlCol="0" anchor="t"/>
          <a:lstStyle/>
          <a:p>
            <a:pPr marL="0" indent="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marL="0" indent="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marL="0" indent="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marL="0" indent="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marL="0" indent="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marL="0" indent="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marL="0" indent="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marL="0" indent="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marL="0" indent="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marL="0" indent="0">
              <a:buNone/>
            </a:pPr>
            <a:r>
              <a:rPr lang="en-US" sz="1500" b="1" dirty="0">
                <a:solidFill>
                  <a:schemeClr val="accent1"/>
                </a:solidFill>
              </a:rPr>
              <a:t>trade-off도 미리  </a:t>
            </a:r>
            <a:r>
              <a:rPr lang="en-US" sz="1500" dirty="0">
                <a:solidFill>
                  <a:schemeClr val="tx1"/>
                </a:solidFill>
              </a:rPr>
              <a:t>구매전환율 +4%, 취소율 +15%라면? → "취소율이 X 이상 나빠지면 배포 안 함"을 실험 전에</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marL="0" indent="0">
              <a:buNone/>
            </a:pPr>
            <a:r>
              <a:rPr lang="en-US" sz="1400" dirty="0">
                <a:solidFill>
                  <a:schemeClr val="tx2"/>
                </a:solidFill>
              </a:rPr>
              <a:t>다른 지표를 보지 말라는 게 아니다 · 나중에 찾은 패턴은 탐색적 결과로 구분</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대조군·실험군과 대표성</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85" name="Text 82"/>
          <p:cNvSpPr txBox="1"/>
          <p:nvPr/>
        </p:nvSpPr>
        <p:spPr>
          <a:xfrm>
            <a:off x="640080" y="4251960"/>
            <a:ext cx="4114800" cy="365760"/>
          </a:xfrm>
          <a:prstGeom prst="rect">
            <a:avLst/>
          </a:prstGeom>
          <a:noFill/>
          <a:ln/>
        </p:spPr>
        <p:txBody>
          <a:bodyPr wrap="square" lIns="0" tIns="0" rIns="0" bIns="0" rtlCol="0" anchor="t"/>
          <a:lstStyle/>
          <a:p>
            <a:pPr marL="0" indent="0">
              <a:buNone/>
            </a:pPr>
            <a:r>
              <a:rPr lang="en-US" sz="1400" dirty="0">
                <a:solidFill>
                  <a:schemeClr val="accent1"/>
                </a:solidFill>
              </a:rPr>
              <a:t>●</a:t>
            </a:r>
            <a:r>
              <a:rPr lang="en-US" sz="1400" dirty="0">
                <a:solidFill>
                  <a:schemeClr val="tx2"/>
                </a:solidFill>
              </a:rPr>
              <a:t> 실험에 들어온 사용자   </a:t>
            </a:r>
            <a:r>
              <a:rPr lang="en-US" sz="1400" dirty="0">
                <a:solidFill>
                  <a:srgbClr val="D5D9E6"/>
                </a:solidFill>
              </a:rPr>
              <a:t>●</a:t>
            </a: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marL="0" indent="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marL="0" indent="0">
              <a:buNone/>
            </a:pPr>
            <a:r>
              <a:rPr lang="en-US" sz="1500" b="1" dirty="0">
                <a:solidFill>
                  <a:schemeClr val="accent1"/>
                </a:solidFill>
              </a:rPr>
              <a:t>실무에서 이렇게 말한다  </a:t>
            </a:r>
            <a:r>
              <a:rPr lang="en-US" sz="1500" dirty="0">
                <a:solidFill>
                  <a:schemeClr val="tx1"/>
                </a:solidFill>
              </a:rPr>
              <a:t>"이번 실험은 앱 사용자만 대상이라 웹에는 따로 확인이 필요합니다"</a:t>
            </a:r>
            <a:endParaRPr lang="en-US" sz="1500" dirty="0"/>
          </a:p>
        </p:txBody>
      </p:sp>
      <p:sp>
        <p:nvSpPr>
          <p:cNvPr id="4"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실험 단위</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marL="0" indent="0">
              <a:buNone/>
            </a:pPr>
            <a:r>
              <a:rPr lang="en-US" sz="1400" b="1" dirty="0">
                <a:solidFill>
                  <a:schemeClr val="tx1"/>
                </a:solidFill>
              </a:rPr>
              <a:t>Experimental Unit</a:t>
            </a:r>
            <a:r>
              <a:rPr lang="en-US" sz="1400" dirty="0">
                <a:solidFill>
                  <a:schemeClr val="tx1"/>
                </a:solidFill>
              </a:rPr>
              <a:t> 처치를 독립적으로 받는 단위   </a:t>
            </a:r>
            <a:r>
              <a:rPr lang="en-US" sz="1400" b="1" dirty="0">
                <a:solidFill>
                  <a:schemeClr val="tx1"/>
                </a:solidFill>
              </a:rPr>
              <a:t>Randomization Unit</a:t>
            </a:r>
            <a:r>
              <a:rPr lang="en-US" sz="1400" dirty="0">
                <a:solidFill>
                  <a:schemeClr val="tx2"/>
                </a:solidFill>
              </a:rPr>
              <a:t> 무작위 배정 단위  →  온라인 실험에서는 보통 같다</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08792" cy="2560320"/>
        </p:xfrm>
        <a:graphic>
          <a:graphicData uri="http://schemas.openxmlformats.org/drawingml/2006/table">
            <a:tbl>
              <a:tblPr/>
              <a:tblGrid>
                <a:gridCol w="18288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640080">
                <a:tc>
                  <a:txBody>
                    <a:bodyPr/>
                    <a:lstStyle/>
                    <a:p>
                      <a:pPr marL="0" indent="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640080">
                <a:tc>
                  <a:txBody>
                    <a:bodyPr/>
                    <a:lstStyle/>
                    <a:p>
                      <a:pPr marL="0" indent="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marL="0" indent="0">
              <a:buNone/>
            </a:pPr>
            <a:r>
              <a:rPr lang="en-US" sz="1500" b="1" dirty="0">
                <a:solidFill>
                  <a:schemeClr val="accent1"/>
                </a:solidFill>
              </a:rPr>
              <a:t>세션 단위를 고를 때 묻기  </a:t>
            </a: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marL="0" indent="0">
              <a:buNone/>
            </a:pPr>
            <a:r>
              <a:rPr lang="en-US" sz="1400" b="1" dirty="0">
                <a:solidFill>
                  <a:schemeClr val="accent1"/>
                </a:solidFill>
              </a:rPr>
              <a:t>원칙  </a:t>
            </a:r>
            <a:r>
              <a:rPr lang="en-US" sz="1400" dirty="0">
                <a:solidFill>
                  <a:schemeClr val="tx1"/>
                </a:solidFill>
              </a:rPr>
              <a:t>User-level에서 시작, 다른 단위는 이유를 댈 수 있을 때만 · 배정 ≠ 분석 단위면 분산 보정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사용자 식별자</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식별자는 사람의 근사치다</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274320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548640">
                <a:tc>
                  <a:txBody>
                    <a:bodyPr/>
                    <a:lstStyle/>
                    <a:p>
                      <a:pPr marL="0" indent="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548640">
                <a:tc>
                  <a:txBody>
                    <a:bodyPr/>
                    <a:lstStyle/>
                    <a:p>
                      <a:pPr marL="0" indent="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rPr>
              <a:t>Sticky Assignment</a:t>
            </a:r>
            <a:endParaRPr lang="en-US" sz="1500" dirty="0"/>
          </a:p>
          <a:p>
            <a:pPr marL="0" indent="0">
              <a:spcAft>
                <a:spcPts val="1400"/>
              </a:spcAft>
              <a:buNone/>
            </a:pPr>
            <a:r>
              <a:rPr lang="en-US" sz="1500" dirty="0">
                <a:solidFill>
                  <a:schemeClr val="tx1"/>
                </a:solidFill>
              </a:rPr>
              <a:t>같은 사용자 → 실험 내내 같은 Variant</a:t>
            </a:r>
            <a:endParaRPr lang="en-US" sz="1500" dirty="0"/>
          </a:p>
          <a:p>
            <a:pPr marL="0" indent="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marL="0" indent="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marL="0" indent="0">
              <a:buNone/>
            </a:pPr>
            <a:r>
              <a:rPr lang="en-US" sz="1500" b="1" dirty="0">
                <a:solidFill>
                  <a:schemeClr val="accent1"/>
                </a:solidFill>
              </a:rPr>
              <a:t>기억할 것  </a:t>
            </a:r>
            <a:r>
              <a:rPr lang="en-US" sz="1500" dirty="0">
                <a:solidFill>
                  <a:schemeClr val="tx1"/>
                </a:solidFill>
              </a:rPr>
              <a:t>식별자는 사람의 근사치 · 배정 기준 식별자는 실험 전에 정하기 · 식별자 로그 = 개인정보</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세션 단위</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사람을 계속 알아보기 어렵다면 세션 단위를 쓴다</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3401568"/>
        </p:xfrm>
        <a:graphic>
          <a:graphicData uri="http://schemas.openxmlformats.org/drawingml/2006/table">
            <a:tbl>
              <a:tblPr/>
              <a:tblGrid>
                <a:gridCol w="35661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548640">
                <a:tc>
                  <a:txBody>
                    <a:bodyPr/>
                    <a:lstStyle/>
                    <a:p>
                      <a:pPr marL="0" indent="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548640">
                <a:tc>
                  <a:txBody>
                    <a:bodyPr/>
                    <a:lstStyle/>
                    <a:p>
                      <a:pPr marL="0" indent="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4"/>
                  </a:ext>
                </a:extLst>
              </a:tr>
              <a:tr h="548640">
                <a:tc>
                  <a:txBody>
                    <a:bodyPr/>
                    <a:lstStyle/>
                    <a:p>
                      <a:pPr marL="0" indent="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marL="0" indent="0">
              <a:buNone/>
            </a:pPr>
            <a:r>
              <a:rPr lang="en-US" sz="2000" b="1" dirty="0">
                <a:solidFill>
                  <a:schemeClr val="accent1"/>
                </a:solidFill>
              </a:rPr>
              <a:t>장점</a:t>
            </a:r>
            <a:endParaRPr lang="en-US" sz="1500" dirty="0"/>
          </a:p>
          <a:p>
            <a:pPr marL="0" indent="0">
              <a:spcAft>
                <a:spcPts val="400"/>
              </a:spcAft>
              <a:buNone/>
            </a:pPr>
            <a:r>
              <a:rPr lang="en-US" sz="1500" dirty="0">
                <a:solidFill>
                  <a:schemeClr val="tx1"/>
                </a:solidFill>
              </a:rPr>
              <a:t>단위 수가 빨리 는다. 하루 3번 오면 세션 3개</a:t>
            </a:r>
            <a:endParaRPr lang="en-US" sz="1500" dirty="0"/>
          </a:p>
          <a:p>
            <a:pPr marL="0" indent="0">
              <a:spcAft>
                <a:spcPts val="1400"/>
              </a:spcAft>
              <a:buNone/>
            </a:pPr>
            <a:r>
              <a:rPr lang="en-US" sz="1500" dirty="0">
                <a:solidFill>
                  <a:schemeClr val="tx1"/>
                </a:solidFill>
              </a:rPr>
              <a:t>영구적인 사용자 ID에 덜 의존한다</a:t>
            </a:r>
            <a:endParaRPr lang="en-US" sz="1500" dirty="0"/>
          </a:p>
          <a:p>
            <a:pPr marL="0" indent="0">
              <a:buNone/>
            </a:pPr>
            <a:r>
              <a:rPr lang="en-US" sz="2000" b="1" dirty="0">
                <a:solidFill>
                  <a:schemeClr val="accent4"/>
                </a:solidFill>
              </a:rPr>
              <a:t>주의</a:t>
            </a:r>
            <a:endParaRPr lang="en-US" sz="1500" dirty="0"/>
          </a:p>
          <a:p>
            <a:pPr marL="0" indent="0">
              <a:spcAft>
                <a:spcPts val="400"/>
              </a:spcAft>
              <a:buNone/>
            </a:pPr>
            <a:r>
              <a:rPr lang="en-US" sz="1500" dirty="0">
                <a:solidFill>
                  <a:schemeClr val="tx1"/>
                </a:solidFill>
              </a:rPr>
              <a:t>결론이 '평균적인 세션'에 대한 것이 된다</a:t>
            </a:r>
            <a:endParaRPr lang="en-US" sz="1500" dirty="0"/>
          </a:p>
          <a:p>
            <a:pPr marL="0" indent="0">
              <a:spcAft>
                <a:spcPts val="400"/>
              </a:spcAft>
              <a:buNone/>
            </a:pPr>
            <a:r>
              <a:rPr lang="en-US" sz="1500" dirty="0">
                <a:solidFill>
                  <a:schemeClr val="tx1"/>
                </a:solidFill>
              </a:rPr>
              <a:t>이월 효과: 앞 세션의 B 경험이 뒤 세션 A 성과로 섞인다</a:t>
            </a:r>
            <a:endParaRPr lang="en-US" sz="1500" dirty="0"/>
          </a:p>
          <a:p>
            <a:pPr marL="0" indent="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트리거 분석</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txBody>
          <a:bodyPr/>
          <a:lstStyle/>
          <a:p>
            <a:endParaRPr lang="ko-KR" altLang="en-US"/>
          </a:p>
        </p:txBody>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txBody>
          <a:bodyPr/>
          <a:lstStyle/>
          <a:p>
            <a:endParaRPr lang="ko-KR" altLang="en-US"/>
          </a:p>
        </p:txBody>
      </p:sp>
      <p:sp>
        <p:nvSpPr>
          <p:cNvPr id="85" name="Text 82"/>
          <p:cNvSpPr txBox="1"/>
          <p:nvPr/>
        </p:nvSpPr>
        <p:spPr>
          <a:xfrm>
            <a:off x="640080" y="4251960"/>
            <a:ext cx="3931920" cy="320040"/>
          </a:xfrm>
          <a:prstGeom prst="rect">
            <a:avLst/>
          </a:prstGeom>
          <a:noFill/>
          <a:ln/>
        </p:spPr>
        <p:txBody>
          <a:bodyPr wrap="square" lIns="0" tIns="0" rIns="0" bIns="0" rtlCol="0" anchor="t"/>
          <a:lstStyle/>
          <a:p>
            <a:pPr marL="0" indent="0">
              <a:buNone/>
            </a:pPr>
            <a:r>
              <a:rPr lang="en-US" sz="1400" dirty="0">
                <a:solidFill>
                  <a:schemeClr val="accent1"/>
                </a:solidFill>
              </a:rPr>
              <a:t>●</a:t>
            </a:r>
            <a:r>
              <a:rPr lang="en-US" sz="1400" dirty="0">
                <a:solidFill>
                  <a:schemeClr val="tx2"/>
                </a:solidFill>
              </a:rPr>
              <a:t> 트리거 충족 20%   </a:t>
            </a:r>
            <a:r>
              <a:rPr lang="en-US" sz="1400" dirty="0">
                <a:solidFill>
                  <a:srgbClr val="D5D9E6"/>
                </a:solidFill>
              </a:rPr>
              <a:t>●</a:t>
            </a: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marL="0" indent="0">
              <a:buNone/>
            </a:pPr>
            <a:r>
              <a:rPr lang="en-US" sz="2000" b="1" dirty="0">
                <a:solidFill>
                  <a:schemeClr val="tx2"/>
                </a:solidFill>
              </a:rPr>
              <a:t>ITT</a:t>
            </a:r>
            <a:endParaRPr lang="en-US" sz="1500" dirty="0"/>
          </a:p>
          <a:p>
            <a:pPr marL="0" indent="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marL="0" indent="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marL="0" indent="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marL="0" indent="0">
              <a:buNone/>
            </a:pPr>
            <a:r>
              <a:rPr lang="en-US" sz="2000" b="1" dirty="0">
                <a:solidFill>
                  <a:schemeClr val="accent1"/>
                </a:solidFill>
              </a:rPr>
              <a:t>트리거 분석</a:t>
            </a:r>
            <a:endParaRPr lang="en-US" sz="1500" dirty="0"/>
          </a:p>
          <a:p>
            <a:pPr marL="0" indent="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marL="0" indent="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marL="0" indent="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marL="0" indent="0">
              <a:buNone/>
            </a:pPr>
            <a:r>
              <a:rPr lang="en-US" sz="2000" b="1" dirty="0">
                <a:solidFill>
                  <a:schemeClr val="accent4"/>
                </a:solidFill>
              </a:rPr>
              <a:t>잘못된 비교</a:t>
            </a:r>
            <a:endParaRPr lang="en-US" sz="1500" dirty="0"/>
          </a:p>
          <a:p>
            <a:pPr marL="0" indent="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marL="0" indent="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marL="0" indent="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marL="0" indent="0">
              <a:buNone/>
            </a:pPr>
            <a:r>
              <a:rPr lang="en-US" sz="1500" b="1" dirty="0">
                <a:solidFill>
                  <a:schemeClr val="accent1"/>
                </a:solidFill>
              </a:rPr>
              <a:t>설계에서 정할 것  </a:t>
            </a: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marL="0" indent="0">
              <a:buNone/>
            </a:pPr>
            <a:r>
              <a:rPr lang="en-US" sz="1400" dirty="0">
                <a:solidFill>
                  <a:schemeClr val="tx2"/>
                </a:solidFill>
              </a:rPr>
              <a:t>전체 영향 보고 = 트리거 효과 × 트리거 비율</a:t>
            </a:r>
            <a:endParaRPr lang="en-US" sz="1400" dirty="0"/>
          </a:p>
        </p:txBody>
      </p:sp>
      <p:sp>
        <p:nvSpPr>
          <p:cNvPr id="4"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1종 오류와 2종 오류</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실험이 틀리는 두 가지 방식</a:t>
            </a:r>
            <a:endParaRPr lang="en-US" sz="2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2743200"/>
        </p:xfrm>
        <a:graphic>
          <a:graphicData uri="http://schemas.openxmlformats.org/drawingml/2006/table">
            <a:tbl>
              <a:tblPr/>
              <a:tblGrid>
                <a:gridCol w="21945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914400">
                <a:tc>
                  <a:txBody>
                    <a:bodyPr/>
                    <a:lstStyle/>
                    <a:p>
                      <a:pPr marL="0" indent="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914400">
                <a:tc>
                  <a:txBody>
                    <a:bodyPr/>
                    <a:lstStyle/>
                    <a:p>
                      <a:pPr marL="0" indent="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2000" b="1" dirty="0">
                          <a:solidFill>
                            <a:srgbClr val="D93B41"/>
                          </a:solidFill>
                        </a:rPr>
                        <a:t>1종 오류 (α)</a:t>
                      </a:r>
                      <a:endParaRPr lang="en-US" sz="1500" dirty="0"/>
                    </a:p>
                    <a:p>
                      <a:pPr marL="0" indent="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2000" b="1" dirty="0">
                          <a:solidFill>
                            <a:srgbClr val="8A90A8"/>
                          </a:solidFill>
                        </a:rPr>
                        <a:t>올바른 판단</a:t>
                      </a:r>
                      <a:endParaRPr lang="en-US" sz="1500" dirty="0"/>
                    </a:p>
                    <a:p>
                      <a:pPr marL="0" indent="0">
                        <a:buNone/>
                      </a:pP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914400">
                <a:tc>
                  <a:txBody>
                    <a:bodyPr/>
                    <a:lstStyle/>
                    <a:p>
                      <a:pPr marL="0" indent="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2000" b="1" dirty="0">
                          <a:solidFill>
                            <a:srgbClr val="8A90A8"/>
                          </a:solidFill>
                        </a:rPr>
                        <a:t>올바른 판단</a:t>
                      </a:r>
                      <a:endParaRPr lang="en-US" sz="1500" dirty="0"/>
                    </a:p>
                    <a:p>
                      <a:pPr marL="0" indent="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2000" b="1" dirty="0">
                          <a:solidFill>
                            <a:srgbClr val="B87700"/>
                          </a:solidFill>
                        </a:rPr>
                        <a:t>2종 오류 (β)</a:t>
                      </a:r>
                      <a:endParaRPr lang="en-US" sz="1500" dirty="0"/>
                    </a:p>
                    <a:p>
                      <a:pPr marL="0" indent="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marL="0" indent="0">
              <a:buNone/>
            </a:pPr>
            <a:r>
              <a:rPr lang="en-US" sz="1500" b="1" dirty="0">
                <a:solidFill>
                  <a:schemeClr val="tx2"/>
                </a:solidFill>
              </a:rPr>
              <a:t>관례</a:t>
            </a:r>
            <a:endParaRPr lang="en-US" sz="1500" dirty="0"/>
          </a:p>
          <a:p>
            <a:pPr marL="0" indent="0">
              <a:buNone/>
            </a:pPr>
            <a:r>
              <a:rPr lang="en-US" sz="3000" b="1" dirty="0">
                <a:solidFill>
                  <a:schemeClr val="accent4"/>
                </a:solidFill>
              </a:rPr>
              <a:t>α = 5%</a:t>
            </a:r>
            <a:endParaRPr lang="en-US" sz="1500" dirty="0"/>
          </a:p>
          <a:p>
            <a:pPr marL="0" indent="0">
              <a:spcAft>
                <a:spcPts val="1400"/>
              </a:spcAft>
              <a:buNone/>
            </a:pPr>
            <a:r>
              <a:rPr lang="en-US" sz="1400" dirty="0">
                <a:solidFill>
                  <a:schemeClr val="tx2"/>
                </a:solidFill>
              </a:rPr>
              <a:t>효과 없는데 배포할 위험을 5%까지 허용</a:t>
            </a:r>
            <a:endParaRPr lang="en-US" sz="1500" dirty="0"/>
          </a:p>
          <a:p>
            <a:pPr marL="0" indent="0">
              <a:buNone/>
            </a:pPr>
            <a:r>
              <a:rPr lang="en-US" sz="3000" b="1" dirty="0">
                <a:solidFill>
                  <a:schemeClr val="accent1"/>
                </a:solidFill>
              </a:rPr>
              <a:t>검정력 = 80%</a:t>
            </a:r>
            <a:endParaRPr lang="en-US" sz="1500" dirty="0"/>
          </a:p>
          <a:p>
            <a:pPr marL="0" indent="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표본 크기 산정 (Power Analysis)</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MDE를 절반으로 줄이면 필요한 사용자는 4배</a:t>
            </a:r>
            <a:endParaRPr lang="en-US" sz="2000" dirty="0"/>
          </a:p>
        </p:txBody>
      </p:sp>
      <p:graphicFrame>
        <p:nvGraphicFramePr>
          <p:cNvPr id="5" name="Chart 0"/>
          <p:cNvGraphicFramePr/>
          <p:nvPr/>
        </p:nvGraphicFramePr>
        <p:xfrm>
          <a:off x="640080" y="1737360"/>
          <a:ext cx="658368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marL="0" indent="0">
              <a:spcAft>
                <a:spcPts val="400"/>
              </a:spcAft>
              <a:buNone/>
            </a:pPr>
            <a:r>
              <a:rPr lang="en-US" sz="3000" b="1" dirty="0">
                <a:solidFill>
                  <a:schemeClr val="accent1"/>
                </a:solidFill>
              </a:rPr>
              <a:t>n ≈ 16 · σ² / δ²</a:t>
            </a:r>
            <a:endParaRPr lang="en-US" sz="1500" dirty="0"/>
          </a:p>
          <a:p>
            <a:pPr marL="0" indent="0">
              <a:spcAft>
                <a:spcPts val="1600"/>
              </a:spcAft>
              <a:buNone/>
            </a:pPr>
            <a:r>
              <a:rPr lang="en-US" sz="1400" dirty="0">
                <a:solidFill>
                  <a:schemeClr val="tx2"/>
                </a:solidFill>
              </a:rPr>
              <a:t>그룹당 · α 5% · 검정력 80% 기준 어림식</a:t>
            </a:r>
            <a:endParaRPr lang="en-US" sz="1500" dirty="0"/>
          </a:p>
          <a:p>
            <a:pPr marL="0" indent="0">
              <a:buNone/>
            </a:pPr>
            <a:r>
              <a:rPr lang="en-US" sz="1500" b="1" dirty="0">
                <a:solidFill>
                  <a:schemeClr val="tx1"/>
                </a:solidFill>
              </a:rPr>
              <a:t>α  유의수준</a:t>
            </a:r>
            <a:endParaRPr lang="en-US" sz="1500" dirty="0"/>
          </a:p>
          <a:p>
            <a:pPr marL="0" indent="0">
              <a:spcAft>
                <a:spcPts val="800"/>
              </a:spcAft>
              <a:buNone/>
            </a:pPr>
            <a:r>
              <a:rPr lang="en-US" sz="1500" dirty="0">
                <a:solidFill>
                  <a:schemeClr val="tx2"/>
                </a:solidFill>
              </a:rPr>
              <a:t>헛배포를 얼마나 허용할까</a:t>
            </a:r>
            <a:endParaRPr lang="en-US" sz="1500" dirty="0"/>
          </a:p>
          <a:p>
            <a:pPr marL="0" indent="0">
              <a:buNone/>
            </a:pPr>
            <a:r>
              <a:rPr lang="en-US" sz="1500" b="1" dirty="0">
                <a:solidFill>
                  <a:schemeClr val="tx1"/>
                </a:solidFill>
              </a:rPr>
              <a:t>1 - β  검정력</a:t>
            </a:r>
            <a:endParaRPr lang="en-US" sz="1500" dirty="0"/>
          </a:p>
          <a:p>
            <a:pPr marL="0" indent="0">
              <a:spcAft>
                <a:spcPts val="800"/>
              </a:spcAft>
              <a:buNone/>
            </a:pPr>
            <a:r>
              <a:rPr lang="en-US" sz="1500" dirty="0">
                <a:solidFill>
                  <a:schemeClr val="tx2"/>
                </a:solidFill>
              </a:rPr>
              <a:t>진짜 효과를 얼마나 확실히 잡을까</a:t>
            </a:r>
            <a:endParaRPr lang="en-US" sz="1500" dirty="0"/>
          </a:p>
          <a:p>
            <a:pPr marL="0" indent="0">
              <a:buNone/>
            </a:pPr>
            <a:r>
              <a:rPr lang="en-US" sz="1500" b="1" dirty="0">
                <a:solidFill>
                  <a:schemeClr val="tx1"/>
                </a:solidFill>
              </a:rPr>
              <a:t>MDE  최소 탐지 효과</a:t>
            </a:r>
            <a:endParaRPr lang="en-US" sz="1500" dirty="0"/>
          </a:p>
          <a:p>
            <a:pPr marL="0" indent="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α와 Power</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α와 Power를 엄격하게 잡을수록 실험은 길어진다</a:t>
            </a:r>
            <a:endParaRPr lang="en-US" sz="2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583680" cy="2560320"/>
        </p:xfrm>
        <a:graphic>
          <a:graphicData uri="http://schemas.openxmlformats.org/drawingml/2006/table">
            <a:tbl>
              <a:tblPr/>
              <a:tblGrid>
                <a:gridCol w="146304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512064">
                <a:tc>
                  <a:txBody>
                    <a:bodyPr/>
                    <a:lstStyle/>
                    <a:p>
                      <a:pPr marL="0" indent="0">
                        <a:buNone/>
                      </a:pPr>
                      <a:r>
                        <a:rPr lang="en-US" sz="1400" b="1" dirty="0">
                          <a:solidFill>
                            <a:srgbClr val="555C7A"/>
                          </a:solidFill>
                        </a:rPr>
                        <a:t>설계 변경</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의미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필요한 표본 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512064">
                <a:tc>
                  <a:txBody>
                    <a:bodyPr/>
                    <a:lstStyle/>
                    <a:p>
                      <a:pPr marL="0" indent="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False Positive를 더 엄격하게 막는다</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512064">
                <a:tc>
                  <a:txBody>
                    <a:bodyPr/>
                    <a:lstStyle/>
                    <a:p>
                      <a:pPr marL="0" indent="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효과 있다고 판단하기 쉬워진다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512064">
                <a:tc>
                  <a:txBody>
                    <a:bodyPr/>
                    <a:lstStyle/>
                    <a:p>
                      <a:pPr marL="0" indent="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실제 효과를 놓칠 가능성을 줄인다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r h="512064">
                <a:tc>
                  <a:txBody>
                    <a:bodyPr/>
                    <a:lstStyle/>
                    <a:p>
                      <a:pPr marL="0" indent="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실제 효과를 놓칠 가능성을 더 허용한다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2"/>
          <p:cNvSpPr txBox="1"/>
          <p:nvPr/>
        </p:nvSpPr>
        <p:spPr>
          <a:xfrm>
            <a:off x="7680960" y="1783080"/>
            <a:ext cx="3840480" cy="411480"/>
          </a:xfrm>
          <a:prstGeom prst="rect">
            <a:avLst/>
          </a:prstGeom>
          <a:noFill/>
          <a:ln/>
        </p:spPr>
        <p:txBody>
          <a:bodyPr wrap="square" lIns="0" tIns="0" rIns="0" bIns="0" rtlCol="0" anchor="t"/>
          <a:lstStyle/>
          <a:p>
            <a:pPr marL="0" indent="0">
              <a:buNone/>
            </a:pPr>
            <a:r>
              <a:rPr lang="en-US" sz="2000" b="1" dirty="0">
                <a:solidFill>
                  <a:schemeClr val="tx1"/>
                </a:solidFill>
              </a:rPr>
              <a:t>α · Power 결정</a:t>
            </a:r>
            <a:endParaRPr lang="en-US" sz="2000" dirty="0"/>
          </a:p>
        </p:txBody>
      </p:sp>
      <p:sp>
        <p:nvSpPr>
          <p:cNvPr id="7" name="Text 3"/>
          <p:cNvSpPr txBox="1"/>
          <p:nvPr/>
        </p:nvSpPr>
        <p:spPr>
          <a:xfrm>
            <a:off x="7680960" y="2167128"/>
            <a:ext cx="365760" cy="365760"/>
          </a:xfrm>
          <a:prstGeom prst="rect">
            <a:avLst/>
          </a:prstGeom>
          <a:noFill/>
          <a:ln/>
        </p:spPr>
        <p:txBody>
          <a:bodyPr wrap="square" lIns="0" tIns="0" rIns="0" bIns="0" rtlCol="0" anchor="t"/>
          <a:lstStyle/>
          <a:p>
            <a:pPr marL="0" indent="0">
              <a:buNone/>
            </a:pPr>
            <a:r>
              <a:rPr lang="en-US" sz="1500" dirty="0">
                <a:solidFill>
                  <a:schemeClr val="accent6"/>
                </a:solidFill>
              </a:rPr>
              <a:t>↓</a:t>
            </a:r>
            <a:endParaRPr lang="en-US" sz="1500" dirty="0"/>
          </a:p>
        </p:txBody>
      </p:sp>
      <p:sp>
        <p:nvSpPr>
          <p:cNvPr id="8" name="Text 4"/>
          <p:cNvSpPr txBox="1"/>
          <p:nvPr/>
        </p:nvSpPr>
        <p:spPr>
          <a:xfrm>
            <a:off x="7680960" y="2560320"/>
            <a:ext cx="3840480" cy="411480"/>
          </a:xfrm>
          <a:prstGeom prst="rect">
            <a:avLst/>
          </a:prstGeom>
          <a:noFill/>
          <a:ln/>
        </p:spPr>
        <p:txBody>
          <a:bodyPr wrap="square" lIns="0" tIns="0" rIns="0" bIns="0" rtlCol="0" anchor="t"/>
          <a:lstStyle/>
          <a:p>
            <a:pPr marL="0" indent="0">
              <a:buNone/>
            </a:pPr>
            <a:r>
              <a:rPr lang="en-US" sz="2000" b="1" dirty="0">
                <a:solidFill>
                  <a:schemeClr val="tx1"/>
                </a:solidFill>
              </a:rPr>
              <a:t>필요한 표본 수</a:t>
            </a:r>
            <a:endParaRPr lang="en-US" sz="2000" dirty="0"/>
          </a:p>
        </p:txBody>
      </p:sp>
      <p:sp>
        <p:nvSpPr>
          <p:cNvPr id="9" name="Text 5"/>
          <p:cNvSpPr txBox="1"/>
          <p:nvPr/>
        </p:nvSpPr>
        <p:spPr>
          <a:xfrm>
            <a:off x="7680960" y="2944368"/>
            <a:ext cx="365760" cy="365760"/>
          </a:xfrm>
          <a:prstGeom prst="rect">
            <a:avLst/>
          </a:prstGeom>
          <a:noFill/>
          <a:ln/>
        </p:spPr>
        <p:txBody>
          <a:bodyPr wrap="square" lIns="0" tIns="0" rIns="0" bIns="0" rtlCol="0" anchor="t"/>
          <a:lstStyle/>
          <a:p>
            <a:pPr marL="0" indent="0">
              <a:buNone/>
            </a:pPr>
            <a:r>
              <a:rPr lang="en-US" sz="1500" dirty="0">
                <a:solidFill>
                  <a:schemeClr val="accent6"/>
                </a:solidFill>
              </a:rPr>
              <a:t>↓</a:t>
            </a:r>
            <a:endParaRPr lang="en-US" sz="1500" dirty="0"/>
          </a:p>
        </p:txBody>
      </p:sp>
      <p:sp>
        <p:nvSpPr>
          <p:cNvPr id="10" name="Text 6"/>
          <p:cNvSpPr txBox="1"/>
          <p:nvPr/>
        </p:nvSpPr>
        <p:spPr>
          <a:xfrm>
            <a:off x="7680960" y="3337560"/>
            <a:ext cx="3840480" cy="411480"/>
          </a:xfrm>
          <a:prstGeom prst="rect">
            <a:avLst/>
          </a:prstGeom>
          <a:noFill/>
          <a:ln/>
        </p:spPr>
        <p:txBody>
          <a:bodyPr wrap="square" lIns="0" tIns="0" rIns="0" bIns="0" rtlCol="0" anchor="t"/>
          <a:lstStyle/>
          <a:p>
            <a:pPr marL="0" indent="0">
              <a:buNone/>
            </a:pPr>
            <a:r>
              <a:rPr lang="en-US" sz="2000" b="1" dirty="0">
                <a:solidFill>
                  <a:schemeClr val="tx1"/>
                </a:solidFill>
              </a:rPr>
              <a:t>서비스 트래픽과 결합</a:t>
            </a:r>
            <a:endParaRPr lang="en-US" sz="2000" dirty="0"/>
          </a:p>
        </p:txBody>
      </p:sp>
      <p:sp>
        <p:nvSpPr>
          <p:cNvPr id="11" name="Text 7"/>
          <p:cNvSpPr txBox="1"/>
          <p:nvPr/>
        </p:nvSpPr>
        <p:spPr>
          <a:xfrm>
            <a:off x="7680960" y="3721608"/>
            <a:ext cx="365760" cy="365760"/>
          </a:xfrm>
          <a:prstGeom prst="rect">
            <a:avLst/>
          </a:prstGeom>
          <a:noFill/>
          <a:ln/>
        </p:spPr>
        <p:txBody>
          <a:bodyPr wrap="square" lIns="0" tIns="0" rIns="0" bIns="0" rtlCol="0" anchor="t"/>
          <a:lstStyle/>
          <a:p>
            <a:pPr marL="0" indent="0">
              <a:buNone/>
            </a:pPr>
            <a:r>
              <a:rPr lang="en-US" sz="1500" dirty="0">
                <a:solidFill>
                  <a:schemeClr val="accent6"/>
                </a:solidFill>
              </a:rPr>
              <a:t>↓</a:t>
            </a:r>
            <a:endParaRPr lang="en-US" sz="1500" dirty="0"/>
          </a:p>
        </p:txBody>
      </p:sp>
      <p:sp>
        <p:nvSpPr>
          <p:cNvPr id="12" name="Text 8"/>
          <p:cNvSpPr txBox="1"/>
          <p:nvPr/>
        </p:nvSpPr>
        <p:spPr>
          <a:xfrm>
            <a:off x="7680960" y="4114800"/>
            <a:ext cx="3840480" cy="411480"/>
          </a:xfrm>
          <a:prstGeom prst="rect">
            <a:avLst/>
          </a:prstGeom>
          <a:noFill/>
          <a:ln/>
        </p:spPr>
        <p:txBody>
          <a:bodyPr wrap="square" lIns="0" tIns="0" rIns="0" bIns="0" rtlCol="0" anchor="t"/>
          <a:lstStyle/>
          <a:p>
            <a:pPr marL="0" indent="0">
              <a:buNone/>
            </a:pPr>
            <a:r>
              <a:rPr lang="en-US" sz="2000" b="1" dirty="0">
                <a:solidFill>
                  <a:schemeClr val="accent1"/>
                </a:solidFill>
              </a:rPr>
              <a:t>실험 기간</a:t>
            </a:r>
            <a:endParaRPr lang="en-US" sz="2000" dirty="0"/>
          </a:p>
        </p:txBody>
      </p:sp>
      <p:sp>
        <p:nvSpPr>
          <p:cNvPr id="13" name="Text 9"/>
          <p:cNvSpPr txBox="1"/>
          <p:nvPr/>
        </p:nvSpPr>
        <p:spPr>
          <a:xfrm>
            <a:off x="640080" y="4663440"/>
            <a:ext cx="6766560" cy="1188720"/>
          </a:xfrm>
          <a:prstGeom prst="rect">
            <a:avLst/>
          </a:prstGeom>
          <a:noFill/>
          <a:ln/>
        </p:spPr>
        <p:txBody>
          <a:bodyPr wrap="square" lIns="0" tIns="0" rIns="0" bIns="0" rtlCol="0" anchor="t"/>
          <a:lstStyle/>
          <a:p>
            <a:pPr marL="0" indent="0">
              <a:spcAft>
                <a:spcPts val="600"/>
              </a:spcAft>
              <a:buNone/>
            </a:pPr>
            <a:r>
              <a:rPr lang="en-US" sz="2000" b="1" dirty="0">
                <a:solidFill>
                  <a:schemeClr val="tx1"/>
                </a:solidFill>
              </a:rPr>
              <a:t>두 실수의 비용을 비교한다</a:t>
            </a:r>
            <a:endParaRPr lang="en-US" sz="1500" dirty="0"/>
          </a:p>
          <a:p>
            <a:pPr marL="342900" indent="-342900">
              <a:spcAft>
                <a:spcPts val="400"/>
              </a:spcAft>
              <a:buSzPct val="100000"/>
              <a:buChar char="•"/>
            </a:pPr>
            <a:r>
              <a:rPr lang="en-US" sz="1500" dirty="0">
                <a:solidFill>
                  <a:schemeClr val="tx1"/>
                </a:solidFill>
              </a:rPr>
              <a:t>False Positive: 효과 없는 기능을 배포하면 얼마나 큰 문제가 생기나?</a:t>
            </a:r>
            <a:endParaRPr lang="en-US" sz="1500" dirty="0"/>
          </a:p>
          <a:p>
            <a:pPr marL="342900" indent="-342900">
              <a:spcAft>
                <a:spcPts val="400"/>
              </a:spcAft>
              <a:buSzPct val="100000"/>
              <a:buChar char="•"/>
            </a:pPr>
            <a:r>
              <a:rPr lang="en-US" sz="1500" dirty="0">
                <a:solidFill>
                  <a:schemeClr val="tx1"/>
                </a:solidFill>
              </a:rPr>
              <a:t>False Negative: 좋은 기능을 버리면 얼마나 큰 기회를 잃나?</a:t>
            </a:r>
            <a:endParaRPr lang="en-US" sz="1500" dirty="0"/>
          </a:p>
        </p:txBody>
      </p:sp>
      <p:sp>
        <p:nvSpPr>
          <p:cNvPr id="14" name="Text 10"/>
          <p:cNvSpPr txBox="1"/>
          <p:nvPr/>
        </p:nvSpPr>
        <p:spPr>
          <a:xfrm>
            <a:off x="7680960" y="4937760"/>
            <a:ext cx="3886200" cy="457200"/>
          </a:xfrm>
          <a:prstGeom prst="rect">
            <a:avLst/>
          </a:prstGeom>
          <a:noFill/>
          <a:ln/>
        </p:spPr>
        <p:txBody>
          <a:bodyPr wrap="square" lIns="0" tIns="0" rIns="0" bIns="0" rtlCol="0" anchor="t"/>
          <a:lstStyle/>
          <a:p>
            <a:pPr marL="0" indent="0">
              <a:buNone/>
            </a:pPr>
            <a:r>
              <a:rPr lang="en-US" sz="1500" dirty="0">
                <a:solidFill>
                  <a:schemeClr val="tx2"/>
                </a:solidFill>
              </a:rPr>
              <a:t>예: 하루 10,000명, 필요 표본 140,000명 → 약 14일</a:t>
            </a:r>
            <a:endParaRPr lang="en-US" sz="1500" dirty="0"/>
          </a:p>
        </p:txBody>
      </p:sp>
      <p:sp>
        <p:nvSpPr>
          <p:cNvPr id="15" name="Text 11"/>
          <p:cNvSpPr txBox="1"/>
          <p:nvPr/>
        </p:nvSpPr>
        <p:spPr>
          <a:xfrm>
            <a:off x="640080" y="589788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위키 05편 4.1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MDE 정하기</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MDE는 통계가 아니라 비즈니스가 정한다</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marL="0" indent="0">
              <a:buNone/>
            </a:pPr>
            <a:r>
              <a:rPr lang="en-US" sz="1500" b="1" dirty="0">
                <a:solidFill>
                  <a:schemeClr val="accent1"/>
                </a:solidFill>
              </a:rPr>
              <a:t>Baseline CVR 10% · MDE +1%p · Power 80%  </a:t>
            </a:r>
            <a:r>
              <a:rPr lang="en-US" sz="1500" dirty="0">
                <a:solidFill>
                  <a:schemeClr val="tx1"/>
                </a:solidFill>
              </a:rPr>
              <a:t>→ 10%가 11%로 바뀌는 변화가 실제로 있을 때 80% 확률로 잡도록 설계한다</a:t>
            </a:r>
            <a:endParaRPr lang="en-US" sz="1500" dirty="0"/>
          </a:p>
        </p:txBody>
      </p:sp>
      <p:sp>
        <p:nvSpPr>
          <p:cNvPr id="6" name="Text 3"/>
          <p:cNvSpPr txBox="1"/>
          <p:nvPr/>
        </p:nvSpPr>
        <p:spPr>
          <a:xfrm>
            <a:off x="640080" y="2194560"/>
            <a:ext cx="10911535" cy="365760"/>
          </a:xfrm>
          <a:prstGeom prst="rect">
            <a:avLst/>
          </a:prstGeom>
          <a:noFill/>
          <a:ln/>
        </p:spPr>
        <p:txBody>
          <a:bodyPr wrap="square" lIns="0" tIns="0" rIns="0" bIns="0" rtlCol="0" anchor="t"/>
          <a:lstStyle/>
          <a:p>
            <a:pPr marL="0" indent="0">
              <a:buNone/>
            </a:pPr>
            <a:r>
              <a:rPr lang="en-US" sz="1400" dirty="0">
                <a:solidFill>
                  <a:schemeClr val="tx2"/>
                </a:solidFill>
              </a:rPr>
              <a:t>MDE보다 작은 효과가 절대 유의하게 나오지 않는다는 뜻은 아닙니다</a:t>
            </a:r>
            <a:endParaRPr lang="en-US" sz="1400" dirty="0"/>
          </a:p>
        </p:txBody>
      </p:sp>
      <p:sp>
        <p:nvSpPr>
          <p:cNvPr id="7" name="Text 4"/>
          <p:cNvSpPr txBox="1"/>
          <p:nvPr/>
        </p:nvSpPr>
        <p:spPr>
          <a:xfrm>
            <a:off x="640080" y="2834640"/>
            <a:ext cx="3429000" cy="1554480"/>
          </a:xfrm>
          <a:prstGeom prst="rect">
            <a:avLst/>
          </a:prstGeom>
          <a:noFill/>
          <a:ln/>
        </p:spPr>
        <p:txBody>
          <a:bodyPr wrap="square" lIns="0" tIns="0" rIns="0" bIns="0" rtlCol="0" anchor="t"/>
          <a:lstStyle/>
          <a:p>
            <a:pPr marL="0" indent="0">
              <a:buNone/>
            </a:pPr>
            <a:r>
              <a:rPr lang="en-US" sz="2000" b="1" dirty="0">
                <a:solidFill>
                  <a:schemeClr val="accent5"/>
                </a:solidFill>
              </a:rPr>
              <a:t>Overpowered</a:t>
            </a:r>
            <a:endParaRPr lang="en-US" sz="1500" dirty="0"/>
          </a:p>
          <a:p>
            <a:pPr marL="0" indent="0">
              <a:spcAft>
                <a:spcPts val="600"/>
              </a:spcAft>
              <a:buNone/>
            </a:pPr>
            <a:r>
              <a:rPr lang="en-US" sz="1500" dirty="0">
                <a:solidFill>
                  <a:schemeClr val="tx1"/>
                </a:solidFill>
              </a:rPr>
              <a:t>MDE를 너무 작게: 0.5%</a:t>
            </a:r>
            <a:endParaRPr lang="en-US" sz="1500" dirty="0"/>
          </a:p>
          <a:p>
            <a:pPr marL="0" indent="0">
              <a:buNone/>
            </a:pPr>
            <a:r>
              <a:rPr lang="en-US" sz="1400" dirty="0">
                <a:solidFill>
                  <a:schemeClr val="tx2"/>
                </a:solidFill>
              </a:rPr>
              <a:t>5%는 올라야 의미 있는데 0.5%까지 잡으려고 표본과 시간을 낭비한다</a:t>
            </a:r>
            <a:endParaRPr lang="en-US" sz="1500" dirty="0"/>
          </a:p>
        </p:txBody>
      </p:sp>
      <p:sp>
        <p:nvSpPr>
          <p:cNvPr id="8" name="Text 5"/>
          <p:cNvSpPr txBox="1"/>
          <p:nvPr/>
        </p:nvSpPr>
        <p:spPr>
          <a:xfrm>
            <a:off x="4343400" y="2834640"/>
            <a:ext cx="3429000" cy="1554480"/>
          </a:xfrm>
          <a:prstGeom prst="rect">
            <a:avLst/>
          </a:prstGeom>
          <a:noFill/>
          <a:ln/>
        </p:spPr>
        <p:txBody>
          <a:bodyPr wrap="square" lIns="0" tIns="0" rIns="0" bIns="0" rtlCol="0" anchor="t"/>
          <a:lstStyle/>
          <a:p>
            <a:pPr marL="0" indent="0">
              <a:buNone/>
            </a:pPr>
            <a:r>
              <a:rPr lang="en-US" sz="2000" b="1" dirty="0">
                <a:solidFill>
                  <a:schemeClr val="accent1"/>
                </a:solidFill>
              </a:rPr>
              <a:t>적절한 MDE</a:t>
            </a:r>
            <a:endParaRPr lang="en-US" sz="1500" dirty="0"/>
          </a:p>
          <a:p>
            <a:pPr marL="0" indent="0">
              <a:spcAft>
                <a:spcPts val="600"/>
              </a:spcAft>
              <a:buNone/>
            </a:pPr>
            <a:r>
              <a:rPr lang="en-US" sz="1500" dirty="0">
                <a:solidFill>
                  <a:schemeClr val="tx1"/>
                </a:solidFill>
              </a:rPr>
              <a:t>도입할 가치가 있는 최소 효과</a:t>
            </a:r>
            <a:endParaRPr lang="en-US" sz="1500" dirty="0"/>
          </a:p>
          <a:p>
            <a:pPr marL="0" indent="0">
              <a:buNone/>
            </a:pPr>
            <a:r>
              <a:rPr lang="en-US" sz="1400" dirty="0">
                <a:solidFill>
                  <a:schemeClr val="tx2"/>
                </a:solidFill>
              </a:rPr>
              <a:t>구현·운영 비용, 리스크, 기대 효과를 놓고 ROI로 정한다</a:t>
            </a:r>
            <a:endParaRPr lang="en-US" sz="1500" dirty="0"/>
          </a:p>
        </p:txBody>
      </p:sp>
      <p:sp>
        <p:nvSpPr>
          <p:cNvPr id="9" name="Text 6"/>
          <p:cNvSpPr txBox="1"/>
          <p:nvPr/>
        </p:nvSpPr>
        <p:spPr>
          <a:xfrm>
            <a:off x="8046720" y="2834640"/>
            <a:ext cx="3429000" cy="1554480"/>
          </a:xfrm>
          <a:prstGeom prst="rect">
            <a:avLst/>
          </a:prstGeom>
          <a:noFill/>
          <a:ln/>
        </p:spPr>
        <p:txBody>
          <a:bodyPr wrap="square" lIns="0" tIns="0" rIns="0" bIns="0" rtlCol="0" anchor="t"/>
          <a:lstStyle/>
          <a:p>
            <a:pPr marL="0" indent="0">
              <a:buNone/>
            </a:pPr>
            <a:r>
              <a:rPr lang="en-US" sz="2000" b="1" dirty="0">
                <a:solidFill>
                  <a:schemeClr val="accent4"/>
                </a:solidFill>
              </a:rPr>
              <a:t>Underpowered</a:t>
            </a:r>
            <a:endParaRPr lang="en-US" sz="1500" dirty="0"/>
          </a:p>
          <a:p>
            <a:pPr marL="0" indent="0">
              <a:spcAft>
                <a:spcPts val="600"/>
              </a:spcAft>
              <a:buNone/>
            </a:pPr>
            <a:r>
              <a:rPr lang="en-US" sz="1500" dirty="0">
                <a:solidFill>
                  <a:schemeClr val="tx1"/>
                </a:solidFill>
              </a:rPr>
              <a:t>MDE를 너무 크게: 50%</a:t>
            </a:r>
            <a:endParaRPr lang="en-US" sz="1500" dirty="0"/>
          </a:p>
          <a:p>
            <a:pPr marL="0" indent="0">
              <a:buNone/>
            </a:pPr>
            <a:r>
              <a:rPr lang="en-US" sz="1400" dirty="0">
                <a:solidFill>
                  <a:schemeClr val="tx2"/>
                </a:solidFill>
              </a:rPr>
              <a:t>실제로 20~30% 개선이 있어도 안정적으로 잡지 못한다</a:t>
            </a:r>
            <a:endParaRPr lang="en-US" sz="1500" dirty="0"/>
          </a:p>
        </p:txBody>
      </p:sp>
      <p:sp>
        <p:nvSpPr>
          <p:cNvPr id="10" name="Text 7"/>
          <p:cNvSpPr txBox="1"/>
          <p:nvPr/>
        </p:nvSpPr>
        <p:spPr>
          <a:xfrm>
            <a:off x="640080" y="4800600"/>
            <a:ext cx="1463040" cy="457200"/>
          </a:xfrm>
          <a:prstGeom prst="rect">
            <a:avLst/>
          </a:prstGeom>
          <a:noFill/>
          <a:ln/>
        </p:spPr>
        <p:txBody>
          <a:bodyPr wrap="square" lIns="0" tIns="0" rIns="0" bIns="0" rtlCol="0" anchor="t"/>
          <a:lstStyle/>
          <a:p>
            <a:pPr marL="0" indent="0">
              <a:buNone/>
            </a:pPr>
            <a:r>
              <a:rPr lang="en-US" sz="1500" b="1" dirty="0">
                <a:solidFill>
                  <a:schemeClr val="accent1"/>
                </a:solidFill>
              </a:rPr>
              <a:t>의미 있는 효과</a:t>
            </a:r>
            <a:endParaRPr lang="en-US" sz="1500" dirty="0"/>
          </a:p>
        </p:txBody>
      </p:sp>
      <p:sp>
        <p:nvSpPr>
          <p:cNvPr id="11" name="Shape 8"/>
          <p:cNvSpPr/>
          <p:nvPr/>
        </p:nvSpPr>
        <p:spPr>
          <a:xfrm>
            <a:off x="2011680" y="4983480"/>
            <a:ext cx="365760" cy="0"/>
          </a:xfrm>
          <a:prstGeom prst="line">
            <a:avLst/>
          </a:prstGeom>
          <a:noFill/>
          <a:ln w="19050">
            <a:solidFill>
              <a:srgbClr val="8A90A8"/>
            </a:solidFill>
            <a:prstDash val="solid"/>
            <a:tailEnd type="triangle"/>
          </a:ln>
        </p:spPr>
        <p:txBody>
          <a:bodyPr/>
          <a:lstStyle/>
          <a:p>
            <a:endParaRPr lang="ko-KR" altLang="en-US"/>
          </a:p>
        </p:txBody>
      </p:sp>
      <p:sp>
        <p:nvSpPr>
          <p:cNvPr id="12" name="Text 9"/>
          <p:cNvSpPr txBox="1"/>
          <p:nvPr/>
        </p:nvSpPr>
        <p:spPr>
          <a:xfrm>
            <a:off x="2468880" y="4800600"/>
            <a:ext cx="1463040" cy="457200"/>
          </a:xfrm>
          <a:prstGeom prst="rect">
            <a:avLst/>
          </a:prstGeom>
          <a:noFill/>
          <a:ln/>
        </p:spPr>
        <p:txBody>
          <a:bodyPr wrap="square" lIns="0" tIns="0" rIns="0" bIns="0" rtlCol="0" anchor="t"/>
          <a:lstStyle/>
          <a:p>
            <a:pPr marL="0" indent="0">
              <a:buNone/>
            </a:pPr>
            <a:r>
              <a:rPr lang="en-US" sz="1500" b="1" dirty="0">
                <a:solidFill>
                  <a:schemeClr val="tx1"/>
                </a:solidFill>
              </a:rPr>
              <a:t>MDE</a:t>
            </a:r>
            <a:endParaRPr lang="en-US" sz="1500" dirty="0"/>
          </a:p>
        </p:txBody>
      </p:sp>
      <p:sp>
        <p:nvSpPr>
          <p:cNvPr id="13" name="Shape 10"/>
          <p:cNvSpPr/>
          <p:nvPr/>
        </p:nvSpPr>
        <p:spPr>
          <a:xfrm>
            <a:off x="3840480" y="4983480"/>
            <a:ext cx="365760" cy="0"/>
          </a:xfrm>
          <a:prstGeom prst="line">
            <a:avLst/>
          </a:prstGeom>
          <a:noFill/>
          <a:ln w="19050">
            <a:solidFill>
              <a:srgbClr val="8A90A8"/>
            </a:solidFill>
            <a:prstDash val="solid"/>
            <a:tailEnd type="triangle"/>
          </a:ln>
        </p:spPr>
        <p:txBody>
          <a:bodyPr/>
          <a:lstStyle/>
          <a:p>
            <a:endParaRPr lang="ko-KR" altLang="en-US"/>
          </a:p>
        </p:txBody>
      </p:sp>
      <p:sp>
        <p:nvSpPr>
          <p:cNvPr id="14" name="Text 11"/>
          <p:cNvSpPr txBox="1"/>
          <p:nvPr/>
        </p:nvSpPr>
        <p:spPr>
          <a:xfrm>
            <a:off x="4297680" y="4800600"/>
            <a:ext cx="1463040" cy="457200"/>
          </a:xfrm>
          <a:prstGeom prst="rect">
            <a:avLst/>
          </a:prstGeom>
          <a:noFill/>
          <a:ln/>
        </p:spPr>
        <p:txBody>
          <a:bodyPr wrap="square" lIns="0" tIns="0" rIns="0" bIns="0" rtlCol="0" anchor="t"/>
          <a:lstStyle/>
          <a:p>
            <a:pPr marL="0" indent="0">
              <a:buNone/>
            </a:pPr>
            <a:r>
              <a:rPr lang="en-US" sz="1500" b="1" dirty="0">
                <a:solidFill>
                  <a:schemeClr val="tx1"/>
                </a:solidFill>
              </a:rPr>
              <a:t>α · Power</a:t>
            </a:r>
            <a:endParaRPr lang="en-US" sz="1500" dirty="0"/>
          </a:p>
        </p:txBody>
      </p:sp>
      <p:sp>
        <p:nvSpPr>
          <p:cNvPr id="15" name="Shape 12"/>
          <p:cNvSpPr/>
          <p:nvPr/>
        </p:nvSpPr>
        <p:spPr>
          <a:xfrm>
            <a:off x="5669280" y="4983480"/>
            <a:ext cx="365760" cy="0"/>
          </a:xfrm>
          <a:prstGeom prst="line">
            <a:avLst/>
          </a:prstGeom>
          <a:noFill/>
          <a:ln w="19050">
            <a:solidFill>
              <a:srgbClr val="8A90A8"/>
            </a:solidFill>
            <a:prstDash val="solid"/>
            <a:tailEnd type="triangle"/>
          </a:ln>
        </p:spPr>
        <p:txBody>
          <a:bodyPr/>
          <a:lstStyle/>
          <a:p>
            <a:endParaRPr lang="ko-KR" altLang="en-US"/>
          </a:p>
        </p:txBody>
      </p:sp>
      <p:sp>
        <p:nvSpPr>
          <p:cNvPr id="16" name="Text 13"/>
          <p:cNvSpPr txBox="1"/>
          <p:nvPr/>
        </p:nvSpPr>
        <p:spPr>
          <a:xfrm>
            <a:off x="6126480" y="4800600"/>
            <a:ext cx="1463040" cy="457200"/>
          </a:xfrm>
          <a:prstGeom prst="rect">
            <a:avLst/>
          </a:prstGeom>
          <a:noFill/>
          <a:ln/>
        </p:spPr>
        <p:txBody>
          <a:bodyPr wrap="square" lIns="0" tIns="0" rIns="0" bIns="0" rtlCol="0" anchor="t"/>
          <a:lstStyle/>
          <a:p>
            <a:pPr marL="0" indent="0">
              <a:buNone/>
            </a:pPr>
            <a:r>
              <a:rPr lang="en-US" sz="1500" b="1" dirty="0">
                <a:solidFill>
                  <a:schemeClr val="tx1"/>
                </a:solidFill>
              </a:rPr>
              <a:t>필요 표본 수</a:t>
            </a:r>
            <a:endParaRPr lang="en-US" sz="1500" dirty="0"/>
          </a:p>
        </p:txBody>
      </p:sp>
      <p:sp>
        <p:nvSpPr>
          <p:cNvPr id="17" name="Shape 14"/>
          <p:cNvSpPr/>
          <p:nvPr/>
        </p:nvSpPr>
        <p:spPr>
          <a:xfrm>
            <a:off x="7498080" y="4983480"/>
            <a:ext cx="365760" cy="0"/>
          </a:xfrm>
          <a:prstGeom prst="line">
            <a:avLst/>
          </a:prstGeom>
          <a:noFill/>
          <a:ln w="19050">
            <a:solidFill>
              <a:srgbClr val="8A90A8"/>
            </a:solidFill>
            <a:prstDash val="solid"/>
            <a:tailEnd type="triangle"/>
          </a:ln>
        </p:spPr>
        <p:txBody>
          <a:bodyPr/>
          <a:lstStyle/>
          <a:p>
            <a:endParaRPr lang="ko-KR" altLang="en-US"/>
          </a:p>
        </p:txBody>
      </p:sp>
      <p:sp>
        <p:nvSpPr>
          <p:cNvPr id="18" name="Text 15"/>
          <p:cNvSpPr txBox="1"/>
          <p:nvPr/>
        </p:nvSpPr>
        <p:spPr>
          <a:xfrm>
            <a:off x="7955280" y="4800600"/>
            <a:ext cx="1463040" cy="457200"/>
          </a:xfrm>
          <a:prstGeom prst="rect">
            <a:avLst/>
          </a:prstGeom>
          <a:noFill/>
          <a:ln/>
        </p:spPr>
        <p:txBody>
          <a:bodyPr wrap="square" lIns="0" tIns="0" rIns="0" bIns="0" rtlCol="0" anchor="t"/>
          <a:lstStyle/>
          <a:p>
            <a:pPr marL="0" indent="0">
              <a:buNone/>
            </a:pPr>
            <a:r>
              <a:rPr lang="en-US" sz="1500" b="1" dirty="0">
                <a:solidFill>
                  <a:schemeClr val="tx1"/>
                </a:solidFill>
              </a:rPr>
              <a:t>트래픽</a:t>
            </a:r>
            <a:endParaRPr lang="en-US" sz="1500" dirty="0"/>
          </a:p>
        </p:txBody>
      </p:sp>
      <p:sp>
        <p:nvSpPr>
          <p:cNvPr id="19" name="Shape 16"/>
          <p:cNvSpPr/>
          <p:nvPr/>
        </p:nvSpPr>
        <p:spPr>
          <a:xfrm>
            <a:off x="9326880" y="4983480"/>
            <a:ext cx="365760" cy="0"/>
          </a:xfrm>
          <a:prstGeom prst="line">
            <a:avLst/>
          </a:prstGeom>
          <a:noFill/>
          <a:ln w="19050">
            <a:solidFill>
              <a:srgbClr val="8A90A8"/>
            </a:solidFill>
            <a:prstDash val="solid"/>
            <a:tailEnd type="triangle"/>
          </a:ln>
        </p:spPr>
        <p:txBody>
          <a:bodyPr/>
          <a:lstStyle/>
          <a:p>
            <a:endParaRPr lang="ko-KR" altLang="en-US"/>
          </a:p>
        </p:txBody>
      </p:sp>
      <p:sp>
        <p:nvSpPr>
          <p:cNvPr id="20" name="Text 17"/>
          <p:cNvSpPr txBox="1"/>
          <p:nvPr/>
        </p:nvSpPr>
        <p:spPr>
          <a:xfrm>
            <a:off x="9784080" y="4800600"/>
            <a:ext cx="1463040" cy="457200"/>
          </a:xfrm>
          <a:prstGeom prst="rect">
            <a:avLst/>
          </a:prstGeom>
          <a:noFill/>
          <a:ln/>
        </p:spPr>
        <p:txBody>
          <a:bodyPr wrap="square" lIns="0" tIns="0" rIns="0" bIns="0" rtlCol="0" anchor="t"/>
          <a:lstStyle/>
          <a:p>
            <a:pPr marL="0" indent="0">
              <a:buNone/>
            </a:pPr>
            <a:r>
              <a:rPr lang="en-US" sz="1500" b="1" dirty="0">
                <a:solidFill>
                  <a:schemeClr val="tx1"/>
                </a:solidFill>
              </a:rPr>
              <a:t>실험 기간</a:t>
            </a:r>
            <a:endParaRPr lang="en-US" sz="1500" dirty="0"/>
          </a:p>
        </p:txBody>
      </p:sp>
      <p:sp>
        <p:nvSpPr>
          <p:cNvPr id="21" name="Text 18"/>
          <p:cNvSpPr txBox="1"/>
          <p:nvPr/>
        </p:nvSpPr>
        <p:spPr>
          <a:xfrm>
            <a:off x="640080" y="5349240"/>
            <a:ext cx="10911535" cy="365760"/>
          </a:xfrm>
          <a:prstGeom prst="rect">
            <a:avLst/>
          </a:prstGeom>
          <a:noFill/>
          <a:ln/>
        </p:spPr>
        <p:txBody>
          <a:bodyPr wrap="square" lIns="0" tIns="0" rIns="0" bIns="0" rtlCol="0" anchor="t"/>
          <a:lstStyle/>
          <a:p>
            <a:pPr marL="0" indent="0">
              <a:buNone/>
            </a:pPr>
            <a:r>
              <a:rPr lang="en-US" sz="1400" dirty="0">
                <a:solidFill>
                  <a:schemeClr val="tx2"/>
                </a:solidFill>
              </a:rPr>
              <a:t>기간부터 정하고 MDE를 역으로 맞추지 않는다</a:t>
            </a:r>
            <a:endParaRPr lang="en-US" sz="1400" dirty="0"/>
          </a:p>
        </p:txBody>
      </p:sp>
      <p:sp>
        <p:nvSpPr>
          <p:cNvPr id="22" name="Text 19"/>
          <p:cNvSpPr txBox="1"/>
          <p:nvPr/>
        </p:nvSpPr>
        <p:spPr>
          <a:xfrm>
            <a:off x="640080" y="589788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위키 05편 4.2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무작위 배정</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marL="0" indent="0">
              <a:buNone/>
            </a:pPr>
            <a:r>
              <a:rPr lang="en-US" sz="2000" b="1" dirty="0">
                <a:solidFill>
                  <a:schemeClr val="tx1"/>
                </a:solidFill>
              </a:rPr>
              <a:t>단순 배정</a:t>
            </a:r>
            <a:endParaRPr lang="en-US" sz="1500" dirty="0"/>
          </a:p>
          <a:p>
            <a:pPr marL="0" indent="0">
              <a:spcAft>
                <a:spcPts val="800"/>
              </a:spcAft>
              <a:buNone/>
            </a:pPr>
            <a:r>
              <a:rPr lang="en-US" sz="1500" dirty="0">
                <a:solidFill>
                  <a:schemeClr val="tx1"/>
                </a:solidFill>
              </a:rPr>
              <a:t>사용자마다 동전 던지기</a:t>
            </a:r>
            <a:endParaRPr lang="en-US" sz="1500" dirty="0"/>
          </a:p>
          <a:p>
            <a:pPr marL="0" indent="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marL="0" indent="0">
              <a:buNone/>
            </a:pPr>
            <a:r>
              <a:rPr lang="en-US" sz="2000" b="1" dirty="0">
                <a:solidFill>
                  <a:schemeClr val="tx1"/>
                </a:solidFill>
              </a:rPr>
              <a:t>층화 배정</a:t>
            </a:r>
            <a:endParaRPr lang="en-US" sz="1500" dirty="0"/>
          </a:p>
          <a:p>
            <a:pPr marL="0" indent="0">
              <a:spcAft>
                <a:spcPts val="800"/>
              </a:spcAft>
              <a:buNone/>
            </a:pPr>
            <a:r>
              <a:rPr lang="en-US" sz="1500" dirty="0">
                <a:solidFill>
                  <a:schemeClr val="tx1"/>
                </a:solidFill>
              </a:rPr>
              <a:t>플랫폼·신규 여부 같은 층 안에서 나눈다</a:t>
            </a:r>
            <a:endParaRPr lang="en-US" sz="1500" dirty="0"/>
          </a:p>
          <a:p>
            <a:pPr marL="0" indent="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marL="0" indent="0">
              <a:buNone/>
            </a:pPr>
            <a:r>
              <a:rPr lang="en-US" sz="2000" b="1" dirty="0">
                <a:solidFill>
                  <a:schemeClr val="accent1"/>
                </a:solidFill>
              </a:rPr>
              <a:t>해싱 배정</a:t>
            </a:r>
            <a:endParaRPr lang="en-US" sz="1500" dirty="0"/>
          </a:p>
          <a:p>
            <a:pPr marL="0" indent="0">
              <a:spcAft>
                <a:spcPts val="800"/>
              </a:spcAft>
              <a:buNone/>
            </a:pPr>
            <a:r>
              <a:rPr lang="en-US" sz="1500" dirty="0">
                <a:solidFill>
                  <a:schemeClr val="tx1"/>
                </a:solidFill>
              </a:rPr>
              <a:t>ID를 해시해 버킷을 정한다</a:t>
            </a:r>
            <a:endParaRPr lang="en-US" sz="1500" dirty="0"/>
          </a:p>
          <a:p>
            <a:pPr marL="0" indent="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marL="0" indent="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marL="0" indent="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marL="0" indent="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배정 비율</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50:50이 가장 효율적이고, 90:10은 위험 관리용이다</a:t>
            </a:r>
            <a:endParaRPr lang="en-US" sz="2000" dirty="0"/>
          </a:p>
        </p:txBody>
      </p:sp>
      <p:sp>
        <p:nvSpPr>
          <p:cNvPr id="5" name="Text 2"/>
          <p:cNvSpPr txBox="1"/>
          <p:nvPr/>
        </p:nvSpPr>
        <p:spPr>
          <a:xfrm>
            <a:off x="640080" y="1874520"/>
            <a:ext cx="1463040" cy="365760"/>
          </a:xfrm>
          <a:prstGeom prst="rect">
            <a:avLst/>
          </a:prstGeom>
          <a:noFill/>
          <a:ln/>
        </p:spPr>
        <p:txBody>
          <a:bodyPr wrap="square" lIns="0" tIns="0" rIns="0" bIns="0" rtlCol="0" anchor="t"/>
          <a:lstStyle/>
          <a:p>
            <a:pPr marL="0" indent="0">
              <a:buNone/>
            </a:pPr>
            <a:r>
              <a:rPr lang="en-US" sz="2000" b="1" dirty="0">
                <a:solidFill>
                  <a:schemeClr val="tx1"/>
                </a:solidFill>
              </a:rPr>
              <a:t>50 : 50</a:t>
            </a:r>
            <a:endParaRPr lang="en-US" sz="2000" dirty="0"/>
          </a:p>
        </p:txBody>
      </p:sp>
      <p:sp>
        <p:nvSpPr>
          <p:cNvPr id="6" name="Shape 3"/>
          <p:cNvSpPr/>
          <p:nvPr/>
        </p:nvSpPr>
        <p:spPr>
          <a:xfrm>
            <a:off x="2194560" y="192024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7" name="Shape 4"/>
          <p:cNvSpPr/>
          <p:nvPr/>
        </p:nvSpPr>
        <p:spPr>
          <a:xfrm>
            <a:off x="2487168" y="192024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8" name="Shape 5"/>
          <p:cNvSpPr/>
          <p:nvPr/>
        </p:nvSpPr>
        <p:spPr>
          <a:xfrm>
            <a:off x="2779776" y="192024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9" name="Shape 6"/>
          <p:cNvSpPr/>
          <p:nvPr/>
        </p:nvSpPr>
        <p:spPr>
          <a:xfrm>
            <a:off x="3072384" y="192024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0" name="Shape 7"/>
          <p:cNvSpPr/>
          <p:nvPr/>
        </p:nvSpPr>
        <p:spPr>
          <a:xfrm>
            <a:off x="3364992" y="192024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1" name="Shape 8"/>
          <p:cNvSpPr/>
          <p:nvPr/>
        </p:nvSpPr>
        <p:spPr>
          <a:xfrm>
            <a:off x="3657600" y="192024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2" name="Shape 9"/>
          <p:cNvSpPr/>
          <p:nvPr/>
        </p:nvSpPr>
        <p:spPr>
          <a:xfrm>
            <a:off x="3950208" y="192024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3" name="Shape 10"/>
          <p:cNvSpPr/>
          <p:nvPr/>
        </p:nvSpPr>
        <p:spPr>
          <a:xfrm>
            <a:off x="4242816" y="192024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4" name="Shape 11"/>
          <p:cNvSpPr/>
          <p:nvPr/>
        </p:nvSpPr>
        <p:spPr>
          <a:xfrm>
            <a:off x="4535424" y="192024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5" name="Shape 12"/>
          <p:cNvSpPr/>
          <p:nvPr/>
        </p:nvSpPr>
        <p:spPr>
          <a:xfrm>
            <a:off x="4828032" y="192024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6" name="Shape 13"/>
          <p:cNvSpPr/>
          <p:nvPr/>
        </p:nvSpPr>
        <p:spPr>
          <a:xfrm>
            <a:off x="5120640" y="192024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17" name="Shape 14"/>
          <p:cNvSpPr/>
          <p:nvPr/>
        </p:nvSpPr>
        <p:spPr>
          <a:xfrm>
            <a:off x="5413248" y="192024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18" name="Shape 15"/>
          <p:cNvSpPr/>
          <p:nvPr/>
        </p:nvSpPr>
        <p:spPr>
          <a:xfrm>
            <a:off x="5705856" y="192024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19" name="Shape 16"/>
          <p:cNvSpPr/>
          <p:nvPr/>
        </p:nvSpPr>
        <p:spPr>
          <a:xfrm>
            <a:off x="5998464" y="192024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0" name="Shape 17"/>
          <p:cNvSpPr/>
          <p:nvPr/>
        </p:nvSpPr>
        <p:spPr>
          <a:xfrm>
            <a:off x="6291072" y="192024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1" name="Shape 18"/>
          <p:cNvSpPr/>
          <p:nvPr/>
        </p:nvSpPr>
        <p:spPr>
          <a:xfrm>
            <a:off x="6583680" y="192024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2" name="Shape 19"/>
          <p:cNvSpPr/>
          <p:nvPr/>
        </p:nvSpPr>
        <p:spPr>
          <a:xfrm>
            <a:off x="6876288" y="192024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3" name="Shape 20"/>
          <p:cNvSpPr/>
          <p:nvPr/>
        </p:nvSpPr>
        <p:spPr>
          <a:xfrm>
            <a:off x="7168896" y="192024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4" name="Shape 21"/>
          <p:cNvSpPr/>
          <p:nvPr/>
        </p:nvSpPr>
        <p:spPr>
          <a:xfrm>
            <a:off x="7461504" y="192024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5" name="Shape 22"/>
          <p:cNvSpPr/>
          <p:nvPr/>
        </p:nvSpPr>
        <p:spPr>
          <a:xfrm>
            <a:off x="7754112" y="192024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6" name="Text 23"/>
          <p:cNvSpPr txBox="1"/>
          <p:nvPr/>
        </p:nvSpPr>
        <p:spPr>
          <a:xfrm>
            <a:off x="8229600" y="1874520"/>
            <a:ext cx="3337560" cy="640080"/>
          </a:xfrm>
          <a:prstGeom prst="rect">
            <a:avLst/>
          </a:prstGeom>
          <a:noFill/>
          <a:ln/>
        </p:spPr>
        <p:txBody>
          <a:bodyPr wrap="square" lIns="0" tIns="0" rIns="0" bIns="0" rtlCol="0" anchor="t"/>
          <a:lstStyle/>
          <a:p>
            <a:pPr marL="0" indent="0">
              <a:buNone/>
            </a:pPr>
            <a:r>
              <a:rPr lang="en-US" sz="1400" dirty="0">
                <a:solidFill>
                  <a:schemeClr val="tx2"/>
                </a:solidFill>
              </a:rPr>
              <a:t>같은 전체 표본에서 비교 효율이 가장 좋다</a:t>
            </a:r>
            <a:endParaRPr lang="en-US" sz="1400" dirty="0"/>
          </a:p>
        </p:txBody>
      </p:sp>
      <p:sp>
        <p:nvSpPr>
          <p:cNvPr id="27" name="Text 24"/>
          <p:cNvSpPr txBox="1"/>
          <p:nvPr/>
        </p:nvSpPr>
        <p:spPr>
          <a:xfrm>
            <a:off x="640080" y="2606040"/>
            <a:ext cx="1463040" cy="365760"/>
          </a:xfrm>
          <a:prstGeom prst="rect">
            <a:avLst/>
          </a:prstGeom>
          <a:noFill/>
          <a:ln/>
        </p:spPr>
        <p:txBody>
          <a:bodyPr wrap="square" lIns="0" tIns="0" rIns="0" bIns="0" rtlCol="0" anchor="t"/>
          <a:lstStyle/>
          <a:p>
            <a:pPr marL="0" indent="0">
              <a:buNone/>
            </a:pPr>
            <a:r>
              <a:rPr lang="en-US" sz="2000" b="1" dirty="0">
                <a:solidFill>
                  <a:schemeClr val="tx1"/>
                </a:solidFill>
              </a:rPr>
              <a:t>90 : 10</a:t>
            </a:r>
            <a:endParaRPr lang="en-US" sz="2000" dirty="0"/>
          </a:p>
        </p:txBody>
      </p:sp>
      <p:sp>
        <p:nvSpPr>
          <p:cNvPr id="28" name="Shape 25"/>
          <p:cNvSpPr/>
          <p:nvPr/>
        </p:nvSpPr>
        <p:spPr>
          <a:xfrm>
            <a:off x="2194560"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29" name="Shape 26"/>
          <p:cNvSpPr/>
          <p:nvPr/>
        </p:nvSpPr>
        <p:spPr>
          <a:xfrm>
            <a:off x="2487168"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30" name="Shape 27"/>
          <p:cNvSpPr/>
          <p:nvPr/>
        </p:nvSpPr>
        <p:spPr>
          <a:xfrm>
            <a:off x="2779776"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31" name="Shape 28"/>
          <p:cNvSpPr/>
          <p:nvPr/>
        </p:nvSpPr>
        <p:spPr>
          <a:xfrm>
            <a:off x="3072384"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32" name="Shape 29"/>
          <p:cNvSpPr/>
          <p:nvPr/>
        </p:nvSpPr>
        <p:spPr>
          <a:xfrm>
            <a:off x="3364992"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33" name="Shape 30"/>
          <p:cNvSpPr/>
          <p:nvPr/>
        </p:nvSpPr>
        <p:spPr>
          <a:xfrm>
            <a:off x="3657600"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34" name="Shape 31"/>
          <p:cNvSpPr/>
          <p:nvPr/>
        </p:nvSpPr>
        <p:spPr>
          <a:xfrm>
            <a:off x="3950208"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35" name="Shape 32"/>
          <p:cNvSpPr/>
          <p:nvPr/>
        </p:nvSpPr>
        <p:spPr>
          <a:xfrm>
            <a:off x="4242816"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36" name="Shape 33"/>
          <p:cNvSpPr/>
          <p:nvPr/>
        </p:nvSpPr>
        <p:spPr>
          <a:xfrm>
            <a:off x="4535424"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37" name="Shape 34"/>
          <p:cNvSpPr/>
          <p:nvPr/>
        </p:nvSpPr>
        <p:spPr>
          <a:xfrm>
            <a:off x="4828032"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38" name="Shape 35"/>
          <p:cNvSpPr/>
          <p:nvPr/>
        </p:nvSpPr>
        <p:spPr>
          <a:xfrm>
            <a:off x="5120640"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39" name="Shape 36"/>
          <p:cNvSpPr/>
          <p:nvPr/>
        </p:nvSpPr>
        <p:spPr>
          <a:xfrm>
            <a:off x="5413248"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40" name="Shape 37"/>
          <p:cNvSpPr/>
          <p:nvPr/>
        </p:nvSpPr>
        <p:spPr>
          <a:xfrm>
            <a:off x="5705856"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41" name="Shape 38"/>
          <p:cNvSpPr/>
          <p:nvPr/>
        </p:nvSpPr>
        <p:spPr>
          <a:xfrm>
            <a:off x="5998464"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42" name="Shape 39"/>
          <p:cNvSpPr/>
          <p:nvPr/>
        </p:nvSpPr>
        <p:spPr>
          <a:xfrm>
            <a:off x="6291072"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43" name="Shape 40"/>
          <p:cNvSpPr/>
          <p:nvPr/>
        </p:nvSpPr>
        <p:spPr>
          <a:xfrm>
            <a:off x="6583680"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44" name="Shape 41"/>
          <p:cNvSpPr/>
          <p:nvPr/>
        </p:nvSpPr>
        <p:spPr>
          <a:xfrm>
            <a:off x="6876288"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45" name="Shape 42"/>
          <p:cNvSpPr/>
          <p:nvPr/>
        </p:nvSpPr>
        <p:spPr>
          <a:xfrm>
            <a:off x="7168896" y="26517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46" name="Shape 43"/>
          <p:cNvSpPr/>
          <p:nvPr/>
        </p:nvSpPr>
        <p:spPr>
          <a:xfrm>
            <a:off x="7461504" y="265176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47" name="Shape 44"/>
          <p:cNvSpPr/>
          <p:nvPr/>
        </p:nvSpPr>
        <p:spPr>
          <a:xfrm>
            <a:off x="7754112" y="265176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48" name="Text 45"/>
          <p:cNvSpPr txBox="1"/>
          <p:nvPr/>
        </p:nvSpPr>
        <p:spPr>
          <a:xfrm>
            <a:off x="8229600" y="2606040"/>
            <a:ext cx="3337560" cy="640080"/>
          </a:xfrm>
          <a:prstGeom prst="rect">
            <a:avLst/>
          </a:prstGeom>
          <a:noFill/>
          <a:ln/>
        </p:spPr>
        <p:txBody>
          <a:bodyPr wrap="square" lIns="0" tIns="0" rIns="0" bIns="0" rtlCol="0" anchor="t"/>
          <a:lstStyle/>
          <a:p>
            <a:pPr marL="0" indent="0">
              <a:buNone/>
            </a:pPr>
            <a:r>
              <a:rPr lang="en-US" sz="1400" dirty="0">
                <a:solidFill>
                  <a:schemeClr val="tx2"/>
                </a:solidFill>
              </a:rPr>
              <a:t>장애 위험이 있을 때 일부에게 먼저. 실험군 표본이 느리게 쌓인다</a:t>
            </a:r>
            <a:endParaRPr lang="en-US" sz="1400" dirty="0"/>
          </a:p>
        </p:txBody>
      </p:sp>
      <p:sp>
        <p:nvSpPr>
          <p:cNvPr id="49" name="Text 46"/>
          <p:cNvSpPr txBox="1"/>
          <p:nvPr/>
        </p:nvSpPr>
        <p:spPr>
          <a:xfrm>
            <a:off x="2194560" y="3154680"/>
            <a:ext cx="3657600" cy="320040"/>
          </a:xfrm>
          <a:prstGeom prst="rect">
            <a:avLst/>
          </a:prstGeom>
          <a:noFill/>
          <a:ln/>
        </p:spPr>
        <p:txBody>
          <a:bodyPr wrap="square" lIns="0" tIns="0" rIns="0" bIns="0" rtlCol="0" anchor="t"/>
          <a:lstStyle/>
          <a:p>
            <a:pPr marL="0" indent="0">
              <a:buNone/>
            </a:pPr>
            <a:r>
              <a:rPr lang="en-US" sz="1400" dirty="0">
                <a:solidFill>
                  <a:schemeClr val="accent1"/>
                </a:solidFill>
              </a:rPr>
              <a:t>●</a:t>
            </a:r>
            <a:r>
              <a:rPr lang="en-US" sz="1400" dirty="0">
                <a:solidFill>
                  <a:schemeClr val="tx2"/>
                </a:solidFill>
              </a:rPr>
              <a:t> 대조군   </a:t>
            </a:r>
            <a:r>
              <a:rPr lang="en-US" sz="1400" dirty="0">
                <a:solidFill>
                  <a:schemeClr val="accent2"/>
                </a:solidFill>
              </a:rPr>
              <a:t>●</a:t>
            </a:r>
            <a:r>
              <a:rPr lang="en-US" sz="1400" dirty="0">
                <a:solidFill>
                  <a:schemeClr val="tx2"/>
                </a:solidFill>
              </a:rPr>
              <a:t> 실험군</a:t>
            </a:r>
            <a:endParaRPr lang="en-US" sz="1400" dirty="0"/>
          </a:p>
        </p:txBody>
      </p:sp>
      <p:sp>
        <p:nvSpPr>
          <p:cNvPr id="50" name="Text 47"/>
          <p:cNvSpPr txBox="1"/>
          <p:nvPr/>
        </p:nvSpPr>
        <p:spPr>
          <a:xfrm>
            <a:off x="640080" y="3794760"/>
            <a:ext cx="5212080" cy="1463040"/>
          </a:xfrm>
          <a:prstGeom prst="rect">
            <a:avLst/>
          </a:prstGeom>
          <a:noFill/>
          <a:ln/>
        </p:spPr>
        <p:txBody>
          <a:bodyPr wrap="square" lIns="0" tIns="0" rIns="0" bIns="0" rtlCol="0" anchor="t"/>
          <a:lstStyle/>
          <a:p>
            <a:pPr marL="0" indent="0">
              <a:spcAft>
                <a:spcPts val="600"/>
              </a:spcAft>
              <a:buNone/>
            </a:pPr>
            <a:r>
              <a:rPr lang="en-US" sz="2000" b="1" dirty="0">
                <a:solidFill>
                  <a:schemeClr val="tx1"/>
                </a:solidFill>
              </a:rPr>
              <a:t>좋은 배정이란</a:t>
            </a:r>
            <a:endParaRPr lang="en-US" sz="1500" dirty="0"/>
          </a:p>
          <a:p>
            <a:pPr marL="0" indent="0">
              <a:buNone/>
            </a:pPr>
            <a:r>
              <a:rPr lang="en-US" sz="1500" dirty="0">
                <a:solidFill>
                  <a:schemeClr val="tx1"/>
                </a:solidFill>
              </a:rPr>
              <a:t>A와 B의 사용자 수를 맞추는 것이 아니라, 처치 여부와 사용자 특성이 체계적으로 연결되지 않게 하는 것</a:t>
            </a:r>
            <a:endParaRPr lang="en-US" sz="1500" dirty="0"/>
          </a:p>
        </p:txBody>
      </p:sp>
      <p:sp>
        <p:nvSpPr>
          <p:cNvPr id="51" name="Shape 48"/>
          <p:cNvSpPr/>
          <p:nvPr/>
        </p:nvSpPr>
        <p:spPr>
          <a:xfrm>
            <a:off x="5989320" y="3840480"/>
            <a:ext cx="0" cy="1554480"/>
          </a:xfrm>
          <a:prstGeom prst="line">
            <a:avLst/>
          </a:prstGeom>
          <a:noFill/>
          <a:ln w="12700">
            <a:solidFill>
              <a:srgbClr val="E3E7F1"/>
            </a:solidFill>
            <a:prstDash val="solid"/>
          </a:ln>
        </p:spPr>
        <p:txBody>
          <a:bodyPr/>
          <a:lstStyle/>
          <a:p>
            <a:endParaRPr lang="ko-KR" altLang="en-US"/>
          </a:p>
        </p:txBody>
      </p:sp>
      <p:sp>
        <p:nvSpPr>
          <p:cNvPr id="52" name="Text 49"/>
          <p:cNvSpPr txBox="1"/>
          <p:nvPr/>
        </p:nvSpPr>
        <p:spPr>
          <a:xfrm>
            <a:off x="6355080" y="3794760"/>
            <a:ext cx="5212080" cy="1645920"/>
          </a:xfrm>
          <a:prstGeom prst="rect">
            <a:avLst/>
          </a:prstGeom>
          <a:noFill/>
          <a:ln/>
        </p:spPr>
        <p:txBody>
          <a:bodyPr wrap="square" lIns="0" tIns="0" rIns="0" bIns="0" rtlCol="0" anchor="t"/>
          <a:lstStyle/>
          <a:p>
            <a:pPr marL="0" indent="0">
              <a:spcAft>
                <a:spcPts val="600"/>
              </a:spcAft>
              <a:buNone/>
            </a:pPr>
            <a:r>
              <a:rPr lang="en-US" sz="2000" b="1" dirty="0">
                <a:solidFill>
                  <a:schemeClr val="tx1"/>
                </a:solidFill>
              </a:rPr>
              <a:t>실험 전에 정해 둘 것</a:t>
            </a:r>
            <a:endParaRPr lang="en-US" sz="1500" dirty="0"/>
          </a:p>
          <a:p>
            <a:pPr marL="342900" indent="-342900">
              <a:spcAft>
                <a:spcPts val="400"/>
              </a:spcAft>
              <a:buSzPct val="100000"/>
              <a:buChar char="•"/>
            </a:pPr>
            <a:r>
              <a:rPr lang="en-US" sz="1500" dirty="0">
                <a:solidFill>
                  <a:schemeClr val="tx1"/>
                </a:solidFill>
              </a:rPr>
              <a:t>어떤 단위를 어떤 규칙으로 배정할지</a:t>
            </a:r>
            <a:endParaRPr lang="en-US" sz="1500" dirty="0"/>
          </a:p>
          <a:p>
            <a:pPr marL="342900" indent="-342900">
              <a:spcAft>
                <a:spcPts val="400"/>
              </a:spcAft>
              <a:buSzPct val="100000"/>
              <a:buChar char="•"/>
            </a:pPr>
            <a:r>
              <a:rPr lang="en-US" sz="1500" dirty="0">
                <a:solidFill>
                  <a:schemeClr val="tx1"/>
                </a:solidFill>
              </a:rPr>
              <a:t>배정 비율은 얼마인지</a:t>
            </a:r>
            <a:endParaRPr lang="en-US" sz="1500" dirty="0"/>
          </a:p>
          <a:p>
            <a:pPr marL="342900" indent="-342900">
              <a:spcAft>
                <a:spcPts val="400"/>
              </a:spcAft>
              <a:buSzPct val="100000"/>
              <a:buChar char="•"/>
            </a:pPr>
            <a:r>
              <a:rPr lang="en-US" sz="1500" dirty="0">
                <a:solidFill>
                  <a:schemeClr val="tx1"/>
                </a:solidFill>
              </a:rPr>
              <a:t>필요하면 어떤 특성을 균형화할지 (층화)</a:t>
            </a:r>
            <a:endParaRPr lang="en-US" sz="1500" dirty="0"/>
          </a:p>
        </p:txBody>
      </p:sp>
      <p:sp>
        <p:nvSpPr>
          <p:cNvPr id="53" name="Text 50"/>
          <p:cNvSpPr txBox="1"/>
          <p:nvPr/>
        </p:nvSpPr>
        <p:spPr>
          <a:xfrm>
            <a:off x="640080" y="589788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위키 05편 4.3</a:t>
            </a:r>
            <a:endParaRPr lang="en-US" sz="1100" dirty="0"/>
          </a:p>
        </p:txBody>
      </p:sp>
      <p:sp>
        <p:nvSpPr>
          <p:cNvPr id="4"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Ch2 · SUTVA</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txBody>
          <a:bodyPr/>
          <a:lstStyle/>
          <a:p>
            <a:endParaRPr lang="ko-KR" altLang="en-US"/>
          </a:p>
        </p:txBody>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txBody>
          <a:bodyPr/>
          <a:lstStyle/>
          <a:p>
            <a:endParaRPr lang="ko-KR" altLang="en-US"/>
          </a:p>
        </p:txBody>
      </p:sp>
      <p:sp>
        <p:nvSpPr>
          <p:cNvPr id="29" name="Text 26"/>
          <p:cNvSpPr txBox="1"/>
          <p:nvPr/>
        </p:nvSpPr>
        <p:spPr>
          <a:xfrm>
            <a:off x="640080" y="3840480"/>
            <a:ext cx="1188720" cy="365760"/>
          </a:xfrm>
          <a:prstGeom prst="rect">
            <a:avLst/>
          </a:prstGeom>
          <a:noFill/>
          <a:ln/>
        </p:spPr>
        <p:txBody>
          <a:bodyPr wrap="square" lIns="0" tIns="0" rIns="0" bIns="0" rtlCol="0" anchor="t"/>
          <a:lstStyle/>
          <a:p>
            <a:pPr marL="0" indent="0" algn="ctr">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marL="0" indent="0" algn="ctr">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txBody>
          <a:bodyPr/>
          <a:lstStyle/>
          <a:p>
            <a:endParaRPr lang="ko-KR" altLang="en-US"/>
          </a:p>
        </p:txBody>
      </p:sp>
      <p:sp>
        <p:nvSpPr>
          <p:cNvPr id="32" name="Shape 29"/>
          <p:cNvSpPr/>
          <p:nvPr/>
        </p:nvSpPr>
        <p:spPr>
          <a:xfrm flipH="1">
            <a:off x="1874520" y="3429000"/>
            <a:ext cx="1051560" cy="0"/>
          </a:xfrm>
          <a:prstGeom prst="line">
            <a:avLst/>
          </a:prstGeom>
          <a:noFill/>
          <a:ln w="25400">
            <a:solidFill>
              <a:srgbClr val="D93B41"/>
            </a:solidFill>
            <a:prstDash val="dash"/>
            <a:tailEnd type="triangle"/>
          </a:ln>
        </p:spPr>
        <p:txBody>
          <a:bodyPr/>
          <a:lstStyle/>
          <a:p>
            <a:endParaRPr lang="ko-KR" altLang="en-US"/>
          </a:p>
        </p:txBody>
      </p:sp>
      <p:sp>
        <p:nvSpPr>
          <p:cNvPr id="33" name="Text 30"/>
          <p:cNvSpPr txBox="1"/>
          <p:nvPr/>
        </p:nvSpPr>
        <p:spPr>
          <a:xfrm>
            <a:off x="1554480" y="4251960"/>
            <a:ext cx="2194560" cy="365760"/>
          </a:xfrm>
          <a:prstGeom prst="rect">
            <a:avLst/>
          </a:prstGeom>
          <a:noFill/>
          <a:ln/>
        </p:spPr>
        <p:txBody>
          <a:bodyPr wrap="square" lIns="0" tIns="0" rIns="0" bIns="0" rtlCol="0" anchor="t"/>
          <a:lstStyle/>
          <a:p>
            <a:pPr marL="0" indent="0" algn="ctr">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marL="0" indent="0">
              <a:buNone/>
            </a:pPr>
            <a:r>
              <a:rPr lang="en-US" sz="2000" b="1" dirty="0">
                <a:solidFill>
                  <a:schemeClr val="tx1"/>
                </a:solidFill>
              </a:rPr>
              <a:t>메신저</a:t>
            </a:r>
            <a:endParaRPr lang="en-US" sz="1500" dirty="0"/>
          </a:p>
          <a:p>
            <a:pPr marL="0" indent="0">
              <a:spcAft>
                <a:spcPts val="1200"/>
              </a:spcAft>
              <a:buNone/>
            </a:pPr>
            <a:r>
              <a:rPr lang="en-US" sz="1500" dirty="0">
                <a:solidFill>
                  <a:schemeClr val="tx2"/>
                </a:solidFill>
              </a:rPr>
              <a:t>B 그룹 친구가 새 기능으로 보낸 메시지를 A 그룹인 나도 받는다</a:t>
            </a:r>
            <a:endParaRPr lang="en-US" sz="1500" dirty="0"/>
          </a:p>
          <a:p>
            <a:pPr marL="0" indent="0">
              <a:buNone/>
            </a:pPr>
            <a:r>
              <a:rPr lang="en-US" sz="2000" b="1" dirty="0">
                <a:solidFill>
                  <a:schemeClr val="tx1"/>
                </a:solidFill>
              </a:rPr>
              <a:t>마켓플레이스</a:t>
            </a:r>
            <a:endParaRPr lang="en-US" sz="1500" dirty="0"/>
          </a:p>
          <a:p>
            <a:pPr marL="0" indent="0">
              <a:spcAft>
                <a:spcPts val="1200"/>
              </a:spcAft>
              <a:buNone/>
            </a:pPr>
            <a:r>
              <a:rPr lang="en-US" sz="1500" dirty="0">
                <a:solidFill>
                  <a:schemeClr val="tx2"/>
                </a:solidFill>
              </a:rPr>
              <a:t>B 그룹에 준 쿠폰으로 인기 재고가 소진되면 A 그룹 구매가 줄어든다</a:t>
            </a:r>
            <a:endParaRPr lang="en-US" sz="1500" dirty="0"/>
          </a:p>
          <a:p>
            <a:pPr marL="0" indent="0">
              <a:buNone/>
            </a:pPr>
            <a:r>
              <a:rPr lang="en-US" sz="2000" b="1" dirty="0">
                <a:solidFill>
                  <a:schemeClr val="tx1"/>
                </a:solidFill>
              </a:rPr>
              <a:t>배달·라이드쉐어</a:t>
            </a:r>
            <a:endParaRPr lang="en-US" sz="1500" dirty="0"/>
          </a:p>
          <a:p>
            <a:pPr marL="0" indent="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marL="0" indent="0">
              <a:buNone/>
            </a:pPr>
            <a:r>
              <a:rPr lang="en-US" sz="1500" b="1" dirty="0">
                <a:solidFill>
                  <a:schemeClr val="accent1"/>
                </a:solidFill>
              </a:rPr>
              <a:t>→ Ch4: </a:t>
            </a:r>
            <a:r>
              <a:rPr lang="en-US" sz="1500" dirty="0">
                <a:solidFill>
                  <a:schemeClr val="tx1"/>
                </a:solidFill>
              </a:rPr>
              <a:t>사용자 대신 동네·시간 구간을 나눈다 (클러스터 랜덤화, 스위치백)</a:t>
            </a:r>
            <a:endParaRPr lang="en-US" sz="1500" dirty="0"/>
          </a:p>
        </p:txBody>
      </p:sp>
      <p:sp>
        <p:nvSpPr>
          <p:cNvPr id="4"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371600"/>
            <a:ext cx="3657600" cy="1463040"/>
          </a:xfrm>
          <a:prstGeom prst="rect">
            <a:avLst/>
          </a:prstGeom>
          <a:noFill/>
          <a:ln/>
        </p:spPr>
        <p:txBody>
          <a:bodyPr wrap="square" lIns="0" tIns="0" rIns="0" bIns="0" rtlCol="0" anchor="b"/>
          <a:lstStyle/>
          <a:p>
            <a:pPr marL="0" indent="0" algn="l">
              <a:buNone/>
            </a:pPr>
            <a:r>
              <a:rPr lang="en-US" sz="9600" b="1" dirty="0">
                <a:solidFill>
                  <a:srgbClr val="7B93FF"/>
                </a:solidFill>
              </a:rPr>
              <a:t>03</a:t>
            </a:r>
            <a:endParaRPr lang="en-US" sz="9600" dirty="0"/>
          </a:p>
        </p:txBody>
      </p:sp>
      <p:sp>
        <p:nvSpPr>
          <p:cNvPr id="3" name="Text 0"/>
          <p:cNvSpPr>
            <a:spLocks noGrp="1"/>
          </p:cNvSpPr>
          <p:nvPr>
            <p:ph type="title" idx="101" hasCustomPrompt="1"/>
          </p:nvPr>
        </p:nvSpPr>
        <p:spPr>
          <a:xfrm>
            <a:off x="640080" y="3017520"/>
            <a:ext cx="10058400" cy="914400"/>
          </a:xfrm>
          <a:prstGeom prst="rect">
            <a:avLst/>
          </a:prstGeom>
          <a:noFill/>
          <a:ln/>
        </p:spPr>
        <p:txBody>
          <a:bodyPr wrap="square" lIns="0" tIns="0" rIns="0" bIns="0" rtlCol="0" anchor="t"/>
          <a:lstStyle/>
          <a:p>
            <a:pPr marL="0" indent="0" algn="l">
              <a:buNone/>
            </a:pPr>
            <a:r>
              <a:rPr lang="en-US" sz="4000" b="1" dirty="0">
                <a:solidFill>
                  <a:srgbClr val="FFFFFF"/>
                </a:solidFill>
              </a:rPr>
              <a:t>실험 실행과 통계 분석</a:t>
            </a:r>
            <a:endParaRPr lang="en-US" sz="4000" dirty="0"/>
          </a:p>
        </p:txBody>
      </p:sp>
      <p:sp>
        <p:nvSpPr>
          <p:cNvPr id="4" name="Text 0"/>
          <p:cNvSpPr>
            <a:spLocks noGrp="1"/>
          </p:cNvSpPr>
          <p:nvPr>
            <p:ph type="body" idx="102" hasCustomPrompt="1"/>
          </p:nvPr>
        </p:nvSpPr>
        <p:spPr>
          <a:xfrm>
            <a:off x="640080" y="4069080"/>
            <a:ext cx="10058400" cy="731520"/>
          </a:xfrm>
          <a:prstGeom prst="rect">
            <a:avLst/>
          </a:prstGeom>
          <a:noFill/>
          <a:ln/>
        </p:spPr>
        <p:txBody>
          <a:bodyPr wrap="square" lIns="0" tIns="0" rIns="0" bIns="0" rtlCol="0" anchor="t"/>
          <a:lstStyle/>
          <a:p>
            <a:pPr marL="0" indent="0" algn="l">
              <a:buNone/>
            </a:pPr>
            <a:r>
              <a:rPr lang="en-US" sz="2000" dirty="0">
                <a:solidFill>
                  <a:srgbClr val="AEB3CC"/>
                </a:solidFill>
              </a:rPr>
              <a:t>A/A, 램프업, 기간, 검정, 구간, 분산 축소</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Ch3 · 실행 순서</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marL="0" indent="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marL="0" indent="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txBody>
          <a:bodyPr/>
          <a:lstStyle/>
          <a:p>
            <a:endParaRPr lang="ko-KR" altLang="en-US"/>
          </a:p>
        </p:txBody>
      </p:sp>
      <p:sp>
        <p:nvSpPr>
          <p:cNvPr id="8" name="Text 5"/>
          <p:cNvSpPr txBox="1"/>
          <p:nvPr/>
        </p:nvSpPr>
        <p:spPr>
          <a:xfrm>
            <a:off x="3474720" y="1920240"/>
            <a:ext cx="2377440" cy="914400"/>
          </a:xfrm>
          <a:prstGeom prst="rect">
            <a:avLst/>
          </a:prstGeom>
          <a:noFill/>
          <a:ln/>
        </p:spPr>
        <p:txBody>
          <a:bodyPr wrap="square" lIns="0" tIns="0" rIns="0" bIns="0" rtlCol="0" anchor="t"/>
          <a:lstStyle/>
          <a:p>
            <a:pPr marL="0" indent="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marL="0" indent="0">
              <a:buNone/>
            </a:pPr>
            <a:r>
              <a:rPr lang="en-US" sz="1500" dirty="0">
                <a:solidFill>
                  <a:schemeClr val="tx2"/>
                </a:solidFill>
              </a:rPr>
              <a:t>버그·크래시, 노출·로깅 기록 확인</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txBody>
          <a:bodyPr/>
          <a:lstStyle/>
          <a:p>
            <a:endParaRPr lang="ko-KR" altLang="en-US"/>
          </a:p>
        </p:txBody>
      </p:sp>
      <p:sp>
        <p:nvSpPr>
          <p:cNvPr id="11" name="Text 8"/>
          <p:cNvSpPr txBox="1"/>
          <p:nvPr/>
        </p:nvSpPr>
        <p:spPr>
          <a:xfrm>
            <a:off x="6309360" y="1920240"/>
            <a:ext cx="2377440" cy="914400"/>
          </a:xfrm>
          <a:prstGeom prst="rect">
            <a:avLst/>
          </a:prstGeom>
          <a:noFill/>
          <a:ln/>
        </p:spPr>
        <p:txBody>
          <a:bodyPr wrap="square" lIns="0" tIns="0" rIns="0" bIns="0" rtlCol="0" anchor="t"/>
          <a:lstStyle/>
          <a:p>
            <a:pPr marL="0" indent="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marL="0" indent="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txBody>
          <a:bodyPr/>
          <a:lstStyle/>
          <a:p>
            <a:endParaRPr lang="ko-KR" altLang="en-US"/>
          </a:p>
        </p:txBody>
      </p:sp>
      <p:sp>
        <p:nvSpPr>
          <p:cNvPr id="14" name="Text 11"/>
          <p:cNvSpPr txBox="1"/>
          <p:nvPr/>
        </p:nvSpPr>
        <p:spPr>
          <a:xfrm>
            <a:off x="9144000" y="1920240"/>
            <a:ext cx="2377440" cy="914400"/>
          </a:xfrm>
          <a:prstGeom prst="rect">
            <a:avLst/>
          </a:prstGeom>
          <a:noFill/>
          <a:ln/>
        </p:spPr>
        <p:txBody>
          <a:bodyPr wrap="square" lIns="0" tIns="0" rIns="0" bIns="0" rtlCol="0" anchor="t"/>
          <a:lstStyle/>
          <a:p>
            <a:pPr marL="0" indent="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marL="0" indent="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marL="0" indent="0">
              <a:buNone/>
            </a:pPr>
            <a:r>
              <a:rPr lang="en-US" sz="1500" b="1" dirty="0">
                <a:solidFill>
                  <a:schemeClr val="accent1"/>
                </a:solidFill>
              </a:rPr>
              <a:t>실무에서 이렇게 말한다  </a:t>
            </a: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marL="0" indent="0">
              <a:buNone/>
            </a:pPr>
            <a:r>
              <a:rPr lang="en-US" sz="1500" dirty="0">
                <a:solidFill>
                  <a:schemeClr val="tx2"/>
                </a:solidFill>
              </a:rPr>
              <a:t>단계를 넘기는 기준(에러율, 가드레일)은 실험 전에 정한다</a:t>
            </a:r>
            <a:endParaRPr lang="en-US" sz="1500" dirty="0"/>
          </a:p>
        </p:txBody>
      </p:sp>
      <p:sp>
        <p:nvSpPr>
          <p:cNvPr id="18" name="Text 15"/>
          <p:cNvSpPr txBox="1"/>
          <p:nvPr/>
        </p:nvSpPr>
        <p:spPr>
          <a:xfrm>
            <a:off x="640080" y="5303520"/>
            <a:ext cx="10911535" cy="457200"/>
          </a:xfrm>
          <a:prstGeom prst="rect">
            <a:avLst/>
          </a:prstGeom>
          <a:noFill/>
          <a:ln/>
        </p:spPr>
        <p:txBody>
          <a:bodyPr wrap="square" lIns="0" tIns="0" rIns="0" bIns="0" rtlCol="0" anchor="t"/>
          <a:lstStyle/>
          <a:p>
            <a:pPr marL="0" indent="0">
              <a:buNone/>
            </a:pPr>
            <a:r>
              <a:rPr lang="en-US" sz="1500" b="1" dirty="0">
                <a:solidFill>
                  <a:schemeClr val="accent4"/>
                </a:solidFill>
              </a:rPr>
              <a:t>램프업 = 위험 제한  </a:t>
            </a:r>
            <a:r>
              <a:rPr lang="en-US" sz="1500" dirty="0">
                <a:solidFill>
                  <a:schemeClr val="tx1"/>
                </a:solidFill>
              </a:rPr>
              <a:t>효과를 빨리 찾는 절차가 아니다 · 1%에서 좋아 보인다고 늘리면 Peeking과 같다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Ch3 · A/A 테스트</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marL="0" indent="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marL="0" indent="0">
              <a:buNone/>
            </a:pPr>
            <a:r>
              <a:rPr lang="en-US" sz="1500" dirty="0">
                <a:solidFill>
                  <a:schemeClr val="tx2"/>
                </a:solidFill>
              </a:rPr>
              <a:t>A/A에서 '유의'가 나오는 정상 빈도 (α = 5%)</a:t>
            </a:r>
            <a:endParaRPr lang="en-US" sz="1500" dirty="0"/>
          </a:p>
          <a:p>
            <a:pPr marL="0" indent="0">
              <a:buNone/>
            </a:pPr>
            <a:r>
              <a:rPr lang="en-US" sz="1500" dirty="0">
                <a:solidFill>
                  <a:schemeClr val="tx2"/>
                </a:solidFill>
              </a:rPr>
              <a:t>훨씬 잦으면 → 시스템 의심</a:t>
            </a:r>
            <a:endParaRPr lang="en-US" sz="1500" dirty="0"/>
          </a:p>
        </p:txBody>
      </p:sp>
      <p:sp>
        <p:nvSpPr>
          <p:cNvPr id="7" name="Text 4"/>
          <p:cNvSpPr txBox="1"/>
          <p:nvPr/>
        </p:nvSpPr>
        <p:spPr>
          <a:xfrm>
            <a:off x="640080" y="4069080"/>
            <a:ext cx="5669280" cy="1828800"/>
          </a:xfrm>
          <a:prstGeom prst="rect">
            <a:avLst/>
          </a:prstGeom>
          <a:noFill/>
          <a:ln/>
        </p:spPr>
        <p:txBody>
          <a:bodyPr wrap="square" lIns="0" tIns="0" rIns="0" bIns="0" rtlCol="0" anchor="t"/>
          <a:lstStyle/>
          <a:p>
            <a:pPr marL="0" indent="0">
              <a:spcAft>
                <a:spcPts val="400"/>
              </a:spcAft>
              <a:buNone/>
            </a:pPr>
            <a:r>
              <a:rPr lang="en-US" sz="1500" b="1" dirty="0">
                <a:solidFill>
                  <a:schemeClr val="tx1"/>
                </a:solidFill>
              </a:rPr>
              <a:t>한 번 유의했다고 고장은 아니다. 이런 패턴을 본다</a:t>
            </a:r>
            <a:endParaRPr lang="en-US" sz="1500" dirty="0"/>
          </a:p>
          <a:p>
            <a:pPr marL="342900" indent="-342900">
              <a:spcAft>
                <a:spcPts val="200"/>
              </a:spcAft>
              <a:buSzPct val="100000"/>
              <a:buChar char="•"/>
            </a:pPr>
            <a:r>
              <a:rPr lang="en-US" sz="1500" dirty="0">
                <a:solidFill>
                  <a:schemeClr val="tx1"/>
                </a:solidFill>
              </a:rPr>
              <a:t>반복했을 때 유의가 지나치게 자주 나온다</a:t>
            </a:r>
            <a:endParaRPr lang="en-US" sz="1500" dirty="0"/>
          </a:p>
          <a:p>
            <a:pPr marL="342900" indent="-342900">
              <a:spcAft>
                <a:spcPts val="200"/>
              </a:spcAft>
              <a:buSzPct val="100000"/>
              <a:buChar char="•"/>
            </a:pPr>
            <a:r>
              <a:rPr lang="en-US" sz="1500" dirty="0">
                <a:solidFill>
                  <a:schemeClr val="tx1"/>
                </a:solidFill>
              </a:rPr>
              <a:t>특정 지표가 계속 한쪽 방향으로 차이 난다</a:t>
            </a:r>
            <a:endParaRPr lang="en-US" sz="1500" dirty="0"/>
          </a:p>
          <a:p>
            <a:pPr marL="342900" indent="-342900">
              <a:spcAft>
                <a:spcPts val="200"/>
              </a:spcAft>
              <a:buSzPct val="100000"/>
              <a:buChar char="•"/>
            </a:pPr>
            <a:r>
              <a:rPr lang="en-US" sz="1500" dirty="0">
                <a:solidFill>
                  <a:schemeClr val="tx1"/>
                </a:solidFill>
              </a:rPr>
              <a:t>특정 브라우저·국가·기기에서만 차이 난다</a:t>
            </a:r>
            <a:endParaRPr lang="en-US" sz="1500" dirty="0"/>
          </a:p>
          <a:p>
            <a:pPr marL="342900" indent="-342900">
              <a:spcAft>
                <a:spcPts val="200"/>
              </a:spcAft>
              <a:buSzPct val="100000"/>
              <a:buChar char="•"/>
            </a:pPr>
            <a:r>
              <a:rPr lang="en-US" sz="1500" dirty="0">
                <a:solidFill>
                  <a:schemeClr val="tx1"/>
                </a:solidFill>
              </a:rPr>
              <a:t>계산한 표준오차보다 실제 변동이 훨씬 크다</a:t>
            </a:r>
            <a:endParaRPr lang="en-US" sz="1500" dirty="0"/>
          </a:p>
        </p:txBody>
      </p:sp>
      <p:sp>
        <p:nvSpPr>
          <p:cNvPr id="8" name="Text 5"/>
          <p:cNvSpPr txBox="1"/>
          <p:nvPr/>
        </p:nvSpPr>
        <p:spPr>
          <a:xfrm>
            <a:off x="6858000" y="1920240"/>
            <a:ext cx="4709160" cy="3840480"/>
          </a:xfrm>
          <a:prstGeom prst="rect">
            <a:avLst/>
          </a:prstGeom>
          <a:noFill/>
          <a:ln/>
        </p:spPr>
        <p:txBody>
          <a:bodyPr wrap="square" lIns="0" tIns="0" rIns="0" bIns="0" rtlCol="0" anchor="t"/>
          <a:lstStyle/>
          <a:p>
            <a:pPr marL="0" indent="0">
              <a:spcAft>
                <a:spcPts val="400"/>
              </a:spcAft>
              <a:buNone/>
            </a:pPr>
            <a:r>
              <a:rPr lang="en-US" sz="2000" b="1" dirty="0">
                <a:solidFill>
                  <a:schemeClr val="tx1"/>
                </a:solidFill>
              </a:rPr>
              <a:t>파이프라인 전체를 그대로 통과시킨다</a:t>
            </a:r>
            <a:endParaRPr lang="en-US" sz="1500" dirty="0"/>
          </a:p>
          <a:p>
            <a:pPr marL="0" indent="0">
              <a:spcAft>
                <a:spcPts val="1000"/>
              </a:spcAft>
              <a:buNone/>
            </a:pPr>
            <a:r>
              <a:rPr lang="en-US" sz="1500" b="1" dirty="0">
                <a:solidFill>
                  <a:schemeClr val="accent1"/>
                </a:solidFill>
              </a:rPr>
              <a:t>배정 → 노출 → 로깅 → 지표 계산 → 분석</a:t>
            </a:r>
            <a:endParaRPr lang="en-US" sz="1500" dirty="0"/>
          </a:p>
          <a:p>
            <a:pPr marL="0" indent="0">
              <a:buNone/>
            </a:pPr>
            <a:r>
              <a:rPr lang="en-US" sz="1500" b="1" dirty="0">
                <a:solidFill>
                  <a:schemeClr val="tx1"/>
                </a:solidFill>
              </a:rPr>
              <a:t>배정  </a:t>
            </a:r>
            <a:r>
              <a:rPr lang="en-US" sz="1500" dirty="0">
                <a:solidFill>
                  <a:schemeClr val="tx1"/>
                </a:solidFill>
              </a:rPr>
              <a:t>특정 국가·브라우저가 한쪽에 몰림</a:t>
            </a:r>
            <a:endParaRPr lang="en-US" sz="1500" dirty="0"/>
          </a:p>
          <a:p>
            <a:pPr marL="0" indent="0">
              <a:buNone/>
            </a:pPr>
            <a:r>
              <a:rPr lang="en-US" sz="1500" b="1" dirty="0">
                <a:solidFill>
                  <a:schemeClr val="tx1"/>
                </a:solidFill>
              </a:rPr>
              <a:t>노출  </a:t>
            </a:r>
            <a:r>
              <a:rPr lang="en-US" sz="1500" dirty="0">
                <a:solidFill>
                  <a:schemeClr val="tx1"/>
                </a:solidFill>
              </a:rPr>
              <a:t>배정됐지만 한쪽만 기능에 노출되지 않음</a:t>
            </a:r>
            <a:endParaRPr lang="en-US" sz="1500" dirty="0"/>
          </a:p>
          <a:p>
            <a:pPr marL="0" indent="0">
              <a:buNone/>
            </a:pPr>
            <a:r>
              <a:rPr lang="en-US" sz="1500" b="1" dirty="0">
                <a:solidFill>
                  <a:schemeClr val="tx1"/>
                </a:solidFill>
              </a:rPr>
              <a:t>로깅  </a:t>
            </a:r>
            <a:r>
              <a:rPr lang="en-US" sz="1500" dirty="0">
                <a:solidFill>
                  <a:schemeClr val="tx1"/>
                </a:solidFill>
              </a:rPr>
              <a:t>한 Variant의 이벤트가 누락·중복</a:t>
            </a:r>
            <a:endParaRPr lang="en-US" sz="1500" dirty="0"/>
          </a:p>
          <a:p>
            <a:pPr marL="0" indent="0">
              <a:buNone/>
            </a:pPr>
            <a:r>
              <a:rPr lang="en-US" sz="1500" b="1" dirty="0">
                <a:solidFill>
                  <a:schemeClr val="tx1"/>
                </a:solidFill>
              </a:rPr>
              <a:t>지표 계산  </a:t>
            </a:r>
            <a:r>
              <a:rPr lang="en-US" sz="1500" dirty="0">
                <a:solidFill>
                  <a:schemeClr val="tx1"/>
                </a:solidFill>
              </a:rPr>
              <a:t>그룹마다 집계 기준·필터가 다름</a:t>
            </a:r>
            <a:endParaRPr lang="en-US" sz="1500" dirty="0"/>
          </a:p>
          <a:p>
            <a:pPr marL="0" indent="0">
              <a:buNone/>
            </a:pPr>
            <a:r>
              <a:rPr lang="en-US" sz="1500" b="1" dirty="0">
                <a:solidFill>
                  <a:schemeClr val="tx1"/>
                </a:solidFill>
              </a:rPr>
              <a:t>분산·SE  </a:t>
            </a:r>
            <a:r>
              <a:rPr lang="en-US" sz="1500" dirty="0">
                <a:solidFill>
                  <a:schemeClr val="tx1"/>
                </a:solidFill>
              </a:rPr>
              <a:t>반복 관측을 독립으로 봐서 불확실성을 작게 계산</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Ch3 · 실험 기간</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최소 1~2주, 요일과 신기효과를 넘겨서</a:t>
            </a:r>
            <a:endParaRPr lang="en-US" sz="2000" dirty="0"/>
          </a:p>
        </p:txBody>
      </p:sp>
      <p:graphicFrame>
        <p:nvGraphicFramePr>
          <p:cNvPr id="5" name="Chart 0"/>
          <p:cNvGraphicFramePr/>
          <p:nvPr/>
        </p:nvGraphicFramePr>
        <p:xfrm>
          <a:off x="640080" y="1737360"/>
          <a:ext cx="69494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marL="0" indent="0">
              <a:buNone/>
            </a:pPr>
            <a:r>
              <a:rPr lang="en-US" sz="2000" b="1" dirty="0">
                <a:solidFill>
                  <a:schemeClr val="tx1"/>
                </a:solidFill>
              </a:rPr>
              <a:t>첫 주만 보면 과대평가</a:t>
            </a:r>
            <a:endParaRPr lang="en-US" sz="1500" dirty="0"/>
          </a:p>
          <a:p>
            <a:pPr marL="0" indent="0">
              <a:spcAft>
                <a:spcPts val="1600"/>
              </a:spcAft>
              <a:buNone/>
            </a:pPr>
            <a:r>
              <a:rPr lang="en-US" sz="1500" dirty="0">
                <a:solidFill>
                  <a:schemeClr val="tx2"/>
                </a:solidFill>
              </a:rPr>
              <a:t>1~3일 효과엔 신기효과가 섞여 있다</a:t>
            </a:r>
            <a:endParaRPr lang="en-US" sz="1500" dirty="0"/>
          </a:p>
          <a:p>
            <a:pPr marL="0" indent="0">
              <a:buNone/>
            </a:pPr>
            <a:r>
              <a:rPr lang="en-US" sz="2000" b="1" dirty="0">
                <a:solidFill>
                  <a:schemeClr val="tx1"/>
                </a:solidFill>
              </a:rPr>
              <a:t>요일마다 사용자가 다르다</a:t>
            </a:r>
            <a:endParaRPr lang="en-US" sz="1500" dirty="0"/>
          </a:p>
          <a:p>
            <a:pPr marL="0" indent="0">
              <a:spcAft>
                <a:spcPts val="1600"/>
              </a:spcAft>
              <a:buNone/>
            </a:pPr>
            <a:r>
              <a:rPr lang="en-US" sz="1500" dirty="0">
                <a:solidFill>
                  <a:schemeClr val="tx2"/>
                </a:solidFill>
              </a:rPr>
              <a:t>주말 사용자 ≠ 주중 사용자 → 완전한 주 단위로</a:t>
            </a:r>
            <a:endParaRPr lang="en-US" sz="1500" dirty="0"/>
          </a:p>
          <a:p>
            <a:pPr marL="0" indent="0">
              <a:buNone/>
            </a:pPr>
            <a:r>
              <a:rPr lang="en-US" sz="2000" b="1" dirty="0">
                <a:solidFill>
                  <a:schemeClr val="tx1"/>
                </a:solidFill>
              </a:rPr>
              <a:t>'무조건 2주' 규칙은 없다</a:t>
            </a:r>
            <a:endParaRPr lang="en-US" sz="1500" dirty="0"/>
          </a:p>
          <a:p>
            <a:pPr marL="0" indent="0">
              <a:buNone/>
            </a:pPr>
            <a:r>
              <a:rPr lang="en-US" sz="1500" dirty="0">
                <a:solidFill>
                  <a:schemeClr val="tx2"/>
                </a:solidFill>
              </a:rPr>
              <a:t>판단 기준: 필요 표본 · 행동 주기 포함 · 초기 시간 효과가 지배하지 않음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Ch3 · 통계 검정</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검정은 지표의 모양을 보고 고른다</a:t>
            </a:r>
            <a:endParaRPr lang="en-US" sz="2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08792" cy="3291840"/>
        </p:xfrm>
        <a:graphic>
          <a:graphicData uri="http://schemas.openxmlformats.org/drawingml/2006/table">
            <a:tbl>
              <a:tblPr/>
              <a:tblGrid>
                <a:gridCol w="32004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3044952">
                  <a:extLst>
                    <a:ext uri="{9D8B030D-6E8A-4147-A177-3AD203B41FA5}">
                      <a16:colId xmlns:a16="http://schemas.microsoft.com/office/drawing/2014/main" val="20003"/>
                    </a:ext>
                  </a:extLst>
                </a:gridCol>
              </a:tblGrid>
              <a:tr h="658368">
                <a:tc>
                  <a:txBody>
                    <a:bodyPr/>
                    <a:lstStyle/>
                    <a:p>
                      <a:pPr marL="0" indent="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658368">
                <a:tc>
                  <a:txBody>
                    <a:bodyPr/>
                    <a:lstStyle/>
                    <a:p>
                      <a:pPr marL="0" indent="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658368">
                <a:tc>
                  <a:txBody>
                    <a:bodyPr/>
                    <a:lstStyle/>
                    <a:p>
                      <a:pPr marL="0" indent="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658368">
                <a:tc>
                  <a:txBody>
                    <a:bodyPr/>
                    <a:lstStyle/>
                    <a:p>
                      <a:pPr marL="0" indent="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r h="658368">
                <a:tc>
                  <a:txBody>
                    <a:bodyPr/>
                    <a:lstStyle/>
                    <a:p>
                      <a:pPr marL="0" indent="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marL="0" indent="0">
              <a:buNone/>
            </a:pPr>
            <a:r>
              <a:rPr lang="en-US" sz="1500" dirty="0">
                <a:solidFill>
                  <a:schemeClr val="tx2"/>
                </a:solidFill>
              </a:rPr>
              <a:t>검정 자체는 공통 3주차 그대로 · 달라지는 건 무엇을 비교하느냐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Ch3 · 배정 단위와 분석 단위</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배정 단위보다 작은 단위로 분석하면 신뢰구간이 좁아진다</a:t>
            </a:r>
            <a:endParaRPr lang="en-US" sz="2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2194560"/>
        </p:xfrm>
        <a:graphic>
          <a:graphicData uri="http://schemas.openxmlformats.org/drawingml/2006/table">
            <a:tbl>
              <a:tblPr/>
              <a:tblGrid>
                <a:gridCol w="17373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548640">
                <a:tc>
                  <a:txBody>
                    <a:bodyPr/>
                    <a:lstStyle/>
                    <a:p>
                      <a:pPr marL="0" indent="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548640">
                <a:tc>
                  <a:txBody>
                    <a:bodyPr/>
                    <a:lstStyle/>
                    <a:p>
                      <a:pPr marL="0" indent="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marL="0" indent="0">
              <a:buNone/>
            </a:pPr>
            <a:r>
              <a:rPr lang="en-US" sz="5400" b="1" dirty="0">
                <a:solidFill>
                  <a:schemeClr val="accent4"/>
                </a:solidFill>
              </a:rPr>
              <a:t>47%</a:t>
            </a:r>
            <a:endParaRPr lang="en-US" sz="1500" dirty="0"/>
          </a:p>
          <a:p>
            <a:pPr marL="0" indent="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marL="0" indent="0">
              <a:spcAft>
                <a:spcPts val="600"/>
              </a:spcAft>
              <a:buNone/>
            </a:pPr>
            <a:r>
              <a:rPr lang="en-US" sz="2000" b="1" dirty="0">
                <a:solidFill>
                  <a:schemeClr val="accent1"/>
                </a:solidFill>
              </a:rPr>
              <a:t>① 배정 단위로 다시 집계한다</a:t>
            </a:r>
            <a:endParaRPr lang="en-US" sz="1500" dirty="0"/>
          </a:p>
          <a:p>
            <a:pPr marL="0" indent="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marL="0" indent="0">
              <a:spcAft>
                <a:spcPts val="600"/>
              </a:spcAft>
              <a:buNone/>
            </a:pPr>
            <a:r>
              <a:rPr lang="en-US" sz="2000" b="1" dirty="0">
                <a:solidFill>
                  <a:schemeClr val="accent1"/>
                </a:solidFill>
              </a:rPr>
              <a:t>② 지표는 유지하고 불확실성을 보정한다</a:t>
            </a:r>
            <a:endParaRPr lang="en-US" sz="1500" dirty="0"/>
          </a:p>
          <a:p>
            <a:pPr marL="0" indent="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txBody>
          <a:bodyPr/>
          <a:lstStyle/>
          <a:p>
            <a:endParaRPr lang="ko-KR" altLang="en-US"/>
          </a:p>
        </p:txBody>
      </p:sp>
      <p:sp>
        <p:nvSpPr>
          <p:cNvPr id="10" name="Text 6"/>
          <p:cNvSpPr txBox="1"/>
          <p:nvPr/>
        </p:nvSpPr>
        <p:spPr>
          <a:xfrm>
            <a:off x="640080" y="585216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Ch3 · p-value 해석</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marL="0" indent="0">
              <a:spcAft>
                <a:spcPts val="1200"/>
              </a:spcAft>
              <a:buNone/>
            </a:pPr>
            <a:r>
              <a:rPr lang="en-US" sz="2000" b="1" dirty="0">
                <a:solidFill>
                  <a:schemeClr val="accent3"/>
                </a:solidFill>
              </a:rPr>
              <a:t>이렇게 말한다</a:t>
            </a:r>
            <a:endParaRPr lang="en-US" sz="1500" dirty="0"/>
          </a:p>
          <a:p>
            <a:pPr marL="0" indent="0">
              <a:buNone/>
            </a:pPr>
            <a:r>
              <a:rPr lang="en-US" sz="1500" b="1" dirty="0">
                <a:solidFill>
                  <a:schemeClr val="accent3"/>
                </a:solidFill>
              </a:rPr>
              <a:t>✓  </a:t>
            </a:r>
            <a:r>
              <a:rPr lang="en-US" sz="1500" dirty="0">
                <a:solidFill>
                  <a:schemeClr val="tx1"/>
                </a:solidFill>
              </a:rPr>
              <a:t>"효과가 없다고 가정하면, 이만큼 차이가 날 확률이 3%입니다"</a:t>
            </a:r>
            <a:endParaRPr lang="en-US" sz="1500" dirty="0"/>
          </a:p>
          <a:p>
            <a:pPr marL="0" indent="0">
              <a:buNone/>
            </a:pPr>
            <a:r>
              <a:rPr lang="en-US" sz="1500" b="1" dirty="0">
                <a:solidFill>
                  <a:schemeClr val="accent3"/>
                </a:solidFill>
              </a:rPr>
              <a:t>✓  </a:t>
            </a:r>
            <a:r>
              <a:rPr lang="en-US" sz="1500" dirty="0">
                <a:solidFill>
                  <a:schemeClr val="tx1"/>
                </a:solidFill>
              </a:rPr>
              <a:t>"미리 정한 기준 5%보다 작아서 '효과 없음'을 기각합니다"</a:t>
            </a:r>
            <a:endParaRPr lang="en-US" sz="1500" dirty="0"/>
          </a:p>
          <a:p>
            <a:pPr marL="0" indent="0">
              <a:buNone/>
            </a:pPr>
            <a:r>
              <a:rPr lang="en-US" sz="1500" b="1" dirty="0">
                <a:solidFill>
                  <a:schemeClr val="accent3"/>
                </a:solidFill>
              </a:rPr>
              <a:t>✓  </a:t>
            </a: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txBody>
          <a:bodyPr/>
          <a:lstStyle/>
          <a:p>
            <a:endParaRPr lang="ko-KR" altLang="en-US"/>
          </a:p>
        </p:txBody>
      </p:sp>
      <p:sp>
        <p:nvSpPr>
          <p:cNvPr id="7" name="Text 4"/>
          <p:cNvSpPr txBox="1"/>
          <p:nvPr/>
        </p:nvSpPr>
        <p:spPr>
          <a:xfrm>
            <a:off x="6355080" y="1874520"/>
            <a:ext cx="5029200" cy="3474720"/>
          </a:xfrm>
          <a:prstGeom prst="rect">
            <a:avLst/>
          </a:prstGeom>
          <a:noFill/>
          <a:ln/>
        </p:spPr>
        <p:txBody>
          <a:bodyPr wrap="square" lIns="0" tIns="0" rIns="0" bIns="0" rtlCol="0" anchor="t"/>
          <a:lstStyle/>
          <a:p>
            <a:pPr marL="0" indent="0">
              <a:spcAft>
                <a:spcPts val="1200"/>
              </a:spcAft>
              <a:buNone/>
            </a:pPr>
            <a:r>
              <a:rPr lang="en-US" sz="2000" b="1" dirty="0">
                <a:solidFill>
                  <a:schemeClr val="accent4"/>
                </a:solidFill>
              </a:rPr>
              <a:t>이렇게 말하지 않는다</a:t>
            </a:r>
            <a:endParaRPr lang="en-US" sz="1500" dirty="0"/>
          </a:p>
          <a:p>
            <a:pPr marL="0" indent="0">
              <a:buNone/>
            </a:pPr>
            <a:r>
              <a:rPr lang="en-US" sz="1500" b="1" dirty="0">
                <a:solidFill>
                  <a:schemeClr val="accent4"/>
                </a:solidFill>
              </a:rPr>
              <a:t>✗  </a:t>
            </a:r>
            <a:r>
              <a:rPr lang="en-US" sz="1500" dirty="0">
                <a:solidFill>
                  <a:schemeClr val="tx1"/>
                </a:solidFill>
              </a:rPr>
              <a:t>"B가 더 좋을 확률이 97%입니다"</a:t>
            </a:r>
            <a:endParaRPr lang="en-US" sz="1500" dirty="0"/>
          </a:p>
          <a:p>
            <a:pPr marL="0" indent="0">
              <a:buNone/>
            </a:pPr>
            <a:r>
              <a:rPr lang="en-US" sz="1500" b="1" dirty="0">
                <a:solidFill>
                  <a:schemeClr val="accent4"/>
                </a:solidFill>
              </a:rPr>
              <a:t>✗  </a:t>
            </a:r>
            <a:r>
              <a:rPr lang="en-US" sz="1500" dirty="0">
                <a:solidFill>
                  <a:schemeClr val="tx1"/>
                </a:solidFill>
              </a:rPr>
              <a:t>"p = 0.001이니 효과가 아주 큽니다"</a:t>
            </a:r>
            <a:endParaRPr lang="en-US" sz="1500" dirty="0"/>
          </a:p>
          <a:p>
            <a:pPr marL="0" indent="0">
              <a:buNone/>
            </a:pPr>
            <a:r>
              <a:rPr lang="en-US" sz="1500" b="1" dirty="0">
                <a:solidFill>
                  <a:schemeClr val="accent4"/>
                </a:solidFill>
              </a:rPr>
              <a:t>✗  </a:t>
            </a: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Ch3 · 신뢰구간</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txBody>
          <a:bodyPr/>
          <a:lstStyle/>
          <a:p>
            <a:endParaRPr lang="ko-KR" altLang="en-US"/>
          </a:p>
        </p:txBody>
      </p:sp>
      <p:sp>
        <p:nvSpPr>
          <p:cNvPr id="6" name="Text 3"/>
          <p:cNvSpPr txBox="1"/>
          <p:nvPr/>
        </p:nvSpPr>
        <p:spPr>
          <a:xfrm>
            <a:off x="2651760" y="4754880"/>
            <a:ext cx="914400" cy="274320"/>
          </a:xfrm>
          <a:prstGeom prst="rect">
            <a:avLst/>
          </a:prstGeom>
          <a:noFill/>
          <a:ln/>
        </p:spPr>
        <p:txBody>
          <a:bodyPr wrap="square" lIns="0" tIns="0" rIns="0" bIns="0" rtlCol="0" anchor="t"/>
          <a:lstStyle/>
          <a:p>
            <a:pPr marL="0" indent="0" algn="ctr">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marL="0" indent="0" algn="ctr">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marL="0" indent="0" algn="ctr">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marL="0" indent="0" algn="ctr">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marL="0" indent="0" algn="ctr">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marL="0" indent="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txBody>
          <a:bodyPr/>
          <a:lstStyle/>
          <a:p>
            <a:endParaRPr lang="ko-KR" altLang="en-US"/>
          </a:p>
        </p:txBody>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txBody>
          <a:bodyPr/>
          <a:lstStyle/>
          <a:p>
            <a:endParaRPr lang="ko-KR" altLang="en-US"/>
          </a:p>
        </p:txBody>
      </p:sp>
      <p:sp>
        <p:nvSpPr>
          <p:cNvPr id="14" name="Text 11"/>
          <p:cNvSpPr txBox="1"/>
          <p:nvPr/>
        </p:nvSpPr>
        <p:spPr>
          <a:xfrm>
            <a:off x="9052560" y="1947672"/>
            <a:ext cx="2560320" cy="685800"/>
          </a:xfrm>
          <a:prstGeom prst="rect">
            <a:avLst/>
          </a:prstGeom>
          <a:noFill/>
          <a:ln/>
        </p:spPr>
        <p:txBody>
          <a:bodyPr wrap="square" lIns="0" tIns="0" rIns="0" bIns="0" rtlCol="0" anchor="t"/>
          <a:lstStyle/>
          <a:p>
            <a:pPr marL="0" indent="0">
              <a:buNone/>
            </a:pPr>
            <a:r>
              <a:rPr lang="en-US" sz="1500" b="1" dirty="0">
                <a:solidFill>
                  <a:schemeClr val="tx1"/>
                </a:solidFill>
              </a:rPr>
              <a:t>+0.8%p  [+0.1, +1.5]</a:t>
            </a:r>
            <a:endParaRPr lang="en-US" sz="1500" dirty="0"/>
          </a:p>
          <a:p>
            <a:pPr marL="0" indent="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marL="0" indent="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txBody>
          <a:bodyPr/>
          <a:lstStyle/>
          <a:p>
            <a:endParaRPr lang="ko-KR" altLang="en-US"/>
          </a:p>
        </p:txBody>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txBody>
          <a:bodyPr/>
          <a:lstStyle/>
          <a:p>
            <a:endParaRPr lang="ko-KR" altLang="en-US"/>
          </a:p>
        </p:txBody>
      </p:sp>
      <p:sp>
        <p:nvSpPr>
          <p:cNvPr id="18" name="Text 15"/>
          <p:cNvSpPr txBox="1"/>
          <p:nvPr/>
        </p:nvSpPr>
        <p:spPr>
          <a:xfrm>
            <a:off x="9052560" y="2862072"/>
            <a:ext cx="2560320" cy="685800"/>
          </a:xfrm>
          <a:prstGeom prst="rect">
            <a:avLst/>
          </a:prstGeom>
          <a:noFill/>
          <a:ln/>
        </p:spPr>
        <p:txBody>
          <a:bodyPr wrap="square" lIns="0" tIns="0" rIns="0" bIns="0" rtlCol="0" anchor="t"/>
          <a:lstStyle/>
          <a:p>
            <a:pPr marL="0" indent="0">
              <a:buNone/>
            </a:pPr>
            <a:r>
              <a:rPr lang="en-US" sz="1500" b="1" dirty="0">
                <a:solidFill>
                  <a:schemeClr val="tx1"/>
                </a:solidFill>
              </a:rPr>
              <a:t>+0.3%p  [-0.4, +1]</a:t>
            </a:r>
            <a:endParaRPr lang="en-US" sz="1500" dirty="0"/>
          </a:p>
          <a:p>
            <a:pPr marL="0" indent="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marL="0" indent="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txBody>
          <a:bodyPr/>
          <a:lstStyle/>
          <a:p>
            <a:endParaRPr lang="ko-KR" altLang="en-US"/>
          </a:p>
        </p:txBody>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txBody>
          <a:bodyPr/>
          <a:lstStyle/>
          <a:p>
            <a:endParaRPr lang="ko-KR" altLang="en-US"/>
          </a:p>
        </p:txBody>
      </p:sp>
      <p:sp>
        <p:nvSpPr>
          <p:cNvPr id="22" name="Text 19"/>
          <p:cNvSpPr txBox="1"/>
          <p:nvPr/>
        </p:nvSpPr>
        <p:spPr>
          <a:xfrm>
            <a:off x="9052560" y="3776472"/>
            <a:ext cx="2560320" cy="685800"/>
          </a:xfrm>
          <a:prstGeom prst="rect">
            <a:avLst/>
          </a:prstGeom>
          <a:noFill/>
          <a:ln/>
        </p:spPr>
        <p:txBody>
          <a:bodyPr wrap="square" lIns="0" tIns="0" rIns="0" bIns="0" rtlCol="0" anchor="t"/>
          <a:lstStyle/>
          <a:p>
            <a:pPr marL="0" indent="0">
              <a:buNone/>
            </a:pPr>
            <a:r>
              <a:rPr lang="en-US" sz="1500" b="1" dirty="0">
                <a:solidFill>
                  <a:schemeClr val="tx1"/>
                </a:solidFill>
              </a:rPr>
              <a:t>+2%p  [-1, +5]</a:t>
            </a:r>
            <a:endParaRPr lang="en-US" sz="1500" dirty="0"/>
          </a:p>
          <a:p>
            <a:pPr marL="0" indent="0">
              <a:buNone/>
            </a:pPr>
            <a:r>
              <a:rPr lang="en-US" sz="1400" dirty="0">
                <a:solidFill>
                  <a:schemeClr val="tx2"/>
                </a:solidFill>
              </a:rPr>
              <a:t>구간이 넓다. 아직 모른다</a:t>
            </a:r>
            <a:endParaRPr lang="en-US" sz="1500" dirty="0"/>
          </a:p>
        </p:txBody>
      </p:sp>
      <p:sp>
        <p:nvSpPr>
          <p:cNvPr id="23" name="Text 20"/>
          <p:cNvSpPr txBox="1"/>
          <p:nvPr/>
        </p:nvSpPr>
        <p:spPr>
          <a:xfrm>
            <a:off x="640080" y="5257800"/>
            <a:ext cx="10911535" cy="457200"/>
          </a:xfrm>
          <a:prstGeom prst="rect">
            <a:avLst/>
          </a:prstGeom>
          <a:noFill/>
          <a:ln/>
        </p:spPr>
        <p:txBody>
          <a:bodyPr wrap="square" lIns="0" tIns="0" rIns="0" bIns="0" rtlCol="0" anchor="t"/>
          <a:lstStyle/>
          <a:p>
            <a:pPr marL="0" indent="0">
              <a:buNone/>
            </a:pPr>
            <a:r>
              <a:rPr lang="en-US" sz="1500" b="1" dirty="0">
                <a:solidFill>
                  <a:schemeClr val="accent1"/>
                </a:solidFill>
              </a:rPr>
              <a:t>실무에서 이렇게 말한다  </a:t>
            </a:r>
            <a:r>
              <a:rPr lang="en-US" sz="1500" dirty="0">
                <a:solidFill>
                  <a:schemeClr val="tx1"/>
                </a:solidFill>
              </a:rPr>
              <a:t>"결제 전환율이 0.8%p 올랐고, 95% 신뢰구간은 +0.1%p에서 +1.5%p입니다"</a:t>
            </a:r>
            <a:endParaRPr lang="en-US" sz="1500" dirty="0"/>
          </a:p>
        </p:txBody>
      </p:sp>
      <p:sp>
        <p:nvSpPr>
          <p:cNvPr id="24" name="Text 21"/>
          <p:cNvSpPr txBox="1"/>
          <p:nvPr/>
        </p:nvSpPr>
        <p:spPr>
          <a:xfrm>
            <a:off x="640080" y="5715000"/>
            <a:ext cx="10911535" cy="457200"/>
          </a:xfrm>
          <a:prstGeom prst="rect">
            <a:avLst/>
          </a:prstGeom>
          <a:noFill/>
          <a:ln/>
        </p:spPr>
        <p:txBody>
          <a:bodyPr wrap="square" lIns="0" tIns="0" rIns="0" bIns="0" rtlCol="0" anchor="t"/>
          <a:lstStyle/>
          <a:p>
            <a:pPr marL="0" indent="0">
              <a:buNone/>
            </a:pPr>
            <a:r>
              <a:rPr lang="en-US" sz="1400" dirty="0">
                <a:solidFill>
                  <a:schemeClr val="tx2"/>
                </a:solidFill>
              </a:rPr>
              <a:t>엄밀한 뜻: 같은 절차를 반복하면 구간의 95%가 참값을 포함 ('이 구간에 참값이 있을 확률 95%'가 아님)</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Ch3 · 효과 크기</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통계적으로 유의하다 ≠ 의미 있다</a:t>
            </a:r>
            <a:endParaRPr lang="en-US" sz="2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2880360"/>
        </p:xfrm>
        <a:graphic>
          <a:graphicData uri="http://schemas.openxmlformats.org/drawingml/2006/table">
            <a:tbl>
              <a:tblPr/>
              <a:tblGrid>
                <a:gridCol w="1828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960120">
                <a:tc>
                  <a:txBody>
                    <a:bodyPr/>
                    <a:lstStyle/>
                    <a:p>
                      <a:pPr marL="0" indent="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960120">
                <a:tc>
                  <a:txBody>
                    <a:bodyPr/>
                    <a:lstStyle/>
                    <a:p>
                      <a:pPr marL="0" indent="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0F9D63"/>
                          </a:solidFill>
                        </a:rPr>
                        <a:t>배포 후보</a:t>
                      </a:r>
                      <a:endParaRPr lang="en-US" sz="1500" dirty="0"/>
                    </a:p>
                    <a:p>
                      <a:pPr marL="0" indent="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B87700"/>
                          </a:solidFill>
                        </a:rPr>
                        <a:t>유의하지만 작다</a:t>
                      </a:r>
                      <a:endParaRPr lang="en-US" sz="1500" dirty="0"/>
                    </a:p>
                    <a:p>
                      <a:pPr marL="0" indent="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960120">
                <a:tc>
                  <a:txBody>
                    <a:bodyPr/>
                    <a:lstStyle/>
                    <a:p>
                      <a:pPr marL="0" indent="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B87700"/>
                          </a:solidFill>
                        </a:rPr>
                        <a:t>표본 부족</a:t>
                      </a:r>
                      <a:endParaRPr lang="en-US" sz="1500" dirty="0"/>
                    </a:p>
                    <a:p>
                      <a:pPr marL="0" indent="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8A90A8"/>
                          </a:solidFill>
                        </a:rPr>
                        <a:t>효과 없음 확인</a:t>
                      </a:r>
                      <a:endParaRPr lang="en-US" sz="1500" dirty="0"/>
                    </a:p>
                    <a:p>
                      <a:pPr marL="0" indent="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marL="0" indent="0">
              <a:buNone/>
            </a:pPr>
            <a:r>
              <a:rPr lang="en-US" sz="5400" b="1" dirty="0">
                <a:solidFill>
                  <a:schemeClr val="accent1"/>
                </a:solidFill>
              </a:rPr>
              <a:t>0.12%p</a:t>
            </a:r>
            <a:endParaRPr lang="en-US" sz="1500" dirty="0"/>
          </a:p>
          <a:p>
            <a:pPr marL="0" indent="0">
              <a:buNone/>
            </a:pPr>
            <a:r>
              <a:rPr lang="en-US" sz="1500" dirty="0">
                <a:solidFill>
                  <a:schemeClr val="tx2"/>
                </a:solidFill>
              </a:rPr>
              <a:t>기준 전환율 10%, 그룹당 500만 명이면 이 차이도 p &lt; 0.05 · 유의 ≠ 크다</a:t>
            </a:r>
            <a:endParaRPr lang="en-US" sz="1500" dirty="0"/>
          </a:p>
        </p:txBody>
      </p:sp>
      <p:sp>
        <p:nvSpPr>
          <p:cNvPr id="7" name="Text 3"/>
          <p:cNvSpPr txBox="1"/>
          <p:nvPr/>
        </p:nvSpPr>
        <p:spPr>
          <a:xfrm>
            <a:off x="640080" y="4983480"/>
            <a:ext cx="5486400" cy="320040"/>
          </a:xfrm>
          <a:prstGeom prst="rect">
            <a:avLst/>
          </a:prstGeom>
          <a:noFill/>
          <a:ln/>
        </p:spPr>
        <p:txBody>
          <a:bodyPr wrap="square" lIns="0" tIns="0" rIns="0" bIns="0" rtlCol="0" anchor="t"/>
          <a:lstStyle/>
          <a:p>
            <a:pPr marL="0" indent="0">
              <a:buNone/>
            </a:pPr>
            <a:r>
              <a:rPr lang="en-US" sz="1400" b="1" dirty="0">
                <a:solidFill>
                  <a:schemeClr val="accent6"/>
                </a:solidFill>
              </a:rPr>
              <a:t>결과는 이 순서로 읽는다</a:t>
            </a:r>
            <a:endParaRPr lang="en-US" sz="1400" dirty="0"/>
          </a:p>
        </p:txBody>
      </p:sp>
      <p:sp>
        <p:nvSpPr>
          <p:cNvPr id="8" name="Text 4"/>
          <p:cNvSpPr txBox="1"/>
          <p:nvPr/>
        </p:nvSpPr>
        <p:spPr>
          <a:xfrm>
            <a:off x="640080" y="5349240"/>
            <a:ext cx="1920240" cy="457200"/>
          </a:xfrm>
          <a:prstGeom prst="rect">
            <a:avLst/>
          </a:prstGeom>
          <a:noFill/>
          <a:ln/>
        </p:spPr>
        <p:txBody>
          <a:bodyPr wrap="square" lIns="0" tIns="0" rIns="0" bIns="0" rtlCol="0" anchor="t"/>
          <a:lstStyle/>
          <a:p>
            <a:pPr marL="0" indent="0">
              <a:buNone/>
            </a:pPr>
            <a:r>
              <a:rPr lang="en-US" sz="2000" b="1" dirty="0">
                <a:solidFill>
                  <a:schemeClr val="accent1"/>
                </a:solidFill>
              </a:rPr>
              <a:t>효과 크기</a:t>
            </a:r>
            <a:endParaRPr lang="en-US" sz="2000" dirty="0"/>
          </a:p>
        </p:txBody>
      </p:sp>
      <p:sp>
        <p:nvSpPr>
          <p:cNvPr id="9" name="Shape 5"/>
          <p:cNvSpPr/>
          <p:nvPr/>
        </p:nvSpPr>
        <p:spPr>
          <a:xfrm>
            <a:off x="2514600" y="5550408"/>
            <a:ext cx="411480" cy="0"/>
          </a:xfrm>
          <a:prstGeom prst="line">
            <a:avLst/>
          </a:prstGeom>
          <a:noFill/>
          <a:ln w="19050">
            <a:solidFill>
              <a:srgbClr val="8A90A8"/>
            </a:solidFill>
            <a:prstDash val="solid"/>
            <a:tailEnd type="triangle"/>
          </a:ln>
        </p:spPr>
        <p:txBody>
          <a:bodyPr/>
          <a:lstStyle/>
          <a:p>
            <a:endParaRPr lang="ko-KR" altLang="en-US"/>
          </a:p>
        </p:txBody>
      </p:sp>
      <p:sp>
        <p:nvSpPr>
          <p:cNvPr id="10" name="Text 6"/>
          <p:cNvSpPr txBox="1"/>
          <p:nvPr/>
        </p:nvSpPr>
        <p:spPr>
          <a:xfrm>
            <a:off x="3017520" y="5349240"/>
            <a:ext cx="1920240" cy="457200"/>
          </a:xfrm>
          <a:prstGeom prst="rect">
            <a:avLst/>
          </a:prstGeom>
          <a:noFill/>
          <a:ln/>
        </p:spPr>
        <p:txBody>
          <a:bodyPr wrap="square" lIns="0" tIns="0" rIns="0" bIns="0" rtlCol="0" anchor="t"/>
          <a:lstStyle/>
          <a:p>
            <a:pPr marL="0" indent="0">
              <a:buNone/>
            </a:pPr>
            <a:r>
              <a:rPr lang="en-US" sz="2000" b="1" dirty="0">
                <a:solidFill>
                  <a:schemeClr val="tx1"/>
                </a:solidFill>
              </a:rPr>
              <a:t>신뢰구간</a:t>
            </a:r>
            <a:endParaRPr lang="en-US" sz="2000" dirty="0"/>
          </a:p>
        </p:txBody>
      </p:sp>
      <p:sp>
        <p:nvSpPr>
          <p:cNvPr id="11" name="Shape 7"/>
          <p:cNvSpPr/>
          <p:nvPr/>
        </p:nvSpPr>
        <p:spPr>
          <a:xfrm>
            <a:off x="4892040" y="5550408"/>
            <a:ext cx="411480" cy="0"/>
          </a:xfrm>
          <a:prstGeom prst="line">
            <a:avLst/>
          </a:prstGeom>
          <a:noFill/>
          <a:ln w="19050">
            <a:solidFill>
              <a:srgbClr val="8A90A8"/>
            </a:solidFill>
            <a:prstDash val="solid"/>
            <a:tailEnd type="triangle"/>
          </a:ln>
        </p:spPr>
        <p:txBody>
          <a:bodyPr/>
          <a:lstStyle/>
          <a:p>
            <a:endParaRPr lang="ko-KR" altLang="en-US"/>
          </a:p>
        </p:txBody>
      </p:sp>
      <p:sp>
        <p:nvSpPr>
          <p:cNvPr id="12" name="Text 8"/>
          <p:cNvSpPr txBox="1"/>
          <p:nvPr/>
        </p:nvSpPr>
        <p:spPr>
          <a:xfrm>
            <a:off x="5394960" y="5349240"/>
            <a:ext cx="1920240" cy="457200"/>
          </a:xfrm>
          <a:prstGeom prst="rect">
            <a:avLst/>
          </a:prstGeom>
          <a:noFill/>
          <a:ln/>
        </p:spPr>
        <p:txBody>
          <a:bodyPr wrap="square" lIns="0" tIns="0" rIns="0" bIns="0" rtlCol="0" anchor="t"/>
          <a:lstStyle/>
          <a:p>
            <a:pPr marL="0" indent="0">
              <a:buNone/>
            </a:pPr>
            <a:r>
              <a:rPr lang="en-US" sz="2000" b="1" dirty="0">
                <a:solidFill>
                  <a:schemeClr val="tx1"/>
                </a:solidFill>
              </a:rPr>
              <a:t>p-value</a:t>
            </a:r>
            <a:endParaRPr lang="en-US" sz="2000" dirty="0"/>
          </a:p>
        </p:txBody>
      </p:sp>
      <p:sp>
        <p:nvSpPr>
          <p:cNvPr id="13" name="Shape 9"/>
          <p:cNvSpPr/>
          <p:nvPr/>
        </p:nvSpPr>
        <p:spPr>
          <a:xfrm>
            <a:off x="7269480" y="5550408"/>
            <a:ext cx="411480" cy="0"/>
          </a:xfrm>
          <a:prstGeom prst="line">
            <a:avLst/>
          </a:prstGeom>
          <a:noFill/>
          <a:ln w="19050">
            <a:solidFill>
              <a:srgbClr val="8A90A8"/>
            </a:solidFill>
            <a:prstDash val="solid"/>
            <a:tailEnd type="triangle"/>
          </a:ln>
        </p:spPr>
        <p:txBody>
          <a:bodyPr/>
          <a:lstStyle/>
          <a:p>
            <a:endParaRPr lang="ko-KR" altLang="en-US"/>
          </a:p>
        </p:txBody>
      </p:sp>
      <p:sp>
        <p:nvSpPr>
          <p:cNvPr id="14" name="Text 10"/>
          <p:cNvSpPr txBox="1"/>
          <p:nvPr/>
        </p:nvSpPr>
        <p:spPr>
          <a:xfrm>
            <a:off x="7772400" y="5349240"/>
            <a:ext cx="4114800" cy="457200"/>
          </a:xfrm>
          <a:prstGeom prst="rect">
            <a:avLst/>
          </a:prstGeom>
          <a:noFill/>
          <a:ln/>
        </p:spPr>
        <p:txBody>
          <a:bodyPr wrap="square" lIns="0" tIns="0" rIns="0" bIns="0" rtlCol="0" anchor="t"/>
          <a:lstStyle/>
          <a:p>
            <a:pPr marL="0" indent="0">
              <a:buNone/>
            </a:pPr>
            <a:r>
              <a:rPr lang="en-US" sz="2000" b="1" dirty="0">
                <a:solidFill>
                  <a:schemeClr val="tx1"/>
                </a:solidFill>
              </a:rPr>
              <a:t>비용·리스크를 포함한 의사결정</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Ch3 · 분산 축소</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marL="0" indent="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marL="0" indent="0">
              <a:buNone/>
            </a:pPr>
            <a:r>
              <a:rPr lang="en-US" sz="1500" b="1" dirty="0">
                <a:solidFill>
                  <a:schemeClr val="tx1"/>
                </a:solidFill>
              </a:rPr>
              <a:t>θ = Cov(Y, X) / Var(X)</a:t>
            </a:r>
            <a:r>
              <a:rPr lang="en-US" sz="1500" dirty="0">
                <a:solidFill>
                  <a:schemeClr val="tx2"/>
                </a:solidFill>
              </a:rPr>
              <a:t>      분산은 약 Var(Y)(1 - ρ²)로 준다. 실험 전후 지표 상관 ρ = 0.7이면 원래 분산의 51%</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marL="0" indent="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txBody>
          <a:bodyPr/>
          <a:lstStyle/>
          <a:p>
            <a:endParaRPr lang="ko-KR" altLang="en-US"/>
          </a:p>
        </p:txBody>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txBody>
          <a:bodyPr/>
          <a:lstStyle/>
          <a:p>
            <a:endParaRPr lang="ko-KR" altLang="en-US"/>
          </a:p>
        </p:txBody>
      </p:sp>
      <p:sp>
        <p:nvSpPr>
          <p:cNvPr id="10" name="Text 7"/>
          <p:cNvSpPr txBox="1"/>
          <p:nvPr/>
        </p:nvSpPr>
        <p:spPr>
          <a:xfrm>
            <a:off x="640080" y="3931920"/>
            <a:ext cx="1280160" cy="365760"/>
          </a:xfrm>
          <a:prstGeom prst="rect">
            <a:avLst/>
          </a:prstGeom>
          <a:noFill/>
          <a:ln/>
        </p:spPr>
        <p:txBody>
          <a:bodyPr wrap="square" lIns="0" tIns="0" rIns="0" bIns="0" rtlCol="0" anchor="t"/>
          <a:lstStyle/>
          <a:p>
            <a:pPr marL="0" indent="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txBody>
          <a:bodyPr/>
          <a:lstStyle/>
          <a:p>
            <a:endParaRPr lang="ko-KR" altLang="en-US"/>
          </a:p>
        </p:txBody>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txBody>
          <a:bodyPr/>
          <a:lstStyle/>
          <a:p>
            <a:endParaRPr lang="ko-KR" altLang="en-US"/>
          </a:p>
        </p:txBody>
      </p:sp>
      <p:sp>
        <p:nvSpPr>
          <p:cNvPr id="13" name="Text 10"/>
          <p:cNvSpPr txBox="1"/>
          <p:nvPr/>
        </p:nvSpPr>
        <p:spPr>
          <a:xfrm>
            <a:off x="2103120" y="4434840"/>
            <a:ext cx="4572000" cy="365760"/>
          </a:xfrm>
          <a:prstGeom prst="rect">
            <a:avLst/>
          </a:prstGeom>
          <a:noFill/>
          <a:ln/>
        </p:spPr>
        <p:txBody>
          <a:bodyPr wrap="square" lIns="0" tIns="0" rIns="0" bIns="0" rtlCol="0" anchor="t"/>
          <a:lstStyle/>
          <a:p>
            <a:pPr marL="0" indent="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marL="0" indent="0">
              <a:spcAft>
                <a:spcPts val="600"/>
              </a:spcAft>
              <a:buNone/>
            </a:pPr>
            <a:r>
              <a:rPr lang="en-US" sz="1500" b="1" dirty="0">
                <a:solidFill>
                  <a:schemeClr val="tx2"/>
                </a:solidFill>
              </a:rPr>
              <a:t>다른 방법</a:t>
            </a:r>
            <a:endParaRPr lang="en-US" sz="1500" dirty="0"/>
          </a:p>
          <a:p>
            <a:pPr marL="0" indent="0">
              <a:buNone/>
            </a:pPr>
            <a:r>
              <a:rPr lang="en-US" sz="1500" b="1" dirty="0">
                <a:solidFill>
                  <a:schemeClr val="tx1"/>
                </a:solidFill>
              </a:rPr>
              <a:t>층화 분석</a:t>
            </a:r>
            <a:endParaRPr lang="en-US" sz="1500" dirty="0"/>
          </a:p>
          <a:p>
            <a:pPr marL="0" indent="0">
              <a:spcAft>
                <a:spcPts val="1000"/>
              </a:spcAft>
              <a:buNone/>
            </a:pPr>
            <a:r>
              <a:rPr lang="en-US" sz="1400" dirty="0">
                <a:solidFill>
                  <a:schemeClr val="tx2"/>
                </a:solidFill>
              </a:rPr>
              <a:t>플랫폼·신규 여부 같은 층별로 효과를 구해 합친다</a:t>
            </a:r>
            <a:endParaRPr lang="en-US" sz="1500" dirty="0"/>
          </a:p>
          <a:p>
            <a:pPr marL="0" indent="0">
              <a:buNone/>
            </a:pPr>
            <a:r>
              <a:rPr lang="en-US" sz="1500" b="1" dirty="0">
                <a:solidFill>
                  <a:schemeClr val="tx1"/>
                </a:solidFill>
              </a:rPr>
              <a:t>Delta Method</a:t>
            </a:r>
            <a:endParaRPr lang="en-US" sz="1500" dirty="0"/>
          </a:p>
          <a:p>
            <a:pPr marL="0" indent="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Ch3 · CUPED 주의점</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CUPED는 좋은 실험의 노이즈를 줄일 뿐, 나쁜 실험을 고치지 못한다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marL="0" indent="0">
              <a:buNone/>
            </a:pPr>
            <a:r>
              <a:rPr lang="en-US" sz="3000" b="1" dirty="0">
                <a:solidFill>
                  <a:schemeClr val="accent4"/>
                </a:solidFill>
              </a:rPr>
              <a:t>01</a:t>
            </a:r>
            <a:endParaRPr lang="en-US" sz="3000" dirty="0"/>
          </a:p>
        </p:txBody>
      </p:sp>
      <p:sp>
        <p:nvSpPr>
          <p:cNvPr id="6" name="Text 3"/>
          <p:cNvSpPr txBox="1"/>
          <p:nvPr/>
        </p:nvSpPr>
        <p:spPr>
          <a:xfrm>
            <a:off x="1554480" y="1828800"/>
            <a:ext cx="4480560" cy="1097280"/>
          </a:xfrm>
          <a:prstGeom prst="rect">
            <a:avLst/>
          </a:prstGeom>
          <a:noFill/>
          <a:ln/>
        </p:spPr>
        <p:txBody>
          <a:bodyPr wrap="square" lIns="0" tIns="0" rIns="0" bIns="0" rtlCol="0" anchor="t"/>
          <a:lstStyle/>
          <a:p>
            <a:pPr marL="0" indent="0">
              <a:buNone/>
            </a:pPr>
            <a:r>
              <a:rPr lang="en-US" sz="2000" b="1" dirty="0">
                <a:solidFill>
                  <a:schemeClr val="tx1"/>
                </a:solidFill>
              </a:rPr>
              <a:t>실험 전후 지표의 상관이 낮으면 효과가 작다</a:t>
            </a:r>
            <a:endParaRPr lang="en-US" sz="1500" dirty="0"/>
          </a:p>
          <a:p>
            <a:pPr marL="0" indent="0">
              <a:buNone/>
            </a:pPr>
            <a:r>
              <a:rPr lang="en-US" sz="1500" dirty="0">
                <a:solidFill>
                  <a:schemeClr val="tx2"/>
                </a:solidFill>
              </a:rPr>
              <a:t>과거·현재 구매액처럼 반복성이 높은 지표에 유리하다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marL="0" indent="0">
              <a:buNone/>
            </a:pPr>
            <a:r>
              <a:rPr lang="en-US" sz="3000" b="1" dirty="0">
                <a:solidFill>
                  <a:schemeClr val="accent4"/>
                </a:solidFill>
              </a:rPr>
              <a:t>02</a:t>
            </a:r>
            <a:endParaRPr lang="en-US" sz="3000" dirty="0"/>
          </a:p>
        </p:txBody>
      </p:sp>
      <p:sp>
        <p:nvSpPr>
          <p:cNvPr id="8" name="Text 5"/>
          <p:cNvSpPr txBox="1"/>
          <p:nvPr/>
        </p:nvSpPr>
        <p:spPr>
          <a:xfrm>
            <a:off x="7132320" y="1828800"/>
            <a:ext cx="4480560" cy="1097280"/>
          </a:xfrm>
          <a:prstGeom prst="rect">
            <a:avLst/>
          </a:prstGeom>
          <a:noFill/>
          <a:ln/>
        </p:spPr>
        <p:txBody>
          <a:bodyPr wrap="square" lIns="0" tIns="0" rIns="0" bIns="0" rtlCol="0" anchor="t"/>
          <a:lstStyle/>
          <a:p>
            <a:pPr marL="0" indent="0">
              <a:buNone/>
            </a:pPr>
            <a:r>
              <a:rPr lang="en-US" sz="2000" b="1" dirty="0">
                <a:solidFill>
                  <a:schemeClr val="tx1"/>
                </a:solidFill>
              </a:rPr>
              <a:t>처치의 영향을 받지 않은 변수만 쓴다</a:t>
            </a:r>
            <a:endParaRPr lang="en-US" sz="1500" dirty="0"/>
          </a:p>
          <a:p>
            <a:pPr marL="0" indent="0">
              <a:buNone/>
            </a:pPr>
            <a:r>
              <a:rPr lang="en-US" sz="1500" dirty="0">
                <a:solidFill>
                  <a:schemeClr val="tx2"/>
                </a:solidFill>
              </a:rPr>
              <a:t>실험 후에 정해진 값을 넣으면 편향이 생긴다</a:t>
            </a:r>
            <a:endParaRPr lang="en-US" sz="1500" dirty="0"/>
          </a:p>
        </p:txBody>
      </p:sp>
      <p:sp>
        <p:nvSpPr>
          <p:cNvPr id="9" name="Text 6"/>
          <p:cNvSpPr txBox="1"/>
          <p:nvPr/>
        </p:nvSpPr>
        <p:spPr>
          <a:xfrm>
            <a:off x="640080" y="3017520"/>
            <a:ext cx="822960" cy="548640"/>
          </a:xfrm>
          <a:prstGeom prst="rect">
            <a:avLst/>
          </a:prstGeom>
          <a:noFill/>
          <a:ln/>
        </p:spPr>
        <p:txBody>
          <a:bodyPr wrap="square" lIns="0" tIns="0" rIns="0" bIns="0" rtlCol="0" anchor="t"/>
          <a:lstStyle/>
          <a:p>
            <a:pPr marL="0" indent="0">
              <a:buNone/>
            </a:pPr>
            <a:r>
              <a:rPr lang="en-US" sz="3000" b="1" dirty="0">
                <a:solidFill>
                  <a:schemeClr val="accent4"/>
                </a:solidFill>
              </a:rPr>
              <a:t>03</a:t>
            </a:r>
            <a:endParaRPr lang="en-US" sz="3000" dirty="0"/>
          </a:p>
        </p:txBody>
      </p:sp>
      <p:sp>
        <p:nvSpPr>
          <p:cNvPr id="10" name="Text 7"/>
          <p:cNvSpPr txBox="1"/>
          <p:nvPr/>
        </p:nvSpPr>
        <p:spPr>
          <a:xfrm>
            <a:off x="1554480" y="3063240"/>
            <a:ext cx="4480560" cy="1097280"/>
          </a:xfrm>
          <a:prstGeom prst="rect">
            <a:avLst/>
          </a:prstGeom>
          <a:noFill/>
          <a:ln/>
        </p:spPr>
        <p:txBody>
          <a:bodyPr wrap="square" lIns="0" tIns="0" rIns="0" bIns="0" rtlCol="0" anchor="t"/>
          <a:lstStyle/>
          <a:p>
            <a:pPr marL="0" indent="0">
              <a:buNone/>
            </a:pPr>
            <a:r>
              <a:rPr lang="en-US" sz="2000" b="1" dirty="0">
                <a:solidFill>
                  <a:schemeClr val="tx1"/>
                </a:solidFill>
              </a:rPr>
              <a:t>신규 사용자는 실험 전 데이터가 없다</a:t>
            </a:r>
            <a:endParaRPr lang="en-US" sz="1500" dirty="0"/>
          </a:p>
          <a:p>
            <a:pPr marL="0" indent="0">
              <a:buNone/>
            </a:pPr>
            <a:r>
              <a:rPr lang="en-US" sz="1500" dirty="0">
                <a:solidFill>
                  <a:schemeClr val="tx2"/>
                </a:solidFill>
              </a:rPr>
              <a:t>신규 비중이 높으면 결측 처리나 별도 설계가 필요하다</a:t>
            </a:r>
            <a:endParaRPr lang="en-US" sz="1500" dirty="0"/>
          </a:p>
        </p:txBody>
      </p:sp>
      <p:sp>
        <p:nvSpPr>
          <p:cNvPr id="11" name="Text 8"/>
          <p:cNvSpPr txBox="1"/>
          <p:nvPr/>
        </p:nvSpPr>
        <p:spPr>
          <a:xfrm>
            <a:off x="6217920" y="3017520"/>
            <a:ext cx="822960" cy="548640"/>
          </a:xfrm>
          <a:prstGeom prst="rect">
            <a:avLst/>
          </a:prstGeom>
          <a:noFill/>
          <a:ln/>
        </p:spPr>
        <p:txBody>
          <a:bodyPr wrap="square" lIns="0" tIns="0" rIns="0" bIns="0" rtlCol="0" anchor="t"/>
          <a:lstStyle/>
          <a:p>
            <a:pPr marL="0" indent="0">
              <a:buNone/>
            </a:pPr>
            <a:r>
              <a:rPr lang="en-US" sz="3000" b="1" dirty="0">
                <a:solidFill>
                  <a:schemeClr val="accent4"/>
                </a:solidFill>
              </a:rPr>
              <a:t>04</a:t>
            </a:r>
            <a:endParaRPr lang="en-US" sz="3000" dirty="0"/>
          </a:p>
        </p:txBody>
      </p:sp>
      <p:sp>
        <p:nvSpPr>
          <p:cNvPr id="12" name="Text 9"/>
          <p:cNvSpPr txBox="1"/>
          <p:nvPr/>
        </p:nvSpPr>
        <p:spPr>
          <a:xfrm>
            <a:off x="7132320" y="3063240"/>
            <a:ext cx="4480560" cy="1097280"/>
          </a:xfrm>
          <a:prstGeom prst="rect">
            <a:avLst/>
          </a:prstGeom>
          <a:noFill/>
          <a:ln/>
        </p:spPr>
        <p:txBody>
          <a:bodyPr wrap="square" lIns="0" tIns="0" rIns="0" bIns="0" rtlCol="0" anchor="t"/>
          <a:lstStyle/>
          <a:p>
            <a:pPr marL="0" indent="0">
              <a:buNone/>
            </a:pPr>
            <a:r>
              <a:rPr lang="en-US" sz="2000" b="1" dirty="0">
                <a:solidFill>
                  <a:schemeClr val="tx1"/>
                </a:solidFill>
              </a:rPr>
              <a:t>잘못된 설계를 고쳐주지 않는다</a:t>
            </a:r>
            <a:endParaRPr lang="en-US" sz="1500" dirty="0"/>
          </a:p>
          <a:p>
            <a:pPr marL="0" indent="0">
              <a:buNone/>
            </a:pPr>
            <a:r>
              <a:rPr lang="en-US" sz="1500" dirty="0">
                <a:solidFill>
                  <a:schemeClr val="tx2"/>
                </a:solidFill>
              </a:rPr>
              <a:t>배정·로깅·SRM 문제가 있는 실험에 써도 결과를 믿을 수 없다</a:t>
            </a:r>
            <a:endParaRPr lang="en-US" sz="1500" dirty="0"/>
          </a:p>
        </p:txBody>
      </p:sp>
      <p:sp>
        <p:nvSpPr>
          <p:cNvPr id="13" name="Text 10"/>
          <p:cNvSpPr txBox="1"/>
          <p:nvPr/>
        </p:nvSpPr>
        <p:spPr>
          <a:xfrm>
            <a:off x="640080" y="4434840"/>
            <a:ext cx="10911535" cy="731520"/>
          </a:xfrm>
          <a:prstGeom prst="rect">
            <a:avLst/>
          </a:prstGeom>
          <a:noFill/>
          <a:ln/>
        </p:spPr>
        <p:txBody>
          <a:bodyPr wrap="square" lIns="0" tIns="0" rIns="0" bIns="0" rtlCol="0" anchor="t"/>
          <a:lstStyle/>
          <a:p>
            <a:pPr marL="0" indent="0">
              <a:buNone/>
            </a:pPr>
            <a:r>
              <a:rPr lang="en-US" sz="1500" b="1" dirty="0">
                <a:solidFill>
                  <a:schemeClr val="accent1"/>
                </a:solidFill>
              </a:rPr>
              <a:t>CUPED가 하는 일  </a:t>
            </a:r>
            <a:r>
              <a:rPr lang="en-US" sz="1500" dirty="0">
                <a:solidFill>
                  <a:schemeClr val="tx1"/>
                </a:solidFill>
              </a:rPr>
              <a:t>효과는 그대로, 신뢰구간만 좁힌다 → 더 작은 효과 탐지, 더 적은 표본·짧은 기간</a:t>
            </a:r>
            <a:endParaRPr lang="en-US" sz="1500" dirty="0"/>
          </a:p>
        </p:txBody>
      </p:sp>
      <p:sp>
        <p:nvSpPr>
          <p:cNvPr id="14" name="Text 11"/>
          <p:cNvSpPr txBox="1"/>
          <p:nvPr/>
        </p:nvSpPr>
        <p:spPr>
          <a:xfrm>
            <a:off x="640080" y="589788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위키 09편 1.5 · 출처: Deng et al. (2013),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Ch3 · 다중검정 문제</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지표 20개를 보면 하나쯤은 우연히 걸린다</a:t>
            </a:r>
            <a:endParaRPr lang="en-US" sz="2000" dirty="0"/>
          </a:p>
        </p:txBody>
      </p:sp>
      <p:graphicFrame>
        <p:nvGraphicFramePr>
          <p:cNvPr id="5" name="Chart 0"/>
          <p:cNvGraphicFramePr/>
          <p:nvPr/>
        </p:nvGraphicFramePr>
        <p:xfrm>
          <a:off x="640080" y="1737360"/>
          <a:ext cx="621792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marL="0" indent="0">
              <a:buNone/>
            </a:pPr>
            <a:r>
              <a:rPr lang="en-US" sz="5400" b="1" dirty="0">
                <a:solidFill>
                  <a:schemeClr val="accent4"/>
                </a:solidFill>
              </a:rPr>
              <a:t>64%</a:t>
            </a:r>
            <a:endParaRPr lang="en-US" sz="1500" dirty="0"/>
          </a:p>
          <a:p>
            <a:pPr marL="0" indent="0">
              <a:spcAft>
                <a:spcPts val="1600"/>
              </a:spcAft>
              <a:buNone/>
            </a:pPr>
            <a:r>
              <a:rPr lang="en-US" sz="1500" dirty="0">
                <a:solidFill>
                  <a:schemeClr val="tx2"/>
                </a:solidFill>
              </a:rPr>
              <a:t>지표 20개, α 5%일 때</a:t>
            </a:r>
            <a:endParaRPr lang="en-US" sz="1500" dirty="0"/>
          </a:p>
          <a:p>
            <a:pPr marL="0" indent="0">
              <a:buNone/>
            </a:pPr>
            <a:r>
              <a:rPr lang="en-US" sz="1500" b="1" dirty="0">
                <a:solidFill>
                  <a:schemeClr val="tx1"/>
                </a:solidFill>
              </a:rPr>
              <a:t>1순위 처방</a:t>
            </a:r>
            <a:endParaRPr lang="en-US" sz="1500" dirty="0"/>
          </a:p>
          <a:p>
            <a:pPr marL="0" indent="0">
              <a:spcAft>
                <a:spcPts val="1000"/>
              </a:spcAft>
              <a:buNone/>
            </a:pPr>
            <a:r>
              <a:rPr lang="en-US" sz="1500" dirty="0">
                <a:solidFill>
                  <a:schemeClr val="tx2"/>
                </a:solidFill>
              </a:rPr>
              <a:t>Primary 지표를 실험 전에 하나로 정한다</a:t>
            </a:r>
            <a:endParaRPr lang="en-US" sz="1500" dirty="0"/>
          </a:p>
          <a:p>
            <a:pPr marL="0" indent="0">
              <a:buNone/>
            </a:pPr>
            <a:r>
              <a:rPr lang="en-US" sz="1500" b="1" dirty="0">
                <a:solidFill>
                  <a:schemeClr val="tx1"/>
                </a:solidFill>
              </a:rPr>
              <a:t>Bonferroni</a:t>
            </a:r>
            <a:endParaRPr lang="en-US" sz="1500" dirty="0"/>
          </a:p>
          <a:p>
            <a:pPr marL="0" indent="0">
              <a:spcAft>
                <a:spcPts val="1000"/>
              </a:spcAft>
              <a:buNone/>
            </a:pPr>
            <a:r>
              <a:rPr lang="en-US" sz="1500" dirty="0">
                <a:solidFill>
                  <a:schemeClr val="tx2"/>
                </a:solidFill>
              </a:rPr>
              <a:t>α/m. 하나라도 거짓 양성이 날 확률(FWER)을 막는다. 소수의 중요한 가설에</a:t>
            </a:r>
            <a:endParaRPr lang="en-US" sz="1500" dirty="0"/>
          </a:p>
          <a:p>
            <a:pPr marL="0" indent="0">
              <a:buNone/>
            </a:pPr>
            <a:r>
              <a:rPr lang="en-US" sz="1500" b="1" dirty="0">
                <a:solidFill>
                  <a:schemeClr val="tx1"/>
                </a:solidFill>
              </a:rPr>
              <a:t>Benjamini-Hochberg</a:t>
            </a:r>
            <a:endParaRPr lang="en-US" sz="1500" dirty="0"/>
          </a:p>
          <a:p>
            <a:pPr marL="0" indent="0">
              <a:buNone/>
            </a:pPr>
            <a:r>
              <a:rPr lang="en-US" sz="1500" dirty="0">
                <a:solidFill>
                  <a:schemeClr val="tx2"/>
                </a:solidFill>
              </a:rPr>
              <a:t>발견 중 거짓 비율(FDR)을 통제한다. 검정력이 더 높아 많은 지표를 탐색할 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Ch3 · Peeking Problem</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매일 들여다보고 멈추면 헛배포가 4배로 는다</a:t>
            </a:r>
            <a:endParaRPr lang="en-US" sz="2000" dirty="0"/>
          </a:p>
        </p:txBody>
      </p:sp>
      <p:graphicFrame>
        <p:nvGraphicFramePr>
          <p:cNvPr id="5" name="Chart 0"/>
          <p:cNvGraphicFramePr/>
          <p:nvPr/>
        </p:nvGraphicFramePr>
        <p:xfrm>
          <a:off x="640080" y="1737360"/>
          <a:ext cx="69494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marL="0" indent="0">
              <a:buNone/>
            </a:pPr>
            <a:r>
              <a:rPr lang="en-US" sz="5400" b="1" dirty="0">
                <a:solidFill>
                  <a:schemeClr val="accent4"/>
                </a:solidFill>
              </a:rPr>
              <a:t>21.5%</a:t>
            </a:r>
            <a:endParaRPr lang="en-US" sz="1500" dirty="0"/>
          </a:p>
          <a:p>
            <a:pPr marL="0" indent="0">
              <a:spcAft>
                <a:spcPts val="1600"/>
              </a:spcAft>
              <a:buNone/>
            </a:pPr>
            <a:r>
              <a:rPr lang="en-US" sz="1500" dirty="0">
                <a:solidFill>
                  <a:schemeClr val="tx2"/>
                </a:solidFill>
              </a:rPr>
              <a:t>매일 확인할 때 14일 누적 거짓 양성 (마지막 날만 보면 5.2%)</a:t>
            </a:r>
            <a:endParaRPr lang="en-US" sz="1500" dirty="0"/>
          </a:p>
          <a:p>
            <a:pPr marL="0" indent="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Ch3 · Novelty Effect / Primacy Effect</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초반 반응은 오래 가지 않을 수 있다</a:t>
            </a:r>
            <a:endParaRPr lang="en-US" sz="2000" dirty="0"/>
          </a:p>
        </p:txBody>
      </p:sp>
      <p:graphicFrame>
        <p:nvGraphicFramePr>
          <p:cNvPr id="5" name="Chart 0"/>
          <p:cNvGraphicFramePr/>
          <p:nvPr/>
        </p:nvGraphicFramePr>
        <p:xfrm>
          <a:off x="640080" y="1737360"/>
          <a:ext cx="69494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marL="0" indent="0">
              <a:buNone/>
            </a:pPr>
            <a:r>
              <a:rPr lang="en-US" sz="2000" b="1" dirty="0">
                <a:solidFill>
                  <a:schemeClr val="accent1"/>
                </a:solidFill>
              </a:rPr>
              <a:t>신규성 효과</a:t>
            </a:r>
            <a:endParaRPr lang="en-US" sz="1500" dirty="0"/>
          </a:p>
          <a:p>
            <a:pPr marL="0" indent="0">
              <a:spcAft>
                <a:spcPts val="1400"/>
              </a:spcAft>
              <a:buNone/>
            </a:pPr>
            <a:r>
              <a:rPr lang="en-US" sz="1500" dirty="0">
                <a:solidFill>
                  <a:schemeClr val="tx2"/>
                </a:solidFill>
              </a:rPr>
              <a:t>초반 효과가 과대평가된다</a:t>
            </a:r>
            <a:endParaRPr lang="en-US" sz="1500" dirty="0"/>
          </a:p>
          <a:p>
            <a:pPr marL="0" indent="0">
              <a:buNone/>
            </a:pPr>
            <a:r>
              <a:rPr lang="en-US" sz="2000" b="1" dirty="0">
                <a:solidFill>
                  <a:schemeClr val="accent5"/>
                </a:solidFill>
              </a:rPr>
              <a:t>초두(학습) 효과</a:t>
            </a:r>
            <a:endParaRPr lang="en-US" sz="1500" dirty="0"/>
          </a:p>
          <a:p>
            <a:pPr marL="0" indent="0">
              <a:spcAft>
                <a:spcPts val="1400"/>
              </a:spcAft>
              <a:buNone/>
            </a:pPr>
            <a:r>
              <a:rPr lang="en-US" sz="1500" dirty="0">
                <a:solidFill>
                  <a:schemeClr val="tx2"/>
                </a:solidFill>
              </a:rPr>
              <a:t>초반 효과가 과소평가된다</a:t>
            </a:r>
            <a:endParaRPr lang="en-US" sz="1500" dirty="0"/>
          </a:p>
          <a:p>
            <a:pPr marL="0" indent="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Ch3 · 반복 노출</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rPr>
              <a:t>실험 시작 후 일차별로 본다</a:t>
            </a:r>
            <a:endParaRPr lang="en-US" sz="1500" dirty="0"/>
          </a:p>
          <a:p>
            <a:pPr marL="0" indent="0">
              <a:spcAft>
                <a:spcPts val="800"/>
              </a:spcAft>
              <a:buNone/>
            </a:pPr>
            <a:r>
              <a:rPr lang="en-US" sz="1500" dirty="0">
                <a:solidFill>
                  <a:schemeClr val="tx1"/>
                </a:solidFill>
              </a:rPr>
              <a:t>전체 평균 하나 대신 1~3일차, 4~7일차, 8~14일차 추이를 함께 본다</a:t>
            </a:r>
            <a:endParaRPr lang="en-US" sz="1500" dirty="0"/>
          </a:p>
          <a:p>
            <a:pPr marL="0" indent="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marL="0" indent="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rPr>
              <a:t>노출 횟수별로 쪼개지 않는다</a:t>
            </a:r>
            <a:endParaRPr lang="en-US" sz="1500" dirty="0"/>
          </a:p>
          <a:p>
            <a:pPr marL="0" indent="0">
              <a:spcAft>
                <a:spcPts val="800"/>
              </a:spcAft>
              <a:buNone/>
            </a:pPr>
            <a:r>
              <a:rPr lang="en-US" sz="1500" dirty="0">
                <a:solidFill>
                  <a:schemeClr val="tx1"/>
                </a:solidFill>
              </a:rPr>
              <a:t>5회 노출자 vs 1회 노출자는 처치 효과가 아니다</a:t>
            </a:r>
            <a:endParaRPr lang="en-US" sz="1500" dirty="0"/>
          </a:p>
          <a:p>
            <a:pPr marL="0" indent="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marL="0" indent="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rPr>
              <a:t>배정과 노출을 따로 기록한다</a:t>
            </a:r>
            <a:endParaRPr lang="en-US" sz="1500" dirty="0"/>
          </a:p>
          <a:p>
            <a:pPr marL="0" indent="0">
              <a:spcAft>
                <a:spcPts val="800"/>
              </a:spcAft>
              <a:buNone/>
            </a:pPr>
            <a:r>
              <a:rPr lang="en-US" sz="1500" dirty="0">
                <a:solidFill>
                  <a:schemeClr val="tx1"/>
                </a:solidFill>
              </a:rPr>
              <a:t>Assignment(어느 그룹) vs Exposure(실제로 봤나)</a:t>
            </a:r>
            <a:endParaRPr lang="en-US" sz="1500" dirty="0"/>
          </a:p>
          <a:p>
            <a:pPr marL="0" indent="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marL="0" indent="0">
              <a:buNone/>
            </a:pPr>
            <a:r>
              <a:rPr lang="en-US" sz="1500" b="1" dirty="0">
                <a:solidFill>
                  <a:schemeClr val="accent1"/>
                </a:solidFill>
              </a:rPr>
              <a:t>실무에서 이렇게 말한다  </a:t>
            </a: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371600"/>
            <a:ext cx="3657600" cy="1463040"/>
          </a:xfrm>
          <a:prstGeom prst="rect">
            <a:avLst/>
          </a:prstGeom>
          <a:noFill/>
          <a:ln/>
        </p:spPr>
        <p:txBody>
          <a:bodyPr wrap="square" lIns="0" tIns="0" rIns="0" bIns="0" rtlCol="0" anchor="b"/>
          <a:lstStyle/>
          <a:p>
            <a:pPr marL="0" indent="0" algn="l">
              <a:buNone/>
            </a:pPr>
            <a:r>
              <a:rPr lang="en-US" sz="9600" b="1" dirty="0">
                <a:solidFill>
                  <a:srgbClr val="7B93FF"/>
                </a:solidFill>
              </a:rPr>
              <a:t>04</a:t>
            </a:r>
            <a:endParaRPr lang="en-US" sz="9600" dirty="0"/>
          </a:p>
        </p:txBody>
      </p:sp>
      <p:sp>
        <p:nvSpPr>
          <p:cNvPr id="3" name="Text 0"/>
          <p:cNvSpPr>
            <a:spLocks noGrp="1"/>
          </p:cNvSpPr>
          <p:nvPr>
            <p:ph type="title" idx="101" hasCustomPrompt="1"/>
          </p:nvPr>
        </p:nvSpPr>
        <p:spPr>
          <a:xfrm>
            <a:off x="640080" y="3017520"/>
            <a:ext cx="10058400" cy="914400"/>
          </a:xfrm>
          <a:prstGeom prst="rect">
            <a:avLst/>
          </a:prstGeom>
          <a:noFill/>
          <a:ln/>
        </p:spPr>
        <p:txBody>
          <a:bodyPr wrap="square" lIns="0" tIns="0" rIns="0" bIns="0" rtlCol="0" anchor="t"/>
          <a:lstStyle/>
          <a:p>
            <a:pPr marL="0" indent="0" algn="l">
              <a:buNone/>
            </a:pPr>
            <a:r>
              <a:rPr lang="en-US" sz="4000" b="1" dirty="0">
                <a:solidFill>
                  <a:srgbClr val="FFFFFF"/>
                </a:solidFill>
              </a:rPr>
              <a:t>실무 함정과 고급 설계</a:t>
            </a:r>
            <a:endParaRPr lang="en-US" sz="4000" dirty="0"/>
          </a:p>
        </p:txBody>
      </p:sp>
      <p:sp>
        <p:nvSpPr>
          <p:cNvPr id="4" name="Text 0"/>
          <p:cNvSpPr>
            <a:spLocks noGrp="1"/>
          </p:cNvSpPr>
          <p:nvPr>
            <p:ph type="body" idx="102" hasCustomPrompt="1"/>
          </p:nvPr>
        </p:nvSpPr>
        <p:spPr>
          <a:xfrm>
            <a:off x="640080" y="4069080"/>
            <a:ext cx="10058400" cy="731520"/>
          </a:xfrm>
          <a:prstGeom prst="rect">
            <a:avLst/>
          </a:prstGeom>
          <a:noFill/>
          <a:ln/>
        </p:spPr>
        <p:txBody>
          <a:bodyPr wrap="square" lIns="0" tIns="0" rIns="0" bIns="0" rtlCol="0" anchor="t"/>
          <a:lstStyle/>
          <a:p>
            <a:pPr marL="0" indent="0" algn="l">
              <a:buNone/>
            </a:pPr>
            <a:r>
              <a:rPr lang="en-US" sz="2000" dirty="0">
                <a:solidFill>
                  <a:srgbClr val="AEB3CC"/>
                </a:solidFill>
              </a:rPr>
              <a:t>개념을 먼저 잡고, 직접 겪는 건 뒤의 함정 세션에서</a:t>
            </a:r>
            <a:endParaRPr lang="en-US" sz="2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Ch4 · 함정 지도</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실무에서 자주 밟는 여섯 가지 함정</a:t>
            </a:r>
            <a:endParaRPr lang="en-US" sz="2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3840480"/>
        </p:xfrm>
        <a:graphic>
          <a:graphicData uri="http://schemas.openxmlformats.org/drawingml/2006/table">
            <a:tbl>
              <a:tblPr/>
              <a:tblGrid>
                <a:gridCol w="292608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3502152">
                  <a:extLst>
                    <a:ext uri="{9D8B030D-6E8A-4147-A177-3AD203B41FA5}">
                      <a16:colId xmlns:a16="http://schemas.microsoft.com/office/drawing/2014/main" val="20002"/>
                    </a:ext>
                  </a:extLst>
                </a:gridCol>
              </a:tblGrid>
              <a:tr h="548640">
                <a:tc>
                  <a:txBody>
                    <a:bodyPr/>
                    <a:lstStyle/>
                    <a:p>
                      <a:pPr marL="0" indent="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548640">
                <a:tc>
                  <a:txBody>
                    <a:bodyPr/>
                    <a:lstStyle/>
                    <a:p>
                      <a:pPr marL="0" indent="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4"/>
                  </a:ext>
                </a:extLst>
              </a:tr>
              <a:tr h="548640">
                <a:tc>
                  <a:txBody>
                    <a:bodyPr/>
                    <a:lstStyle/>
                    <a:p>
                      <a:pPr marL="0" indent="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5"/>
                  </a:ext>
                </a:extLst>
              </a:tr>
              <a:tr h="548640">
                <a:tc>
                  <a:txBody>
                    <a:bodyPr/>
                    <a:lstStyle/>
                    <a:p>
                      <a:pPr marL="0" indent="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Ch4 · Sequential Testing</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marL="0" indent="0">
              <a:buNone/>
            </a:pPr>
            <a:r>
              <a:rPr lang="en-US" sz="2000" b="1" dirty="0">
                <a:solidFill>
                  <a:schemeClr val="tx2"/>
                </a:solidFill>
              </a:rPr>
              <a:t>고정 기간 검정</a:t>
            </a:r>
            <a:endParaRPr lang="en-US" sz="1500" dirty="0"/>
          </a:p>
          <a:p>
            <a:pPr marL="0" indent="0">
              <a:spcAft>
                <a:spcPts val="800"/>
              </a:spcAft>
              <a:buNone/>
            </a:pPr>
            <a:r>
              <a:rPr lang="en-US" sz="1500" dirty="0">
                <a:solidFill>
                  <a:schemeClr val="tx1"/>
                </a:solidFill>
              </a:rPr>
              <a:t>마지막 날 한 번만 본다</a:t>
            </a:r>
            <a:endParaRPr lang="en-US" sz="1500" dirty="0"/>
          </a:p>
          <a:p>
            <a:pPr marL="0" indent="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txBody>
          <a:bodyPr/>
          <a:lstStyle/>
          <a:p>
            <a:endParaRPr lang="ko-KR" altLang="en-US"/>
          </a:p>
        </p:txBody>
      </p:sp>
      <p:sp>
        <p:nvSpPr>
          <p:cNvPr id="7" name="Text 4"/>
          <p:cNvSpPr txBox="1"/>
          <p:nvPr/>
        </p:nvSpPr>
        <p:spPr>
          <a:xfrm>
            <a:off x="6355080" y="1920240"/>
            <a:ext cx="5120640" cy="1645920"/>
          </a:xfrm>
          <a:prstGeom prst="rect">
            <a:avLst/>
          </a:prstGeom>
          <a:noFill/>
          <a:ln/>
        </p:spPr>
        <p:txBody>
          <a:bodyPr wrap="square" lIns="0" tIns="0" rIns="0" bIns="0" rtlCol="0" anchor="t"/>
          <a:lstStyle/>
          <a:p>
            <a:pPr marL="0" indent="0">
              <a:buNone/>
            </a:pPr>
            <a:r>
              <a:rPr lang="en-US" sz="2000" b="1" dirty="0">
                <a:solidFill>
                  <a:schemeClr val="accent1"/>
                </a:solidFill>
              </a:rPr>
              <a:t>Sequential Testing</a:t>
            </a:r>
            <a:endParaRPr lang="en-US" sz="1500" dirty="0"/>
          </a:p>
          <a:p>
            <a:pPr marL="0" indent="0">
              <a:spcAft>
                <a:spcPts val="800"/>
              </a:spcAft>
              <a:buNone/>
            </a:pPr>
            <a:r>
              <a:rPr lang="en-US" sz="1500" dirty="0">
                <a:solidFill>
                  <a:schemeClr val="tx1"/>
                </a:solidFill>
              </a:rPr>
              <a:t>중간 확인을 전제로 기준을 설계한다</a:t>
            </a:r>
            <a:endParaRPr lang="en-US" sz="1500" dirty="0"/>
          </a:p>
          <a:p>
            <a:pPr marL="0" indent="0">
              <a:buNone/>
            </a:pPr>
            <a:r>
              <a:rPr lang="en-US" sz="1500" dirty="0">
                <a:solidFill>
                  <a:schemeClr val="tx2"/>
                </a:solidFill>
              </a:rPr>
              <a:t>언제 멈춰도 α 유지 · 대가로 검정력이 조금 낮다</a:t>
            </a:r>
            <a:endParaRPr lang="en-US" sz="1500" dirty="0"/>
          </a:p>
        </p:txBody>
      </p:sp>
      <p:sp>
        <p:nvSpPr>
          <p:cNvPr id="8" name="Text 5"/>
          <p:cNvSpPr txBox="1"/>
          <p:nvPr/>
        </p:nvSpPr>
        <p:spPr>
          <a:xfrm>
            <a:off x="640080" y="3931920"/>
            <a:ext cx="10911535" cy="548640"/>
          </a:xfrm>
          <a:prstGeom prst="rect">
            <a:avLst/>
          </a:prstGeom>
          <a:noFill/>
          <a:ln/>
        </p:spPr>
        <p:txBody>
          <a:bodyPr wrap="square" lIns="0" tIns="0" rIns="0" bIns="0" rtlCol="0" anchor="t"/>
          <a:lstStyle/>
          <a:p>
            <a:pPr marL="0" indent="0">
              <a:buNone/>
            </a:pPr>
            <a:r>
              <a:rPr lang="en-US" sz="1500" b="1" dirty="0">
                <a:solidFill>
                  <a:schemeClr val="accent1"/>
                </a:solidFill>
              </a:rPr>
              <a:t>실무에서 이렇게 말한다  </a:t>
            </a:r>
            <a:r>
              <a:rPr lang="en-US" sz="1500" dirty="0">
                <a:solidFill>
                  <a:schemeClr val="tx1"/>
                </a:solidFill>
              </a:rPr>
              <a:t>"매일 대시보드는 보되, 결정은 미리 정한 종료일이나 Sequential 기준으로만 합니다"</a:t>
            </a:r>
            <a:endParaRPr lang="en-US" sz="1500" dirty="0"/>
          </a:p>
        </p:txBody>
      </p:sp>
      <p:sp>
        <p:nvSpPr>
          <p:cNvPr id="9" name="Text 6"/>
          <p:cNvSpPr txBox="1"/>
          <p:nvPr/>
        </p:nvSpPr>
        <p:spPr>
          <a:xfrm>
            <a:off x="640080" y="4572000"/>
            <a:ext cx="10911535" cy="1371600"/>
          </a:xfrm>
          <a:prstGeom prst="rect">
            <a:avLst/>
          </a:prstGeom>
          <a:noFill/>
          <a:ln/>
        </p:spPr>
        <p:txBody>
          <a:bodyPr wrap="square" lIns="0" tIns="0" rIns="0" bIns="0" rtlCol="0" anchor="t"/>
          <a:lstStyle/>
          <a:p>
            <a:pPr marL="0" indent="0">
              <a:spcAft>
                <a:spcPts val="600"/>
              </a:spcAft>
              <a:buNone/>
            </a:pPr>
            <a:r>
              <a:rPr lang="en-US" sz="2000" b="1" dirty="0">
                <a:solidFill>
                  <a:schemeClr val="tx1"/>
                </a:solidFill>
              </a:rPr>
              <a:t>'매일 보고 마음대로 멈추기'가 아니다</a:t>
            </a:r>
            <a:endParaRPr lang="en-US" sz="1500" dirty="0"/>
          </a:p>
          <a:p>
            <a:pPr marL="342900" indent="-342900">
              <a:spcAft>
                <a:spcPts val="400"/>
              </a:spcAft>
              <a:buSzPct val="100000"/>
              <a:buChar char="•"/>
            </a:pPr>
            <a:r>
              <a:rPr lang="en-US" sz="1500" dirty="0">
                <a:solidFill>
                  <a:schemeClr val="tx1"/>
                </a:solidFill>
              </a:rPr>
              <a:t>방법: Alpha Spending, Group Sequential Test, Always-Valid p-value</a:t>
            </a:r>
            <a:endParaRPr lang="en-US" sz="1500" dirty="0"/>
          </a:p>
          <a:p>
            <a:pPr marL="342900" indent="-342900">
              <a:spcAft>
                <a:spcPts val="400"/>
              </a:spcAft>
              <a:buSzPct val="100000"/>
              <a:buChar char="•"/>
            </a:pPr>
            <a:r>
              <a:rPr lang="en-US" sz="1500" dirty="0">
                <a:solidFill>
                  <a:schemeClr val="tx1"/>
                </a:solidFill>
              </a:rPr>
              <a:t>중간에 Sequential로 갈아타지 않는다 · 중단 규칙은 실험 전에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Ch4 · 심슨의 역설</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세그먼트마다 이기는데 전체로는 진다</a:t>
            </a:r>
            <a:endParaRPr lang="en-US" sz="2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2377440"/>
        </p:xfrm>
        <a:graphic>
          <a:graphicData uri="http://schemas.openxmlformats.org/drawingml/2006/table">
            <a:tbl>
              <a:tblPr/>
              <a:tblGrid>
                <a:gridCol w="17373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594360">
                <a:tc>
                  <a:txBody>
                    <a:bodyPr/>
                    <a:lstStyle/>
                    <a:p>
                      <a:pPr marL="0" indent="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594360">
                <a:tc>
                  <a:txBody>
                    <a:bodyPr/>
                    <a:lstStyle/>
                    <a:p>
                      <a:pPr marL="0" indent="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594360">
                <a:tc>
                  <a:txBody>
                    <a:bodyPr/>
                    <a:lstStyle/>
                    <a:p>
                      <a:pPr marL="0" indent="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594360">
                <a:tc>
                  <a:txBody>
                    <a:bodyPr/>
                    <a:lstStyle/>
                    <a:p>
                      <a:pPr marL="0" indent="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marL="0" indent="0">
              <a:buNone/>
            </a:pPr>
            <a:r>
              <a:rPr lang="en-US" sz="2000" b="1" dirty="0">
                <a:solidFill>
                  <a:schemeClr val="tx1"/>
                </a:solidFill>
              </a:rPr>
              <a:t>왜 뒤집히나</a:t>
            </a:r>
            <a:endParaRPr lang="en-US" sz="1500" dirty="0"/>
          </a:p>
          <a:p>
            <a:pPr marL="0" indent="0">
              <a:spcAft>
                <a:spcPts val="1400"/>
              </a:spcAft>
              <a:buNone/>
            </a:pPr>
            <a:r>
              <a:rPr lang="en-US" sz="1500" dirty="0">
                <a:solidFill>
                  <a:schemeClr val="tx2"/>
                </a:solidFill>
              </a:rPr>
              <a:t>전환율 낮은 모바일이 B 80%, A 20%</a:t>
            </a:r>
            <a:endParaRPr lang="en-US" sz="1500" dirty="0"/>
          </a:p>
          <a:p>
            <a:pPr marL="0" indent="0">
              <a:buNone/>
            </a:pPr>
            <a:r>
              <a:rPr lang="en-US" sz="2000" b="1" dirty="0">
                <a:solidFill>
                  <a:schemeClr val="tx1"/>
                </a:solidFill>
              </a:rPr>
              <a:t>실험이라면</a:t>
            </a:r>
            <a:endParaRPr lang="en-US" sz="1500" dirty="0"/>
          </a:p>
          <a:p>
            <a:pPr marL="0" indent="0">
              <a:buNone/>
            </a:pPr>
            <a:r>
              <a:rPr lang="en-US" sz="1500" dirty="0">
                <a:solidFill>
                  <a:schemeClr val="tx2"/>
                </a:solidFill>
              </a:rPr>
              <a:t>그룹 구성이 다르다 = 배정 문제 신호 · 램프업 중 비율 변경에서도 생김</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Ch4 · Sample Ratio Mismatch</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marL="0" indent="0">
              <a:buNone/>
            </a:pPr>
            <a:r>
              <a:rPr lang="en-US" sz="5400" b="1" dirty="0">
                <a:solidFill>
                  <a:schemeClr val="accent1"/>
                </a:solidFill>
              </a:rPr>
              <a:t>50,000</a:t>
            </a:r>
            <a:r>
              <a:rPr lang="en-US" sz="5400" b="1" dirty="0">
                <a:solidFill>
                  <a:schemeClr val="accent6"/>
                </a:solidFill>
              </a:rPr>
              <a:t>  vs  </a:t>
            </a: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marL="0" indent="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marL="0" indent="0">
              <a:buNone/>
            </a:pPr>
            <a:r>
              <a:rPr lang="en-US" sz="2000" b="1" dirty="0">
                <a:solidFill>
                  <a:schemeClr val="accent4"/>
                </a:solidFill>
              </a:rPr>
              <a:t>χ² = 14.6,  p ≈ 0.0001</a:t>
            </a: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marL="0" indent="0">
              <a:buNone/>
            </a:pPr>
            <a:r>
              <a:rPr lang="en-US" sz="2000" b="1" dirty="0">
                <a:solidFill>
                  <a:schemeClr val="accent4"/>
                </a:solidFill>
              </a:rPr>
              <a:t>SRM이면 결과 해석 금지. </a:t>
            </a:r>
            <a:r>
              <a:rPr lang="en-US" sz="2000" dirty="0">
                <a:solidFill>
                  <a:schemeClr val="tx1"/>
                </a:solidFill>
              </a:rPr>
              <a:t>원인을 고치고 다시 돌립니다</a:t>
            </a:r>
            <a:endParaRPr lang="en-US" sz="2000" dirty="0"/>
          </a:p>
        </p:txBody>
      </p:sp>
      <p:sp>
        <p:nvSpPr>
          <p:cNvPr id="9" name="Text 6"/>
          <p:cNvSpPr txBox="1"/>
          <p:nvPr/>
        </p:nvSpPr>
        <p:spPr>
          <a:xfrm>
            <a:off x="7498080" y="1920240"/>
            <a:ext cx="4069080" cy="3017520"/>
          </a:xfrm>
          <a:prstGeom prst="rect">
            <a:avLst/>
          </a:prstGeom>
          <a:noFill/>
          <a:ln/>
        </p:spPr>
        <p:txBody>
          <a:bodyPr wrap="square" lIns="0" tIns="0" rIns="0" bIns="0" rtlCol="0" anchor="t"/>
          <a:lstStyle/>
          <a:p>
            <a:pPr marL="0" indent="0">
              <a:spcAft>
                <a:spcPts val="600"/>
              </a:spcAft>
              <a:buNone/>
            </a:pPr>
            <a:r>
              <a:rPr lang="en-US" sz="2000" b="1" dirty="0">
                <a:solidFill>
                  <a:schemeClr val="tx1"/>
                </a:solidFill>
              </a:rPr>
              <a:t>어디서든 생긴다</a:t>
            </a:r>
            <a:endParaRPr lang="en-US" sz="1500" dirty="0"/>
          </a:p>
          <a:p>
            <a:pPr marL="0" indent="0">
              <a:buNone/>
            </a:pPr>
            <a:r>
              <a:rPr lang="en-US" sz="1500" b="1" dirty="0">
                <a:solidFill>
                  <a:schemeClr val="tx1"/>
                </a:solidFill>
              </a:rPr>
              <a:t>배정  </a:t>
            </a:r>
            <a:r>
              <a:rPr lang="en-US" sz="1500" dirty="0">
                <a:solidFill>
                  <a:schemeClr val="tx1"/>
                </a:solidFill>
              </a:rPr>
              <a:t>해시·버킷 로직, 비율 설정 오류</a:t>
            </a:r>
            <a:endParaRPr lang="en-US" sz="1500" dirty="0"/>
          </a:p>
          <a:p>
            <a:pPr marL="0" indent="0">
              <a:buNone/>
            </a:pPr>
            <a:r>
              <a:rPr lang="en-US" sz="1500" b="1" dirty="0">
                <a:solidFill>
                  <a:schemeClr val="tx1"/>
                </a:solidFill>
              </a:rPr>
              <a:t>노출  </a:t>
            </a:r>
            <a:r>
              <a:rPr lang="en-US" sz="1500" dirty="0">
                <a:solidFill>
                  <a:schemeClr val="tx1"/>
                </a:solidFill>
              </a:rPr>
              <a:t>특정 기기·브라우저에서 B가 안 뜸</a:t>
            </a:r>
            <a:endParaRPr lang="en-US" sz="1500" dirty="0"/>
          </a:p>
          <a:p>
            <a:pPr marL="0" indent="0">
              <a:buNone/>
            </a:pPr>
            <a:r>
              <a:rPr lang="en-US" sz="1500" b="1" dirty="0">
                <a:solidFill>
                  <a:schemeClr val="tx1"/>
                </a:solidFill>
              </a:rPr>
              <a:t>로깅  </a:t>
            </a:r>
            <a:r>
              <a:rPr lang="en-US" sz="1500" dirty="0">
                <a:solidFill>
                  <a:schemeClr val="tx1"/>
                </a:solidFill>
              </a:rPr>
              <a:t>한 Variant의 이벤트 누락</a:t>
            </a:r>
            <a:endParaRPr lang="en-US" sz="1500" dirty="0"/>
          </a:p>
          <a:p>
            <a:pPr marL="0" indent="0">
              <a:buNone/>
            </a:pPr>
            <a:r>
              <a:rPr lang="en-US" sz="1500" b="1" dirty="0">
                <a:solidFill>
                  <a:schemeClr val="tx1"/>
                </a:solidFill>
              </a:rPr>
              <a:t>데이터 처리  </a:t>
            </a:r>
            <a:r>
              <a:rPr lang="en-US" sz="1500" dirty="0">
                <a:solidFill>
                  <a:schemeClr val="tx1"/>
                </a:solidFill>
              </a:rPr>
              <a:t>Join·ETL·필터에서 한쪽이 더 빠짐</a:t>
            </a:r>
            <a:endParaRPr lang="en-US" sz="1500" dirty="0"/>
          </a:p>
          <a:p>
            <a:pPr marL="0" indent="0">
              <a:buNone/>
            </a:pPr>
            <a:r>
              <a:rPr lang="en-US" sz="1500" b="1" dirty="0">
                <a:solidFill>
                  <a:schemeClr val="tx1"/>
                </a:solidFill>
              </a:rPr>
              <a:t>분석  </a:t>
            </a:r>
            <a:r>
              <a:rPr lang="en-US" sz="1500" dirty="0">
                <a:solidFill>
                  <a:schemeClr val="tx1"/>
                </a:solidFill>
              </a:rPr>
              <a:t>결과를 보고 특정 사용자만 제거</a:t>
            </a:r>
            <a:endParaRPr lang="en-US" sz="1500" dirty="0"/>
          </a:p>
        </p:txBody>
      </p:sp>
      <p:sp>
        <p:nvSpPr>
          <p:cNvPr id="10" name="Text 7"/>
          <p:cNvSpPr txBox="1"/>
          <p:nvPr/>
        </p:nvSpPr>
        <p:spPr>
          <a:xfrm>
            <a:off x="640080" y="4983480"/>
            <a:ext cx="10911535" cy="640080"/>
          </a:xfrm>
          <a:prstGeom prst="rect">
            <a:avLst/>
          </a:prstGeom>
          <a:noFill/>
          <a:ln/>
        </p:spPr>
        <p:txBody>
          <a:bodyPr wrap="square" lIns="0" tIns="0" rIns="0" bIns="0" rtlCol="0" anchor="t"/>
          <a:lstStyle/>
          <a:p>
            <a:pPr marL="0" indent="0">
              <a:buNone/>
            </a:pPr>
            <a:r>
              <a:rPr lang="en-US" sz="1500" b="1" dirty="0">
                <a:solidFill>
                  <a:schemeClr val="accent1"/>
                </a:solidFill>
              </a:rPr>
              <a:t>점검 요령  </a:t>
            </a:r>
            <a:r>
              <a:rPr lang="en-US" sz="1500" dirty="0">
                <a:solidFill>
                  <a:schemeClr val="tx1"/>
                </a:solidFill>
              </a:rPr>
              <a:t>배정 단위로 센다(사용자 배정 → 고유 사용자 수) · 기기·브라우저·날짜·국가·유입 채널로 쪼개 원인 찾기</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marL="0" indent="0">
              <a:buNone/>
            </a:pPr>
            <a:r>
              <a:rPr lang="en-US" sz="1400" dirty="0">
                <a:solidFill>
                  <a:schemeClr val="tx2"/>
                </a:solidFill>
              </a:rPr>
              <a:t>SRM = 결과 지표가 아니라 신뢰성 지표(Trustworthiness Metric) · 핵심은 인원수가 아니라 누가 빠졌는지 모른다는 것</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Ch4 · 그 밖의 오염 신호</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marL="0" indent="0">
              <a:buNone/>
            </a:pPr>
            <a:r>
              <a:rPr lang="en-US" sz="2000" b="1" dirty="0">
                <a:solidFill>
                  <a:schemeClr val="tx1"/>
                </a:solidFill>
              </a:rPr>
              <a:t>Survivorship Bias</a:t>
            </a:r>
            <a:endParaRPr lang="en-US" sz="1500" dirty="0"/>
          </a:p>
          <a:p>
            <a:pPr marL="0" indent="0">
              <a:spcAft>
                <a:spcPts val="1000"/>
              </a:spcAft>
              <a:buNone/>
            </a:pPr>
            <a:r>
              <a:rPr lang="en-US" sz="1500" dirty="0">
                <a:solidFill>
                  <a:schemeClr val="accent1"/>
                </a:solidFill>
              </a:rPr>
              <a:t>남은 사람만 본다</a:t>
            </a:r>
            <a:endParaRPr lang="en-US" sz="1500" dirty="0"/>
          </a:p>
          <a:p>
            <a:pPr marL="0" indent="0">
              <a:buNone/>
            </a:pPr>
            <a:r>
              <a:rPr lang="en-US" sz="1500" dirty="0">
                <a:solidFill>
                  <a:schemeClr val="tx2"/>
                </a:solidFill>
              </a:rPr>
              <a:t>B 화면이 일부 환경에서 느려 이탈한 사용자가 노출 로그에서 빠지면, 남은 사용자만 비교해 B가 좋아 보인다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marL="0" indent="0">
              <a:buNone/>
            </a:pPr>
            <a:r>
              <a:rPr lang="en-US" sz="2000" b="1" dirty="0">
                <a:solidFill>
                  <a:schemeClr val="tx1"/>
                </a:solidFill>
              </a:rPr>
              <a:t>Network Effect · Spillover</a:t>
            </a:r>
            <a:endParaRPr lang="en-US" sz="1500" dirty="0"/>
          </a:p>
          <a:p>
            <a:pPr marL="0" indent="0">
              <a:spcAft>
                <a:spcPts val="1000"/>
              </a:spcAft>
              <a:buNone/>
            </a:pPr>
            <a:r>
              <a:rPr lang="en-US" sz="1500" dirty="0">
                <a:solidFill>
                  <a:schemeClr val="accent1"/>
                </a:solidFill>
              </a:rPr>
              <a:t>그룹 사이로 번진다</a:t>
            </a:r>
            <a:endParaRPr lang="en-US" sz="1500" dirty="0"/>
          </a:p>
          <a:p>
            <a:pPr marL="0" indent="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marL="0" indent="0">
              <a:buNone/>
            </a:pPr>
            <a:r>
              <a:rPr lang="en-US" sz="2000" b="1" dirty="0">
                <a:solidFill>
                  <a:schemeClr val="tx1"/>
                </a:solidFill>
              </a:rPr>
              <a:t>Instrumentation Effect</a:t>
            </a:r>
            <a:endParaRPr lang="en-US" sz="1500" dirty="0"/>
          </a:p>
          <a:p>
            <a:pPr marL="0" indent="0">
              <a:spcAft>
                <a:spcPts val="1000"/>
              </a:spcAft>
              <a:buNone/>
            </a:pPr>
            <a:r>
              <a:rPr lang="en-US" sz="1500" dirty="0">
                <a:solidFill>
                  <a:schemeClr val="accent1"/>
                </a:solidFill>
              </a:rPr>
              <a:t>재는 방법이 바뀌었다</a:t>
            </a:r>
            <a:endParaRPr lang="en-US" sz="1500" dirty="0"/>
          </a:p>
          <a:p>
            <a:pPr marL="0" indent="0">
              <a:buNone/>
            </a:pPr>
            <a:r>
              <a:rPr lang="en-US" sz="1500" dirty="0">
                <a:solidFill>
                  <a:schemeClr val="tx2"/>
                </a:solidFill>
              </a:rPr>
              <a:t>B 화면에만 클릭 로깅을 새로 붙이면 지표 차이가 측정 차이일 수 있다</a:t>
            </a:r>
            <a:endParaRPr lang="en-US" sz="1500" dirty="0"/>
          </a:p>
        </p:txBody>
      </p:sp>
      <p:sp>
        <p:nvSpPr>
          <p:cNvPr id="8" name="Text 5"/>
          <p:cNvSpPr txBox="1"/>
          <p:nvPr/>
        </p:nvSpPr>
        <p:spPr>
          <a:xfrm>
            <a:off x="640080" y="4754880"/>
            <a:ext cx="10911535" cy="822960"/>
          </a:xfrm>
          <a:prstGeom prst="rect">
            <a:avLst/>
          </a:prstGeom>
          <a:noFill/>
          <a:ln/>
        </p:spPr>
        <p:txBody>
          <a:bodyPr wrap="square" lIns="0" tIns="0" rIns="0" bIns="0" rtlCol="0" anchor="t"/>
          <a:lstStyle/>
          <a:p>
            <a:pPr marL="0" indent="0">
              <a:buNone/>
            </a:pPr>
            <a:r>
              <a:rPr lang="en-US" sz="1500" b="1" dirty="0">
                <a:solidFill>
                  <a:schemeClr val="accent4"/>
                </a:solidFill>
              </a:rPr>
              <a:t>결과를 본 뒤 필터링하지 않는다  </a:t>
            </a:r>
            <a:r>
              <a:rPr lang="en-US" sz="1500" dirty="0">
                <a:solidFill>
                  <a:schemeClr val="tx1"/>
                </a:solidFill>
              </a:rPr>
              <a:t>'결제 시도한 사용자만', '10초 이상 본 사용자만' → 처치 이후 행동으로 고르면 다른 사람끼리 비교 · 제외 규칙은 실험 전에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Ch4 · 간섭(Interference)</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marL="0" indent="0">
              <a:buNone/>
            </a:pPr>
            <a:r>
              <a:rPr lang="en-US" sz="1500" b="1" dirty="0">
                <a:solidFill>
                  <a:schemeClr val="accent1"/>
                </a:solidFill>
              </a:rPr>
              <a:t>SUTVA  </a:t>
            </a:r>
            <a:r>
              <a:rPr lang="en-US" sz="1500" dirty="0">
                <a:solidFill>
                  <a:schemeClr val="tx1"/>
                </a:solidFill>
              </a:rPr>
              <a:t>(Ch2)이 깨지는 현상 = 간섭 · 실무 용어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marL="0" indent="0">
              <a:buNone/>
            </a:pPr>
            <a:r>
              <a:rPr lang="en-US" sz="2000" b="1" dirty="0">
                <a:solidFill>
                  <a:schemeClr val="accent4"/>
                </a:solidFill>
              </a:rPr>
              <a:t>직접 간섭</a:t>
            </a:r>
            <a:endParaRPr lang="en-US" sz="1500" dirty="0"/>
          </a:p>
          <a:p>
            <a:pPr marL="0" indent="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marL="0" indent="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marL="0" indent="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marL="0" indent="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marL="0" indent="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marL="0" indent="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txBody>
          <a:bodyPr/>
          <a:lstStyle/>
          <a:p>
            <a:endParaRPr lang="ko-KR" altLang="en-US"/>
          </a:p>
        </p:txBody>
      </p:sp>
      <p:sp>
        <p:nvSpPr>
          <p:cNvPr id="13" name="Text 10"/>
          <p:cNvSpPr txBox="1"/>
          <p:nvPr/>
        </p:nvSpPr>
        <p:spPr>
          <a:xfrm>
            <a:off x="6355080" y="2377440"/>
            <a:ext cx="4937760" cy="731520"/>
          </a:xfrm>
          <a:prstGeom prst="rect">
            <a:avLst/>
          </a:prstGeom>
          <a:noFill/>
          <a:ln/>
        </p:spPr>
        <p:txBody>
          <a:bodyPr wrap="square" lIns="0" tIns="0" rIns="0" bIns="0" rtlCol="0" anchor="t"/>
          <a:lstStyle/>
          <a:p>
            <a:pPr marL="0" indent="0">
              <a:buNone/>
            </a:pPr>
            <a:r>
              <a:rPr lang="en-US" sz="2000" b="1" dirty="0">
                <a:solidFill>
                  <a:schemeClr val="accent5"/>
                </a:solidFill>
              </a:rPr>
              <a:t>간접 간섭</a:t>
            </a:r>
            <a:endParaRPr lang="en-US" sz="1500" dirty="0"/>
          </a:p>
          <a:p>
            <a:pPr marL="0" indent="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marL="0" indent="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marL="0" indent="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marL="0" indent="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marL="0" indent="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marL="0" indent="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위키 06편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Ch4 · 간섭의 영향</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marL="0" indent="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marL="0" indent="0">
              <a:buNone/>
            </a:pPr>
            <a:r>
              <a:rPr lang="en-US" sz="2000" b="1" dirty="0">
                <a:solidFill>
                  <a:schemeClr val="tx1"/>
                </a:solidFill>
              </a:rPr>
              <a:t>대조군 오염</a:t>
            </a:r>
            <a:endParaRPr lang="en-US" sz="1500" dirty="0"/>
          </a:p>
          <a:p>
            <a:pPr marL="0" indent="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marL="0" indent="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marL="0" indent="0">
              <a:buNone/>
            </a:pPr>
            <a:r>
              <a:rPr lang="en-US" sz="2000" b="1" dirty="0">
                <a:solidFill>
                  <a:schemeClr val="tx1"/>
                </a:solidFill>
              </a:rPr>
              <a:t>효과의 과대·과소 추정</a:t>
            </a:r>
            <a:endParaRPr lang="en-US" sz="1500" dirty="0"/>
          </a:p>
          <a:p>
            <a:pPr marL="0" indent="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marL="0" indent="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marL="0" indent="0">
              <a:buNone/>
            </a:pPr>
            <a:r>
              <a:rPr lang="en-US" sz="2000" b="1" dirty="0">
                <a:solidFill>
                  <a:schemeClr val="tx1"/>
                </a:solidFill>
              </a:rPr>
              <a:t>ATE의 의미가 흐려진다</a:t>
            </a:r>
            <a:endParaRPr lang="en-US" sz="1500" dirty="0"/>
          </a:p>
          <a:p>
            <a:pPr marL="0" indent="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marL="0" indent="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marL="0" indent="0">
              <a:buNone/>
            </a:pPr>
            <a:r>
              <a:rPr lang="en-US" sz="2000" b="1" dirty="0">
                <a:solidFill>
                  <a:schemeClr val="tx1"/>
                </a:solidFill>
              </a:rPr>
              <a:t>부분 적용 ≠ 전체 적용</a:t>
            </a:r>
            <a:endParaRPr lang="en-US" sz="1500" dirty="0"/>
          </a:p>
          <a:p>
            <a:pPr marL="0" indent="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marL="0" indent="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marL="0" indent="0">
              <a:buNone/>
            </a:pPr>
            <a:r>
              <a:rPr lang="en-US" sz="2000" b="1" dirty="0">
                <a:solidFill>
                  <a:schemeClr val="tx1"/>
                </a:solidFill>
              </a:rPr>
              <a:t>유의해도 인과는 아니다</a:t>
            </a:r>
            <a:endParaRPr lang="en-US" sz="1500" dirty="0"/>
          </a:p>
          <a:p>
            <a:pPr marL="0" indent="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marL="0" indent="0">
              <a:buNone/>
            </a:pPr>
            <a:r>
              <a:rPr lang="en-US" sz="1500" b="1" dirty="0">
                <a:solidFill>
                  <a:schemeClr val="accent1"/>
                </a:solidFill>
              </a:rPr>
              <a:t>실무에서 이렇게 말한다  </a:t>
            </a: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위키 06편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Ch4 · 간섭 줄이기</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간섭을 줄이려면 나누는 단위를 다시 설계한다</a:t>
            </a:r>
            <a:endParaRPr lang="en-US" sz="2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3584448"/>
        </p:xfrm>
        <a:graphic>
          <a:graphicData uri="http://schemas.openxmlformats.org/drawingml/2006/table">
            <a:tbl>
              <a:tblPr/>
              <a:tblGrid>
                <a:gridCol w="237744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587752">
                  <a:extLst>
                    <a:ext uri="{9D8B030D-6E8A-4147-A177-3AD203B41FA5}">
                      <a16:colId xmlns:a16="http://schemas.microsoft.com/office/drawing/2014/main" val="20003"/>
                    </a:ext>
                  </a:extLst>
                </a:gridCol>
              </a:tblGrid>
              <a:tr h="566928">
                <a:tc>
                  <a:txBody>
                    <a:bodyPr/>
                    <a:lstStyle/>
                    <a:p>
                      <a:pPr marL="0" indent="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marL="0" indent="0">
              <a:buNone/>
            </a:pPr>
            <a:r>
              <a:rPr lang="en-US" sz="1500" b="1" dirty="0">
                <a:solidFill>
                  <a:schemeClr val="accent1"/>
                </a:solidFill>
              </a:rPr>
              <a:t>기억할 것  </a:t>
            </a: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위키 07편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Ch4 · 윤리 문제</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marL="0" indent="0">
              <a:spcAft>
                <a:spcPts val="600"/>
              </a:spcAft>
              <a:buNone/>
            </a:pPr>
            <a:r>
              <a:rPr lang="en-US" sz="1400" b="1" dirty="0">
                <a:solidFill>
                  <a:schemeClr val="accent6"/>
                </a:solidFill>
              </a:rPr>
              <a:t>고려할 것</a:t>
            </a:r>
            <a:endParaRPr lang="en-US" sz="1500" dirty="0"/>
          </a:p>
          <a:p>
            <a:pPr marL="0" indent="0">
              <a:buNone/>
            </a:pPr>
            <a:r>
              <a:rPr lang="en-US" sz="2000" b="1" dirty="0">
                <a:solidFill>
                  <a:schemeClr val="tx1"/>
                </a:solidFill>
              </a:rPr>
              <a:t>사용자 동의와 투명성</a:t>
            </a:r>
            <a:endParaRPr lang="en-US" sz="1500" dirty="0"/>
          </a:p>
          <a:p>
            <a:pPr marL="0" indent="0">
              <a:spcAft>
                <a:spcPts val="1200"/>
              </a:spcAft>
              <a:buNone/>
            </a:pPr>
            <a:r>
              <a:rPr lang="en-US" sz="1500" dirty="0">
                <a:solidFill>
                  <a:schemeClr val="tx2"/>
                </a:solidFill>
              </a:rPr>
              <a:t>서비스 이용 동의 ≠ 실험 참여 동의. 감정 전염 실험(689,003명)</a:t>
            </a:r>
            <a:endParaRPr lang="en-US" sz="1500" dirty="0"/>
          </a:p>
          <a:p>
            <a:pPr marL="0" indent="0">
              <a:buNone/>
            </a:pPr>
            <a:r>
              <a:rPr lang="en-US" sz="2000" b="1" dirty="0">
                <a:solidFill>
                  <a:schemeClr val="tx1"/>
                </a:solidFill>
              </a:rPr>
              <a:t>사용자가 받을 수 있는 피해</a:t>
            </a:r>
            <a:endParaRPr lang="en-US" sz="1500" dirty="0"/>
          </a:p>
          <a:p>
            <a:pPr marL="0" indent="0">
              <a:spcAft>
                <a:spcPts val="1200"/>
              </a:spcAft>
              <a:buNone/>
            </a:pPr>
            <a:r>
              <a:rPr lang="en-US" sz="1500" dirty="0">
                <a:solidFill>
                  <a:schemeClr val="tx2"/>
                </a:solidFill>
              </a:rPr>
              <a:t>지표가 오르는 것만으로 실험이 정당화되지 않는다</a:t>
            </a:r>
            <a:endParaRPr lang="en-US" sz="1500" dirty="0"/>
          </a:p>
          <a:p>
            <a:pPr marL="0" indent="0">
              <a:buNone/>
            </a:pPr>
            <a:r>
              <a:rPr lang="en-US" sz="2000" b="1" dirty="0">
                <a:solidFill>
                  <a:schemeClr val="tx1"/>
                </a:solidFill>
              </a:rPr>
              <a:t>실험 밖으로 퍼지는 영향</a:t>
            </a:r>
            <a:endParaRPr lang="en-US" sz="1500" dirty="0"/>
          </a:p>
          <a:p>
            <a:pPr marL="0" indent="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txBody>
          <a:bodyPr/>
          <a:lstStyle/>
          <a:p>
            <a:endParaRPr lang="ko-KR" altLang="en-US"/>
          </a:p>
        </p:txBody>
      </p:sp>
      <p:sp>
        <p:nvSpPr>
          <p:cNvPr id="7" name="Text 4"/>
          <p:cNvSpPr txBox="1"/>
          <p:nvPr/>
        </p:nvSpPr>
        <p:spPr>
          <a:xfrm>
            <a:off x="6355080" y="1783080"/>
            <a:ext cx="5212080" cy="3840480"/>
          </a:xfrm>
          <a:prstGeom prst="rect">
            <a:avLst/>
          </a:prstGeom>
          <a:noFill/>
          <a:ln/>
        </p:spPr>
        <p:txBody>
          <a:bodyPr wrap="square" lIns="0" tIns="0" rIns="0" bIns="0" rtlCol="0" anchor="t"/>
          <a:lstStyle/>
          <a:p>
            <a:pPr marL="0" indent="0">
              <a:spcAft>
                <a:spcPts val="600"/>
              </a:spcAft>
              <a:buNone/>
            </a:pPr>
            <a:r>
              <a:rPr lang="en-US" sz="1400" b="1" dirty="0">
                <a:solidFill>
                  <a:schemeClr val="accent6"/>
                </a:solidFill>
              </a:rPr>
              <a:t>대응</a:t>
            </a:r>
            <a:endParaRPr lang="en-US" sz="1500" dirty="0"/>
          </a:p>
          <a:p>
            <a:pPr marL="0" indent="0">
              <a:buNone/>
            </a:pPr>
            <a:r>
              <a:rPr lang="en-US" sz="2000" b="1" dirty="0">
                <a:solidFill>
                  <a:schemeClr val="accent1"/>
                </a:solidFill>
              </a:rPr>
              <a:t>실험 전 위험성 평가</a:t>
            </a:r>
            <a:endParaRPr lang="en-US" sz="1500" dirty="0"/>
          </a:p>
          <a:p>
            <a:pPr marL="0" indent="0">
              <a:spcAft>
                <a:spcPts val="1200"/>
              </a:spcAft>
              <a:buNone/>
            </a:pPr>
            <a:r>
              <a:rPr lang="en-US" sz="1500" dirty="0">
                <a:solidFill>
                  <a:schemeClr val="tx2"/>
                </a:solidFill>
              </a:rPr>
              <a:t>민감 영역·특정 집단 불이익·확산 가능성 점검, 필요하면 추가 동의나 Opt-out</a:t>
            </a:r>
            <a:endParaRPr lang="en-US" sz="1500" dirty="0"/>
          </a:p>
          <a:p>
            <a:pPr marL="0" indent="0">
              <a:buNone/>
            </a:pPr>
            <a:r>
              <a:rPr lang="en-US" sz="2000" b="1" dirty="0">
                <a:solidFill>
                  <a:schemeClr val="accent1"/>
                </a:solidFill>
              </a:rPr>
              <a:t>Guardrail Metric과 점진적 노출</a:t>
            </a:r>
            <a:endParaRPr lang="en-US" sz="1500" dirty="0"/>
          </a:p>
          <a:p>
            <a:pPr marL="0" indent="0">
              <a:spcAft>
                <a:spcPts val="1200"/>
              </a:spcAft>
              <a:buNone/>
            </a:pPr>
            <a:r>
              <a:rPr lang="en-US" sz="1500" dirty="0">
                <a:solidFill>
                  <a:schemeClr val="tx2"/>
                </a:solidFill>
              </a:rPr>
              <a:t>1%부터 노출하며 부작용을 확인한다</a:t>
            </a:r>
            <a:endParaRPr lang="en-US" sz="1500" dirty="0"/>
          </a:p>
          <a:p>
            <a:pPr marL="0" indent="0">
              <a:buNone/>
            </a:pPr>
            <a:r>
              <a:rPr lang="en-US" sz="2000" b="1" dirty="0">
                <a:solidFill>
                  <a:schemeClr val="accent1"/>
                </a:solidFill>
              </a:rPr>
              <a:t>중단 기준 사전 설정</a:t>
            </a:r>
            <a:endParaRPr lang="en-US" sz="1500" dirty="0"/>
          </a:p>
          <a:p>
            <a:pPr marL="0" indent="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출처: Kramer et al. (2014), PNAS · Bond et al. (2012), Nature · 위키 08편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Ch4 · 고급 설계</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목적이 다르면 실험 방식도 다르다</a:t>
            </a:r>
            <a:endParaRPr lang="en-US" sz="20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2194560"/>
        </p:xfrm>
        <a:graphic>
          <a:graphicData uri="http://schemas.openxmlformats.org/drawingml/2006/table">
            <a:tbl>
              <a:tblPr/>
              <a:tblGrid>
                <a:gridCol w="256032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2039112">
                  <a:extLst>
                    <a:ext uri="{9D8B030D-6E8A-4147-A177-3AD203B41FA5}">
                      <a16:colId xmlns:a16="http://schemas.microsoft.com/office/drawing/2014/main" val="20003"/>
                    </a:ext>
                  </a:extLst>
                </a:gridCol>
              </a:tblGrid>
              <a:tr h="731520">
                <a:tc>
                  <a:txBody>
                    <a:bodyPr/>
                    <a:lstStyle/>
                    <a:p>
                      <a:pPr marL="0" indent="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731520">
                <a:tc>
                  <a:txBody>
                    <a:bodyPr/>
                    <a:lstStyle/>
                    <a:p>
                      <a:pPr marL="0" indent="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marL="0" indent="0">
              <a:spcAft>
                <a:spcPts val="600"/>
              </a:spcAft>
              <a:buNone/>
            </a:pPr>
            <a:r>
              <a:rPr lang="en-US" sz="1500" dirty="0">
                <a:solidFill>
                  <a:schemeClr val="tx2"/>
                </a:solidFill>
              </a:rPr>
              <a:t>밴딧: 이기는 쪽은 빨리 찾지만 효과 크기 추정은 부정확</a:t>
            </a:r>
            <a:endParaRPr lang="en-US" sz="1500" dirty="0"/>
          </a:p>
          <a:p>
            <a:pPr marL="0" indent="0">
              <a:buNone/>
            </a:pPr>
            <a:r>
              <a:rPr lang="en-US" sz="1500" dirty="0">
                <a:solidFill>
                  <a:schemeClr val="tx2"/>
                </a:solidFill>
              </a:rPr>
              <a:t>Cluster · Geo · Switchback → 간섭 줄이기 슬라이드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Ch4 · 실험이 불가능할 때</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실험 없이 인과를 추정하는 세 가지 방법</a:t>
            </a:r>
            <a:endParaRPr lang="en-US" sz="2000" dirty="0"/>
          </a:p>
        </p:txBody>
      </p:sp>
      <p:graphicFrame>
        <p:nvGraphicFramePr>
          <p:cNvPr id="5" name="Chart 0"/>
          <p:cNvGraphicFramePr/>
          <p:nvPr/>
        </p:nvGraphicFramePr>
        <p:xfrm>
          <a:off x="640080" y="1737360"/>
          <a:ext cx="585216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marL="0" indent="0">
              <a:buNone/>
            </a:pPr>
            <a:r>
              <a:rPr lang="en-US" sz="2000" b="1" dirty="0">
                <a:solidFill>
                  <a:schemeClr val="accent1"/>
                </a:solidFill>
              </a:rPr>
              <a:t>DID (이중차분)</a:t>
            </a:r>
            <a:endParaRPr lang="en-US" sz="1500" dirty="0"/>
          </a:p>
          <a:p>
            <a:pPr marL="0" indent="0">
              <a:buNone/>
            </a:pPr>
            <a:r>
              <a:rPr lang="en-US" sz="1500" dirty="0">
                <a:solidFill>
                  <a:schemeClr val="tx1"/>
                </a:solidFill>
              </a:rPr>
              <a:t>처치·비교 집단의 전후 변화 차이</a:t>
            </a:r>
            <a:endParaRPr lang="en-US" sz="1500" dirty="0"/>
          </a:p>
          <a:p>
            <a:pPr marL="0" indent="0">
              <a:spcAft>
                <a:spcPts val="1400"/>
              </a:spcAft>
              <a:buNone/>
            </a:pPr>
            <a:r>
              <a:rPr lang="en-US" sz="1400" dirty="0">
                <a:solidFill>
                  <a:schemeClr val="tx2"/>
                </a:solidFill>
              </a:rPr>
              <a:t>가정: 처치 전 추세가 평행</a:t>
            </a:r>
            <a:endParaRPr lang="en-US" sz="1500" dirty="0"/>
          </a:p>
          <a:p>
            <a:pPr marL="0" indent="0">
              <a:buNone/>
            </a:pPr>
            <a:r>
              <a:rPr lang="en-US" sz="2000" b="1" dirty="0">
                <a:solidFill>
                  <a:schemeClr val="tx1"/>
                </a:solidFill>
              </a:rPr>
              <a:t>RDD (회귀 불연속)</a:t>
            </a:r>
            <a:endParaRPr lang="en-US" sz="1500" dirty="0"/>
          </a:p>
          <a:p>
            <a:pPr marL="0" indent="0">
              <a:buNone/>
            </a:pPr>
            <a:r>
              <a:rPr lang="en-US" sz="1500" dirty="0">
                <a:solidFill>
                  <a:schemeClr val="tx1"/>
                </a:solidFill>
              </a:rPr>
              <a:t>기준선 바로 위·아래를 비교</a:t>
            </a:r>
            <a:endParaRPr lang="en-US" sz="1500" dirty="0"/>
          </a:p>
          <a:p>
            <a:pPr marL="0" indent="0">
              <a:spcAft>
                <a:spcPts val="1400"/>
              </a:spcAft>
              <a:buNone/>
            </a:pPr>
            <a:r>
              <a:rPr lang="en-US" sz="1400" dirty="0">
                <a:solidFill>
                  <a:schemeClr val="tx2"/>
                </a:solidFill>
              </a:rPr>
              <a:t>예: 최소주문금액 직전·직후 주문</a:t>
            </a:r>
            <a:endParaRPr lang="en-US" sz="1500" dirty="0"/>
          </a:p>
          <a:p>
            <a:pPr marL="0" indent="0">
              <a:buNone/>
            </a:pPr>
            <a:r>
              <a:rPr lang="en-US" sz="2000" b="1" dirty="0">
                <a:solidFill>
                  <a:schemeClr val="tx1"/>
                </a:solidFill>
              </a:rPr>
              <a:t>Synthetic Control</a:t>
            </a:r>
            <a:endParaRPr lang="en-US" sz="1500" dirty="0"/>
          </a:p>
          <a:p>
            <a:pPr marL="0" indent="0">
              <a:buNone/>
            </a:pPr>
            <a:r>
              <a:rPr lang="en-US" sz="1500" dirty="0">
                <a:solidFill>
                  <a:schemeClr val="tx1"/>
                </a:solidFill>
              </a:rPr>
              <a:t>여러 비교 집단을 섞어 가상의 대조군을 만든다</a:t>
            </a:r>
            <a:endParaRPr lang="en-US" sz="1500" dirty="0"/>
          </a:p>
          <a:p>
            <a:pPr marL="0" indent="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371600"/>
            <a:ext cx="3657600" cy="1463040"/>
          </a:xfrm>
          <a:prstGeom prst="rect">
            <a:avLst/>
          </a:prstGeom>
          <a:noFill/>
          <a:ln/>
        </p:spPr>
        <p:txBody>
          <a:bodyPr wrap="square" lIns="0" tIns="0" rIns="0" bIns="0" rtlCol="0" anchor="b"/>
          <a:lstStyle/>
          <a:p>
            <a:pPr marL="0" indent="0" algn="l">
              <a:buNone/>
            </a:pPr>
            <a:r>
              <a:rPr lang="en-US" sz="9600" b="1" dirty="0">
                <a:solidFill>
                  <a:srgbClr val="7B93FF"/>
                </a:solidFill>
              </a:rPr>
              <a:t>05</a:t>
            </a:r>
            <a:endParaRPr lang="en-US" sz="9600" dirty="0"/>
          </a:p>
        </p:txBody>
      </p:sp>
      <p:sp>
        <p:nvSpPr>
          <p:cNvPr id="3" name="Text 0"/>
          <p:cNvSpPr>
            <a:spLocks noGrp="1"/>
          </p:cNvSpPr>
          <p:nvPr>
            <p:ph type="title" idx="101" hasCustomPrompt="1"/>
          </p:nvPr>
        </p:nvSpPr>
        <p:spPr>
          <a:xfrm>
            <a:off x="640080" y="3017520"/>
            <a:ext cx="10058400" cy="914400"/>
          </a:xfrm>
          <a:prstGeom prst="rect">
            <a:avLst/>
          </a:prstGeom>
          <a:noFill/>
          <a:ln/>
        </p:spPr>
        <p:txBody>
          <a:bodyPr wrap="square" lIns="0" tIns="0" rIns="0" bIns="0" rtlCol="0" anchor="t"/>
          <a:lstStyle/>
          <a:p>
            <a:pPr marL="0" indent="0" algn="l">
              <a:buNone/>
            </a:pPr>
            <a:r>
              <a:rPr lang="en-US" sz="4000" b="1" dirty="0">
                <a:solidFill>
                  <a:srgbClr val="FFFFFF"/>
                </a:solidFill>
              </a:rPr>
              <a:t>산업 사례와 실험 문화</a:t>
            </a:r>
            <a:endParaRPr lang="en-US" sz="4000" dirty="0"/>
          </a:p>
        </p:txBody>
      </p:sp>
      <p:sp>
        <p:nvSpPr>
          <p:cNvPr id="4" name="Text 0"/>
          <p:cNvSpPr>
            <a:spLocks noGrp="1"/>
          </p:cNvSpPr>
          <p:nvPr>
            <p:ph type="body" idx="102" hasCustomPrompt="1"/>
          </p:nvPr>
        </p:nvSpPr>
        <p:spPr>
          <a:xfrm>
            <a:off x="640080" y="4069080"/>
            <a:ext cx="10058400" cy="731520"/>
          </a:xfrm>
          <a:prstGeom prst="rect">
            <a:avLst/>
          </a:prstGeom>
          <a:noFill/>
          <a:ln/>
        </p:spPr>
        <p:txBody>
          <a:bodyPr wrap="square" lIns="0" tIns="0" rIns="0" bIns="0" rtlCol="0" anchor="t"/>
          <a:lstStyle/>
          <a:p>
            <a:pPr marL="0" indent="0" algn="l">
              <a:buNone/>
            </a:pPr>
            <a:r>
              <a:rPr lang="en-US" sz="2000" dirty="0">
                <a:solidFill>
                  <a:srgbClr val="AEB3CC"/>
                </a:solidFill>
              </a:rPr>
              <a:t>그리고 의사결정으로 닫기</a:t>
            </a:r>
            <a:endParaRPr lang="en-US" sz="2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Ch5 · 산업 사례</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실험을 잘하는 회사들이 오늘 개념을 어떻게 쓰나</a:t>
            </a:r>
            <a:endParaRPr lang="en-US" sz="2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3730752"/>
        </p:xfrm>
        <a:graphic>
          <a:graphicData uri="http://schemas.openxmlformats.org/drawingml/2006/table">
            <a:tbl>
              <a:tblPr/>
              <a:tblGrid>
                <a:gridCol w="265176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2770632">
                  <a:extLst>
                    <a:ext uri="{9D8B030D-6E8A-4147-A177-3AD203B41FA5}">
                      <a16:colId xmlns:a16="http://schemas.microsoft.com/office/drawing/2014/main" val="20002"/>
                    </a:ext>
                  </a:extLst>
                </a:gridCol>
              </a:tblGrid>
              <a:tr h="621792">
                <a:tc>
                  <a:txBody>
                    <a:bodyPr/>
                    <a:lstStyle/>
                    <a:p>
                      <a:pPr marL="0" indent="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621792">
                <a:tc>
                  <a:txBody>
                    <a:bodyPr/>
                    <a:lstStyle/>
                    <a:p>
                      <a:pPr marL="0" indent="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621792">
                <a:tc>
                  <a:txBody>
                    <a:bodyPr/>
                    <a:lstStyle/>
                    <a:p>
                      <a:pPr marL="0" indent="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621792">
                <a:tc>
                  <a:txBody>
                    <a:bodyPr/>
                    <a:lstStyle/>
                    <a:p>
                      <a:pPr marL="0" indent="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r h="621792">
                <a:tc>
                  <a:txBody>
                    <a:bodyPr/>
                    <a:lstStyle/>
                    <a:p>
                      <a:pPr marL="0" indent="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4"/>
                  </a:ext>
                </a:extLst>
              </a:tr>
              <a:tr h="621792">
                <a:tc>
                  <a:txBody>
                    <a:bodyPr/>
                    <a:lstStyle/>
                    <a:p>
                      <a:pPr marL="0" indent="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Ch5 · 실험하는 조직</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rPr>
              <a:t>데이터로 결정하고 OEC를 공식화한다</a:t>
            </a:r>
            <a:endParaRPr lang="en-US" sz="1500" dirty="0"/>
          </a:p>
          <a:p>
            <a:pPr marL="0" indent="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marL="0" indent="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rPr>
              <a:t>실험 인프라와 신뢰성에 투자한다</a:t>
            </a:r>
            <a:endParaRPr lang="en-US" sz="1500" dirty="0"/>
          </a:p>
          <a:p>
            <a:pPr marL="0" indent="0">
              <a:spcAft>
                <a:spcPts val="800"/>
              </a:spcAft>
              <a:buNone/>
            </a:pPr>
            <a:r>
              <a:rPr lang="en-US" sz="1500" dirty="0">
                <a:solidFill>
                  <a:schemeClr val="tx1"/>
                </a:solidFill>
              </a:rPr>
              <a:t>아이디어 → 빠른 실험 → 측정 → 판단 → 다음 실험이 반복되는 환경을 만든다</a:t>
            </a:r>
            <a:endParaRPr lang="en-US" sz="1500" dirty="0"/>
          </a:p>
          <a:p>
            <a:pPr marL="0" indent="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rPr>
              <a:t>아이디어 평가에 서툴다는 걸 인정한다</a:t>
            </a:r>
            <a:endParaRPr lang="en-US" sz="1500" dirty="0"/>
          </a:p>
          <a:p>
            <a:pPr marL="0" indent="0">
              <a:spcAft>
                <a:spcPts val="800"/>
              </a:spcAft>
              <a:buNone/>
            </a:pPr>
            <a:r>
              <a:rPr lang="en-US" sz="1500" dirty="0">
                <a:solidFill>
                  <a:schemeClr val="tx1"/>
                </a:solidFill>
              </a:rPr>
              <a:t>좋아 보이는 것 ≠ 실제로 좋은 것</a:t>
            </a:r>
            <a:endParaRPr lang="en-US" sz="1500" dirty="0"/>
          </a:p>
          <a:p>
            <a:pPr marL="0" indent="0">
              <a:buNone/>
            </a:pPr>
            <a:r>
              <a:rPr lang="en-US" sz="1400" dirty="0">
                <a:solidFill>
                  <a:schemeClr val="tx2"/>
                </a:solidFill>
              </a:rPr>
              <a:t>잭팟 한 번보다 많은 아이디어를 싸게 실험하는 구조</a:t>
            </a:r>
            <a:endParaRPr lang="en-US" sz="1500" dirty="0"/>
          </a:p>
        </p:txBody>
      </p:sp>
      <p:sp>
        <p:nvSpPr>
          <p:cNvPr id="11" name="Text 8"/>
          <p:cNvSpPr txBox="1"/>
          <p:nvPr/>
        </p:nvSpPr>
        <p:spPr>
          <a:xfrm>
            <a:off x="640080" y="589788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출처: Kohavi, Tang, Xu (2020) · 위키 11편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Ch5 · 조직의 OEC</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팀마다 OEC는 달라도 같은 장기 목표를 향한다</a:t>
            </a:r>
            <a:endParaRPr lang="en-US" sz="20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3255264"/>
        </p:xfrm>
        <a:graphic>
          <a:graphicData uri="http://schemas.openxmlformats.org/drawingml/2006/table">
            <a:tbl>
              <a:tblPr/>
              <a:tblGrid>
                <a:gridCol w="15544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512064">
                <a:tc>
                  <a:txBody>
                    <a:bodyPr/>
                    <a:lstStyle/>
                    <a:p>
                      <a:pPr marL="0" indent="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512064">
                <a:tc>
                  <a:txBody>
                    <a:bodyPr/>
                    <a:lstStyle/>
                    <a:p>
                      <a:pPr marL="0" indent="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512064">
                <a:tc>
                  <a:txBody>
                    <a:bodyPr/>
                    <a:lstStyle/>
                    <a:p>
                      <a:pPr marL="0" indent="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512064">
                <a:tc>
                  <a:txBody>
                    <a:bodyPr/>
                    <a:lstStyle/>
                    <a:p>
                      <a:pPr marL="0" indent="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r h="512064">
                <a:tc>
                  <a:txBody>
                    <a:bodyPr/>
                    <a:lstStyle/>
                    <a:p>
                      <a:pPr marL="0" indent="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4"/>
                  </a:ext>
                </a:extLst>
              </a:tr>
              <a:tr h="512064">
                <a:tc>
                  <a:txBody>
                    <a:bodyPr/>
                    <a:lstStyle/>
                    <a:p>
                      <a:pPr marL="0" indent="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marL="0" indent="0">
              <a:buNone/>
            </a:pPr>
            <a:r>
              <a:rPr lang="en-US" sz="2000" b="1" dirty="0">
                <a:solidFill>
                  <a:schemeClr val="accent1"/>
                </a:solidFill>
              </a:rPr>
              <a:t>토스 · 푸시 알림</a:t>
            </a:r>
            <a:endParaRPr lang="en-US" sz="1500" dirty="0"/>
          </a:p>
          <a:p>
            <a:pPr marL="0" indent="0">
              <a:buNone/>
            </a:pPr>
            <a:r>
              <a:rPr lang="en-US" sz="1500" dirty="0">
                <a:solidFill>
                  <a:schemeClr val="tx1"/>
                </a:solidFill>
              </a:rPr>
              <a:t>주 지표: 푸시 CTR</a:t>
            </a:r>
            <a:endParaRPr lang="en-US" sz="1500" dirty="0"/>
          </a:p>
          <a:p>
            <a:pPr marL="0" indent="0">
              <a:spcAft>
                <a:spcPts val="1400"/>
              </a:spcAft>
              <a:buNone/>
            </a:pPr>
            <a:r>
              <a:rPr lang="en-US" sz="1500" dirty="0">
                <a:solidFill>
                  <a:schemeClr val="tx2"/>
                </a:solidFill>
              </a:rPr>
              <a:t>가드레일: 앱 오픈 AU, 서비스별 AU, 매출 하락 방지</a:t>
            </a:r>
            <a:endParaRPr lang="en-US" sz="1500" dirty="0"/>
          </a:p>
          <a:p>
            <a:pPr marL="0" indent="0">
              <a:buNone/>
            </a:pPr>
            <a:r>
              <a:rPr lang="en-US" sz="2000" b="1" dirty="0">
                <a:solidFill>
                  <a:schemeClr val="accent1"/>
                </a:solidFill>
              </a:rPr>
              <a:t>토스뱅크 · 신분증 촬영</a:t>
            </a:r>
            <a:endParaRPr lang="en-US" sz="1500" dirty="0"/>
          </a:p>
          <a:p>
            <a:pPr marL="0" indent="0">
              <a:buNone/>
            </a:pPr>
            <a:r>
              <a:rPr lang="en-US" sz="1500" dirty="0">
                <a:solidFill>
                  <a:schemeClr val="tx1"/>
                </a:solidFill>
              </a:rPr>
              <a:t>촬영 단계 통과율 + 사후 검증 반려율</a:t>
            </a:r>
            <a:endParaRPr lang="en-US" sz="1500" dirty="0"/>
          </a:p>
          <a:p>
            <a:pPr marL="0" indent="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출처: 토스 기술 블로그 「진짜 A/B 테스트」, 「토스뱅크가 AI로 보안과 효율도 챙기는 방법」 · 위키 11편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Ch5 · 실험과 제품 개발</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rPr>
              <a:t>애자일 (Agile)</a:t>
            </a:r>
            <a:endParaRPr lang="en-US" sz="1500" dirty="0"/>
          </a:p>
          <a:p>
            <a:pPr marL="0" indent="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rPr>
              <a:t>고객 개발 (Customer Development)</a:t>
            </a:r>
            <a:endParaRPr lang="en-US" sz="1500" dirty="0"/>
          </a:p>
          <a:p>
            <a:pPr marL="0" indent="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rPr>
              <a:t>린 스타트업 (Lean Startup)</a:t>
            </a:r>
            <a:endParaRPr lang="en-US" sz="1500" dirty="0"/>
          </a:p>
          <a:p>
            <a:pPr marL="0" indent="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marL="0" indent="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txBody>
          <a:bodyPr/>
          <a:lstStyle/>
          <a:p>
            <a:endParaRPr lang="ko-KR" altLang="en-US"/>
          </a:p>
        </p:txBody>
      </p:sp>
      <p:sp>
        <p:nvSpPr>
          <p:cNvPr id="13" name="Text 10"/>
          <p:cNvSpPr txBox="1"/>
          <p:nvPr/>
        </p:nvSpPr>
        <p:spPr>
          <a:xfrm>
            <a:off x="2880360" y="4572000"/>
            <a:ext cx="1737360" cy="457200"/>
          </a:xfrm>
          <a:prstGeom prst="rect">
            <a:avLst/>
          </a:prstGeom>
          <a:noFill/>
          <a:ln/>
        </p:spPr>
        <p:txBody>
          <a:bodyPr wrap="square" lIns="0" tIns="0" rIns="0" bIns="0" rtlCol="0" anchor="t"/>
          <a:lstStyle/>
          <a:p>
            <a:pPr marL="0" indent="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txBody>
          <a:bodyPr/>
          <a:lstStyle/>
          <a:p>
            <a:endParaRPr lang="ko-KR" altLang="en-US"/>
          </a:p>
        </p:txBody>
      </p:sp>
      <p:sp>
        <p:nvSpPr>
          <p:cNvPr id="15" name="Text 12"/>
          <p:cNvSpPr txBox="1"/>
          <p:nvPr/>
        </p:nvSpPr>
        <p:spPr>
          <a:xfrm>
            <a:off x="5120640" y="4572000"/>
            <a:ext cx="1737360" cy="457200"/>
          </a:xfrm>
          <a:prstGeom prst="rect">
            <a:avLst/>
          </a:prstGeom>
          <a:noFill/>
          <a:ln/>
        </p:spPr>
        <p:txBody>
          <a:bodyPr wrap="square" lIns="0" tIns="0" rIns="0" bIns="0" rtlCol="0" anchor="t"/>
          <a:lstStyle/>
          <a:p>
            <a:pPr marL="0" indent="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txBody>
          <a:bodyPr/>
          <a:lstStyle/>
          <a:p>
            <a:endParaRPr lang="ko-KR" altLang="en-US"/>
          </a:p>
        </p:txBody>
      </p:sp>
      <p:sp>
        <p:nvSpPr>
          <p:cNvPr id="17" name="Text 14"/>
          <p:cNvSpPr txBox="1"/>
          <p:nvPr/>
        </p:nvSpPr>
        <p:spPr>
          <a:xfrm>
            <a:off x="7360920" y="4572000"/>
            <a:ext cx="1737360" cy="457200"/>
          </a:xfrm>
          <a:prstGeom prst="rect">
            <a:avLst/>
          </a:prstGeom>
          <a:noFill/>
          <a:ln/>
        </p:spPr>
        <p:txBody>
          <a:bodyPr wrap="square" lIns="0" tIns="0" rIns="0" bIns="0" rtlCol="0" anchor="t"/>
          <a:lstStyle/>
          <a:p>
            <a:pPr marL="0" indent="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txBody>
          <a:bodyPr/>
          <a:lstStyle/>
          <a:p>
            <a:endParaRPr lang="ko-KR" altLang="en-US"/>
          </a:p>
        </p:txBody>
      </p:sp>
      <p:sp>
        <p:nvSpPr>
          <p:cNvPr id="19" name="Text 16"/>
          <p:cNvSpPr txBox="1"/>
          <p:nvPr/>
        </p:nvSpPr>
        <p:spPr>
          <a:xfrm>
            <a:off x="9601200" y="4572000"/>
            <a:ext cx="1737360" cy="457200"/>
          </a:xfrm>
          <a:prstGeom prst="rect">
            <a:avLst/>
          </a:prstGeom>
          <a:noFill/>
          <a:ln/>
        </p:spPr>
        <p:txBody>
          <a:bodyPr wrap="square" lIns="0" tIns="0" rIns="0" bIns="0" rtlCol="0" anchor="t"/>
          <a:lstStyle/>
          <a:p>
            <a:pPr marL="0" indent="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marL="0" indent="0">
              <a:buNone/>
            </a:pPr>
            <a:r>
              <a:rPr lang="en-US" sz="1500" dirty="0">
                <a:solidFill>
                  <a:schemeClr val="tx2"/>
                </a:solidFill>
              </a:rPr>
              <a:t>A/B 테스트의 자리: 이 반복의 '측정·검증'</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위키 11편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Ch5 · 실험 성숙도 모델</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실험 성숙도: Crawl → Walk → Run → Fly</a:t>
            </a:r>
            <a:endParaRPr lang="en-US" sz="20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08792" cy="2834640"/>
        </p:xfrm>
        <a:graphic>
          <a:graphicData uri="http://schemas.openxmlformats.org/drawingml/2006/table">
            <a:tbl>
              <a:tblPr/>
              <a:tblGrid>
                <a:gridCol w="15544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566928">
                <a:tc>
                  <a:txBody>
                    <a:bodyPr/>
                    <a:lstStyle/>
                    <a:p>
                      <a:pPr marL="0" indent="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marL="0" indent="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12700" cap="flat" cmpd="sng" algn="ctr">
                      <a:solidFill>
                        <a:srgbClr val="1B1F3B"/>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tc>
                  <a:txBody>
                    <a:bodyPr/>
                    <a:lstStyle/>
                    <a:p>
                      <a:pPr marL="0" indent="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9525" cap="flat" cmpd="sng" algn="ctr">
                      <a:solidFill>
                        <a:srgbClr val="E3E7F1"/>
                      </a:solidFill>
                      <a:prstDash val="solid"/>
                      <a:round/>
                      <a:headEnd type="none" w="med" len="med"/>
                      <a:tailEnd type="none" w="med" len="med"/>
                    </a:lnT>
                    <a:lnB w="9525" cap="flat" cmpd="sng" algn="ctr">
                      <a:solidFill>
                        <a:srgbClr val="E3E7F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marL="0" indent="0">
              <a:buNone/>
            </a:pPr>
            <a:r>
              <a:rPr lang="en-US" sz="1500" b="1" dirty="0">
                <a:solidFill>
                  <a:schemeClr val="tx1"/>
                </a:solidFill>
              </a:rPr>
              <a:t>측정할 수 있는가</a:t>
            </a:r>
            <a:r>
              <a:rPr lang="en-US" sz="1500" dirty="0">
                <a:solidFill>
                  <a:schemeClr val="tx1"/>
                </a:solidFill>
              </a:rPr>
              <a:t>  →  </a:t>
            </a:r>
            <a:r>
              <a:rPr lang="en-US" sz="1500" b="1" dirty="0">
                <a:solidFill>
                  <a:schemeClr val="tx1"/>
                </a:solidFill>
              </a:rPr>
              <a:t>믿을 수 있게 실험하는가</a:t>
            </a:r>
            <a:r>
              <a:rPr lang="en-US" sz="1500" dirty="0">
                <a:solidFill>
                  <a:schemeClr val="tx1"/>
                </a:solidFill>
              </a:rPr>
              <a:t>  →  </a:t>
            </a:r>
            <a:r>
              <a:rPr lang="en-US" sz="1500" b="1" dirty="0">
                <a:solidFill>
                  <a:schemeClr val="tx1"/>
                </a:solidFill>
              </a:rPr>
              <a:t>대규모로 반복하는가</a:t>
            </a:r>
            <a:r>
              <a:rPr lang="en-US" sz="1500" dirty="0">
                <a:solidFill>
                  <a:schemeClr val="tx1"/>
                </a:solidFill>
              </a:rPr>
              <a:t>  →  </a:t>
            </a: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marL="0" indent="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marL="0" indent="0">
              <a:buNone/>
            </a:pPr>
            <a:r>
              <a:rPr lang="en-US" sz="1100" dirty="0">
                <a:solidFill>
                  <a:schemeClr val="accent6"/>
                </a:solidFill>
              </a:rPr>
              <a:t>출처: Kohavi, Tang, Xu (2020) · 위키 11편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Ch5 · 실험 문화</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marL="0" indent="0">
              <a:buNone/>
            </a:pPr>
            <a:r>
              <a:rPr lang="en-US" sz="2000" b="1" dirty="0">
                <a:solidFill>
                  <a:schemeClr val="tx1"/>
                </a:solidFill>
              </a:rPr>
              <a:t>Feature Flag</a:t>
            </a:r>
            <a:endParaRPr lang="en-US" sz="1500" dirty="0"/>
          </a:p>
          <a:p>
            <a:pPr marL="0" indent="0">
              <a:spcAft>
                <a:spcPts val="800"/>
              </a:spcAft>
              <a:buNone/>
            </a:pPr>
            <a:r>
              <a:rPr lang="en-US" sz="1500" dirty="0">
                <a:solidFill>
                  <a:schemeClr val="tx1"/>
                </a:solidFill>
              </a:rPr>
              <a:t>코드 배포와 기능 노출을 분리한다</a:t>
            </a:r>
            <a:endParaRPr lang="en-US" sz="1500" dirty="0"/>
          </a:p>
          <a:p>
            <a:pPr marL="0" indent="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txBody>
          <a:bodyPr/>
          <a:lstStyle/>
          <a:p>
            <a:endParaRPr lang="ko-KR" altLang="en-US"/>
          </a:p>
        </p:txBody>
      </p:sp>
      <p:sp>
        <p:nvSpPr>
          <p:cNvPr id="8" name="Text 5"/>
          <p:cNvSpPr txBox="1"/>
          <p:nvPr/>
        </p:nvSpPr>
        <p:spPr>
          <a:xfrm>
            <a:off x="4343400" y="187452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marL="0" indent="0">
              <a:buNone/>
            </a:pPr>
            <a:r>
              <a:rPr lang="en-US" sz="2000" b="1" dirty="0">
                <a:solidFill>
                  <a:schemeClr val="tx1"/>
                </a:solidFill>
              </a:rPr>
              <a:t>Experimentation Platform</a:t>
            </a:r>
            <a:endParaRPr lang="en-US" sz="1500" dirty="0"/>
          </a:p>
          <a:p>
            <a:pPr marL="0" indent="0">
              <a:spcAft>
                <a:spcPts val="800"/>
              </a:spcAft>
              <a:buNone/>
            </a:pPr>
            <a:r>
              <a:rPr lang="en-US" sz="1500" dirty="0">
                <a:solidFill>
                  <a:schemeClr val="tx1"/>
                </a:solidFill>
              </a:rPr>
              <a:t>배정·로깅·분석을 자동화한다</a:t>
            </a:r>
            <a:endParaRPr lang="en-US" sz="1500" dirty="0"/>
          </a:p>
          <a:p>
            <a:pPr marL="0" indent="0">
              <a:buNone/>
            </a:pPr>
            <a:r>
              <a:rPr lang="en-US" sz="1400" dirty="0">
                <a:solidFill>
                  <a:schemeClr val="tx2"/>
                </a:solidFill>
              </a:rPr>
              <a:t>실험 한 번의 비용이 낮아진다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txBody>
          <a:bodyPr/>
          <a:lstStyle/>
          <a:p>
            <a:endParaRPr lang="ko-KR" altLang="en-US"/>
          </a:p>
        </p:txBody>
      </p:sp>
      <p:sp>
        <p:nvSpPr>
          <p:cNvPr id="11" name="Text 8"/>
          <p:cNvSpPr txBox="1"/>
          <p:nvPr/>
        </p:nvSpPr>
        <p:spPr>
          <a:xfrm>
            <a:off x="8046720" y="187452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marL="0" indent="0">
              <a:buNone/>
            </a:pPr>
            <a:r>
              <a:rPr lang="en-US" sz="2000" b="1" dirty="0">
                <a:solidFill>
                  <a:schemeClr val="tx1"/>
                </a:solidFill>
              </a:rPr>
              <a:t>Democratization</a:t>
            </a:r>
            <a:endParaRPr lang="en-US" sz="1500" dirty="0"/>
          </a:p>
          <a:p>
            <a:pPr marL="0" indent="0">
              <a:spcAft>
                <a:spcPts val="800"/>
              </a:spcAft>
              <a:buNone/>
            </a:pPr>
            <a:r>
              <a:rPr lang="en-US" sz="1500" dirty="0">
                <a:solidFill>
                  <a:schemeClr val="tx1"/>
                </a:solidFill>
              </a:rPr>
              <a:t>누구나 가설을 실험으로 옮긴다</a:t>
            </a:r>
            <a:endParaRPr lang="en-US" sz="1500" dirty="0"/>
          </a:p>
          <a:p>
            <a:pPr marL="0" indent="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Ch5 · 의사결정</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marL="0" indent="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marL="0" indent="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txBody>
          <a:bodyPr/>
          <a:lstStyle/>
          <a:p>
            <a:endParaRPr lang="ko-KR" altLang="en-US"/>
          </a:p>
        </p:txBody>
      </p:sp>
      <p:sp>
        <p:nvSpPr>
          <p:cNvPr id="8" name="Text 5"/>
          <p:cNvSpPr txBox="1"/>
          <p:nvPr/>
        </p:nvSpPr>
        <p:spPr>
          <a:xfrm>
            <a:off x="6675120" y="1810512"/>
            <a:ext cx="1737360" cy="548640"/>
          </a:xfrm>
          <a:prstGeom prst="rect">
            <a:avLst/>
          </a:prstGeom>
          <a:noFill/>
          <a:ln/>
        </p:spPr>
        <p:txBody>
          <a:bodyPr wrap="square" lIns="0" tIns="0" rIns="0" bIns="0" rtlCol="0" anchor="t"/>
          <a:lstStyle/>
          <a:p>
            <a:pPr marL="0" indent="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marL="0" indent="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marL="0" indent="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marL="0" indent="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txBody>
          <a:bodyPr/>
          <a:lstStyle/>
          <a:p>
            <a:endParaRPr lang="ko-KR" altLang="en-US"/>
          </a:p>
        </p:txBody>
      </p:sp>
      <p:sp>
        <p:nvSpPr>
          <p:cNvPr id="13" name="Text 10"/>
          <p:cNvSpPr txBox="1"/>
          <p:nvPr/>
        </p:nvSpPr>
        <p:spPr>
          <a:xfrm>
            <a:off x="6675120" y="2724912"/>
            <a:ext cx="1737360" cy="548640"/>
          </a:xfrm>
          <a:prstGeom prst="rect">
            <a:avLst/>
          </a:prstGeom>
          <a:noFill/>
          <a:ln/>
        </p:spPr>
        <p:txBody>
          <a:bodyPr wrap="square" lIns="0" tIns="0" rIns="0" bIns="0" rtlCol="0" anchor="t"/>
          <a:lstStyle/>
          <a:p>
            <a:pPr marL="0" indent="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marL="0" indent="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marL="0" indent="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marL="0" indent="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txBody>
          <a:bodyPr/>
          <a:lstStyle/>
          <a:p>
            <a:endParaRPr lang="ko-KR" altLang="en-US"/>
          </a:p>
        </p:txBody>
      </p:sp>
      <p:sp>
        <p:nvSpPr>
          <p:cNvPr id="18" name="Text 15"/>
          <p:cNvSpPr txBox="1"/>
          <p:nvPr/>
        </p:nvSpPr>
        <p:spPr>
          <a:xfrm>
            <a:off x="6675120" y="3639312"/>
            <a:ext cx="1737360" cy="548640"/>
          </a:xfrm>
          <a:prstGeom prst="rect">
            <a:avLst/>
          </a:prstGeom>
          <a:noFill/>
          <a:ln/>
        </p:spPr>
        <p:txBody>
          <a:bodyPr wrap="square" lIns="0" tIns="0" rIns="0" bIns="0" rtlCol="0" anchor="t"/>
          <a:lstStyle/>
          <a:p>
            <a:pPr marL="0" indent="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marL="0" indent="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marL="0" indent="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marL="0" indent="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txBody>
          <a:bodyPr/>
          <a:lstStyle/>
          <a:p>
            <a:endParaRPr lang="ko-KR" altLang="en-US"/>
          </a:p>
        </p:txBody>
      </p:sp>
      <p:sp>
        <p:nvSpPr>
          <p:cNvPr id="23" name="Text 20"/>
          <p:cNvSpPr txBox="1"/>
          <p:nvPr/>
        </p:nvSpPr>
        <p:spPr>
          <a:xfrm>
            <a:off x="6675120" y="4553712"/>
            <a:ext cx="1737360" cy="548640"/>
          </a:xfrm>
          <a:prstGeom prst="rect">
            <a:avLst/>
          </a:prstGeom>
          <a:noFill/>
          <a:ln/>
        </p:spPr>
        <p:txBody>
          <a:bodyPr wrap="square" lIns="0" tIns="0" rIns="0" bIns="0" rtlCol="0" anchor="t"/>
          <a:lstStyle/>
          <a:p>
            <a:pPr marL="0" indent="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marL="0" indent="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Ch5 · 판단 프레임</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marL="0" indent="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marL="0" indent="0" algn="ctr">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marL="0" indent="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marL="0" indent="0" algn="ctr">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marL="0" indent="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marL="0" indent="0">
              <a:buNone/>
            </a:pPr>
            <a:r>
              <a:rPr lang="en-US" sz="1500" b="1" dirty="0">
                <a:solidFill>
                  <a:schemeClr val="accent1"/>
                </a:solidFill>
              </a:rPr>
              <a:t>실무에서 이렇게 말한다  </a:t>
            </a: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494852"/>
            <a:ext cx="6949440" cy="666974"/>
          </a:xfrm>
          <a:prstGeom prst="rect">
            <a:avLst/>
          </a:prstGeom>
          <a:noFill/>
          <a:ln/>
        </p:spPr>
        <p:txBody>
          <a:bodyPr wrap="square" lIns="0" tIns="0" rIns="0" bIns="0" rtlCol="0" anchor="b"/>
          <a:lstStyle/>
          <a:p>
            <a:pPr marL="0" indent="0" algn="l">
              <a:buNone/>
            </a:pPr>
            <a:r>
              <a:rPr lang="en-US" sz="4400" b="1" dirty="0">
                <a:solidFill>
                  <a:srgbClr val="FFFFFF"/>
                </a:solidFill>
              </a:rPr>
              <a:t>정리</a:t>
            </a:r>
            <a:endParaRPr lang="en-US" sz="4400" dirty="0"/>
          </a:p>
        </p:txBody>
      </p:sp>
      <p:sp>
        <p:nvSpPr>
          <p:cNvPr id="4" name="Text 2"/>
          <p:cNvSpPr txBox="1"/>
          <p:nvPr/>
        </p:nvSpPr>
        <p:spPr>
          <a:xfrm>
            <a:off x="640080" y="2903220"/>
            <a:ext cx="4754880" cy="1051560"/>
          </a:xfrm>
          <a:prstGeom prst="rect">
            <a:avLst/>
          </a:prstGeom>
          <a:noFill/>
          <a:ln/>
        </p:spPr>
        <p:txBody>
          <a:bodyPr wrap="square" lIns="0" tIns="0" rIns="0" bIns="0" rtlCol="0" anchor="t"/>
          <a:lstStyle/>
          <a:p>
            <a:pPr marL="0" indent="0">
              <a:spcAft>
                <a:spcPts val="1400"/>
              </a:spcAft>
              <a:buNone/>
            </a:pPr>
            <a:r>
              <a:rPr lang="en-US" sz="1500" b="1" dirty="0">
                <a:solidFill>
                  <a:srgbClr val="FFFFFF"/>
                </a:solidFill>
              </a:rPr>
              <a:t>1   랜덤 배정이 인과를 말할 수 있게 해 준다</a:t>
            </a:r>
            <a:endParaRPr lang="en-US" sz="1500" dirty="0"/>
          </a:p>
          <a:p>
            <a:pPr marL="0" indent="0">
              <a:spcAft>
                <a:spcPts val="1400"/>
              </a:spcAft>
              <a:buNone/>
            </a:pPr>
            <a:r>
              <a:rPr lang="en-US" sz="1500" b="1" dirty="0">
                <a:solidFill>
                  <a:srgbClr val="FFFFFF"/>
                </a:solidFill>
              </a:rPr>
              <a:t>2   가설·OEC·가드레일·MDE는 실험 전에 정한다</a:t>
            </a:r>
            <a:endParaRPr lang="en-US" sz="1500" dirty="0"/>
          </a:p>
          <a:p>
            <a:pPr marL="0" indent="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복습 퀴즈 1 · 객관식</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결과를 보고 가장 먼저 해야 할 일은 무엇일까요?</a:t>
            </a:r>
            <a:endParaRPr lang="en-US" sz="2000" dirty="0"/>
          </a:p>
        </p:txBody>
      </p:sp>
      <p:sp>
        <p:nvSpPr>
          <p:cNvPr id="5" name="Text 2"/>
          <p:cNvSpPr txBox="1"/>
          <p:nvPr/>
        </p:nvSpPr>
        <p:spPr>
          <a:xfrm>
            <a:off x="650838" y="1737360"/>
            <a:ext cx="10911535" cy="457200"/>
          </a:xfrm>
          <a:prstGeom prst="rect">
            <a:avLst/>
          </a:prstGeom>
          <a:noFill/>
          <a:ln/>
        </p:spPr>
        <p:txBody>
          <a:bodyPr wrap="square" lIns="0" tIns="0" rIns="0" bIns="0" rtlCol="0" anchor="t"/>
          <a:lstStyle/>
          <a:p>
            <a:pPr marL="0" indent="0">
              <a:buNone/>
            </a:pPr>
            <a:r>
              <a:rPr lang="en-US" sz="2000" dirty="0">
                <a:solidFill>
                  <a:schemeClr val="tx1"/>
                </a:solidFill>
              </a:rPr>
              <a:t>50:50으로 설계한 실험에서 B안 전환율이 +3%p, p = 0.01로 </a:t>
            </a:r>
            <a:r>
              <a:rPr lang="en-US" sz="2000" dirty="0" err="1">
                <a:solidFill>
                  <a:schemeClr val="tx1"/>
                </a:solidFill>
              </a:rPr>
              <a:t>나왔습니다</a:t>
            </a:r>
            <a:r>
              <a:rPr lang="en-US" altLang="ko-KR" sz="2000" dirty="0">
                <a:solidFill>
                  <a:schemeClr val="tx1"/>
                </a:solidFill>
              </a:rPr>
              <a:t>.</a:t>
            </a:r>
            <a:endParaRPr lang="en-US" sz="2000" dirty="0"/>
          </a:p>
        </p:txBody>
      </p:sp>
      <p:sp>
        <p:nvSpPr>
          <p:cNvPr id="6" name="Text 3"/>
          <p:cNvSpPr txBox="1"/>
          <p:nvPr/>
        </p:nvSpPr>
        <p:spPr>
          <a:xfrm>
            <a:off x="640080" y="2240280"/>
            <a:ext cx="10911535" cy="685800"/>
          </a:xfrm>
          <a:prstGeom prst="rect">
            <a:avLst/>
          </a:prstGeom>
          <a:noFill/>
          <a:ln/>
        </p:spPr>
        <p:txBody>
          <a:bodyPr wrap="square" lIns="0" tIns="0" rIns="0" bIns="0" rtlCol="0" anchor="t"/>
          <a:lstStyle/>
          <a:p>
            <a:pPr marL="0" indent="0">
              <a:buNone/>
            </a:pPr>
            <a:r>
              <a:rPr lang="en-US" sz="1500" dirty="0">
                <a:solidFill>
                  <a:schemeClr val="tx2"/>
                </a:solidFill>
              </a:rPr>
              <a:t>그런데 실제로 들어온 사용자 수는  </a:t>
            </a:r>
            <a:r>
              <a:rPr lang="en-US" sz="3000" b="1" dirty="0">
                <a:solidFill>
                  <a:schemeClr val="accent1"/>
                </a:solidFill>
              </a:rPr>
              <a:t>A 50,000명</a:t>
            </a:r>
            <a:r>
              <a:rPr lang="en-US" sz="3000" dirty="0">
                <a:solidFill>
                  <a:schemeClr val="tx1"/>
                </a:solidFill>
              </a:rPr>
              <a:t>   </a:t>
            </a:r>
            <a:r>
              <a:rPr lang="en-US" sz="3000" b="1" dirty="0">
                <a:solidFill>
                  <a:schemeClr val="accent3"/>
                </a:solidFill>
              </a:rPr>
              <a:t>B 48,800명</a:t>
            </a:r>
            <a:r>
              <a:rPr lang="en-US" sz="1500" dirty="0">
                <a:solidFill>
                  <a:schemeClr val="tx2"/>
                </a:solidFill>
              </a:rPr>
              <a:t>  </a:t>
            </a:r>
            <a:r>
              <a:rPr lang="en-US" sz="1500" dirty="0" err="1">
                <a:solidFill>
                  <a:schemeClr val="tx2"/>
                </a:solidFill>
              </a:rPr>
              <a:t>입니다</a:t>
            </a:r>
            <a:r>
              <a:rPr lang="en-US" altLang="ko-KR" sz="1500" dirty="0">
                <a:solidFill>
                  <a:schemeClr val="tx2"/>
                </a:solidFill>
              </a:rPr>
              <a:t>.</a:t>
            </a:r>
            <a:endParaRPr lang="en-US" sz="1500" dirty="0"/>
          </a:p>
        </p:txBody>
      </p:sp>
      <p:sp>
        <p:nvSpPr>
          <p:cNvPr id="7" name="Text 4"/>
          <p:cNvSpPr txBox="1"/>
          <p:nvPr/>
        </p:nvSpPr>
        <p:spPr>
          <a:xfrm>
            <a:off x="640080" y="3063240"/>
            <a:ext cx="10911535" cy="411480"/>
          </a:xfrm>
          <a:prstGeom prst="rect">
            <a:avLst/>
          </a:prstGeom>
          <a:noFill/>
          <a:ln/>
        </p:spPr>
        <p:txBody>
          <a:bodyPr wrap="square" lIns="0" tIns="0" rIns="0" bIns="0" rtlCol="0" anchor="t"/>
          <a:lstStyle/>
          <a:p>
            <a:pPr marL="0" indent="0">
              <a:buNone/>
            </a:pPr>
            <a:r>
              <a:rPr lang="en-US" sz="1500" b="1" dirty="0">
                <a:solidFill>
                  <a:schemeClr val="accent1"/>
                </a:solidFill>
              </a:rPr>
              <a:t>가장 먼저 해야 할 일로 옳은 것을 고르세요.</a:t>
            </a:r>
            <a:endParaRPr lang="en-US" sz="1500" dirty="0"/>
          </a:p>
        </p:txBody>
      </p:sp>
      <p:sp>
        <p:nvSpPr>
          <p:cNvPr id="8" name="Text 5"/>
          <p:cNvSpPr txBox="1"/>
          <p:nvPr/>
        </p:nvSpPr>
        <p:spPr>
          <a:xfrm>
            <a:off x="640080" y="3611880"/>
            <a:ext cx="548640" cy="457200"/>
          </a:xfrm>
          <a:prstGeom prst="rect">
            <a:avLst/>
          </a:prstGeom>
          <a:noFill/>
          <a:ln/>
        </p:spPr>
        <p:txBody>
          <a:bodyPr wrap="square" lIns="0" tIns="0" rIns="0" bIns="0" rtlCol="0" anchor="t"/>
          <a:lstStyle/>
          <a:p>
            <a:pPr marL="0" indent="0">
              <a:buNone/>
            </a:pPr>
            <a:r>
              <a:rPr lang="en-US" sz="2000" b="1" dirty="0">
                <a:solidFill>
                  <a:schemeClr val="accent1"/>
                </a:solidFill>
              </a:rPr>
              <a:t>①</a:t>
            </a:r>
            <a:endParaRPr lang="en-US" sz="2000" dirty="0"/>
          </a:p>
        </p:txBody>
      </p:sp>
      <p:sp>
        <p:nvSpPr>
          <p:cNvPr id="9" name="Text 6"/>
          <p:cNvSpPr txBox="1"/>
          <p:nvPr/>
        </p:nvSpPr>
        <p:spPr>
          <a:xfrm>
            <a:off x="1188720" y="3611880"/>
            <a:ext cx="10362895" cy="457200"/>
          </a:xfrm>
          <a:prstGeom prst="rect">
            <a:avLst/>
          </a:prstGeom>
          <a:noFill/>
          <a:ln/>
        </p:spPr>
        <p:txBody>
          <a:bodyPr wrap="square" lIns="0" tIns="0" rIns="0" bIns="0" rtlCol="0" anchor="t"/>
          <a:lstStyle/>
          <a:p>
            <a:pPr marL="0" indent="0">
              <a:buNone/>
            </a:pPr>
            <a:r>
              <a:rPr lang="en-US" sz="2000" dirty="0">
                <a:solidFill>
                  <a:schemeClr val="tx1"/>
                </a:solidFill>
              </a:rPr>
              <a:t>유의하므로 B안을 배포합니다</a:t>
            </a:r>
            <a:endParaRPr lang="en-US" sz="2000" dirty="0"/>
          </a:p>
        </p:txBody>
      </p:sp>
      <p:sp>
        <p:nvSpPr>
          <p:cNvPr id="10" name="Text 7"/>
          <p:cNvSpPr txBox="1"/>
          <p:nvPr/>
        </p:nvSpPr>
        <p:spPr>
          <a:xfrm>
            <a:off x="640080" y="4142232"/>
            <a:ext cx="548640" cy="457200"/>
          </a:xfrm>
          <a:prstGeom prst="rect">
            <a:avLst/>
          </a:prstGeom>
          <a:noFill/>
          <a:ln/>
        </p:spPr>
        <p:txBody>
          <a:bodyPr wrap="square" lIns="0" tIns="0" rIns="0" bIns="0" rtlCol="0" anchor="t"/>
          <a:lstStyle/>
          <a:p>
            <a:pPr marL="0" indent="0">
              <a:buNone/>
            </a:pPr>
            <a:r>
              <a:rPr lang="en-US" sz="2000" b="1" dirty="0">
                <a:solidFill>
                  <a:schemeClr val="accent1"/>
                </a:solidFill>
              </a:rPr>
              <a:t>②</a:t>
            </a:r>
            <a:endParaRPr lang="en-US" sz="2000" dirty="0"/>
          </a:p>
        </p:txBody>
      </p:sp>
      <p:sp>
        <p:nvSpPr>
          <p:cNvPr id="11" name="Text 8"/>
          <p:cNvSpPr txBox="1"/>
          <p:nvPr/>
        </p:nvSpPr>
        <p:spPr>
          <a:xfrm>
            <a:off x="1188720" y="4142232"/>
            <a:ext cx="10362895" cy="457200"/>
          </a:xfrm>
          <a:prstGeom prst="rect">
            <a:avLst/>
          </a:prstGeom>
          <a:noFill/>
          <a:ln/>
        </p:spPr>
        <p:txBody>
          <a:bodyPr wrap="square" lIns="0" tIns="0" rIns="0" bIns="0" rtlCol="0" anchor="t"/>
          <a:lstStyle/>
          <a:p>
            <a:pPr marL="0" indent="0">
              <a:buNone/>
            </a:pPr>
            <a:r>
              <a:rPr lang="en-US" sz="2000" dirty="0">
                <a:solidFill>
                  <a:schemeClr val="tx1"/>
                </a:solidFill>
              </a:rPr>
              <a:t>표본이 충분하니 신뢰구간만 확인하고 배포합니다</a:t>
            </a:r>
            <a:endParaRPr lang="en-US" sz="2000" dirty="0"/>
          </a:p>
        </p:txBody>
      </p:sp>
      <p:sp>
        <p:nvSpPr>
          <p:cNvPr id="12" name="Text 9"/>
          <p:cNvSpPr txBox="1"/>
          <p:nvPr/>
        </p:nvSpPr>
        <p:spPr>
          <a:xfrm>
            <a:off x="640080" y="4672584"/>
            <a:ext cx="548640" cy="457200"/>
          </a:xfrm>
          <a:prstGeom prst="rect">
            <a:avLst/>
          </a:prstGeom>
          <a:noFill/>
          <a:ln/>
        </p:spPr>
        <p:txBody>
          <a:bodyPr wrap="square" lIns="0" tIns="0" rIns="0" bIns="0" rtlCol="0" anchor="t"/>
          <a:lstStyle/>
          <a:p>
            <a:pPr marL="0" indent="0">
              <a:buNone/>
            </a:pPr>
            <a:r>
              <a:rPr lang="en-US" sz="2000" b="1" dirty="0">
                <a:solidFill>
                  <a:schemeClr val="accent1"/>
                </a:solidFill>
              </a:rPr>
              <a:t>③</a:t>
            </a:r>
            <a:endParaRPr lang="en-US" sz="2000" dirty="0"/>
          </a:p>
        </p:txBody>
      </p:sp>
      <p:sp>
        <p:nvSpPr>
          <p:cNvPr id="13" name="Text 10"/>
          <p:cNvSpPr txBox="1"/>
          <p:nvPr/>
        </p:nvSpPr>
        <p:spPr>
          <a:xfrm>
            <a:off x="1188720" y="4672584"/>
            <a:ext cx="10362895" cy="457200"/>
          </a:xfrm>
          <a:prstGeom prst="rect">
            <a:avLst/>
          </a:prstGeom>
          <a:noFill/>
          <a:ln/>
        </p:spPr>
        <p:txBody>
          <a:bodyPr wrap="square" lIns="0" tIns="0" rIns="0" bIns="0" rtlCol="0" anchor="t"/>
          <a:lstStyle/>
          <a:p>
            <a:pPr marL="0" indent="0">
              <a:buNone/>
            </a:pPr>
            <a:r>
              <a:rPr lang="en-US" sz="2000" dirty="0">
                <a:solidFill>
                  <a:schemeClr val="tx1"/>
                </a:solidFill>
              </a:rPr>
              <a:t>결과 해석을 멈추고 배정·로깅 과정에서 원인을 찾습니다</a:t>
            </a:r>
            <a:endParaRPr lang="en-US" sz="2000" dirty="0"/>
          </a:p>
        </p:txBody>
      </p:sp>
      <p:sp>
        <p:nvSpPr>
          <p:cNvPr id="14" name="Text 11"/>
          <p:cNvSpPr txBox="1"/>
          <p:nvPr/>
        </p:nvSpPr>
        <p:spPr>
          <a:xfrm>
            <a:off x="640080" y="5202936"/>
            <a:ext cx="548640" cy="457200"/>
          </a:xfrm>
          <a:prstGeom prst="rect">
            <a:avLst/>
          </a:prstGeom>
          <a:noFill/>
          <a:ln/>
        </p:spPr>
        <p:txBody>
          <a:bodyPr wrap="square" lIns="0" tIns="0" rIns="0" bIns="0" rtlCol="0" anchor="t"/>
          <a:lstStyle/>
          <a:p>
            <a:pPr marL="0" indent="0">
              <a:buNone/>
            </a:pPr>
            <a:r>
              <a:rPr lang="en-US" sz="2000" b="1" dirty="0">
                <a:solidFill>
                  <a:schemeClr val="accent1"/>
                </a:solidFill>
              </a:rPr>
              <a:t>④</a:t>
            </a:r>
            <a:endParaRPr lang="en-US" sz="2000" dirty="0"/>
          </a:p>
        </p:txBody>
      </p:sp>
      <p:sp>
        <p:nvSpPr>
          <p:cNvPr id="15" name="Text 12"/>
          <p:cNvSpPr txBox="1"/>
          <p:nvPr/>
        </p:nvSpPr>
        <p:spPr>
          <a:xfrm>
            <a:off x="1188720" y="5202936"/>
            <a:ext cx="10362895" cy="457200"/>
          </a:xfrm>
          <a:prstGeom prst="rect">
            <a:avLst/>
          </a:prstGeom>
          <a:noFill/>
          <a:ln/>
        </p:spPr>
        <p:txBody>
          <a:bodyPr wrap="square" lIns="0" tIns="0" rIns="0" bIns="0" rtlCol="0" anchor="t"/>
          <a:lstStyle/>
          <a:p>
            <a:pPr marL="0" indent="0">
              <a:buNone/>
            </a:pPr>
            <a:r>
              <a:rPr lang="en-US" sz="2000" dirty="0">
                <a:solidFill>
                  <a:schemeClr val="tx1"/>
                </a:solidFill>
              </a:rPr>
              <a:t>B안의 이탈 사용자를 제외하고 다시 분석합니다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복습 퀴즈 2 · 주관식</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이 기능의 실험을 직접 설계해 보세요</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marL="0" indent="0">
              <a:buNone/>
            </a:pPr>
            <a:r>
              <a:rPr lang="en-US" sz="2000" dirty="0">
                <a:solidFill>
                  <a:schemeClr val="tx1"/>
                </a:solidFill>
              </a:rPr>
              <a:t>중고거래 앱에서 </a:t>
            </a:r>
            <a:r>
              <a:rPr lang="en-US" sz="2000" b="1" dirty="0">
                <a:solidFill>
                  <a:schemeClr val="accent1"/>
                </a:solidFill>
              </a:rPr>
              <a:t>판매자에게 적정 가격을 추천하는 기능</a:t>
            </a:r>
            <a:r>
              <a:rPr lang="en-US" sz="2000" dirty="0">
                <a:solidFill>
                  <a:schemeClr val="tx1"/>
                </a:solidFill>
              </a:rPr>
              <a:t>을 </a:t>
            </a:r>
            <a:r>
              <a:rPr lang="en-US" sz="2000" dirty="0" err="1">
                <a:solidFill>
                  <a:schemeClr val="tx1"/>
                </a:solidFill>
              </a:rPr>
              <a:t>실험하려고</a:t>
            </a:r>
            <a:r>
              <a:rPr lang="en-US" sz="2000" dirty="0">
                <a:solidFill>
                  <a:schemeClr val="tx1"/>
                </a:solidFill>
              </a:rPr>
              <a:t> </a:t>
            </a:r>
            <a:r>
              <a:rPr lang="en-US" sz="2000" dirty="0" err="1">
                <a:solidFill>
                  <a:schemeClr val="tx1"/>
                </a:solidFill>
              </a:rPr>
              <a:t>합니다</a:t>
            </a:r>
            <a:r>
              <a:rPr lang="en-US" altLang="ko-KR" sz="2000" dirty="0">
                <a:solidFill>
                  <a:schemeClr val="tx1"/>
                </a:solidFill>
              </a:rPr>
              <a:t>.</a:t>
            </a:r>
            <a:endParaRPr lang="en-US" sz="2000" dirty="0"/>
          </a:p>
        </p:txBody>
      </p:sp>
      <p:sp>
        <p:nvSpPr>
          <p:cNvPr id="6" name="Text 3"/>
          <p:cNvSpPr txBox="1"/>
          <p:nvPr/>
        </p:nvSpPr>
        <p:spPr>
          <a:xfrm>
            <a:off x="640080" y="2286000"/>
            <a:ext cx="10911535" cy="411480"/>
          </a:xfrm>
          <a:prstGeom prst="rect">
            <a:avLst/>
          </a:prstGeom>
          <a:noFill/>
          <a:ln/>
        </p:spPr>
        <p:txBody>
          <a:bodyPr wrap="square" lIns="0" tIns="0" rIns="0" bIns="0" rtlCol="0" anchor="t"/>
          <a:lstStyle/>
          <a:p>
            <a:pPr marL="0" indent="0">
              <a:buNone/>
            </a:pPr>
            <a:r>
              <a:rPr lang="en-US" sz="1500" b="1" dirty="0">
                <a:solidFill>
                  <a:schemeClr val="accent1"/>
                </a:solidFill>
              </a:rPr>
              <a:t>아래 세 가지 질문에 답하세요.</a:t>
            </a:r>
            <a:endParaRPr lang="en-US" sz="1500" dirty="0"/>
          </a:p>
        </p:txBody>
      </p:sp>
      <p:sp>
        <p:nvSpPr>
          <p:cNvPr id="7" name="Text 4"/>
          <p:cNvSpPr txBox="1"/>
          <p:nvPr/>
        </p:nvSpPr>
        <p:spPr>
          <a:xfrm>
            <a:off x="640080" y="292608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01</a:t>
            </a:r>
            <a:endParaRPr lang="en-US" sz="3000" dirty="0"/>
          </a:p>
        </p:txBody>
      </p:sp>
      <p:sp>
        <p:nvSpPr>
          <p:cNvPr id="8" name="Text 5"/>
          <p:cNvSpPr txBox="1"/>
          <p:nvPr/>
        </p:nvSpPr>
        <p:spPr>
          <a:xfrm>
            <a:off x="1554479" y="2926080"/>
            <a:ext cx="5739205" cy="1097280"/>
          </a:xfrm>
          <a:prstGeom prst="rect">
            <a:avLst/>
          </a:prstGeom>
          <a:noFill/>
          <a:ln/>
        </p:spPr>
        <p:txBody>
          <a:bodyPr wrap="square" lIns="0" tIns="0" rIns="0" bIns="0" rtlCol="0" anchor="t"/>
          <a:lstStyle/>
          <a:p>
            <a:pPr marL="0" indent="0">
              <a:buNone/>
            </a:pPr>
            <a:r>
              <a:rPr lang="en-US" sz="2000" b="1" dirty="0">
                <a:solidFill>
                  <a:schemeClr val="tx1"/>
                </a:solidFill>
              </a:rPr>
              <a:t>가설</a:t>
            </a:r>
            <a:endParaRPr lang="en-US" sz="1500" dirty="0"/>
          </a:p>
          <a:p>
            <a:pPr marL="0" indent="0">
              <a:buNone/>
            </a:pPr>
            <a:r>
              <a:rPr lang="en-US" sz="1500" dirty="0">
                <a:solidFill>
                  <a:schemeClr val="tx2"/>
                </a:solidFill>
              </a:rPr>
              <a:t>한 문장으로 써 보세요</a:t>
            </a:r>
            <a:endParaRPr lang="en-US" sz="1500" dirty="0"/>
          </a:p>
        </p:txBody>
      </p:sp>
      <p:sp>
        <p:nvSpPr>
          <p:cNvPr id="9" name="Text 6"/>
          <p:cNvSpPr txBox="1"/>
          <p:nvPr/>
        </p:nvSpPr>
        <p:spPr>
          <a:xfrm>
            <a:off x="640080" y="411480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02</a:t>
            </a:r>
            <a:endParaRPr lang="en-US" sz="3000" dirty="0"/>
          </a:p>
        </p:txBody>
      </p:sp>
      <p:sp>
        <p:nvSpPr>
          <p:cNvPr id="10" name="Text 7"/>
          <p:cNvSpPr txBox="1"/>
          <p:nvPr/>
        </p:nvSpPr>
        <p:spPr>
          <a:xfrm>
            <a:off x="1554479" y="4114800"/>
            <a:ext cx="7352851" cy="1097280"/>
          </a:xfrm>
          <a:prstGeom prst="rect">
            <a:avLst/>
          </a:prstGeom>
          <a:noFill/>
          <a:ln/>
        </p:spPr>
        <p:txBody>
          <a:bodyPr wrap="square" lIns="0" tIns="0" rIns="0" bIns="0" rtlCol="0" anchor="t"/>
          <a:lstStyle/>
          <a:p>
            <a:pPr marL="0" indent="0">
              <a:buNone/>
            </a:pPr>
            <a:r>
              <a:rPr lang="en-US" sz="2000" b="1" dirty="0">
                <a:solidFill>
                  <a:schemeClr val="tx1"/>
                </a:solidFill>
              </a:rPr>
              <a:t>지표</a:t>
            </a:r>
            <a:endParaRPr lang="en-US" sz="1500" dirty="0"/>
          </a:p>
          <a:p>
            <a:pPr marL="0" indent="0">
              <a:buNone/>
            </a:pPr>
            <a:r>
              <a:rPr lang="en-US" sz="1500" dirty="0">
                <a:solidFill>
                  <a:schemeClr val="tx2"/>
                </a:solidFill>
              </a:rPr>
              <a:t>Primary 지표와 Guardrail 지표를 하나씩 정해 보세요</a:t>
            </a:r>
            <a:endParaRPr lang="en-US" sz="1500" dirty="0"/>
          </a:p>
        </p:txBody>
      </p:sp>
      <p:sp>
        <p:nvSpPr>
          <p:cNvPr id="11" name="Text 8"/>
          <p:cNvSpPr txBox="1"/>
          <p:nvPr/>
        </p:nvSpPr>
        <p:spPr>
          <a:xfrm>
            <a:off x="640080" y="5303520"/>
            <a:ext cx="914400" cy="548640"/>
          </a:xfrm>
          <a:prstGeom prst="rect">
            <a:avLst/>
          </a:prstGeom>
          <a:noFill/>
          <a:ln/>
        </p:spPr>
        <p:txBody>
          <a:bodyPr wrap="square" lIns="0" tIns="0" rIns="0" bIns="0" rtlCol="0" anchor="t"/>
          <a:lstStyle/>
          <a:p>
            <a:pPr marL="0" indent="0">
              <a:buNone/>
            </a:pPr>
            <a:r>
              <a:rPr lang="en-US" sz="3000" b="1" dirty="0">
                <a:solidFill>
                  <a:schemeClr val="accent1"/>
                </a:solidFill>
              </a:rPr>
              <a:t>03</a:t>
            </a:r>
            <a:endParaRPr lang="en-US" sz="3000" dirty="0"/>
          </a:p>
        </p:txBody>
      </p:sp>
      <p:sp>
        <p:nvSpPr>
          <p:cNvPr id="12" name="Text 9"/>
          <p:cNvSpPr txBox="1"/>
          <p:nvPr/>
        </p:nvSpPr>
        <p:spPr>
          <a:xfrm>
            <a:off x="1554480" y="5303520"/>
            <a:ext cx="7352852" cy="1097280"/>
          </a:xfrm>
          <a:prstGeom prst="rect">
            <a:avLst/>
          </a:prstGeom>
          <a:noFill/>
          <a:ln/>
        </p:spPr>
        <p:txBody>
          <a:bodyPr wrap="square" lIns="0" tIns="0" rIns="0" bIns="0" rtlCol="0" anchor="t"/>
          <a:lstStyle/>
          <a:p>
            <a:pPr marL="0" indent="0">
              <a:buNone/>
            </a:pPr>
            <a:r>
              <a:rPr lang="en-US" sz="2000" b="1" dirty="0">
                <a:solidFill>
                  <a:schemeClr val="tx1"/>
                </a:solidFill>
              </a:rPr>
              <a:t>실험 단위</a:t>
            </a:r>
            <a:endParaRPr lang="en-US" sz="1500" dirty="0"/>
          </a:p>
          <a:p>
            <a:pPr marL="0" indent="0">
              <a:buNone/>
            </a:pPr>
            <a:r>
              <a:rPr lang="en-US" sz="1500" dirty="0">
                <a:solidFill>
                  <a:schemeClr val="tx2"/>
                </a:solidFill>
              </a:rPr>
              <a:t>사용자 단위로 나누면 어떤 문제가 생길 수 있는지, 대안은 무엇인지 써 보세요</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411480"/>
            <a:ext cx="7315200" cy="320040"/>
          </a:xfrm>
          <a:prstGeom prst="rect">
            <a:avLst/>
          </a:prstGeom>
          <a:noFill/>
          <a:ln/>
        </p:spPr>
        <p:txBody>
          <a:bodyPr wrap="square" lIns="0" tIns="0" rIns="0" bIns="0" rtlCol="0" anchor="t"/>
          <a:lstStyle/>
          <a:p>
            <a:pPr marL="0" indent="0" algn="l">
              <a:buNone/>
            </a:pPr>
            <a:r>
              <a:rPr lang="en-US" sz="1500" b="1" dirty="0">
                <a:solidFill>
                  <a:srgbClr val="3A5BFF"/>
                </a:solidFill>
              </a:rPr>
              <a:t>참고자료 · 42개 고유 링크</a:t>
            </a:r>
            <a:endParaRPr lang="en-US" sz="1500" dirty="0"/>
          </a:p>
        </p:txBody>
      </p:sp>
      <p:sp>
        <p:nvSpPr>
          <p:cNvPr id="3" name="Text 0"/>
          <p:cNvSpPr>
            <a:spLocks noGrp="1"/>
          </p:cNvSpPr>
          <p:nvPr>
            <p:ph type="title" idx="101" hasCustomPrompt="1"/>
          </p:nvPr>
        </p:nvSpPr>
        <p:spPr>
          <a:xfrm>
            <a:off x="640080" y="749808"/>
            <a:ext cx="10911535" cy="777240"/>
          </a:xfrm>
          <a:prstGeom prst="rect">
            <a:avLst/>
          </a:prstGeom>
          <a:noFill/>
          <a:ln/>
        </p:spPr>
        <p:txBody>
          <a:bodyPr wrap="square" lIns="0" tIns="0" rIns="0" bIns="0" rtlCol="0" anchor="t"/>
          <a:lstStyle/>
          <a:p>
            <a:pPr marL="0" indent="0" algn="l">
              <a:buNone/>
            </a:pPr>
            <a:r>
              <a:rPr lang="en-US" sz="2000" b="1" dirty="0">
                <a:solidFill>
                  <a:srgbClr val="1B1F3B"/>
                </a:solidFill>
              </a:rPr>
              <a:t>Reference</a:t>
            </a:r>
            <a:endParaRPr lang="en-US" sz="2000" dirty="0"/>
          </a:p>
        </p:txBody>
      </p:sp>
      <p:sp>
        <p:nvSpPr>
          <p:cNvPr id="5" name="Text 2">
            <a:hlinkClick r:id="rId3"/>
          </p:cNvPr>
          <p:cNvSpPr txBox="1"/>
          <p:nvPr/>
        </p:nvSpPr>
        <p:spPr>
          <a:xfrm>
            <a:off x="640080" y="1627632"/>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3">
                  <a:extLst>
                    <a:ext uri="{A12FA001-AC4F-418D-AE19-62706E023703}">
                      <ahyp:hlinkClr xmlns:ahyp="http://schemas.microsoft.com/office/drawing/2018/hyperlinkcolor" val="tx"/>
                    </a:ext>
                  </a:extLst>
                </a:hlinkClick>
              </a:rPr>
              <a:t>Oracle: A/B Testing</a:t>
            </a:r>
            <a:endParaRPr lang="en-US" sz="850" dirty="0"/>
          </a:p>
        </p:txBody>
      </p:sp>
      <p:sp>
        <p:nvSpPr>
          <p:cNvPr id="6" name="Text 3">
            <a:hlinkClick r:id="rId4"/>
          </p:cNvPr>
          <p:cNvSpPr txBox="1"/>
          <p:nvPr/>
        </p:nvSpPr>
        <p:spPr>
          <a:xfrm>
            <a:off x="640080" y="2020824"/>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4">
                  <a:extLst>
                    <a:ext uri="{A12FA001-AC4F-418D-AE19-62706E023703}">
                      <ahyp:hlinkClr xmlns:ahyp="http://schemas.microsoft.com/office/drawing/2018/hyperlinkcolor" val="tx"/>
                    </a:ext>
                  </a:extLst>
                </a:hlinkClick>
              </a:rPr>
              <a:t>Datarian: Experiment Bible</a:t>
            </a:r>
            <a:endParaRPr lang="en-US" sz="850" dirty="0"/>
          </a:p>
        </p:txBody>
      </p:sp>
      <p:sp>
        <p:nvSpPr>
          <p:cNvPr id="7" name="Text 4">
            <a:hlinkClick r:id="rId5"/>
          </p:cNvPr>
          <p:cNvSpPr txBox="1"/>
          <p:nvPr/>
        </p:nvSpPr>
        <p:spPr>
          <a:xfrm>
            <a:off x="640080" y="2414016"/>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5">
                  <a:extLst>
                    <a:ext uri="{A12FA001-AC4F-418D-AE19-62706E023703}">
                      <ahyp:hlinkClr xmlns:ahyp="http://schemas.microsoft.com/office/drawing/2018/hyperlinkcolor" val="tx"/>
                    </a:ext>
                  </a:extLst>
                </a:hlinkClick>
              </a:rPr>
              <a:t>OCE Case Studies</a:t>
            </a:r>
            <a:endParaRPr lang="en-US" sz="850" dirty="0"/>
          </a:p>
        </p:txBody>
      </p:sp>
      <p:sp>
        <p:nvSpPr>
          <p:cNvPr id="8" name="Text 5">
            <a:hlinkClick r:id="rId6"/>
          </p:cNvPr>
          <p:cNvSpPr txBox="1"/>
          <p:nvPr/>
        </p:nvSpPr>
        <p:spPr>
          <a:xfrm>
            <a:off x="640080" y="2807208"/>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6">
                  <a:extLst>
                    <a:ext uri="{A12FA001-AC4F-418D-AE19-62706E023703}">
                      <ahyp:hlinkClr xmlns:ahyp="http://schemas.microsoft.com/office/drawing/2018/hyperlinkcolor" val="tx"/>
                    </a:ext>
                  </a:extLst>
                </a:hlinkClick>
              </a:rPr>
              <a:t>Hypothesis Testing</a:t>
            </a:r>
            <a:endParaRPr lang="en-US" sz="850" dirty="0"/>
          </a:p>
        </p:txBody>
      </p:sp>
      <p:sp>
        <p:nvSpPr>
          <p:cNvPr id="9" name="Text 6">
            <a:hlinkClick r:id="rId7"/>
          </p:cNvPr>
          <p:cNvSpPr txBox="1"/>
          <p:nvPr/>
        </p:nvSpPr>
        <p:spPr>
          <a:xfrm>
            <a:off x="640080" y="3200400"/>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7">
                  <a:extLst>
                    <a:ext uri="{A12FA001-AC4F-418D-AE19-62706E023703}">
                      <ahyp:hlinkClr xmlns:ahyp="http://schemas.microsoft.com/office/drawing/2018/hyperlinkcolor" val="tx"/>
                    </a:ext>
                  </a:extLst>
                </a:hlinkClick>
              </a:rPr>
              <a:t>WikiDocs: A/B Guide</a:t>
            </a:r>
            <a:endParaRPr lang="en-US" sz="850" dirty="0"/>
          </a:p>
        </p:txBody>
      </p:sp>
      <p:sp>
        <p:nvSpPr>
          <p:cNvPr id="10" name="Text 7">
            <a:hlinkClick r:id="rId8"/>
          </p:cNvPr>
          <p:cNvSpPr txBox="1"/>
          <p:nvPr/>
        </p:nvSpPr>
        <p:spPr>
          <a:xfrm>
            <a:off x="640080" y="3593592"/>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8">
                  <a:extLst>
                    <a:ext uri="{A12FA001-AC4F-418D-AE19-62706E023703}">
                      <ahyp:hlinkClr xmlns:ahyp="http://schemas.microsoft.com/office/drawing/2018/hyperlinkcolor" val="tx"/>
                    </a:ext>
                  </a:extLst>
                </a:hlinkClick>
              </a:rPr>
              <a:t>Growth Culture</a:t>
            </a:r>
            <a:endParaRPr lang="en-US" sz="850" dirty="0"/>
          </a:p>
        </p:txBody>
      </p:sp>
      <p:sp>
        <p:nvSpPr>
          <p:cNvPr id="11" name="Text 8">
            <a:hlinkClick r:id="rId9"/>
          </p:cNvPr>
          <p:cNvSpPr txBox="1"/>
          <p:nvPr/>
        </p:nvSpPr>
        <p:spPr>
          <a:xfrm>
            <a:off x="640080" y="3986784"/>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9">
                  <a:extLst>
                    <a:ext uri="{A12FA001-AC4F-418D-AE19-62706E023703}">
                      <ahyp:hlinkClr xmlns:ahyp="http://schemas.microsoft.com/office/drawing/2018/hyperlinkcolor" val="tx"/>
                    </a:ext>
                  </a:extLst>
                </a:hlinkClick>
              </a:rPr>
              <a:t>Problem Definition</a:t>
            </a:r>
            <a:endParaRPr lang="en-US" sz="850" dirty="0"/>
          </a:p>
        </p:txBody>
      </p:sp>
      <p:sp>
        <p:nvSpPr>
          <p:cNvPr id="12" name="Text 9">
            <a:hlinkClick r:id="rId10"/>
          </p:cNvPr>
          <p:cNvSpPr txBox="1"/>
          <p:nvPr/>
        </p:nvSpPr>
        <p:spPr>
          <a:xfrm>
            <a:off x="640080" y="4379976"/>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10">
                  <a:extLst>
                    <a:ext uri="{A12FA001-AC4F-418D-AE19-62706E023703}">
                      <ahyp:hlinkClr xmlns:ahyp="http://schemas.microsoft.com/office/drawing/2018/hyperlinkcolor" val="tx"/>
                    </a:ext>
                  </a:extLst>
                </a:hlinkClick>
              </a:rPr>
              <a:t>Null vs Alternative</a:t>
            </a:r>
            <a:endParaRPr lang="en-US" sz="850" dirty="0"/>
          </a:p>
        </p:txBody>
      </p:sp>
      <p:sp>
        <p:nvSpPr>
          <p:cNvPr id="13" name="Text 10">
            <a:hlinkClick r:id="rId11"/>
          </p:cNvPr>
          <p:cNvSpPr txBox="1"/>
          <p:nvPr/>
        </p:nvSpPr>
        <p:spPr>
          <a:xfrm>
            <a:off x="640080" y="4773168"/>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11">
                  <a:extLst>
                    <a:ext uri="{A12FA001-AC4F-418D-AE19-62706E023703}">
                      <ahyp:hlinkClr xmlns:ahyp="http://schemas.microsoft.com/office/drawing/2018/hyperlinkcolor" val="tx"/>
                    </a:ext>
                  </a:extLst>
                </a:hlinkClick>
              </a:rPr>
              <a:t>One vs Two Tailed</a:t>
            </a:r>
            <a:endParaRPr lang="en-US" sz="850" dirty="0"/>
          </a:p>
        </p:txBody>
      </p:sp>
      <p:sp>
        <p:nvSpPr>
          <p:cNvPr id="14" name="Text 11">
            <a:hlinkClick r:id="rId12"/>
          </p:cNvPr>
          <p:cNvSpPr txBox="1"/>
          <p:nvPr/>
        </p:nvSpPr>
        <p:spPr>
          <a:xfrm>
            <a:off x="640080" y="5166360"/>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12">
                  <a:extLst>
                    <a:ext uri="{A12FA001-AC4F-418D-AE19-62706E023703}">
                      <ahyp:hlinkClr xmlns:ahyp="http://schemas.microsoft.com/office/drawing/2018/hyperlinkcolor" val="tx"/>
                    </a:ext>
                  </a:extLst>
                </a:hlinkClick>
              </a:rPr>
              <a:t>OEC / KPI / Driver</a:t>
            </a:r>
            <a:endParaRPr lang="en-US" sz="850" dirty="0"/>
          </a:p>
        </p:txBody>
      </p:sp>
      <p:sp>
        <p:nvSpPr>
          <p:cNvPr id="15" name="Text 12">
            <a:hlinkClick r:id="rId13"/>
          </p:cNvPr>
          <p:cNvSpPr txBox="1"/>
          <p:nvPr/>
        </p:nvSpPr>
        <p:spPr>
          <a:xfrm>
            <a:off x="640080" y="5559552"/>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13">
                  <a:extLst>
                    <a:ext uri="{A12FA001-AC4F-418D-AE19-62706E023703}">
                      <ahyp:hlinkClr xmlns:ahyp="http://schemas.microsoft.com/office/drawing/2018/hyperlinkcolor" val="tx"/>
                    </a:ext>
                  </a:extLst>
                </a:hlinkClick>
              </a:rPr>
              <a:t>Metric Selection</a:t>
            </a:r>
            <a:endParaRPr lang="en-US" sz="850" dirty="0"/>
          </a:p>
        </p:txBody>
      </p:sp>
      <p:sp>
        <p:nvSpPr>
          <p:cNvPr id="16" name="Text 13">
            <a:hlinkClick r:id="rId14"/>
          </p:cNvPr>
          <p:cNvSpPr txBox="1"/>
          <p:nvPr/>
        </p:nvSpPr>
        <p:spPr>
          <a:xfrm>
            <a:off x="3401568" y="1627632"/>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14">
                  <a:extLst>
                    <a:ext uri="{A12FA001-AC4F-418D-AE19-62706E023703}">
                      <ahyp:hlinkClr xmlns:ahyp="http://schemas.microsoft.com/office/drawing/2018/hyperlinkcolor" val="tx"/>
                    </a:ext>
                  </a:extLst>
                </a:hlinkClick>
              </a:rPr>
              <a:t>Ably: Product Metrics</a:t>
            </a:r>
            <a:endParaRPr lang="en-US" sz="850" dirty="0"/>
          </a:p>
        </p:txBody>
      </p:sp>
      <p:sp>
        <p:nvSpPr>
          <p:cNvPr id="17" name="Text 14">
            <a:hlinkClick r:id="rId15"/>
          </p:cNvPr>
          <p:cNvSpPr txBox="1"/>
          <p:nvPr/>
        </p:nvSpPr>
        <p:spPr>
          <a:xfrm>
            <a:off x="3401568" y="2020824"/>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15">
                  <a:extLst>
                    <a:ext uri="{A12FA001-AC4F-418D-AE19-62706E023703}">
                      <ahyp:hlinkClr xmlns:ahyp="http://schemas.microsoft.com/office/drawing/2018/hyperlinkcolor" val="tx"/>
                    </a:ext>
                  </a:extLst>
                </a:hlinkClick>
              </a:rPr>
              <a:t>OEC Design</a:t>
            </a:r>
            <a:endParaRPr lang="en-US" sz="850" dirty="0"/>
          </a:p>
        </p:txBody>
      </p:sp>
      <p:sp>
        <p:nvSpPr>
          <p:cNvPr id="18" name="Text 15">
            <a:hlinkClick r:id="rId16"/>
          </p:cNvPr>
          <p:cNvSpPr txBox="1"/>
          <p:nvPr/>
        </p:nvSpPr>
        <p:spPr>
          <a:xfrm>
            <a:off x="3401568" y="2414016"/>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16">
                  <a:extLst>
                    <a:ext uri="{A12FA001-AC4F-418D-AE19-62706E023703}">
                      <ahyp:hlinkClr xmlns:ahyp="http://schemas.microsoft.com/office/drawing/2018/hyperlinkcolor" val="tx"/>
                    </a:ext>
                  </a:extLst>
                </a:hlinkClick>
              </a:rPr>
              <a:t>A/B Data Quality</a:t>
            </a:r>
            <a:endParaRPr lang="en-US" sz="850" dirty="0"/>
          </a:p>
        </p:txBody>
      </p:sp>
      <p:sp>
        <p:nvSpPr>
          <p:cNvPr id="19" name="Text 16">
            <a:hlinkClick r:id="rId17"/>
          </p:cNvPr>
          <p:cNvSpPr txBox="1"/>
          <p:nvPr/>
        </p:nvSpPr>
        <p:spPr>
          <a:xfrm>
            <a:off x="3401568" y="2807208"/>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17">
                  <a:extLst>
                    <a:ext uri="{A12FA001-AC4F-418D-AE19-62706E023703}">
                      <ahyp:hlinkClr xmlns:ahyp="http://schemas.microsoft.com/office/drawing/2018/hyperlinkcolor" val="tx"/>
                    </a:ext>
                  </a:extLst>
                </a:hlinkClick>
              </a:rPr>
              <a:t>Hackle: User ID</a:t>
            </a:r>
            <a:endParaRPr lang="en-US" sz="850" dirty="0"/>
          </a:p>
        </p:txBody>
      </p:sp>
      <p:sp>
        <p:nvSpPr>
          <p:cNvPr id="20" name="Text 17">
            <a:hlinkClick r:id="rId18"/>
          </p:cNvPr>
          <p:cNvSpPr txBox="1"/>
          <p:nvPr/>
        </p:nvSpPr>
        <p:spPr>
          <a:xfrm>
            <a:off x="3401568" y="3200400"/>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18">
                  <a:extLst>
                    <a:ext uri="{A12FA001-AC4F-418D-AE19-62706E023703}">
                      <ahyp:hlinkClr xmlns:ahyp="http://schemas.microsoft.com/office/drawing/2018/hyperlinkcolor" val="tx"/>
                    </a:ext>
                  </a:extLst>
                </a:hlinkClick>
              </a:rPr>
              <a:t>Conversion Unit</a:t>
            </a:r>
            <a:endParaRPr lang="en-US" sz="850" dirty="0"/>
          </a:p>
        </p:txBody>
      </p:sp>
      <p:sp>
        <p:nvSpPr>
          <p:cNvPr id="21" name="Text 18">
            <a:hlinkClick r:id="rId19"/>
          </p:cNvPr>
          <p:cNvSpPr txBox="1"/>
          <p:nvPr/>
        </p:nvSpPr>
        <p:spPr>
          <a:xfrm>
            <a:off x="3401568" y="3593592"/>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19">
                  <a:extLst>
                    <a:ext uri="{A12FA001-AC4F-418D-AE19-62706E023703}">
                      <ahyp:hlinkClr xmlns:ahyp="http://schemas.microsoft.com/office/drawing/2018/hyperlinkcolor" val="tx"/>
                    </a:ext>
                  </a:extLst>
                </a:hlinkClick>
              </a:rPr>
              <a:t>Randomization Unit</a:t>
            </a:r>
            <a:endParaRPr lang="en-US" sz="850" dirty="0"/>
          </a:p>
        </p:txBody>
      </p:sp>
      <p:sp>
        <p:nvSpPr>
          <p:cNvPr id="22" name="Text 19">
            <a:hlinkClick r:id="rId20"/>
          </p:cNvPr>
          <p:cNvSpPr txBox="1"/>
          <p:nvPr/>
        </p:nvSpPr>
        <p:spPr>
          <a:xfrm>
            <a:off x="3401568" y="3986784"/>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20">
                  <a:extLst>
                    <a:ext uri="{A12FA001-AC4F-418D-AE19-62706E023703}">
                      <ahyp:hlinkClr xmlns:ahyp="http://schemas.microsoft.com/office/drawing/2018/hyperlinkcolor" val="tx"/>
                    </a:ext>
                  </a:extLst>
                </a:hlinkClick>
              </a:rPr>
              <a:t>Sample Proportion</a:t>
            </a:r>
            <a:endParaRPr lang="en-US" sz="850" dirty="0"/>
          </a:p>
        </p:txBody>
      </p:sp>
      <p:sp>
        <p:nvSpPr>
          <p:cNvPr id="23" name="Text 20">
            <a:hlinkClick r:id="rId21"/>
          </p:cNvPr>
          <p:cNvSpPr txBox="1"/>
          <p:nvPr/>
        </p:nvSpPr>
        <p:spPr>
          <a:xfrm>
            <a:off x="3401568" y="4379976"/>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21">
                  <a:extLst>
                    <a:ext uri="{A12FA001-AC4F-418D-AE19-62706E023703}">
                      <ahyp:hlinkClr xmlns:ahyp="http://schemas.microsoft.com/office/drawing/2018/hyperlinkcolor" val="tx"/>
                    </a:ext>
                  </a:extLst>
                </a:hlinkClick>
              </a:rPr>
              <a:t>MDE Guide</a:t>
            </a:r>
            <a:endParaRPr lang="en-US" sz="850" dirty="0"/>
          </a:p>
        </p:txBody>
      </p:sp>
      <p:sp>
        <p:nvSpPr>
          <p:cNvPr id="24" name="Text 21">
            <a:hlinkClick r:id="rId22"/>
          </p:cNvPr>
          <p:cNvSpPr txBox="1"/>
          <p:nvPr/>
        </p:nvSpPr>
        <p:spPr>
          <a:xfrm>
            <a:off x="3401568" y="4773168"/>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22">
                  <a:extLst>
                    <a:ext uri="{A12FA001-AC4F-418D-AE19-62706E023703}">
                      <ahyp:hlinkClr xmlns:ahyp="http://schemas.microsoft.com/office/drawing/2018/hyperlinkcolor" val="tx"/>
                    </a:ext>
                  </a:extLst>
                </a:hlinkClick>
              </a:rPr>
              <a:t>GA: Cookie + Dimension</a:t>
            </a:r>
            <a:endParaRPr lang="en-US" sz="850" dirty="0"/>
          </a:p>
        </p:txBody>
      </p:sp>
      <p:sp>
        <p:nvSpPr>
          <p:cNvPr id="25" name="Text 22">
            <a:hlinkClick r:id="rId23"/>
          </p:cNvPr>
          <p:cNvSpPr txBox="1"/>
          <p:nvPr/>
        </p:nvSpPr>
        <p:spPr>
          <a:xfrm>
            <a:off x="3401568" y="5166360"/>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23">
                  <a:extLst>
                    <a:ext uri="{A12FA001-AC4F-418D-AE19-62706E023703}">
                      <ahyp:hlinkClr xmlns:ahyp="http://schemas.microsoft.com/office/drawing/2018/hyperlinkcolor" val="tx"/>
                    </a:ext>
                  </a:extLst>
                </a:hlinkClick>
              </a:rPr>
              <a:t>Wanted: A/B Basics</a:t>
            </a:r>
            <a:endParaRPr lang="en-US" sz="850" dirty="0"/>
          </a:p>
        </p:txBody>
      </p:sp>
      <p:sp>
        <p:nvSpPr>
          <p:cNvPr id="26" name="Text 23">
            <a:hlinkClick r:id="rId24"/>
          </p:cNvPr>
          <p:cNvSpPr txBox="1"/>
          <p:nvPr/>
        </p:nvSpPr>
        <p:spPr>
          <a:xfrm>
            <a:off x="3401568" y="5559552"/>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24">
                  <a:extLst>
                    <a:ext uri="{A12FA001-AC4F-418D-AE19-62706E023703}">
                      <ahyp:hlinkClr xmlns:ahyp="http://schemas.microsoft.com/office/drawing/2018/hyperlinkcolor" val="tx"/>
                    </a:ext>
                  </a:extLst>
                </a:hlinkClick>
              </a:rPr>
              <a:t>Hash Assignment</a:t>
            </a:r>
            <a:endParaRPr lang="en-US" sz="850" dirty="0"/>
          </a:p>
        </p:txBody>
      </p:sp>
      <p:sp>
        <p:nvSpPr>
          <p:cNvPr id="27" name="Text 24">
            <a:hlinkClick r:id="rId25"/>
          </p:cNvPr>
          <p:cNvSpPr txBox="1"/>
          <p:nvPr/>
        </p:nvSpPr>
        <p:spPr>
          <a:xfrm>
            <a:off x="6163056" y="1627632"/>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25">
                  <a:extLst>
                    <a:ext uri="{A12FA001-AC4F-418D-AE19-62706E023703}">
                      <ahyp:hlinkClr xmlns:ahyp="http://schemas.microsoft.com/office/drawing/2018/hyperlinkcolor" val="tx"/>
                    </a:ext>
                  </a:extLst>
                </a:hlinkClick>
              </a:rPr>
              <a:t>Experiment Guide</a:t>
            </a:r>
            <a:endParaRPr lang="en-US" sz="850" dirty="0"/>
          </a:p>
        </p:txBody>
      </p:sp>
      <p:sp>
        <p:nvSpPr>
          <p:cNvPr id="28" name="Text 25">
            <a:hlinkClick r:id="rId26"/>
          </p:cNvPr>
          <p:cNvSpPr txBox="1"/>
          <p:nvPr/>
        </p:nvSpPr>
        <p:spPr>
          <a:xfrm>
            <a:off x="6163056" y="2020824"/>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26">
                  <a:extLst>
                    <a:ext uri="{A12FA001-AC4F-418D-AE19-62706E023703}">
                      <ahyp:hlinkClr xmlns:ahyp="http://schemas.microsoft.com/office/drawing/2018/hyperlinkcolor" val="tx"/>
                    </a:ext>
                  </a:extLst>
                </a:hlinkClick>
              </a:rPr>
              <a:t>SUTVA &amp; Interference</a:t>
            </a:r>
            <a:endParaRPr lang="en-US" sz="850" dirty="0"/>
          </a:p>
        </p:txBody>
      </p:sp>
      <p:sp>
        <p:nvSpPr>
          <p:cNvPr id="29" name="Text 26">
            <a:hlinkClick r:id="rId27"/>
          </p:cNvPr>
          <p:cNvSpPr txBox="1"/>
          <p:nvPr/>
        </p:nvSpPr>
        <p:spPr>
          <a:xfrm>
            <a:off x="6163056" y="2414016"/>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27">
                  <a:extLst>
                    <a:ext uri="{A12FA001-AC4F-418D-AE19-62706E023703}">
                      <ahyp:hlinkClr xmlns:ahyp="http://schemas.microsoft.com/office/drawing/2018/hyperlinkcolor" val="tx"/>
                    </a:ext>
                  </a:extLst>
                </a:hlinkClick>
              </a:rPr>
              <a:t>OCE: Leakage</a:t>
            </a:r>
            <a:endParaRPr lang="en-US" sz="850" dirty="0"/>
          </a:p>
        </p:txBody>
      </p:sp>
      <p:sp>
        <p:nvSpPr>
          <p:cNvPr id="30" name="Text 27">
            <a:hlinkClick r:id="rId28"/>
          </p:cNvPr>
          <p:cNvSpPr txBox="1"/>
          <p:nvPr/>
        </p:nvSpPr>
        <p:spPr>
          <a:xfrm>
            <a:off x="6163056" y="2807208"/>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28">
                  <a:extLst>
                    <a:ext uri="{A12FA001-AC4F-418D-AE19-62706E023703}">
                      <ahyp:hlinkClr xmlns:ahyp="http://schemas.microsoft.com/office/drawing/2018/hyperlinkcolor" val="tx"/>
                    </a:ext>
                  </a:extLst>
                </a:hlinkClick>
              </a:rPr>
              <a:t>Causal Workshop 2022</a:t>
            </a:r>
            <a:endParaRPr lang="en-US" sz="850" dirty="0"/>
          </a:p>
        </p:txBody>
      </p:sp>
      <p:sp>
        <p:nvSpPr>
          <p:cNvPr id="31" name="Text 28">
            <a:hlinkClick r:id="rId29"/>
          </p:cNvPr>
          <p:cNvSpPr txBox="1"/>
          <p:nvPr/>
        </p:nvSpPr>
        <p:spPr>
          <a:xfrm>
            <a:off x="6163056" y="3200400"/>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29">
                  <a:extLst>
                    <a:ext uri="{A12FA001-AC4F-418D-AE19-62706E023703}">
                      <ahyp:hlinkClr xmlns:ahyp="http://schemas.microsoft.com/office/drawing/2018/hyperlinkcolor" val="tx"/>
                    </a:ext>
                  </a:extLst>
                </a:hlinkClick>
              </a:rPr>
              <a:t>Facebook: Contagion</a:t>
            </a:r>
            <a:endParaRPr lang="en-US" sz="850" dirty="0"/>
          </a:p>
        </p:txBody>
      </p:sp>
      <p:sp>
        <p:nvSpPr>
          <p:cNvPr id="32" name="Text 29">
            <a:hlinkClick r:id="rId30"/>
          </p:cNvPr>
          <p:cNvSpPr txBox="1"/>
          <p:nvPr/>
        </p:nvSpPr>
        <p:spPr>
          <a:xfrm>
            <a:off x="6163056" y="3593592"/>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30">
                  <a:extLst>
                    <a:ext uri="{A12FA001-AC4F-418D-AE19-62706E023703}">
                      <ahyp:hlinkClr xmlns:ahyp="http://schemas.microsoft.com/office/drawing/2018/hyperlinkcolor" val="tx"/>
                    </a:ext>
                  </a:extLst>
                </a:hlinkClick>
              </a:rPr>
              <a:t>Contagion: Editorial Note</a:t>
            </a:r>
            <a:endParaRPr lang="en-US" sz="850" dirty="0"/>
          </a:p>
        </p:txBody>
      </p:sp>
      <p:sp>
        <p:nvSpPr>
          <p:cNvPr id="33" name="Text 30">
            <a:hlinkClick r:id="rId31"/>
          </p:cNvPr>
          <p:cNvSpPr txBox="1"/>
          <p:nvPr/>
        </p:nvSpPr>
        <p:spPr>
          <a:xfrm>
            <a:off x="6163056" y="3986784"/>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31">
                  <a:extLst>
                    <a:ext uri="{A12FA001-AC4F-418D-AE19-62706E023703}">
                      <ahyp:hlinkClr xmlns:ahyp="http://schemas.microsoft.com/office/drawing/2018/hyperlinkcolor" val="tx"/>
                    </a:ext>
                  </a:extLst>
                </a:hlinkClick>
              </a:rPr>
              <a:t>61M Social Influence</a:t>
            </a:r>
            <a:endParaRPr lang="en-US" sz="850" dirty="0"/>
          </a:p>
        </p:txBody>
      </p:sp>
      <p:sp>
        <p:nvSpPr>
          <p:cNvPr id="34" name="Text 31">
            <a:hlinkClick r:id="rId32"/>
          </p:cNvPr>
          <p:cNvSpPr txBox="1"/>
          <p:nvPr/>
        </p:nvSpPr>
        <p:spPr>
          <a:xfrm>
            <a:off x="6163056" y="4379976"/>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32">
                  <a:extLst>
                    <a:ext uri="{A12FA001-AC4F-418D-AE19-62706E023703}">
                      <ahyp:hlinkClr xmlns:ahyp="http://schemas.microsoft.com/office/drawing/2018/hyperlinkcolor" val="tx"/>
                    </a:ext>
                  </a:extLst>
                </a:hlinkClick>
              </a:rPr>
              <a:t>TOCE: A/A Test</a:t>
            </a:r>
            <a:endParaRPr lang="en-US" sz="850" dirty="0"/>
          </a:p>
        </p:txBody>
      </p:sp>
      <p:sp>
        <p:nvSpPr>
          <p:cNvPr id="35" name="Text 32">
            <a:hlinkClick r:id="rId33"/>
          </p:cNvPr>
          <p:cNvSpPr txBox="1"/>
          <p:nvPr/>
        </p:nvSpPr>
        <p:spPr>
          <a:xfrm>
            <a:off x="6163056" y="4773168"/>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33">
                  <a:extLst>
                    <a:ext uri="{A12FA001-AC4F-418D-AE19-62706E023703}">
                      <ahyp:hlinkClr xmlns:ahyp="http://schemas.microsoft.com/office/drawing/2018/hyperlinkcolor" val="tx"/>
                    </a:ext>
                  </a:extLst>
                </a:hlinkClick>
              </a:rPr>
              <a:t>TOCE: Ramp-up</a:t>
            </a:r>
            <a:endParaRPr lang="en-US" sz="850" dirty="0"/>
          </a:p>
        </p:txBody>
      </p:sp>
      <p:sp>
        <p:nvSpPr>
          <p:cNvPr id="36" name="Text 33">
            <a:hlinkClick r:id="rId34"/>
          </p:cNvPr>
          <p:cNvSpPr txBox="1"/>
          <p:nvPr/>
        </p:nvSpPr>
        <p:spPr>
          <a:xfrm>
            <a:off x="6163056" y="5166360"/>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34">
                  <a:extLst>
                    <a:ext uri="{A12FA001-AC4F-418D-AE19-62706E023703}">
                      <ahyp:hlinkClr xmlns:ahyp="http://schemas.microsoft.com/office/drawing/2018/hyperlinkcolor" val="tx"/>
                    </a:ext>
                  </a:extLst>
                </a:hlinkClick>
              </a:rPr>
              <a:t>Unexpected OCE Results</a:t>
            </a:r>
            <a:endParaRPr lang="en-US" sz="850" dirty="0"/>
          </a:p>
        </p:txBody>
      </p:sp>
      <p:sp>
        <p:nvSpPr>
          <p:cNvPr id="37" name="Text 34">
            <a:hlinkClick r:id="rId35"/>
          </p:cNvPr>
          <p:cNvSpPr txBox="1"/>
          <p:nvPr/>
        </p:nvSpPr>
        <p:spPr>
          <a:xfrm>
            <a:off x="6163056" y="5559552"/>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35">
                  <a:extLst>
                    <a:ext uri="{A12FA001-AC4F-418D-AE19-62706E023703}">
                      <ahyp:hlinkClr xmlns:ahyp="http://schemas.microsoft.com/office/drawing/2018/hyperlinkcolor" val="tx"/>
                    </a:ext>
                  </a:extLst>
                </a:hlinkClick>
              </a:rPr>
              <a:t>CUPED</a:t>
            </a:r>
            <a:endParaRPr lang="en-US" sz="850" dirty="0"/>
          </a:p>
        </p:txBody>
      </p:sp>
      <p:sp>
        <p:nvSpPr>
          <p:cNvPr id="38" name="Text 35">
            <a:hlinkClick r:id="rId36"/>
          </p:cNvPr>
          <p:cNvSpPr txBox="1"/>
          <p:nvPr/>
        </p:nvSpPr>
        <p:spPr>
          <a:xfrm>
            <a:off x="8924544" y="1627632"/>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36">
                  <a:extLst>
                    <a:ext uri="{A12FA001-AC4F-418D-AE19-62706E023703}">
                      <ahyp:hlinkClr xmlns:ahyp="http://schemas.microsoft.com/office/drawing/2018/hyperlinkcolor" val="tx"/>
                    </a:ext>
                  </a:extLst>
                </a:hlinkClick>
              </a:rPr>
              <a:t>ASA: p-values</a:t>
            </a:r>
            <a:endParaRPr lang="en-US" sz="850" dirty="0"/>
          </a:p>
        </p:txBody>
      </p:sp>
      <p:sp>
        <p:nvSpPr>
          <p:cNvPr id="39" name="Text 36">
            <a:hlinkClick r:id="rId37"/>
          </p:cNvPr>
          <p:cNvSpPr txBox="1"/>
          <p:nvPr/>
        </p:nvSpPr>
        <p:spPr>
          <a:xfrm>
            <a:off x="8924544" y="2020824"/>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37">
                  <a:extLst>
                    <a:ext uri="{A12FA001-AC4F-418D-AE19-62706E023703}">
                      <ahyp:hlinkClr xmlns:ahyp="http://schemas.microsoft.com/office/drawing/2018/hyperlinkcolor" val="tx"/>
                    </a:ext>
                  </a:extLst>
                </a:hlinkClick>
              </a:rPr>
              <a:t>Benjamini-Hochberg FDR</a:t>
            </a:r>
            <a:endParaRPr lang="en-US" sz="850" dirty="0"/>
          </a:p>
        </p:txBody>
      </p:sp>
      <p:sp>
        <p:nvSpPr>
          <p:cNvPr id="40" name="Text 37">
            <a:hlinkClick r:id="rId38"/>
          </p:cNvPr>
          <p:cNvSpPr txBox="1"/>
          <p:nvPr/>
        </p:nvSpPr>
        <p:spPr>
          <a:xfrm>
            <a:off x="8924544" y="2414016"/>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38">
                  <a:extLst>
                    <a:ext uri="{A12FA001-AC4F-418D-AE19-62706E023703}">
                      <ahyp:hlinkClr xmlns:ahyp="http://schemas.microsoft.com/office/drawing/2018/hyperlinkcolor" val="tx"/>
                    </a:ext>
                  </a:extLst>
                </a:hlinkClick>
              </a:rPr>
              <a:t>OCE: A/A Materials</a:t>
            </a:r>
            <a:endParaRPr lang="en-US" sz="850" dirty="0"/>
          </a:p>
        </p:txBody>
      </p:sp>
      <p:sp>
        <p:nvSpPr>
          <p:cNvPr id="41" name="Text 38">
            <a:hlinkClick r:id="rId39"/>
          </p:cNvPr>
          <p:cNvSpPr txBox="1"/>
          <p:nvPr/>
        </p:nvSpPr>
        <p:spPr>
          <a:xfrm>
            <a:off x="8924544" y="2807208"/>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39">
                  <a:extLst>
                    <a:ext uri="{A12FA001-AC4F-418D-AE19-62706E023703}">
                      <ahyp:hlinkClr xmlns:ahyp="http://schemas.microsoft.com/office/drawing/2018/hyperlinkcolor" val="tx"/>
                    </a:ext>
                  </a:extLst>
                </a:hlinkClick>
              </a:rPr>
              <a:t>SRM Diagnosis Guide</a:t>
            </a:r>
            <a:endParaRPr lang="en-US" sz="850" dirty="0"/>
          </a:p>
        </p:txBody>
      </p:sp>
      <p:sp>
        <p:nvSpPr>
          <p:cNvPr id="42" name="Text 39">
            <a:hlinkClick r:id="rId40"/>
          </p:cNvPr>
          <p:cNvSpPr txBox="1"/>
          <p:nvPr/>
        </p:nvSpPr>
        <p:spPr>
          <a:xfrm>
            <a:off x="8924544" y="3200400"/>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40">
                  <a:extLst>
                    <a:ext uri="{A12FA001-AC4F-418D-AE19-62706E023703}">
                      <ahyp:hlinkClr xmlns:ahyp="http://schemas.microsoft.com/office/drawing/2018/hyperlinkcolor" val="tx"/>
                    </a:ext>
                  </a:extLst>
                </a:hlinkClick>
              </a:rPr>
              <a:t>SRM Diagnosis Paper</a:t>
            </a:r>
            <a:endParaRPr lang="en-US" sz="850" dirty="0"/>
          </a:p>
        </p:txBody>
      </p:sp>
      <p:sp>
        <p:nvSpPr>
          <p:cNvPr id="43" name="Text 40">
            <a:hlinkClick r:id="rId41"/>
          </p:cNvPr>
          <p:cNvSpPr txBox="1"/>
          <p:nvPr/>
        </p:nvSpPr>
        <p:spPr>
          <a:xfrm>
            <a:off x="8924544" y="3593592"/>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41">
                  <a:extLst>
                    <a:ext uri="{A12FA001-AC4F-418D-AE19-62706E023703}">
                      <ahyp:hlinkClr xmlns:ahyp="http://schemas.microsoft.com/office/drawing/2018/hyperlinkcolor" val="tx"/>
                    </a:ext>
                  </a:extLst>
                </a:hlinkClick>
              </a:rPr>
              <a:t>Always Valid Inference</a:t>
            </a:r>
            <a:endParaRPr lang="en-US" sz="850" dirty="0"/>
          </a:p>
        </p:txBody>
      </p:sp>
      <p:sp>
        <p:nvSpPr>
          <p:cNvPr id="44" name="Text 41">
            <a:hlinkClick r:id="rId42"/>
          </p:cNvPr>
          <p:cNvSpPr txBox="1"/>
          <p:nvPr/>
        </p:nvSpPr>
        <p:spPr>
          <a:xfrm>
            <a:off x="8924544" y="3986784"/>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42">
                  <a:extLst>
                    <a:ext uri="{A12FA001-AC4F-418D-AE19-62706E023703}">
                      <ahyp:hlinkClr xmlns:ahyp="http://schemas.microsoft.com/office/drawing/2018/hyperlinkcolor" val="tx"/>
                    </a:ext>
                  </a:extLst>
                </a:hlinkClick>
              </a:rPr>
              <a:t>Oracle: A/B Pitfalls</a:t>
            </a:r>
            <a:endParaRPr lang="en-US" sz="850" dirty="0"/>
          </a:p>
        </p:txBody>
      </p:sp>
      <p:sp>
        <p:nvSpPr>
          <p:cNvPr id="45" name="Text 42">
            <a:hlinkClick r:id="rId43"/>
          </p:cNvPr>
          <p:cNvSpPr txBox="1"/>
          <p:nvPr/>
        </p:nvSpPr>
        <p:spPr>
          <a:xfrm>
            <a:off x="8924544" y="4379976"/>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43">
                  <a:extLst>
                    <a:ext uri="{A12FA001-AC4F-418D-AE19-62706E023703}">
                      <ahyp:hlinkClr xmlns:ahyp="http://schemas.microsoft.com/office/drawing/2018/hyperlinkcolor" val="tx"/>
                    </a:ext>
                  </a:extLst>
                </a:hlinkClick>
              </a:rPr>
              <a:t>Experiment Platform</a:t>
            </a:r>
            <a:endParaRPr lang="en-US" sz="850" dirty="0"/>
          </a:p>
        </p:txBody>
      </p:sp>
      <p:sp>
        <p:nvSpPr>
          <p:cNvPr id="46" name="Text 43">
            <a:hlinkClick r:id="rId44"/>
          </p:cNvPr>
          <p:cNvSpPr txBox="1"/>
          <p:nvPr/>
        </p:nvSpPr>
        <p:spPr>
          <a:xfrm>
            <a:off x="8924544" y="4773168"/>
            <a:ext cx="2578608" cy="274320"/>
          </a:xfrm>
          <a:prstGeom prst="rect">
            <a:avLst/>
          </a:prstGeom>
          <a:noFill/>
          <a:ln/>
        </p:spPr>
        <p:txBody>
          <a:bodyPr wrap="square" lIns="0" tIns="0" rIns="0" bIns="0" rtlCol="0" anchor="t">
            <a:normAutofit/>
          </a:bodyPr>
          <a:lstStyle/>
          <a:p>
            <a:pPr marL="0" indent="0">
              <a:buNone/>
            </a:pPr>
            <a:r>
              <a:rPr lang="en-US" sz="850" b="1" u="sng" dirty="0">
                <a:solidFill>
                  <a:schemeClr val="accent1"/>
                </a:solidFill>
                <a:hlinkClick r:id="rId44">
                  <a:extLst>
                    <a:ext uri="{A12FA001-AC4F-418D-AE19-62706E023703}">
                      <ahyp:hlinkClr xmlns:ahyp="http://schemas.microsoft.com/office/drawing/2018/hyperlinkcolor" val="tx"/>
                    </a:ext>
                  </a:extLst>
                </a:hlinkClick>
              </a:rPr>
              <a:t>Platform &amp; Culture</a:t>
            </a:r>
            <a:endParaRPr lang="en-US" sz="850" dirty="0"/>
          </a:p>
        </p:txBody>
      </p:sp>
      <p:sp>
        <p:nvSpPr>
          <p:cNvPr id="4"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0A8"/>
                </a:solidFill>
              </a:defRPr>
            </a:lvl1pPr>
          </a:lstStyle>
          <a:p>
            <a:pPr algn="r"/>
            <a:fld id="{F7021451-1387-4CA6-816F-3879F97B5CBC}" type="slidenum">
              <a:rPr lang="en-US" b="0"/>
              <a:t>82</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11383</Words>
  <Application>Microsoft Macintosh PowerPoint</Application>
  <PresentationFormat>와이드스크린</PresentationFormat>
  <Paragraphs>1561</Paragraphs>
  <Slides>82</Slides>
  <Notes>82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82</vt:i4>
      </vt:variant>
    </vt:vector>
  </HeadingPairs>
  <TitlesOfParts>
    <vt:vector size="86" baseType="lpstr">
      <vt:lpstr>Apple SD Gothic Neo</vt:lpstr>
      <vt:lpstr>Arial</vt:lpstr>
      <vt:lpstr>Courier New</vt:lpstr>
      <vt:lpstr>Lab Rats</vt:lpstr>
      <vt:lpstr>A/B 테스트 설계 및 실습</vt:lpstr>
      <vt:lpstr>오늘의 목표</vt:lpstr>
      <vt:lpstr>목차</vt:lpstr>
      <vt:lpstr>실험 설계의 기초와 인과추론</vt:lpstr>
      <vt:lpstr>그냥 배포하고 보면 안 되나?</vt:lpstr>
      <vt:lpstr>새 기능을 쓰는 사람이 덜 떠난다면, 기능 덕분일까?</vt:lpstr>
      <vt:lpstr>한 사람에게서 두 결과를 동시에 볼 수는 없다</vt:lpstr>
      <vt:lpstr>랜덤 배정은 보이지 않는 차이까지 고르게 나눈다</vt:lpstr>
      <vt:lpstr>6개월 미뤄 둔 아이디어가 매출을 12% 올렸다</vt:lpstr>
      <vt:lpstr>먼저 용어를 맞춘다</vt:lpstr>
      <vt:lpstr>A/B 테스트는 일곱 단계로 돌아간다</vt:lpstr>
      <vt:lpstr>이 실험 안에서 맞는가, 밖에서도 통하는가</vt:lpstr>
      <vt:lpstr>A/B 테스트가 안 되거나 조심해야 하는 상황</vt:lpstr>
      <vt:lpstr>A/B 테스트 설계의 핵심 구성요소</vt:lpstr>
      <vt:lpstr>현상이 아니라 문제에서 시작한다</vt:lpstr>
      <vt:lpstr>해결책은 여러 개, 실험에서 바꾸는 건 하나</vt:lpstr>
      <vt:lpstr>가설은 한 문장으로 쓴다</vt:lpstr>
      <vt:lpstr>틀렸다는 결과도 나올 수 있어야 좋은 가설이다</vt:lpstr>
      <vt:lpstr>제품 가설을 통계적 가설로 바꾼다</vt:lpstr>
      <vt:lpstr>단측검정은 결과를 보기 전에 정한다</vt:lpstr>
      <vt:lpstr>'나빠지지 않았다'는 비열등성 검정으로 말한다</vt:lpstr>
      <vt:lpstr>지표는 층으로 설계하고, 순서대로 읽는다</vt:lpstr>
      <vt:lpstr>좋은 OEC는 지금 잴 수 있고, 장기 목표를 가리킨다</vt:lpstr>
      <vt:lpstr>노스스타는 방향을, OEC는 이번 실험을 판단한다</vt:lpstr>
      <vt:lpstr>Primary는 정의까지 정해야 쓸 수 있다</vt:lpstr>
      <vt:lpstr>Driver 지표는 Primary가 움직인 경로를 보여준다</vt:lpstr>
      <vt:lpstr>CTR이 올랐다: 더 눌러서인가, 덜 보여줘서인가</vt:lpstr>
      <vt:lpstr>가드레일은 개선 대상이 아니라 침범 금지선이다</vt:lpstr>
      <vt:lpstr>지표는 목표가 아니라 가치를 대신 재는 숫자다</vt:lpstr>
      <vt:lpstr>지표와 판단 기준은 실험 전에 적어 둔다</vt:lpstr>
      <vt:lpstr>실험 대상은 출시 대상을 닮아야 한다</vt:lpstr>
      <vt:lpstr>사용자 단위에서 시작하고, 다른 단위는 이유를 댄다</vt:lpstr>
      <vt:lpstr>식별자는 사람의 근사치다</vt:lpstr>
      <vt:lpstr>사람을 계속 알아보기 어렵다면 세션 단위를 쓴다</vt:lpstr>
      <vt:lpstr>효과를 받을 수 있는 사람만 분석에 넣는다</vt:lpstr>
      <vt:lpstr>실험이 틀리는 두 가지 방식</vt:lpstr>
      <vt:lpstr>MDE를 절반으로 줄이면 필요한 사용자는 4배</vt:lpstr>
      <vt:lpstr>α와 Power를 엄격하게 잡을수록 실험은 길어진다</vt:lpstr>
      <vt:lpstr>MDE는 통계가 아니라 비즈니스가 정한다</vt:lpstr>
      <vt:lpstr>단순 배정, 층화 배정, 해싱 배정</vt:lpstr>
      <vt:lpstr>50:50이 가장 효율적이고, 90:10은 위험 관리용이다</vt:lpstr>
      <vt:lpstr>내 처치가 남의 결과를 바꾸면 안 된다</vt:lpstr>
      <vt:lpstr>실험 실행과 통계 분석</vt:lpstr>
      <vt:lpstr>A/A로 점검하고, 조금씩 늘리고, 충분히 돌린다</vt:lpstr>
      <vt:lpstr>같은 것끼리 비교해서 시스템을 먼저 검증한다</vt:lpstr>
      <vt:lpstr>최소 1~2주, 요일과 신기효과를 넘겨서</vt:lpstr>
      <vt:lpstr>검정은 지표의 모양을 보고 고른다</vt:lpstr>
      <vt:lpstr>배정 단위보다 작은 단위로 분석하면 신뢰구간이 좁아진다</vt:lpstr>
      <vt:lpstr>p-value를 말하는 법</vt:lpstr>
      <vt:lpstr>점추정 대신 구간으로 말한다</vt:lpstr>
      <vt:lpstr>통계적으로 유의하다 ≠ 의미 있다</vt:lpstr>
      <vt:lpstr>분산을 줄이면 같은 사용자 수로 더 작은 효과를 잡는다</vt:lpstr>
      <vt:lpstr>CUPED는 좋은 실험의 노이즈를 줄일 뿐, 나쁜 실험을 고치지 못한다</vt:lpstr>
      <vt:lpstr>지표 20개를 보면 하나쯤은 우연히 걸린다</vt:lpstr>
      <vt:lpstr>매일 들여다보고 멈추면 헛배포가 4배로 는다</vt:lpstr>
      <vt:lpstr>초반 반응은 오래 가지 않을 수 있다</vt:lpstr>
      <vt:lpstr>같은 사람이 여러 번 보면, 일차별로 읽는다</vt:lpstr>
      <vt:lpstr>실무 함정과 고급 설계</vt:lpstr>
      <vt:lpstr>실무에서 자주 밟는 여섯 가지 함정</vt:lpstr>
      <vt:lpstr>중간에 봐야 한다면, 봐도 되는 방법으로 본다</vt:lpstr>
      <vt:lpstr>세그먼트마다 이기는데 전체로는 진다</vt:lpstr>
      <vt:lpstr>결과보다 배정 비율을 먼저 본다</vt:lpstr>
      <vt:lpstr>측정이 흔들리면 결과도 흔들린다</vt:lpstr>
      <vt:lpstr>간섭은 두 경로로 생긴다</vt:lpstr>
      <vt:lpstr>간섭이 있으면 실험 결과가 이렇게 흔들린다</vt:lpstr>
      <vt:lpstr>간섭을 줄이려면 나누는 단위를 다시 설계한다</vt:lpstr>
      <vt:lpstr>측정할 수 있는가와 해도 되는가는 다른 질문이다</vt:lpstr>
      <vt:lpstr>목적이 다르면 실험 방식도 다르다</vt:lpstr>
      <vt:lpstr>실험 없이 인과를 추정하는 세 가지 방법</vt:lpstr>
      <vt:lpstr>산업 사례와 실험 문화</vt:lpstr>
      <vt:lpstr>실험을 잘하는 회사들이 오늘 개념을 어떻게 쓰나</vt:lpstr>
      <vt:lpstr>실험하는 조직의 세 가지 원칙</vt:lpstr>
      <vt:lpstr>팀마다 OEC는 달라도 같은 장기 목표를 향한다</vt:lpstr>
      <vt:lpstr>A/B 테스트는 작게 반복하는 개발 방식과 잘 맞는다</vt:lpstr>
      <vt:lpstr>실험 성숙도: Crawl → Walk → Run → Fly</vt:lpstr>
      <vt:lpstr>실험 문화를 받치는 세 가지</vt:lpstr>
      <vt:lpstr>'유의하다'에서 멈추지 말고 결정으로 닫는다</vt:lpstr>
      <vt:lpstr>효과 크기 × 비용 × 리스크를 함께 본다</vt:lpstr>
      <vt:lpstr>정리</vt:lpstr>
      <vt:lpstr>결과를 보고 가장 먼저 해야 할 일은 무엇일까요?</vt:lpstr>
      <vt:lpstr>이 기능의 실험을 직접 설계해 보세요</vt:lpstr>
      <vt:lpstr>Reference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정연 이</cp:lastModifiedBy>
  <cp:revision>4</cp:revision>
  <dcterms:created xsi:type="dcterms:W3CDTF">2026-10-08T02:45:13Z</dcterms:created>
  <dcterms:modified xsi:type="dcterms:W3CDTF">2026-10-08T02:51:38Z</dcterms:modified>
</cp:coreProperties>
</file>