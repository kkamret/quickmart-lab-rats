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6.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2.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3.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charts/chart4.xml" ContentType="application/vnd.openxmlformats-officedocument.drawingml.chart+xml"/>
  <Override PartName="/ppt/slideMasters/slideMaster63.xml" ContentType="application/vnd.openxmlformats-officedocument.presentationml.slideMaster+xml"/>
  <Override PartName="/ppt/slides/slide63.xml" ContentType="application/vnd.openxmlformats-officedocument.presentationml.slide+xml"/>
  <Override PartName="/ppt/charts/chart5.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e9037ba5-85fc-1b49-a81a-c73938f1ab8a}">
          <p14:sldIdLst>
            <p14:sldId id="256"/>
            <p14:sldId id="257"/>
            <p14:sldId id="258"/>
          </p14:sldIdLst>
        </p14:section>
        <p14:section name="A/B 테스트의 기본 구조" id="{da67b29d-39be-4145-a5bc-94ed692b4eb7}">
          <p14:sldIdLst>
            <p14:sldId id="259"/>
            <p14:sldId id="260"/>
            <p14:sldId id="261"/>
            <p14:sldId id="262"/>
            <p14:sldId id="263"/>
            <p14:sldId id="264"/>
            <p14:sldId id="265"/>
            <p14:sldId id="266"/>
            <p14:sldId id="267"/>
            <p14:sldId id="268"/>
            <p14:sldId id="269"/>
          </p14:sldIdLst>
        </p14:section>
        <p14:section name="A/B 테스트 설계" id="{01fc76cb-c0d3-b9f9-dc78-2b27f6304b19}">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신뢰할 수 있는 실험의 조건" id="{d0ce6e2f-d85d-e101-5f29-d2a5d25af855}">
          <p14:sldIdLst>
            <p14:sldId id="297"/>
            <p14:sldId id="298"/>
            <p14:sldId id="299"/>
            <p14:sldId id="300"/>
            <p14:sldId id="301"/>
            <p14:sldId id="302"/>
            <p14:sldId id="303"/>
            <p14:sldId id="304"/>
          </p14:sldIdLst>
        </p14:section>
        <p14:section name="실험 실행과 데이터 기반 문화" id="{96bfd8f8-fd1d-e22c-4486-a0ce8762d244}">
          <p14:sldIdLst>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저장소 위키의 순서대로 진행합니다. 세부 편은 네 묶음으로 나눠 전체 흐름을 먼저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위키 07·08편의 대응과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위키 01편의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위키 09·10편에서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위키 07편의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위키 09·10편에서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Text 2"/>
          <p:cNvSpPr txBox="1"/>
          <p:nvPr/>
        </p:nvSpPr>
        <p:spPr>
          <a:xfrm>
            <a:off x="640080" y="4398264"/>
            <a:ext cx="4572000" cy="338328"/>
          </a:xfrm>
          <a:prstGeom prst="rect">
            <a:avLst/>
          </a:prstGeom>
          <a:noFill/>
          <a:ln/>
        </p:spPr>
        <p:txBody>
          <a:bodyPr wrap="square" lIns="0" tIns="0" rIns="0" bIns="0" rtlCol="0" anchor="t"/>
          <a:lstStyle/>
          <a:p>
            <a:pPr indent="0" marL="0">
              <a:buNone/>
            </a:pPr>
            <a:r>
              <a:rPr lang="en-US" sz="1500" dirty="0">
                <a:solidFill>
                  <a:srgbClr val="FFFFFF"/>
                </a:solidFill>
              </a:rPr>
              <a:t>발표자: 25기 이정연, 25기 이유민</a:t>
            </a:r>
            <a:endParaRPr lang="en-US" sz="1500" dirty="0"/>
          </a:p>
        </p:txBody>
      </p:sp>
      <p:sp>
        <p:nvSpPr>
          <p:cNvPr id="5" name="Shape 3"/>
          <p:cNvSpPr/>
          <p:nvPr/>
        </p:nvSpPr>
        <p:spPr>
          <a:xfrm>
            <a:off x="8138160"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467344" y="1280160"/>
            <a:ext cx="128016" cy="128016"/>
          </a:xfrm>
          <a:prstGeom prst="ellipse">
            <a:avLst/>
          </a:prstGeom>
          <a:solidFill>
            <a:srgbClr val="7B93FF"/>
          </a:solidFill>
          <a:ln w="12700">
            <a:solidFill>
              <a:srgbClr val="7B93FF"/>
            </a:solidFill>
            <a:prstDash val="solid"/>
          </a:ln>
        </p:spPr>
      </p:sp>
      <p:sp>
        <p:nvSpPr>
          <p:cNvPr id="7" name="Shape 5"/>
          <p:cNvSpPr/>
          <p:nvPr/>
        </p:nvSpPr>
        <p:spPr>
          <a:xfrm>
            <a:off x="8796528" y="1280160"/>
            <a:ext cx="128016" cy="128016"/>
          </a:xfrm>
          <a:prstGeom prst="ellipse">
            <a:avLst/>
          </a:prstGeom>
          <a:solidFill>
            <a:srgbClr val="4FC7C7"/>
          </a:solidFill>
          <a:ln w="12700">
            <a:solidFill>
              <a:srgbClr val="4FC7C7"/>
            </a:solidFill>
            <a:prstDash val="solid"/>
          </a:ln>
        </p:spPr>
      </p:sp>
      <p:sp>
        <p:nvSpPr>
          <p:cNvPr id="8" name="Shape 6"/>
          <p:cNvSpPr/>
          <p:nvPr/>
        </p:nvSpPr>
        <p:spPr>
          <a:xfrm>
            <a:off x="9125712"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454896"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9784080"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113264"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442448" y="1280160"/>
            <a:ext cx="128016" cy="128016"/>
          </a:xfrm>
          <a:prstGeom prst="ellipse">
            <a:avLst/>
          </a:prstGeom>
          <a:solidFill>
            <a:srgbClr val="7B93FF"/>
          </a:solidFill>
          <a:ln w="12700">
            <a:solidFill>
              <a:srgbClr val="7B93FF"/>
            </a:solidFill>
            <a:prstDash val="solid"/>
          </a:ln>
        </p:spPr>
      </p:sp>
      <p:sp>
        <p:nvSpPr>
          <p:cNvPr id="13" name="Shape 11"/>
          <p:cNvSpPr/>
          <p:nvPr/>
        </p:nvSpPr>
        <p:spPr>
          <a:xfrm>
            <a:off x="10771632"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11100816" y="1280160"/>
            <a:ext cx="128016" cy="128016"/>
          </a:xfrm>
          <a:prstGeom prst="ellipse">
            <a:avLst/>
          </a:prstGeom>
          <a:solidFill>
            <a:srgbClr val="4FC7C7"/>
          </a:solidFill>
          <a:ln w="12700">
            <a:solidFill>
              <a:srgbClr val="4FC7C7"/>
            </a:solidFill>
            <a:prstDash val="solid"/>
          </a:ln>
        </p:spPr>
      </p:sp>
      <p:sp>
        <p:nvSpPr>
          <p:cNvPr id="15" name="Shape 13"/>
          <p:cNvSpPr/>
          <p:nvPr/>
        </p:nvSpPr>
        <p:spPr>
          <a:xfrm>
            <a:off x="8138160" y="1609344"/>
            <a:ext cx="128016" cy="128016"/>
          </a:xfrm>
          <a:prstGeom prst="ellipse">
            <a:avLst/>
          </a:prstGeom>
          <a:solidFill>
            <a:srgbClr val="4FC7C7"/>
          </a:solidFill>
          <a:ln w="12700">
            <a:solidFill>
              <a:srgbClr val="4FC7C7"/>
            </a:solidFill>
            <a:prstDash val="solid"/>
          </a:ln>
        </p:spPr>
      </p:sp>
      <p:sp>
        <p:nvSpPr>
          <p:cNvPr id="16" name="Shape 14"/>
          <p:cNvSpPr/>
          <p:nvPr/>
        </p:nvSpPr>
        <p:spPr>
          <a:xfrm>
            <a:off x="8467344" y="1609344"/>
            <a:ext cx="128016" cy="128016"/>
          </a:xfrm>
          <a:prstGeom prst="ellipse">
            <a:avLst/>
          </a:prstGeom>
          <a:solidFill>
            <a:srgbClr val="7B93FF"/>
          </a:solidFill>
          <a:ln w="12700">
            <a:solidFill>
              <a:srgbClr val="7B93FF"/>
            </a:solidFill>
            <a:prstDash val="solid"/>
          </a:ln>
        </p:spPr>
      </p:sp>
      <p:sp>
        <p:nvSpPr>
          <p:cNvPr id="17" name="Shape 15"/>
          <p:cNvSpPr/>
          <p:nvPr/>
        </p:nvSpPr>
        <p:spPr>
          <a:xfrm>
            <a:off x="8796528"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125712"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454896" y="1609344"/>
            <a:ext cx="128016" cy="128016"/>
          </a:xfrm>
          <a:prstGeom prst="ellipse">
            <a:avLst/>
          </a:prstGeom>
          <a:solidFill>
            <a:srgbClr val="4FC7C7"/>
          </a:solidFill>
          <a:ln w="12700">
            <a:solidFill>
              <a:srgbClr val="4FC7C7"/>
            </a:solidFill>
            <a:prstDash val="solid"/>
          </a:ln>
        </p:spPr>
      </p:sp>
      <p:sp>
        <p:nvSpPr>
          <p:cNvPr id="20" name="Shape 18"/>
          <p:cNvSpPr/>
          <p:nvPr/>
        </p:nvSpPr>
        <p:spPr>
          <a:xfrm>
            <a:off x="9784080"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113264" y="1609344"/>
            <a:ext cx="128016" cy="128016"/>
          </a:xfrm>
          <a:prstGeom prst="ellipse">
            <a:avLst/>
          </a:prstGeom>
          <a:solidFill>
            <a:srgbClr val="7B93FF"/>
          </a:solidFill>
          <a:ln w="12700">
            <a:solidFill>
              <a:srgbClr val="7B93FF"/>
            </a:solidFill>
            <a:prstDash val="solid"/>
          </a:ln>
        </p:spPr>
      </p:sp>
      <p:sp>
        <p:nvSpPr>
          <p:cNvPr id="22" name="Shape 20"/>
          <p:cNvSpPr/>
          <p:nvPr/>
        </p:nvSpPr>
        <p:spPr>
          <a:xfrm>
            <a:off x="10442448"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0771632"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11100816" y="1609344"/>
            <a:ext cx="128016" cy="128016"/>
          </a:xfrm>
          <a:prstGeom prst="ellipse">
            <a:avLst/>
          </a:prstGeom>
          <a:solidFill>
            <a:srgbClr val="4FC7C7"/>
          </a:solidFill>
          <a:ln w="12700">
            <a:solidFill>
              <a:srgbClr val="4FC7C7"/>
            </a:solidFill>
            <a:prstDash val="solid"/>
          </a:ln>
        </p:spPr>
      </p:sp>
      <p:sp>
        <p:nvSpPr>
          <p:cNvPr id="25" name="Shape 23"/>
          <p:cNvSpPr/>
          <p:nvPr/>
        </p:nvSpPr>
        <p:spPr>
          <a:xfrm>
            <a:off x="8138160" y="1938528"/>
            <a:ext cx="128016" cy="128016"/>
          </a:xfrm>
          <a:prstGeom prst="ellipse">
            <a:avLst/>
          </a:prstGeom>
          <a:solidFill>
            <a:srgbClr val="4FC7C7"/>
          </a:solidFill>
          <a:ln w="12700">
            <a:solidFill>
              <a:srgbClr val="4FC7C7"/>
            </a:solidFill>
            <a:prstDash val="solid"/>
          </a:ln>
        </p:spPr>
      </p:sp>
      <p:sp>
        <p:nvSpPr>
          <p:cNvPr id="26" name="Shape 24"/>
          <p:cNvSpPr/>
          <p:nvPr/>
        </p:nvSpPr>
        <p:spPr>
          <a:xfrm>
            <a:off x="8467344" y="1938528"/>
            <a:ext cx="128016" cy="128016"/>
          </a:xfrm>
          <a:prstGeom prst="ellipse">
            <a:avLst/>
          </a:prstGeom>
          <a:solidFill>
            <a:srgbClr val="7B93FF"/>
          </a:solidFill>
          <a:ln w="12700">
            <a:solidFill>
              <a:srgbClr val="7B93FF"/>
            </a:solidFill>
            <a:prstDash val="solid"/>
          </a:ln>
        </p:spPr>
      </p:sp>
      <p:sp>
        <p:nvSpPr>
          <p:cNvPr id="27" name="Shape 25"/>
          <p:cNvSpPr/>
          <p:nvPr/>
        </p:nvSpPr>
        <p:spPr>
          <a:xfrm>
            <a:off x="8796528" y="1938528"/>
            <a:ext cx="128016" cy="128016"/>
          </a:xfrm>
          <a:prstGeom prst="ellipse">
            <a:avLst/>
          </a:prstGeom>
          <a:solidFill>
            <a:srgbClr val="4FC7C7"/>
          </a:solidFill>
          <a:ln w="12700">
            <a:solidFill>
              <a:srgbClr val="4FC7C7"/>
            </a:solidFill>
            <a:prstDash val="solid"/>
          </a:ln>
        </p:spPr>
      </p:sp>
      <p:sp>
        <p:nvSpPr>
          <p:cNvPr id="28" name="Shape 26"/>
          <p:cNvSpPr/>
          <p:nvPr/>
        </p:nvSpPr>
        <p:spPr>
          <a:xfrm>
            <a:off x="9125712" y="1938528"/>
            <a:ext cx="128016" cy="128016"/>
          </a:xfrm>
          <a:prstGeom prst="ellipse">
            <a:avLst/>
          </a:prstGeom>
          <a:solidFill>
            <a:srgbClr val="7B93FF"/>
          </a:solidFill>
          <a:ln w="12700">
            <a:solidFill>
              <a:srgbClr val="7B93FF"/>
            </a:solidFill>
            <a:prstDash val="solid"/>
          </a:ln>
        </p:spPr>
      </p:sp>
      <p:sp>
        <p:nvSpPr>
          <p:cNvPr id="29" name="Shape 27"/>
          <p:cNvSpPr/>
          <p:nvPr/>
        </p:nvSpPr>
        <p:spPr>
          <a:xfrm>
            <a:off x="9454896"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9784080" y="1938528"/>
            <a:ext cx="128016" cy="128016"/>
          </a:xfrm>
          <a:prstGeom prst="ellipse">
            <a:avLst/>
          </a:prstGeom>
          <a:solidFill>
            <a:srgbClr val="4FC7C7"/>
          </a:solidFill>
          <a:ln w="12700">
            <a:solidFill>
              <a:srgbClr val="4FC7C7"/>
            </a:solidFill>
            <a:prstDash val="solid"/>
          </a:ln>
        </p:spPr>
      </p:sp>
      <p:sp>
        <p:nvSpPr>
          <p:cNvPr id="31" name="Shape 29"/>
          <p:cNvSpPr/>
          <p:nvPr/>
        </p:nvSpPr>
        <p:spPr>
          <a:xfrm>
            <a:off x="10113264" y="1938528"/>
            <a:ext cx="128016" cy="128016"/>
          </a:xfrm>
          <a:prstGeom prst="ellipse">
            <a:avLst/>
          </a:prstGeom>
          <a:solidFill>
            <a:srgbClr val="7B93FF"/>
          </a:solidFill>
          <a:ln w="12700">
            <a:solidFill>
              <a:srgbClr val="7B93FF"/>
            </a:solidFill>
            <a:prstDash val="solid"/>
          </a:ln>
        </p:spPr>
      </p:sp>
      <p:sp>
        <p:nvSpPr>
          <p:cNvPr id="32" name="Shape 30"/>
          <p:cNvSpPr/>
          <p:nvPr/>
        </p:nvSpPr>
        <p:spPr>
          <a:xfrm>
            <a:off x="10442448" y="1938528"/>
            <a:ext cx="128016" cy="128016"/>
          </a:xfrm>
          <a:prstGeom prst="ellipse">
            <a:avLst/>
          </a:prstGeom>
          <a:solidFill>
            <a:srgbClr val="4FC7C7"/>
          </a:solidFill>
          <a:ln w="12700">
            <a:solidFill>
              <a:srgbClr val="4FC7C7"/>
            </a:solidFill>
            <a:prstDash val="solid"/>
          </a:ln>
        </p:spPr>
      </p:sp>
      <p:sp>
        <p:nvSpPr>
          <p:cNvPr id="33" name="Shape 31"/>
          <p:cNvSpPr/>
          <p:nvPr/>
        </p:nvSpPr>
        <p:spPr>
          <a:xfrm>
            <a:off x="10771632"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11100816" y="1938528"/>
            <a:ext cx="128016" cy="128016"/>
          </a:xfrm>
          <a:prstGeom prst="ellipse">
            <a:avLst/>
          </a:prstGeom>
          <a:solidFill>
            <a:srgbClr val="7B93FF"/>
          </a:solidFill>
          <a:ln w="12700">
            <a:solidFill>
              <a:srgbClr val="7B93FF"/>
            </a:solidFill>
            <a:prstDash val="solid"/>
          </a:ln>
        </p:spPr>
      </p:sp>
      <p:sp>
        <p:nvSpPr>
          <p:cNvPr id="35" name="Shape 33"/>
          <p:cNvSpPr/>
          <p:nvPr/>
        </p:nvSpPr>
        <p:spPr>
          <a:xfrm>
            <a:off x="8138160" y="2267712"/>
            <a:ext cx="128016" cy="128016"/>
          </a:xfrm>
          <a:prstGeom prst="ellipse">
            <a:avLst/>
          </a:prstGeom>
          <a:solidFill>
            <a:srgbClr val="7B93FF"/>
          </a:solidFill>
          <a:ln w="12700">
            <a:solidFill>
              <a:srgbClr val="7B93FF"/>
            </a:solidFill>
            <a:prstDash val="solid"/>
          </a:ln>
        </p:spPr>
      </p:sp>
      <p:sp>
        <p:nvSpPr>
          <p:cNvPr id="36" name="Shape 34"/>
          <p:cNvSpPr/>
          <p:nvPr/>
        </p:nvSpPr>
        <p:spPr>
          <a:xfrm>
            <a:off x="8467344"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8796528"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125712"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454896" y="2267712"/>
            <a:ext cx="128016" cy="128016"/>
          </a:xfrm>
          <a:prstGeom prst="ellipse">
            <a:avLst/>
          </a:prstGeom>
          <a:solidFill>
            <a:srgbClr val="4FC7C7"/>
          </a:solidFill>
          <a:ln w="12700">
            <a:solidFill>
              <a:srgbClr val="4FC7C7"/>
            </a:solidFill>
            <a:prstDash val="solid"/>
          </a:ln>
        </p:spPr>
      </p:sp>
      <p:sp>
        <p:nvSpPr>
          <p:cNvPr id="40" name="Shape 38"/>
          <p:cNvSpPr/>
          <p:nvPr/>
        </p:nvSpPr>
        <p:spPr>
          <a:xfrm>
            <a:off x="9784080" y="2267712"/>
            <a:ext cx="128016" cy="128016"/>
          </a:xfrm>
          <a:prstGeom prst="ellipse">
            <a:avLst/>
          </a:prstGeom>
          <a:solidFill>
            <a:srgbClr val="7B93FF"/>
          </a:solidFill>
          <a:ln w="12700">
            <a:solidFill>
              <a:srgbClr val="7B93FF"/>
            </a:solidFill>
            <a:prstDash val="solid"/>
          </a:ln>
        </p:spPr>
      </p:sp>
      <p:sp>
        <p:nvSpPr>
          <p:cNvPr id="41" name="Shape 39"/>
          <p:cNvSpPr/>
          <p:nvPr/>
        </p:nvSpPr>
        <p:spPr>
          <a:xfrm>
            <a:off x="10113264"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442448"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0771632"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11100816" y="2267712"/>
            <a:ext cx="128016" cy="128016"/>
          </a:xfrm>
          <a:prstGeom prst="ellipse">
            <a:avLst/>
          </a:prstGeom>
          <a:solidFill>
            <a:srgbClr val="4FC7C7"/>
          </a:solidFill>
          <a:ln w="12700">
            <a:solidFill>
              <a:srgbClr val="4FC7C7"/>
            </a:solidFill>
            <a:prstDash val="solid"/>
          </a:ln>
        </p:spPr>
      </p:sp>
      <p:sp>
        <p:nvSpPr>
          <p:cNvPr id="45" name="Shape 43"/>
          <p:cNvSpPr/>
          <p:nvPr/>
        </p:nvSpPr>
        <p:spPr>
          <a:xfrm>
            <a:off x="8138160" y="2596896"/>
            <a:ext cx="128016" cy="128016"/>
          </a:xfrm>
          <a:prstGeom prst="ellipse">
            <a:avLst/>
          </a:prstGeom>
          <a:solidFill>
            <a:srgbClr val="4FC7C7"/>
          </a:solidFill>
          <a:ln w="12700">
            <a:solidFill>
              <a:srgbClr val="4FC7C7"/>
            </a:solidFill>
            <a:prstDash val="solid"/>
          </a:ln>
        </p:spPr>
      </p:sp>
      <p:sp>
        <p:nvSpPr>
          <p:cNvPr id="46" name="Shape 44"/>
          <p:cNvSpPr/>
          <p:nvPr/>
        </p:nvSpPr>
        <p:spPr>
          <a:xfrm>
            <a:off x="8467344"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8796528"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125712"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454896"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9784080" y="2596896"/>
            <a:ext cx="128016" cy="128016"/>
          </a:xfrm>
          <a:prstGeom prst="ellipse">
            <a:avLst/>
          </a:prstGeom>
          <a:solidFill>
            <a:srgbClr val="7B93FF"/>
          </a:solidFill>
          <a:ln w="12700">
            <a:solidFill>
              <a:srgbClr val="7B93FF"/>
            </a:solidFill>
            <a:prstDash val="solid"/>
          </a:ln>
        </p:spPr>
      </p:sp>
      <p:sp>
        <p:nvSpPr>
          <p:cNvPr id="51" name="Shape 49"/>
          <p:cNvSpPr/>
          <p:nvPr/>
        </p:nvSpPr>
        <p:spPr>
          <a:xfrm>
            <a:off x="10113264"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442448"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0771632" y="2596896"/>
            <a:ext cx="128016" cy="128016"/>
          </a:xfrm>
          <a:prstGeom prst="ellipse">
            <a:avLst/>
          </a:prstGeom>
          <a:solidFill>
            <a:srgbClr val="4FC7C7"/>
          </a:solidFill>
          <a:ln w="12700">
            <a:solidFill>
              <a:srgbClr val="4FC7C7"/>
            </a:solidFill>
            <a:prstDash val="solid"/>
          </a:ln>
        </p:spPr>
      </p:sp>
      <p:sp>
        <p:nvSpPr>
          <p:cNvPr id="54" name="Shape 52"/>
          <p:cNvSpPr/>
          <p:nvPr/>
        </p:nvSpPr>
        <p:spPr>
          <a:xfrm>
            <a:off x="11100816" y="2596896"/>
            <a:ext cx="128016" cy="128016"/>
          </a:xfrm>
          <a:prstGeom prst="ellipse">
            <a:avLst/>
          </a:prstGeom>
          <a:solidFill>
            <a:srgbClr val="7B93FF"/>
          </a:solidFill>
          <a:ln w="12700">
            <a:solidFill>
              <a:srgbClr val="7B93FF"/>
            </a:solidFill>
            <a:prstDash val="solid"/>
          </a:ln>
        </p:spPr>
      </p:sp>
      <p:sp>
        <p:nvSpPr>
          <p:cNvPr id="55" name="Shape 53"/>
          <p:cNvSpPr/>
          <p:nvPr/>
        </p:nvSpPr>
        <p:spPr>
          <a:xfrm>
            <a:off x="8138160"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467344"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8796528"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125712"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454896" y="2926080"/>
            <a:ext cx="128016" cy="128016"/>
          </a:xfrm>
          <a:prstGeom prst="ellipse">
            <a:avLst/>
          </a:prstGeom>
          <a:solidFill>
            <a:srgbClr val="7B93FF"/>
          </a:solidFill>
          <a:ln w="12700">
            <a:solidFill>
              <a:srgbClr val="7B93FF"/>
            </a:solidFill>
            <a:prstDash val="solid"/>
          </a:ln>
        </p:spPr>
      </p:sp>
      <p:sp>
        <p:nvSpPr>
          <p:cNvPr id="60" name="Shape 58"/>
          <p:cNvSpPr/>
          <p:nvPr/>
        </p:nvSpPr>
        <p:spPr>
          <a:xfrm>
            <a:off x="9784080"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113264" y="2926080"/>
            <a:ext cx="128016" cy="128016"/>
          </a:xfrm>
          <a:prstGeom prst="ellipse">
            <a:avLst/>
          </a:prstGeom>
          <a:solidFill>
            <a:srgbClr val="4FC7C7"/>
          </a:solidFill>
          <a:ln w="12700">
            <a:solidFill>
              <a:srgbClr val="4FC7C7"/>
            </a:solidFill>
            <a:prstDash val="solid"/>
          </a:ln>
        </p:spPr>
      </p:sp>
      <p:sp>
        <p:nvSpPr>
          <p:cNvPr id="62" name="Shape 60"/>
          <p:cNvSpPr/>
          <p:nvPr/>
        </p:nvSpPr>
        <p:spPr>
          <a:xfrm>
            <a:off x="10442448" y="2926080"/>
            <a:ext cx="128016" cy="128016"/>
          </a:xfrm>
          <a:prstGeom prst="ellipse">
            <a:avLst/>
          </a:prstGeom>
          <a:solidFill>
            <a:srgbClr val="7B93FF"/>
          </a:solidFill>
          <a:ln w="12700">
            <a:solidFill>
              <a:srgbClr val="7B93FF"/>
            </a:solidFill>
            <a:prstDash val="solid"/>
          </a:ln>
        </p:spPr>
      </p:sp>
      <p:sp>
        <p:nvSpPr>
          <p:cNvPr id="63" name="Shape 61"/>
          <p:cNvSpPr/>
          <p:nvPr/>
        </p:nvSpPr>
        <p:spPr>
          <a:xfrm>
            <a:off x="10771632"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11100816" y="2926080"/>
            <a:ext cx="128016" cy="128016"/>
          </a:xfrm>
          <a:prstGeom prst="ellipse">
            <a:avLst/>
          </a:prstGeom>
          <a:solidFill>
            <a:srgbClr val="4FC7C7"/>
          </a:solidFill>
          <a:ln w="12700">
            <a:solidFill>
              <a:srgbClr val="4FC7C7"/>
            </a:solidFill>
            <a:prstDash val="solid"/>
          </a:ln>
        </p:spPr>
      </p:sp>
      <p:sp>
        <p:nvSpPr>
          <p:cNvPr id="65" name="Shape 63"/>
          <p:cNvSpPr/>
          <p:nvPr/>
        </p:nvSpPr>
        <p:spPr>
          <a:xfrm>
            <a:off x="8138160"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467344"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8796528" y="3255264"/>
            <a:ext cx="128016" cy="128016"/>
          </a:xfrm>
          <a:prstGeom prst="ellipse">
            <a:avLst/>
          </a:prstGeom>
          <a:solidFill>
            <a:srgbClr val="7B93FF"/>
          </a:solidFill>
          <a:ln w="12700">
            <a:solidFill>
              <a:srgbClr val="7B93FF"/>
            </a:solidFill>
            <a:prstDash val="solid"/>
          </a:ln>
        </p:spPr>
      </p:sp>
      <p:sp>
        <p:nvSpPr>
          <p:cNvPr id="68" name="Shape 66"/>
          <p:cNvSpPr/>
          <p:nvPr/>
        </p:nvSpPr>
        <p:spPr>
          <a:xfrm>
            <a:off x="9125712" y="3255264"/>
            <a:ext cx="128016" cy="128016"/>
          </a:xfrm>
          <a:prstGeom prst="ellipse">
            <a:avLst/>
          </a:prstGeom>
          <a:solidFill>
            <a:srgbClr val="4FC7C7"/>
          </a:solidFill>
          <a:ln w="12700">
            <a:solidFill>
              <a:srgbClr val="4FC7C7"/>
            </a:solidFill>
            <a:prstDash val="solid"/>
          </a:ln>
        </p:spPr>
      </p:sp>
      <p:sp>
        <p:nvSpPr>
          <p:cNvPr id="69" name="Shape 67"/>
          <p:cNvSpPr/>
          <p:nvPr/>
        </p:nvSpPr>
        <p:spPr>
          <a:xfrm>
            <a:off x="9454896" y="3255264"/>
            <a:ext cx="128016" cy="128016"/>
          </a:xfrm>
          <a:prstGeom prst="ellipse">
            <a:avLst/>
          </a:prstGeom>
          <a:solidFill>
            <a:srgbClr val="7B93FF"/>
          </a:solidFill>
          <a:ln w="12700">
            <a:solidFill>
              <a:srgbClr val="7B93FF"/>
            </a:solidFill>
            <a:prstDash val="solid"/>
          </a:ln>
        </p:spPr>
      </p:sp>
      <p:sp>
        <p:nvSpPr>
          <p:cNvPr id="70" name="Shape 68"/>
          <p:cNvSpPr/>
          <p:nvPr/>
        </p:nvSpPr>
        <p:spPr>
          <a:xfrm>
            <a:off x="9784080"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113264" y="3255264"/>
            <a:ext cx="128016" cy="128016"/>
          </a:xfrm>
          <a:prstGeom prst="ellipse">
            <a:avLst/>
          </a:prstGeom>
          <a:solidFill>
            <a:srgbClr val="4FC7C7"/>
          </a:solidFill>
          <a:ln w="12700">
            <a:solidFill>
              <a:srgbClr val="4FC7C7"/>
            </a:solidFill>
            <a:prstDash val="solid"/>
          </a:ln>
        </p:spPr>
      </p:sp>
      <p:sp>
        <p:nvSpPr>
          <p:cNvPr id="72" name="Shape 70"/>
          <p:cNvSpPr/>
          <p:nvPr/>
        </p:nvSpPr>
        <p:spPr>
          <a:xfrm>
            <a:off x="10442448" y="3255264"/>
            <a:ext cx="128016" cy="128016"/>
          </a:xfrm>
          <a:prstGeom prst="ellipse">
            <a:avLst/>
          </a:prstGeom>
          <a:solidFill>
            <a:srgbClr val="7B93FF"/>
          </a:solidFill>
          <a:ln w="12700">
            <a:solidFill>
              <a:srgbClr val="7B93FF"/>
            </a:solidFill>
            <a:prstDash val="solid"/>
          </a:ln>
        </p:spPr>
      </p:sp>
      <p:sp>
        <p:nvSpPr>
          <p:cNvPr id="73" name="Shape 71"/>
          <p:cNvSpPr/>
          <p:nvPr/>
        </p:nvSpPr>
        <p:spPr>
          <a:xfrm>
            <a:off x="10771632" y="3255264"/>
            <a:ext cx="128016" cy="128016"/>
          </a:xfrm>
          <a:prstGeom prst="ellipse">
            <a:avLst/>
          </a:prstGeom>
          <a:solidFill>
            <a:srgbClr val="4FC7C7"/>
          </a:solidFill>
          <a:ln w="12700">
            <a:solidFill>
              <a:srgbClr val="4FC7C7"/>
            </a:solidFill>
            <a:prstDash val="solid"/>
          </a:ln>
        </p:spPr>
      </p:sp>
      <p:sp>
        <p:nvSpPr>
          <p:cNvPr id="74" name="Shape 72"/>
          <p:cNvSpPr/>
          <p:nvPr/>
        </p:nvSpPr>
        <p:spPr>
          <a:xfrm>
            <a:off x="11100816" y="3255264"/>
            <a:ext cx="128016" cy="128016"/>
          </a:xfrm>
          <a:prstGeom prst="ellipse">
            <a:avLst/>
          </a:prstGeom>
          <a:solidFill>
            <a:srgbClr val="7B93FF"/>
          </a:solidFill>
          <a:ln w="12700">
            <a:solidFill>
              <a:srgbClr val="7B93FF"/>
            </a:solidFill>
            <a:prstDash val="solid"/>
          </a:ln>
        </p:spPr>
      </p:sp>
      <p:sp>
        <p:nvSpPr>
          <p:cNvPr id="75" name="Shape 73"/>
          <p:cNvSpPr/>
          <p:nvPr/>
        </p:nvSpPr>
        <p:spPr>
          <a:xfrm>
            <a:off x="8138160" y="3584448"/>
            <a:ext cx="128016" cy="128016"/>
          </a:xfrm>
          <a:prstGeom prst="ellipse">
            <a:avLst/>
          </a:prstGeom>
          <a:solidFill>
            <a:srgbClr val="7B93FF"/>
          </a:solidFill>
          <a:ln w="12700">
            <a:solidFill>
              <a:srgbClr val="7B93FF"/>
            </a:solidFill>
            <a:prstDash val="solid"/>
          </a:ln>
        </p:spPr>
      </p:sp>
      <p:sp>
        <p:nvSpPr>
          <p:cNvPr id="76" name="Shape 74"/>
          <p:cNvSpPr/>
          <p:nvPr/>
        </p:nvSpPr>
        <p:spPr>
          <a:xfrm>
            <a:off x="8467344" y="3584448"/>
            <a:ext cx="128016" cy="128016"/>
          </a:xfrm>
          <a:prstGeom prst="ellipse">
            <a:avLst/>
          </a:prstGeom>
          <a:solidFill>
            <a:srgbClr val="4FC7C7"/>
          </a:solidFill>
          <a:ln w="12700">
            <a:solidFill>
              <a:srgbClr val="4FC7C7"/>
            </a:solidFill>
            <a:prstDash val="solid"/>
          </a:ln>
        </p:spPr>
      </p:sp>
      <p:sp>
        <p:nvSpPr>
          <p:cNvPr id="77" name="Shape 75"/>
          <p:cNvSpPr/>
          <p:nvPr/>
        </p:nvSpPr>
        <p:spPr>
          <a:xfrm>
            <a:off x="8796528"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125712" y="3584448"/>
            <a:ext cx="128016" cy="128016"/>
          </a:xfrm>
          <a:prstGeom prst="ellipse">
            <a:avLst/>
          </a:prstGeom>
          <a:solidFill>
            <a:srgbClr val="7B93FF"/>
          </a:solidFill>
          <a:ln w="12700">
            <a:solidFill>
              <a:srgbClr val="7B93FF"/>
            </a:solidFill>
            <a:prstDash val="solid"/>
          </a:ln>
        </p:spPr>
      </p:sp>
      <p:sp>
        <p:nvSpPr>
          <p:cNvPr id="79" name="Shape 77"/>
          <p:cNvSpPr/>
          <p:nvPr/>
        </p:nvSpPr>
        <p:spPr>
          <a:xfrm>
            <a:off x="9454896"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9784080" y="3584448"/>
            <a:ext cx="128016" cy="128016"/>
          </a:xfrm>
          <a:prstGeom prst="ellipse">
            <a:avLst/>
          </a:prstGeom>
          <a:solidFill>
            <a:srgbClr val="4FC7C7"/>
          </a:solidFill>
          <a:ln w="12700">
            <a:solidFill>
              <a:srgbClr val="4FC7C7"/>
            </a:solidFill>
            <a:prstDash val="solid"/>
          </a:ln>
        </p:spPr>
      </p:sp>
      <p:sp>
        <p:nvSpPr>
          <p:cNvPr id="81" name="Shape 79"/>
          <p:cNvSpPr/>
          <p:nvPr/>
        </p:nvSpPr>
        <p:spPr>
          <a:xfrm>
            <a:off x="10113264"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442448"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0771632" y="3584448"/>
            <a:ext cx="128016" cy="128016"/>
          </a:xfrm>
          <a:prstGeom prst="ellipse">
            <a:avLst/>
          </a:prstGeom>
          <a:solidFill>
            <a:srgbClr val="7B93FF"/>
          </a:solidFill>
          <a:ln w="12700">
            <a:solidFill>
              <a:srgbClr val="7B93FF"/>
            </a:solidFill>
            <a:prstDash val="solid"/>
          </a:ln>
        </p:spPr>
      </p:sp>
      <p:sp>
        <p:nvSpPr>
          <p:cNvPr id="84" name="Shape 82"/>
          <p:cNvSpPr/>
          <p:nvPr/>
        </p:nvSpPr>
        <p:spPr>
          <a:xfrm>
            <a:off x="11100816" y="3584448"/>
            <a:ext cx="128016" cy="128016"/>
          </a:xfrm>
          <a:prstGeom prst="ellipse">
            <a:avLst/>
          </a:prstGeom>
          <a:solidFill>
            <a:srgbClr val="4FC7C7"/>
          </a:solidFill>
          <a:ln w="12700">
            <a:solidFill>
              <a:srgbClr val="4FC7C7"/>
            </a:solidFill>
            <a:prstDash val="solid"/>
          </a:ln>
        </p:spPr>
      </p:sp>
      <p:sp>
        <p:nvSpPr>
          <p:cNvPr id="85" name="Shape 83"/>
          <p:cNvSpPr/>
          <p:nvPr/>
        </p:nvSpPr>
        <p:spPr>
          <a:xfrm>
            <a:off x="8138160"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467344"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8796528"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125712" y="3913632"/>
            <a:ext cx="128016" cy="128016"/>
          </a:xfrm>
          <a:prstGeom prst="ellipse">
            <a:avLst/>
          </a:prstGeom>
          <a:solidFill>
            <a:srgbClr val="4FC7C7"/>
          </a:solidFill>
          <a:ln w="12700">
            <a:solidFill>
              <a:srgbClr val="4FC7C7"/>
            </a:solidFill>
            <a:prstDash val="solid"/>
          </a:ln>
        </p:spPr>
      </p:sp>
      <p:sp>
        <p:nvSpPr>
          <p:cNvPr id="89" name="Shape 87"/>
          <p:cNvSpPr/>
          <p:nvPr/>
        </p:nvSpPr>
        <p:spPr>
          <a:xfrm>
            <a:off x="9454896"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9784080"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113264" y="3913632"/>
            <a:ext cx="128016" cy="128016"/>
          </a:xfrm>
          <a:prstGeom prst="ellipse">
            <a:avLst/>
          </a:prstGeom>
          <a:solidFill>
            <a:srgbClr val="7B93FF"/>
          </a:solidFill>
          <a:ln w="12700">
            <a:solidFill>
              <a:srgbClr val="7B93FF"/>
            </a:solidFill>
            <a:prstDash val="solid"/>
          </a:ln>
        </p:spPr>
      </p:sp>
      <p:sp>
        <p:nvSpPr>
          <p:cNvPr id="92" name="Shape 90"/>
          <p:cNvSpPr/>
          <p:nvPr/>
        </p:nvSpPr>
        <p:spPr>
          <a:xfrm>
            <a:off x="10442448"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0771632"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11100816" y="3913632"/>
            <a:ext cx="128016" cy="128016"/>
          </a:xfrm>
          <a:prstGeom prst="ellipse">
            <a:avLst/>
          </a:prstGeom>
          <a:solidFill>
            <a:srgbClr val="4FC7C7"/>
          </a:solidFill>
          <a:ln w="12700">
            <a:solidFill>
              <a:srgbClr val="4FC7C7"/>
            </a:solidFill>
            <a:prstDash val="solid"/>
          </a:ln>
        </p:spPr>
      </p:sp>
      <p:sp>
        <p:nvSpPr>
          <p:cNvPr id="95" name="Shape 93"/>
          <p:cNvSpPr/>
          <p:nvPr/>
        </p:nvSpPr>
        <p:spPr>
          <a:xfrm>
            <a:off x="8138160" y="4242816"/>
            <a:ext cx="128016" cy="128016"/>
          </a:xfrm>
          <a:prstGeom prst="ellipse">
            <a:avLst/>
          </a:prstGeom>
          <a:solidFill>
            <a:srgbClr val="7B93FF"/>
          </a:solidFill>
          <a:ln w="12700">
            <a:solidFill>
              <a:srgbClr val="7B93FF"/>
            </a:solidFill>
            <a:prstDash val="solid"/>
          </a:ln>
        </p:spPr>
      </p:sp>
      <p:sp>
        <p:nvSpPr>
          <p:cNvPr id="96" name="Shape 94"/>
          <p:cNvSpPr/>
          <p:nvPr/>
        </p:nvSpPr>
        <p:spPr>
          <a:xfrm>
            <a:off x="8467344" y="4242816"/>
            <a:ext cx="128016" cy="128016"/>
          </a:xfrm>
          <a:prstGeom prst="ellipse">
            <a:avLst/>
          </a:prstGeom>
          <a:solidFill>
            <a:srgbClr val="4FC7C7"/>
          </a:solidFill>
          <a:ln w="12700">
            <a:solidFill>
              <a:srgbClr val="4FC7C7"/>
            </a:solidFill>
            <a:prstDash val="solid"/>
          </a:ln>
        </p:spPr>
      </p:sp>
      <p:sp>
        <p:nvSpPr>
          <p:cNvPr id="97" name="Shape 95"/>
          <p:cNvSpPr/>
          <p:nvPr/>
        </p:nvSpPr>
        <p:spPr>
          <a:xfrm>
            <a:off x="8796528"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125712"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454896" y="4242816"/>
            <a:ext cx="128016" cy="128016"/>
          </a:xfrm>
          <a:prstGeom prst="ellipse">
            <a:avLst/>
          </a:prstGeom>
          <a:solidFill>
            <a:srgbClr val="7B93FF"/>
          </a:solidFill>
          <a:ln w="12700">
            <a:solidFill>
              <a:srgbClr val="7B93FF"/>
            </a:solidFill>
            <a:prstDash val="solid"/>
          </a:ln>
        </p:spPr>
      </p:sp>
      <p:sp>
        <p:nvSpPr>
          <p:cNvPr id="100" name="Shape 98"/>
          <p:cNvSpPr/>
          <p:nvPr/>
        </p:nvSpPr>
        <p:spPr>
          <a:xfrm>
            <a:off x="9784080"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113264"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442448" y="4242816"/>
            <a:ext cx="128016" cy="128016"/>
          </a:xfrm>
          <a:prstGeom prst="ellipse">
            <a:avLst/>
          </a:prstGeom>
          <a:solidFill>
            <a:srgbClr val="4FC7C7"/>
          </a:solidFill>
          <a:ln w="12700">
            <a:solidFill>
              <a:srgbClr val="4FC7C7"/>
            </a:solidFill>
            <a:prstDash val="solid"/>
          </a:ln>
        </p:spPr>
      </p:sp>
      <p:sp>
        <p:nvSpPr>
          <p:cNvPr id="103" name="Shape 101"/>
          <p:cNvSpPr/>
          <p:nvPr/>
        </p:nvSpPr>
        <p:spPr>
          <a:xfrm>
            <a:off x="10771632"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11100816" y="4242816"/>
            <a:ext cx="128016" cy="128016"/>
          </a:xfrm>
          <a:prstGeom prst="ellipse">
            <a:avLst/>
          </a:prstGeom>
          <a:solidFill>
            <a:srgbClr val="7B93FF"/>
          </a:solidFill>
          <a:ln w="12700">
            <a:solidFill>
              <a:srgbClr val="7B93FF"/>
            </a:solidFill>
            <a:prstDash val="solid"/>
          </a:ln>
        </p:spPr>
      </p:sp>
      <p:sp>
        <p:nvSpPr>
          <p:cNvPr id="105" name="Shape 103"/>
          <p:cNvSpPr/>
          <p:nvPr/>
        </p:nvSpPr>
        <p:spPr>
          <a:xfrm>
            <a:off x="8138160"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467344" y="4572000"/>
            <a:ext cx="128016" cy="128016"/>
          </a:xfrm>
          <a:prstGeom prst="ellipse">
            <a:avLst/>
          </a:prstGeom>
          <a:solidFill>
            <a:srgbClr val="7B93FF"/>
          </a:solidFill>
          <a:ln w="12700">
            <a:solidFill>
              <a:srgbClr val="7B93FF"/>
            </a:solidFill>
            <a:prstDash val="solid"/>
          </a:ln>
        </p:spPr>
      </p:sp>
      <p:sp>
        <p:nvSpPr>
          <p:cNvPr id="107" name="Shape 105"/>
          <p:cNvSpPr/>
          <p:nvPr/>
        </p:nvSpPr>
        <p:spPr>
          <a:xfrm>
            <a:off x="8796528"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125712" y="4572000"/>
            <a:ext cx="128016" cy="128016"/>
          </a:xfrm>
          <a:prstGeom prst="ellipse">
            <a:avLst/>
          </a:prstGeom>
          <a:solidFill>
            <a:srgbClr val="4FC7C7"/>
          </a:solidFill>
          <a:ln w="12700">
            <a:solidFill>
              <a:srgbClr val="4FC7C7"/>
            </a:solidFill>
            <a:prstDash val="solid"/>
          </a:ln>
        </p:spPr>
      </p:sp>
      <p:sp>
        <p:nvSpPr>
          <p:cNvPr id="109" name="Shape 107"/>
          <p:cNvSpPr/>
          <p:nvPr/>
        </p:nvSpPr>
        <p:spPr>
          <a:xfrm>
            <a:off x="9454896"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9784080" y="4572000"/>
            <a:ext cx="128016" cy="128016"/>
          </a:xfrm>
          <a:prstGeom prst="ellipse">
            <a:avLst/>
          </a:prstGeom>
          <a:solidFill>
            <a:srgbClr val="7B93FF"/>
          </a:solidFill>
          <a:ln w="12700">
            <a:solidFill>
              <a:srgbClr val="7B93FF"/>
            </a:solidFill>
            <a:prstDash val="solid"/>
          </a:ln>
        </p:spPr>
      </p:sp>
      <p:sp>
        <p:nvSpPr>
          <p:cNvPr id="111" name="Shape 109"/>
          <p:cNvSpPr/>
          <p:nvPr/>
        </p:nvSpPr>
        <p:spPr>
          <a:xfrm>
            <a:off x="10113264" y="4572000"/>
            <a:ext cx="128016" cy="128016"/>
          </a:xfrm>
          <a:prstGeom prst="ellipse">
            <a:avLst/>
          </a:prstGeom>
          <a:solidFill>
            <a:srgbClr val="4FC7C7"/>
          </a:solidFill>
          <a:ln w="12700">
            <a:solidFill>
              <a:srgbClr val="4FC7C7"/>
            </a:solidFill>
            <a:prstDash val="solid"/>
          </a:ln>
        </p:spPr>
      </p:sp>
      <p:sp>
        <p:nvSpPr>
          <p:cNvPr id="112" name="Shape 110"/>
          <p:cNvSpPr/>
          <p:nvPr/>
        </p:nvSpPr>
        <p:spPr>
          <a:xfrm>
            <a:off x="10442448"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0771632"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11100816" y="4572000"/>
            <a:ext cx="128016" cy="128016"/>
          </a:xfrm>
          <a:prstGeom prst="ellipse">
            <a:avLst/>
          </a:prstGeom>
          <a:solidFill>
            <a:srgbClr val="7B93FF"/>
          </a:solidFill>
          <a:ln w="12700">
            <a:solidFill>
              <a:srgbClr val="7B93FF"/>
            </a:solidFill>
            <a:prstDash val="solid"/>
          </a:ln>
        </p:spPr>
      </p:sp>
      <p:sp>
        <p:nvSpPr>
          <p:cNvPr id="115" name="Shape 113"/>
          <p:cNvSpPr/>
          <p:nvPr/>
        </p:nvSpPr>
        <p:spPr>
          <a:xfrm>
            <a:off x="8138160" y="4901184"/>
            <a:ext cx="128016" cy="128016"/>
          </a:xfrm>
          <a:prstGeom prst="ellipse">
            <a:avLst/>
          </a:prstGeom>
          <a:solidFill>
            <a:srgbClr val="4FC7C7"/>
          </a:solidFill>
          <a:ln w="12700">
            <a:solidFill>
              <a:srgbClr val="4FC7C7"/>
            </a:solidFill>
            <a:prstDash val="solid"/>
          </a:ln>
        </p:spPr>
      </p:sp>
      <p:sp>
        <p:nvSpPr>
          <p:cNvPr id="116" name="Shape 114"/>
          <p:cNvSpPr/>
          <p:nvPr/>
        </p:nvSpPr>
        <p:spPr>
          <a:xfrm>
            <a:off x="8467344"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8796528"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125712" y="4901184"/>
            <a:ext cx="128016" cy="128016"/>
          </a:xfrm>
          <a:prstGeom prst="ellipse">
            <a:avLst/>
          </a:prstGeom>
          <a:solidFill>
            <a:srgbClr val="7B93FF"/>
          </a:solidFill>
          <a:ln w="12700">
            <a:solidFill>
              <a:srgbClr val="7B93FF"/>
            </a:solidFill>
            <a:prstDash val="solid"/>
          </a:ln>
        </p:spPr>
      </p:sp>
      <p:sp>
        <p:nvSpPr>
          <p:cNvPr id="119" name="Shape 117"/>
          <p:cNvSpPr/>
          <p:nvPr/>
        </p:nvSpPr>
        <p:spPr>
          <a:xfrm>
            <a:off x="9454896"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9784080"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113264"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442448" y="4901184"/>
            <a:ext cx="128016" cy="128016"/>
          </a:xfrm>
          <a:prstGeom prst="ellipse">
            <a:avLst/>
          </a:prstGeom>
          <a:solidFill>
            <a:srgbClr val="4FC7C7"/>
          </a:solidFill>
          <a:ln w="12700">
            <a:solidFill>
              <a:srgbClr val="4FC7C7"/>
            </a:solidFill>
            <a:prstDash val="solid"/>
          </a:ln>
        </p:spPr>
      </p:sp>
      <p:sp>
        <p:nvSpPr>
          <p:cNvPr id="123" name="Shape 121"/>
          <p:cNvSpPr/>
          <p:nvPr/>
        </p:nvSpPr>
        <p:spPr>
          <a:xfrm>
            <a:off x="10771632"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11100816" y="4901184"/>
            <a:ext cx="128016" cy="128016"/>
          </a:xfrm>
          <a:prstGeom prst="ellipse">
            <a:avLst/>
          </a:prstGeom>
          <a:solidFill>
            <a:srgbClr val="7B93FF"/>
          </a:solidFill>
          <a:ln w="12700">
            <a:solidFill>
              <a:srgbClr val="7B93FF"/>
            </a:solidFill>
            <a:prstDash val="solid"/>
          </a:ln>
        </p:spPr>
      </p:sp>
      <p:sp>
        <p:nvSpPr>
          <p:cNvPr id="125" name="Shape 123"/>
          <p:cNvSpPr/>
          <p:nvPr/>
        </p:nvSpPr>
        <p:spPr>
          <a:xfrm>
            <a:off x="8138160" y="5230368"/>
            <a:ext cx="128016" cy="128016"/>
          </a:xfrm>
          <a:prstGeom prst="ellipse">
            <a:avLst/>
          </a:prstGeom>
          <a:solidFill>
            <a:srgbClr val="7B93FF"/>
          </a:solidFill>
          <a:ln w="12700">
            <a:solidFill>
              <a:srgbClr val="7B93FF"/>
            </a:solidFill>
            <a:prstDash val="solid"/>
          </a:ln>
        </p:spPr>
      </p:sp>
      <p:sp>
        <p:nvSpPr>
          <p:cNvPr id="126" name="Shape 124"/>
          <p:cNvSpPr/>
          <p:nvPr/>
        </p:nvSpPr>
        <p:spPr>
          <a:xfrm>
            <a:off x="8467344" y="5230368"/>
            <a:ext cx="128016" cy="128016"/>
          </a:xfrm>
          <a:prstGeom prst="ellipse">
            <a:avLst/>
          </a:prstGeom>
          <a:solidFill>
            <a:srgbClr val="4FC7C7"/>
          </a:solidFill>
          <a:ln w="12700">
            <a:solidFill>
              <a:srgbClr val="4FC7C7"/>
            </a:solidFill>
            <a:prstDash val="solid"/>
          </a:ln>
        </p:spPr>
      </p:sp>
      <p:sp>
        <p:nvSpPr>
          <p:cNvPr id="127" name="Shape 125"/>
          <p:cNvSpPr/>
          <p:nvPr/>
        </p:nvSpPr>
        <p:spPr>
          <a:xfrm>
            <a:off x="8796528" y="5230368"/>
            <a:ext cx="128016" cy="128016"/>
          </a:xfrm>
          <a:prstGeom prst="ellipse">
            <a:avLst/>
          </a:prstGeom>
          <a:solidFill>
            <a:srgbClr val="7B93FF"/>
          </a:solidFill>
          <a:ln w="12700">
            <a:solidFill>
              <a:srgbClr val="7B93FF"/>
            </a:solidFill>
            <a:prstDash val="solid"/>
          </a:ln>
        </p:spPr>
      </p:sp>
      <p:sp>
        <p:nvSpPr>
          <p:cNvPr id="128" name="Shape 126"/>
          <p:cNvSpPr/>
          <p:nvPr/>
        </p:nvSpPr>
        <p:spPr>
          <a:xfrm>
            <a:off x="9125712"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454896"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9784080"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113264" y="5230368"/>
            <a:ext cx="128016" cy="128016"/>
          </a:xfrm>
          <a:prstGeom prst="ellipse">
            <a:avLst/>
          </a:prstGeom>
          <a:solidFill>
            <a:srgbClr val="4FC7C7"/>
          </a:solidFill>
          <a:ln w="12700">
            <a:solidFill>
              <a:srgbClr val="4FC7C7"/>
            </a:solidFill>
            <a:prstDash val="solid"/>
          </a:ln>
        </p:spPr>
      </p:sp>
      <p:sp>
        <p:nvSpPr>
          <p:cNvPr id="132" name="Shape 130"/>
          <p:cNvSpPr/>
          <p:nvPr/>
        </p:nvSpPr>
        <p:spPr>
          <a:xfrm>
            <a:off x="10442448"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0771632" y="5230368"/>
            <a:ext cx="128016" cy="128016"/>
          </a:xfrm>
          <a:prstGeom prst="ellipse">
            <a:avLst/>
          </a:prstGeom>
          <a:solidFill>
            <a:srgbClr val="7B93FF"/>
          </a:solidFill>
          <a:ln w="12700">
            <a:solidFill>
              <a:srgbClr val="7B93FF"/>
            </a:solidFill>
            <a:prstDash val="solid"/>
          </a:ln>
        </p:spPr>
      </p:sp>
      <p:sp>
        <p:nvSpPr>
          <p:cNvPr id="134" name="Shape 132"/>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위키 순서</a:t>
            </a:r>
            <a:endParaRPr lang="en-US" sz="2000" dirty="0"/>
          </a:p>
        </p:txBody>
      </p:sp>
      <p:sp>
        <p:nvSpPr>
          <p:cNvPr id="5" name="Text 2"/>
          <p:cNvSpPr txBox="1"/>
          <p:nvPr/>
        </p:nvSpPr>
        <p:spPr>
          <a:xfrm>
            <a:off x="640080" y="2103120"/>
            <a:ext cx="2645588" cy="822960"/>
          </a:xfrm>
          <a:prstGeom prst="rect">
            <a:avLst/>
          </a:prstGeom>
          <a:noFill/>
          <a:ln/>
        </p:spPr>
        <p:txBody>
          <a:bodyPr wrap="square" lIns="0" tIns="0" rIns="0" bIns="0" rtlCol="0" anchor="t"/>
          <a:lstStyle/>
          <a:p>
            <a:pPr indent="0" marL="0">
              <a:buNone/>
            </a:pPr>
            <a:r>
              <a:rPr lang="en-US" sz="1400" b="1" dirty="0">
                <a:solidFill>
                  <a:schemeClr val="accent1"/>
                </a:solidFill>
              </a:rPr>
              <a:t>00-01</a:t>
            </a:r>
            <a:endParaRPr lang="en-US" sz="1500" dirty="0"/>
          </a:p>
          <a:p>
            <a:pPr indent="0" marL="0">
              <a:buNone/>
            </a:pPr>
            <a:r>
              <a:rPr lang="en-US" sz="1500" b="1" dirty="0">
                <a:solidFill>
                  <a:schemeClr val="tx1"/>
                </a:solidFill>
              </a:rPr>
              <a:t>기초용어와 실험의 필요성</a:t>
            </a:r>
            <a:endParaRPr lang="en-US" sz="1500" dirty="0"/>
          </a:p>
        </p:txBody>
      </p:sp>
      <p:sp>
        <p:nvSpPr>
          <p:cNvPr id="6" name="Shape 3"/>
          <p:cNvSpPr/>
          <p:nvPr/>
        </p:nvSpPr>
        <p:spPr>
          <a:xfrm>
            <a:off x="640080" y="3154680"/>
            <a:ext cx="2645588" cy="0"/>
          </a:xfrm>
          <a:prstGeom prst="line">
            <a:avLst/>
          </a:prstGeom>
          <a:noFill/>
          <a:ln w="76200">
            <a:solidFill>
              <a:srgbClr val="3A5BFF"/>
            </a:solidFill>
            <a:prstDash val="solid"/>
          </a:ln>
        </p:spPr>
      </p:sp>
      <p:sp>
        <p:nvSpPr>
          <p:cNvPr id="7" name="Text 4"/>
          <p:cNvSpPr txBox="1"/>
          <p:nvPr/>
        </p:nvSpPr>
        <p:spPr>
          <a:xfrm>
            <a:off x="3395396" y="2103120"/>
            <a:ext cx="2645588" cy="822960"/>
          </a:xfrm>
          <a:prstGeom prst="rect">
            <a:avLst/>
          </a:prstGeom>
          <a:noFill/>
          <a:ln/>
        </p:spPr>
        <p:txBody>
          <a:bodyPr wrap="square" lIns="0" tIns="0" rIns="0" bIns="0" rtlCol="0" anchor="t"/>
          <a:lstStyle/>
          <a:p>
            <a:pPr indent="0" marL="0">
              <a:buNone/>
            </a:pPr>
            <a:r>
              <a:rPr lang="en-US" sz="1400" b="1" dirty="0">
                <a:solidFill>
                  <a:schemeClr val="accent1"/>
                </a:solidFill>
              </a:rPr>
              <a:t>02-05</a:t>
            </a:r>
            <a:endParaRPr lang="en-US" sz="1500" dirty="0"/>
          </a:p>
          <a:p>
            <a:pPr indent="0" marL="0">
              <a:buNone/>
            </a:pPr>
            <a:r>
              <a:rPr lang="en-US" sz="1500" b="1" dirty="0">
                <a:solidFill>
                  <a:schemeClr val="tx1"/>
                </a:solidFill>
              </a:rPr>
              <a:t>가설·지표·단위·운영 설계</a:t>
            </a:r>
            <a:endParaRPr lang="en-US" sz="1500" dirty="0"/>
          </a:p>
        </p:txBody>
      </p:sp>
      <p:sp>
        <p:nvSpPr>
          <p:cNvPr id="8" name="Shape 5"/>
          <p:cNvSpPr/>
          <p:nvPr/>
        </p:nvSpPr>
        <p:spPr>
          <a:xfrm>
            <a:off x="3395396" y="3154680"/>
            <a:ext cx="2645588" cy="0"/>
          </a:xfrm>
          <a:prstGeom prst="line">
            <a:avLst/>
          </a:prstGeom>
          <a:noFill/>
          <a:ln w="76200">
            <a:solidFill>
              <a:srgbClr val="3A5BFF"/>
            </a:solidFill>
            <a:prstDash val="solid"/>
          </a:ln>
        </p:spPr>
      </p:sp>
      <p:sp>
        <p:nvSpPr>
          <p:cNvPr id="9" name="Text 6"/>
          <p:cNvSpPr txBox="1"/>
          <p:nvPr/>
        </p:nvSpPr>
        <p:spPr>
          <a:xfrm>
            <a:off x="6150712" y="2103120"/>
            <a:ext cx="2645588" cy="822960"/>
          </a:xfrm>
          <a:prstGeom prst="rect">
            <a:avLst/>
          </a:prstGeom>
          <a:noFill/>
          <a:ln/>
        </p:spPr>
        <p:txBody>
          <a:bodyPr wrap="square" lIns="0" tIns="0" rIns="0" bIns="0" rtlCol="0" anchor="t"/>
          <a:lstStyle/>
          <a:p>
            <a:pPr indent="0" marL="0">
              <a:buNone/>
            </a:pPr>
            <a:r>
              <a:rPr lang="en-US" sz="1400" b="1" dirty="0">
                <a:solidFill>
                  <a:schemeClr val="accent1"/>
                </a:solidFill>
              </a:rPr>
              <a:t>06-08</a:t>
            </a:r>
            <a:endParaRPr lang="en-US" sz="1500" dirty="0"/>
          </a:p>
          <a:p>
            <a:pPr indent="0" marL="0">
              <a:buNone/>
            </a:pPr>
            <a:r>
              <a:rPr lang="en-US" sz="1500" b="1" dirty="0">
                <a:solidFill>
                  <a:schemeClr val="tx1"/>
                </a:solidFill>
              </a:rPr>
              <a:t>간섭과 윤리</a:t>
            </a:r>
            <a:endParaRPr lang="en-US" sz="1500" dirty="0"/>
          </a:p>
        </p:txBody>
      </p:sp>
      <p:sp>
        <p:nvSpPr>
          <p:cNvPr id="10" name="Shape 7"/>
          <p:cNvSpPr/>
          <p:nvPr/>
        </p:nvSpPr>
        <p:spPr>
          <a:xfrm>
            <a:off x="6150712" y="3154680"/>
            <a:ext cx="2645588" cy="0"/>
          </a:xfrm>
          <a:prstGeom prst="line">
            <a:avLst/>
          </a:prstGeom>
          <a:noFill/>
          <a:ln w="76200">
            <a:solidFill>
              <a:srgbClr val="3A5BFF"/>
            </a:solidFill>
            <a:prstDash val="solid"/>
          </a:ln>
        </p:spPr>
      </p:sp>
      <p:sp>
        <p:nvSpPr>
          <p:cNvPr id="11" name="Text 8"/>
          <p:cNvSpPr txBox="1"/>
          <p:nvPr/>
        </p:nvSpPr>
        <p:spPr>
          <a:xfrm>
            <a:off x="8906027" y="2103120"/>
            <a:ext cx="2645588" cy="822960"/>
          </a:xfrm>
          <a:prstGeom prst="rect">
            <a:avLst/>
          </a:prstGeom>
          <a:noFill/>
          <a:ln/>
        </p:spPr>
        <p:txBody>
          <a:bodyPr wrap="square" lIns="0" tIns="0" rIns="0" bIns="0" rtlCol="0" anchor="t"/>
          <a:lstStyle/>
          <a:p>
            <a:pPr indent="0" marL="0">
              <a:buNone/>
            </a:pPr>
            <a:r>
              <a:rPr lang="en-US" sz="1400" b="1" dirty="0">
                <a:solidFill>
                  <a:schemeClr val="accent1"/>
                </a:solidFill>
              </a:rPr>
              <a:t>09-12</a:t>
            </a:r>
            <a:endParaRPr lang="en-US" sz="1500" dirty="0"/>
          </a:p>
          <a:p>
            <a:pPr indent="0" marL="0">
              <a:buNone/>
            </a:pPr>
            <a:r>
              <a:rPr lang="en-US" sz="1500" b="1" dirty="0">
                <a:solidFill>
                  <a:schemeClr val="tx1"/>
                </a:solidFill>
              </a:rPr>
              <a:t>실행·함정·문화·복습</a:t>
            </a:r>
            <a:endParaRPr lang="en-US" sz="1500" dirty="0"/>
          </a:p>
        </p:txBody>
      </p:sp>
      <p:sp>
        <p:nvSpPr>
          <p:cNvPr id="12" name="Shape 9"/>
          <p:cNvSpPr/>
          <p:nvPr/>
        </p:nvSpPr>
        <p:spPr>
          <a:xfrm>
            <a:off x="8906027" y="3154680"/>
            <a:ext cx="2645588" cy="0"/>
          </a:xfrm>
          <a:prstGeom prst="line">
            <a:avLst/>
          </a:prstGeom>
          <a:noFill/>
          <a:ln w="76200">
            <a:solidFill>
              <a:srgbClr val="3A5BFF"/>
            </a:solidFill>
            <a:prstDash val="solid"/>
          </a:ln>
        </p:spPr>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테스트의 기본 구조</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기초용어와 실험이 필요한 이유</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먼저 읽기 · 기초용어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 기초용어</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위키 03편에서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전후 비교만으로는 효과를 판단할 수 없다</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테스트의 기본 절차</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위키 02·03편</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위키 02편</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위키 01·04편</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위키 04·05편</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위키 09편</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위키 09·10편</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위키 09·11편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위키 07편과 연결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01 · 왜 A/B 테스트를 하는가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 정의와 가설, 지표, 실험 단위, 운영 설계</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실험의 출발점은 문제 정의다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실험에서는 핵심 변화 하나만 검증한다</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검증 가능한 가설의 구조</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가설의 조건</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가설과 통계적 가설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단측검정과 양측검정</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02 · 문제 정의와 가설 수립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비열등성 검정</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체계와 해석 순서</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OEC 설계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North Star Metric과 OEC</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 Metric의 정의</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Secondary Metric과 Driver Metric</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비율 지표의 구성 효과</a:t>
            </a:r>
            <a:endParaRPr lang="en-US" sz="2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Guardrail Metric의 역할</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위키 09·10편에서 다룹니다</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Goodhart's Law</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03 · 지표 설계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기준의 사전 정의</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04 · 실험 단위 결정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단위 선택</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(위키 09편)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04 · 실험 단위 결정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식별자의 한계</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04 · 실험 단위 결정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Session-level Randomization</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04 · 실험 단위 결정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트리거 분석</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1종 오류와 2종 오류</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유의수준과 검정력이 실험 규모에 미치는 영향</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 결정 기준</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무작위 배정 방식</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05 · 실제 실험 운영 설계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비율과 실험 효율</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신뢰할 수 있는 실험의 조건</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간섭 문제와 해결 방법, 윤리</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06 · 간섭 문제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SUTVA와 간섭</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위키 07편과 연결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06 · 간섭 문제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직접 간섭과 간접 간섭</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(위키 06편)이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06 · 간섭 문제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실험 결과에 미치는 영향</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07 · 간섭 문제의 해결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 문제의 해결 방법</a:t>
            </a:r>
            <a:endParaRPr lang="en-US" sz="2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위키 04·09편)</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07 · 간섭 문제의 해결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목적에 따른 실험 설계</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07 · 간섭 문제의 해결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어려울 때의 인과추론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08 · 윤리 문제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테스트의 윤리 문제</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데이터 기반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결과 해석, 실무 함정, 실험 플랫폼, 복습</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실행 순서</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 테스트</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기간 결정</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유형에 따른 통계 검정</a:t>
            </a:r>
            <a:endParaRPr lang="en-US" sz="2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 해석</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신뢰구간 해석</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 유의성과 실질적 유의성</a:t>
            </a:r>
            <a:endParaRPr lang="en-US" sz="2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Testing을 사용한다 (위키 10편)</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분석(위키 04편)</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결과에서 의사결정까지</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09 · 실험 실행과 결과 해석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10 · 실무 함정과 대응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결과를 왜곡하는 주요 함정</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10 · 실무 함정과 대응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Sequential Testing</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10 · 실무 함정과 대응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심슨의 역설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10 · 실무 함정과 대응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Sample Ratio Mismatch</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10 · 실무 함정과 대응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오염시키는 데이터 편향</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기업의 실험 방법 사례</a:t>
            </a:r>
            <a:endParaRPr lang="en-US" sz="2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온라인 통제 실험의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11 · 실험 플랫폼과 데이터 기반 문화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문화의 기반</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640080" y="493776"/>
            <a:ext cx="6949440" cy="667512"/>
          </a:xfrm>
          <a:prstGeom prst="rect">
            <a:avLst/>
          </a:prstGeom>
          <a:noFill/>
          <a:ln/>
        </p:spPr>
        <p:txBody>
          <a:bodyPr wrap="square" lIns="0" tIns="0" rIns="0" bIns="0" rtlCol="0" anchor="t"/>
          <a:lstStyle/>
          <a:p>
            <a:pPr indent="0" marL="0">
              <a:buNone/>
            </a:pPr>
            <a:r>
              <a:rPr lang="en-US" sz="4400" b="1" dirty="0">
                <a:solidFill>
                  <a:srgbClr val="FFFFFF"/>
                </a:solidFill>
              </a:rPr>
              <a:t>정리</a:t>
            </a:r>
            <a:endParaRPr lang="en-US" sz="4400" dirty="0"/>
          </a:p>
        </p:txBody>
      </p:sp>
      <p:sp>
        <p:nvSpPr>
          <p:cNvPr id="3" name="Text 1"/>
          <p:cNvSpPr txBox="1"/>
          <p:nvPr/>
        </p:nvSpPr>
        <p:spPr>
          <a:xfrm>
            <a:off x="640080" y="2898648"/>
            <a:ext cx="4754880" cy="13716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
        <p:nvSpPr>
          <p:cNvPr id="5"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endParaRPr lang="en-US" sz="4400" dirty="0"/>
          </a:p>
        </p:txBody>
      </p:sp>
      <p:sp>
        <p:nvSpPr>
          <p:cNvPr id="6"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12 · 복습 퀴즈 · 객관식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결과를 보고 가장 먼저 해야 할 일은 무엇일까요?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50:50으로 설계한 실험에서 B안 전환율이 +3%p, p = 0.01로 나왔습니다.</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indent="0" marL="0">
              <a:buNone/>
            </a:pPr>
            <a:r>
              <a:rPr lang="en-US" sz="1500" dirty="0">
                <a:solidFill>
                  <a:schemeClr val="tx2"/>
                </a:solidFill>
              </a:rPr>
              <a:t>그런데 실제로 들어온 사용자 수는  </a:t>
            </a:r>
            <a:pPr indent="0" marL="0">
              <a:buNone/>
            </a:pPr>
            <a:r>
              <a:rPr lang="en-US" sz="3000" b="1" dirty="0">
                <a:solidFill>
                  <a:schemeClr val="accent1"/>
                </a:solidFill>
              </a:rPr>
              <a:t>A 50,000명</a:t>
            </a:r>
            <a:pPr indent="0" marL="0">
              <a:buNone/>
            </a:pPr>
            <a:r>
              <a:rPr lang="en-US" sz="3000" dirty="0">
                <a:solidFill>
                  <a:schemeClr val="tx1"/>
                </a:solidFill>
              </a:rPr>
              <a:t>   </a:t>
            </a:r>
            <a:pPr indent="0" marL="0">
              <a:buNone/>
            </a:pPr>
            <a:r>
              <a:rPr lang="en-US" sz="3000" b="1" dirty="0">
                <a:solidFill>
                  <a:schemeClr val="accent3"/>
                </a:solidFill>
              </a:rPr>
              <a:t>B 48,800명</a:t>
            </a:r>
            <a:pPr indent="0" marL="0">
              <a:buNone/>
            </a:pPr>
            <a:r>
              <a:rPr lang="en-US" sz="1500" dirty="0">
                <a:solidFill>
                  <a:schemeClr val="tx2"/>
                </a:solidFill>
              </a:rPr>
              <a:t>  입니다.</a:t>
            </a:r>
            <a:endParaRPr lang="en-US" sz="1500" dirty="0"/>
          </a:p>
        </p:txBody>
      </p:sp>
      <p:sp>
        <p:nvSpPr>
          <p:cNvPr id="7" name="Text 4"/>
          <p:cNvSpPr txBox="1"/>
          <p:nvPr/>
        </p:nvSpPr>
        <p:spPr>
          <a:xfrm>
            <a:off x="640080" y="30632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가장 먼저 해야 할 일로 옳은 것을 고르세요.</a:t>
            </a:r>
            <a:endParaRPr lang="en-US" sz="1500" dirty="0"/>
          </a:p>
        </p:txBody>
      </p:sp>
      <p:sp>
        <p:nvSpPr>
          <p:cNvPr id="8" name="Text 5"/>
          <p:cNvSpPr txBox="1"/>
          <p:nvPr/>
        </p:nvSpPr>
        <p:spPr>
          <a:xfrm>
            <a:off x="640080" y="36118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①</a:t>
            </a:r>
            <a:endParaRPr lang="en-US" sz="2000" dirty="0"/>
          </a:p>
        </p:txBody>
      </p:sp>
      <p:sp>
        <p:nvSpPr>
          <p:cNvPr id="9" name="Text 6"/>
          <p:cNvSpPr txBox="1"/>
          <p:nvPr/>
        </p:nvSpPr>
        <p:spPr>
          <a:xfrm>
            <a:off x="1188720" y="3611880"/>
            <a:ext cx="10362895" cy="457200"/>
          </a:xfrm>
          <a:prstGeom prst="rect">
            <a:avLst/>
          </a:prstGeom>
          <a:noFill/>
          <a:ln/>
        </p:spPr>
        <p:txBody>
          <a:bodyPr wrap="square" lIns="0" tIns="0" rIns="0" bIns="0" rtlCol="0" anchor="t"/>
          <a:lstStyle/>
          <a:p>
            <a:pPr indent="0" marL="0">
              <a:buNone/>
            </a:pPr>
            <a:r>
              <a:rPr lang="en-US" sz="2000" dirty="0">
                <a:solidFill>
                  <a:schemeClr val="tx1"/>
                </a:solidFill>
              </a:rPr>
              <a:t>유의하므로 B안을 배포합니다</a:t>
            </a:r>
            <a:endParaRPr lang="en-US" sz="2000" dirty="0"/>
          </a:p>
        </p:txBody>
      </p:sp>
      <p:sp>
        <p:nvSpPr>
          <p:cNvPr id="10" name="Text 7"/>
          <p:cNvSpPr txBox="1"/>
          <p:nvPr/>
        </p:nvSpPr>
        <p:spPr>
          <a:xfrm>
            <a:off x="640080" y="41422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11" name="Text 8"/>
          <p:cNvSpPr txBox="1"/>
          <p:nvPr/>
        </p:nvSpPr>
        <p:spPr>
          <a:xfrm>
            <a:off x="1188720" y="4142232"/>
            <a:ext cx="10362895" cy="457200"/>
          </a:xfrm>
          <a:prstGeom prst="rect">
            <a:avLst/>
          </a:prstGeom>
          <a:noFill/>
          <a:ln/>
        </p:spPr>
        <p:txBody>
          <a:bodyPr wrap="square" lIns="0" tIns="0" rIns="0" bIns="0" rtlCol="0" anchor="t"/>
          <a:lstStyle/>
          <a:p>
            <a:pPr indent="0" marL="0">
              <a:buNone/>
            </a:pPr>
            <a:r>
              <a:rPr lang="en-US" sz="2000" dirty="0">
                <a:solidFill>
                  <a:schemeClr val="tx1"/>
                </a:solidFill>
              </a:rPr>
              <a:t>표본이 충분하니 신뢰구간만 확인하고 배포합니다</a:t>
            </a:r>
            <a:endParaRPr lang="en-US" sz="2000" dirty="0"/>
          </a:p>
        </p:txBody>
      </p:sp>
      <p:sp>
        <p:nvSpPr>
          <p:cNvPr id="12" name="Text 9"/>
          <p:cNvSpPr txBox="1"/>
          <p:nvPr/>
        </p:nvSpPr>
        <p:spPr>
          <a:xfrm>
            <a:off x="640080" y="467258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13" name="Text 10"/>
          <p:cNvSpPr txBox="1"/>
          <p:nvPr/>
        </p:nvSpPr>
        <p:spPr>
          <a:xfrm>
            <a:off x="1188720" y="4672584"/>
            <a:ext cx="10362895" cy="457200"/>
          </a:xfrm>
          <a:prstGeom prst="rect">
            <a:avLst/>
          </a:prstGeom>
          <a:noFill/>
          <a:ln/>
        </p:spPr>
        <p:txBody>
          <a:bodyPr wrap="square" lIns="0" tIns="0" rIns="0" bIns="0" rtlCol="0" anchor="t"/>
          <a:lstStyle/>
          <a:p>
            <a:pPr indent="0" marL="0">
              <a:buNone/>
            </a:pPr>
            <a:r>
              <a:rPr lang="en-US" sz="2000" dirty="0">
                <a:solidFill>
                  <a:schemeClr val="tx1"/>
                </a:solidFill>
              </a:rPr>
              <a:t>결과 해석을 멈추고 배정·로깅 과정에서 원인을 찾습니다</a:t>
            </a:r>
            <a:endParaRPr lang="en-US" sz="2000" dirty="0"/>
          </a:p>
        </p:txBody>
      </p:sp>
      <p:sp>
        <p:nvSpPr>
          <p:cNvPr id="14" name="Text 11"/>
          <p:cNvSpPr txBox="1"/>
          <p:nvPr/>
        </p:nvSpPr>
        <p:spPr>
          <a:xfrm>
            <a:off x="640080" y="520293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5" name="Text 12"/>
          <p:cNvSpPr txBox="1"/>
          <p:nvPr/>
        </p:nvSpPr>
        <p:spPr>
          <a:xfrm>
            <a:off x="1188720" y="5202936"/>
            <a:ext cx="10362895" cy="457200"/>
          </a:xfrm>
          <a:prstGeom prst="rect">
            <a:avLst/>
          </a:prstGeom>
          <a:noFill/>
          <a:ln/>
        </p:spPr>
        <p:txBody>
          <a:bodyPr wrap="square" lIns="0" tIns="0" rIns="0" bIns="0" rtlCol="0" anchor="t"/>
          <a:lstStyle/>
          <a:p>
            <a:pPr indent="0" marL="0">
              <a:buNone/>
            </a:pPr>
            <a:r>
              <a:rPr lang="en-US" sz="2000" dirty="0">
                <a:solidFill>
                  <a:schemeClr val="tx1"/>
                </a:solidFill>
              </a:rPr>
              <a:t>B안의 이탈 사용자를 제외하고 다시 분석합니다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12 · 복습 퀴즈 · 주관식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기능의 실험을 직접 설계해 보세요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중고거래 앱에서 </a:t>
            </a:r>
            <a:pPr indent="0" marL="0">
              <a:buNone/>
            </a:pPr>
            <a:r>
              <a:rPr lang="en-US" sz="2000" b="1" dirty="0">
                <a:solidFill>
                  <a:schemeClr val="accent1"/>
                </a:solidFill>
              </a:rPr>
              <a:t>판매자에게 적정 가격을 추천하는 기능</a:t>
            </a:r>
            <a:pPr indent="0" marL="0">
              <a:buNone/>
            </a:pPr>
            <a:r>
              <a:rPr lang="en-US" sz="2000" dirty="0">
                <a:solidFill>
                  <a:schemeClr val="tx1"/>
                </a:solidFill>
              </a:rPr>
              <a:t>을 실험하려고 합니다.</a:t>
            </a:r>
            <a:endParaRPr lang="en-US" sz="2000" dirty="0"/>
          </a:p>
        </p:txBody>
      </p:sp>
      <p:sp>
        <p:nvSpPr>
          <p:cNvPr id="6" name="Text 3"/>
          <p:cNvSpPr txBox="1"/>
          <p:nvPr/>
        </p:nvSpPr>
        <p:spPr>
          <a:xfrm>
            <a:off x="640080" y="228600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아래 세 가지 질문에 답하세요.</a:t>
            </a:r>
            <a:endParaRPr lang="en-US" sz="1500" dirty="0"/>
          </a:p>
        </p:txBody>
      </p:sp>
      <p:sp>
        <p:nvSpPr>
          <p:cNvPr id="7" name="Text 4"/>
          <p:cNvSpPr txBox="1"/>
          <p:nvPr/>
        </p:nvSpPr>
        <p:spPr>
          <a:xfrm>
            <a:off x="64008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8" name="Text 5"/>
          <p:cNvSpPr txBox="1"/>
          <p:nvPr/>
        </p:nvSpPr>
        <p:spPr>
          <a:xfrm>
            <a:off x="64008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한 문장으로 써 보세요</a:t>
            </a:r>
            <a:endParaRPr lang="en-US" sz="1500" dirty="0"/>
          </a:p>
        </p:txBody>
      </p:sp>
      <p:sp>
        <p:nvSpPr>
          <p:cNvPr id="9" name="Text 6"/>
          <p:cNvSpPr txBox="1"/>
          <p:nvPr/>
        </p:nvSpPr>
        <p:spPr>
          <a:xfrm>
            <a:off x="434340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10" name="Text 7"/>
          <p:cNvSpPr txBox="1"/>
          <p:nvPr/>
        </p:nvSpPr>
        <p:spPr>
          <a:xfrm>
            <a:off x="434340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지표</a:t>
            </a:r>
            <a:endParaRPr lang="en-US" sz="1500" dirty="0"/>
          </a:p>
          <a:p>
            <a:pPr indent="0" marL="0">
              <a:buNone/>
            </a:pPr>
            <a:r>
              <a:rPr lang="en-US" sz="1500" dirty="0">
                <a:solidFill>
                  <a:schemeClr val="tx2"/>
                </a:solidFill>
              </a:rPr>
              <a:t>Primary 지표와 Guardrail 지표를 하나씩 정해 보세요</a:t>
            </a:r>
            <a:endParaRPr lang="en-US" sz="1500" dirty="0"/>
          </a:p>
        </p:txBody>
      </p:sp>
      <p:sp>
        <p:nvSpPr>
          <p:cNvPr id="11" name="Text 8"/>
          <p:cNvSpPr txBox="1"/>
          <p:nvPr/>
        </p:nvSpPr>
        <p:spPr>
          <a:xfrm>
            <a:off x="804672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단위로 나누면 어떤 문제가 생길 수 있는지, 대안은 무엇인지 써 보세요</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81</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2026-10-08T07:02:55Z</dcterms:created>
  <dcterms:modified xsi:type="dcterms:W3CDTF">2026-10-08T07:02:55Z</dcterms:modified>
</cp:coreProperties>
</file>