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2.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3.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4.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5.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charts/chart6.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fee87a49-c2c4-7142-7121-6969668c8f01}">
          <p14:sldIdLst>
            <p14:sldId id="256"/>
            <p14:sldId id="257"/>
            <p14:sldId id="258"/>
          </p14:sldIdLst>
        </p14:section>
        <p14:section name="Ch1 실험과 인과추론" id="{b2edc23f-bc3d-f5a3-53b7-9fa2d98d8656}">
          <p14:sldIdLst>
            <p14:sldId id="259"/>
            <p14:sldId id="260"/>
            <p14:sldId id="261"/>
            <p14:sldId id="262"/>
            <p14:sldId id="263"/>
            <p14:sldId id="264"/>
            <p14:sldId id="265"/>
            <p14:sldId id="266"/>
            <p14:sldId id="267"/>
            <p14:sldId id="268"/>
          </p14:sldIdLst>
        </p14:section>
        <p14:section name="Ch2 설계 구성요소" id="{678aeeb4-f8ef-9251-9a58-31f84e7e74d6}">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h3 실행과 분석" id="{dcc7dd1c-14a4-6564-3695-3a1c7f09b86b}">
          <p14:sldIdLst>
            <p14:sldId id="292"/>
            <p14:sldId id="293"/>
            <p14:sldId id="294"/>
            <p14:sldId id="295"/>
            <p14:sldId id="296"/>
            <p14:sldId id="297"/>
            <p14:sldId id="298"/>
            <p14:sldId id="299"/>
            <p14:sldId id="300"/>
            <p14:sldId id="301"/>
            <p14:sldId id="302"/>
            <p14:sldId id="303"/>
            <p14:sldId id="304"/>
            <p14:sldId id="306"/>
          </p14:sldIdLst>
        </p14:section>
        <p14:section name="Ch4 함정과 고급 설계" id="{f39511ab-45f0-752c-9a2f-7ce756e5c525}">
          <p14:sldIdLst>
            <p14:sldId id="305"/>
            <p14:sldId id="307"/>
            <p14:sldId id="308"/>
            <p14:sldId id="309"/>
            <p14:sldId id="310"/>
            <p14:sldId id="311"/>
            <p14:sldId id="312"/>
            <p14:sldId id="313"/>
          </p14:sldIdLst>
        </p14:section>
        <p14:section name="Ch5 사례와 결정" id="{7aca82e3-1328-7371-f4f5-9b0609e6efbb}">
          <p14:sldIdLst>
            <p14:sldId id="314"/>
            <p14:sldId id="315"/>
            <p14:sldId id="316"/>
            <p14:sldId id="317"/>
            <p14:sldId id="318"/>
            <p14:sldId id="319"/>
            <p14:sldId id="320"/>
            <p14:sldId id="321"/>
            <p14:sldId id="32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05편: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스위치백은 배달·라이드쉐어처럼 시장 전체가 엮일 때, 클러스터는 사용자끼리 영향을 주고받을 때, 인터리빙은 랭킹을 비교할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05편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감지</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500" dirty="0"/>
          </a:p>
          <a:p>
            <a:pPr marL="342900" indent="-342900">
              <a:spcAft>
                <a:spcPts val="800"/>
              </a:spcAft>
              <a:buSzPct val="100000"/>
              <a:buChar char="•"/>
            </a:pPr>
            <a:r>
              <a:rPr lang="en-US" sz="1500" dirty="0">
                <a:solidFill>
                  <a:schemeClr val="tx1"/>
                </a:solidFill>
              </a:rPr>
              <a:t>배정 비율이 설계대로인가 (SRM)</a:t>
            </a:r>
            <a:endParaRPr lang="en-US" sz="1500" dirty="0"/>
          </a:p>
          <a:p>
            <a:pPr marL="342900" indent="-342900">
              <a:spcAft>
                <a:spcPts val="800"/>
              </a:spcAft>
              <a:buSzPct val="100000"/>
              <a:buChar char="•"/>
            </a:pPr>
            <a:r>
              <a:rPr lang="en-US" sz="1500" dirty="0">
                <a:solidFill>
                  <a:schemeClr val="tx1"/>
                </a:solidFill>
              </a:rPr>
              <a:t>p-value가 0~1에 고르게 퍼지는가</a:t>
            </a:r>
            <a:endParaRPr lang="en-US" sz="1500" dirty="0"/>
          </a:p>
          <a:p>
            <a:pPr marL="342900" indent="-342900">
              <a:spcAft>
                <a:spcPts val="800"/>
              </a:spcAft>
              <a:buSzPct val="100000"/>
              <a:buChar char="•"/>
            </a:pPr>
            <a:r>
              <a:rPr lang="en-US" sz="1500" dirty="0">
                <a:solidFill>
                  <a:schemeClr val="tx1"/>
                </a:solidFill>
              </a:rPr>
              <a:t>로그가 두 그룹에서 똑같이 쌓이는가</a:t>
            </a:r>
            <a:endParaRPr lang="en-US" sz="1500" dirty="0"/>
          </a:p>
          <a:p>
            <a:pPr marL="342900" indent="-342900">
              <a:spcAft>
                <a:spcPts val="800"/>
              </a:spcAft>
              <a:buSzPct val="100000"/>
              <a:buChar char="•"/>
            </a:pPr>
            <a:r>
              <a:rPr lang="en-US" sz="1500" dirty="0">
                <a:solidFill>
                  <a:schemeClr val="tx1"/>
                </a:solidFill>
              </a:rPr>
              <a:t>지표의 기저 분산 → 표본 크기 계산에 사용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기간은 미리 정한다</a:t>
            </a:r>
            <a:endParaRPr lang="en-US" sz="1500" dirty="0"/>
          </a:p>
          <a:p>
            <a:pPr indent="0" marL="0">
              <a:buNone/>
            </a:pPr>
            <a:r>
              <a:rPr lang="en-US" sz="1500" dirty="0">
                <a:solidFill>
                  <a:schemeClr val="tx2"/>
                </a:solidFill>
              </a:rPr>
              <a:t>표본 크기 계산 결과로 종료일을 정하고 그 전에 멈추지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α를 지표 수로 나눈다. 단순하지만 보수적</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상황이 다르면 나누는 방법도 다르다</a:t>
            </a:r>
            <a:endParaRPr lang="en-US" sz="2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시장 전체가 엮여 사용자 단위로 못 나눌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지역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배달·라이드쉐어 배차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사용자끼리 영향을 주고받을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 그룹·동네 단위로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메신저, 동네 기반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715000"/>
            <a:ext cx="10911535" cy="365760"/>
          </a:xfrm>
          <a:prstGeom prst="rect">
            <a:avLst/>
          </a:prstGeom>
          <a:noFill/>
          <a:ln/>
        </p:spPr>
        <p:txBody>
          <a:bodyPr wrap="square" lIns="0" tIns="0" rIns="0" bIns="0" rtlCol="0" anchor="t"/>
          <a:lstStyle/>
          <a:p>
            <a:pPr indent="0" marL="0">
              <a:buNone/>
            </a:pPr>
            <a:r>
              <a:rPr lang="en-US" sz="1500" dirty="0">
                <a:solidFill>
                  <a:schemeClr val="tx2"/>
                </a:solidFill>
              </a:rPr>
              <a:t>밴딧은 빨리 이기는 쪽을 찾지만, 효과 크기 추정은 A/B 테스트보다 부정확합니다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05편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05편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단위 · 05 실험 플랫폼과 문화</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2026-10-06T16:11:13Z</dcterms:created>
  <dcterms:modified xsi:type="dcterms:W3CDTF">2026-10-06T16:11:13Z</dcterms:modified>
</cp:coreProperties>
</file>